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350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53916" y="475488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53916" y="47548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36996" y="5189220"/>
            <a:ext cx="320040" cy="0"/>
          </a:xfrm>
          <a:prstGeom prst="line">
            <a:avLst/>
          </a:prstGeom>
          <a:noFill/>
          <a:ln w="19050">
            <a:solidFill>
              <a:srgbClr val="7C939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57036" y="475488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57036" y="47548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0116" y="5189220"/>
            <a:ext cx="320040" cy="0"/>
          </a:xfrm>
          <a:prstGeom prst="line">
            <a:avLst/>
          </a:prstGeom>
          <a:noFill/>
          <a:ln w="19050">
            <a:solidFill>
              <a:srgbClr val="7C939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60156" y="475488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234A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60156" y="47548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13836" y="5189220"/>
            <a:ext cx="548640" cy="0"/>
          </a:xfrm>
          <a:prstGeom prst="line">
            <a:avLst/>
          </a:prstGeom>
          <a:noFill/>
          <a:ln w="19050">
            <a:solidFill>
              <a:srgbClr val="7C939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59356" y="475488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1B3B50"/>
          </a:solidFill>
          <a:ln w="12700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59356" y="475488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1554480"/>
            <a:ext cx="5696712" cy="384048"/>
          </a:xfrm>
          <a:prstGeom prst="roundRect">
            <a:avLst>
              <a:gd name="adj" fmla="val 50000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1554480"/>
            <a:ext cx="5696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RETRIEVAL-AUGMENTED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1168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 with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4400" y="265176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FA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r>
              <a:rPr lang="en-US" sz="4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4000" b="1" dirty="0">
                <a:solidFill>
                  <a:srgbClr val="4A7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r>
              <a:rPr lang="en-US" sz="4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</a:t>
            </a:r>
            <a:r>
              <a:rPr lang="en-US" sz="4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188720" y="3520440"/>
            <a:ext cx="9811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i="1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smarter retrieval pipeline, one API at a time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combine three APIs?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Embedding-only retrieval can miss nuanced connections between a query and the right document.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6FA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14600" y="21488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one user request into one or more targeted search queries — and later, a grounded answer.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2148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1488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283464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documents whose meaning is close to each query, fast, across the whole corpus.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0" y="2148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2148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04120" y="214884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283464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Re-scores the shortlist for true relevance, catching what similarity search alone misses.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663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</a:t>
            </a: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what to search for, Embed casts a wide first net, Rerank narrows it to what's truly relevant, and Chat writes an answer grounded in that shortlist — with citations.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RAG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all driven by tool calling in the Chat API.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to get to know my teammates and where to get coffee”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3063240"/>
            <a:ext cx="146304" cy="0"/>
          </a:xfrm>
          <a:prstGeom prst="line">
            <a:avLst/>
          </a:prstGeom>
          <a:noFill/>
          <a:ln w="19050">
            <a:solidFill>
              <a:srgbClr val="FF6B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55848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132A3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84448" y="20574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84448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plans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4448" y="30632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document_search once per sub-question it identifies.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3063240"/>
            <a:ext cx="146304" cy="0"/>
          </a:xfrm>
          <a:prstGeom prst="line">
            <a:avLst/>
          </a:prstGeom>
          <a:noFill/>
          <a:ln w="19050">
            <a:solidFill>
              <a:srgbClr val="FF6B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4A7C82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91656" y="20574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91656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retrieves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1656" y="30632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candidate FAQs per query, by embedding similarity.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96528" y="3063240"/>
            <a:ext cx="146304" cy="0"/>
          </a:xfrm>
          <a:prstGeom prst="line">
            <a:avLst/>
          </a:prstGeom>
          <a:noFill/>
          <a:ln w="19050">
            <a:solidFill>
              <a:srgbClr val="FF6B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70264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6B4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98864" y="20574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98864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98864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 refines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98864" y="30632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most relevant FAQs per query, re-scored for true relevance.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4754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Chat responds</a:t>
            </a: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reranked documents feed back into Chat, which writes a grounded answer with inline citations pointing at the exact source for every claim.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document search tool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corpus of company FAQs, embedded once and made searchable via a single tool.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company_faqs  (10 documents)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7F5F0"/>
          </a:solidFill>
          <a:ln w="635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233172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Slack Channels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233172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7F5F0"/>
          </a:solidFill>
          <a:ln w="635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47288" y="233172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Coffee Spots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2862072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7F5F0"/>
          </a:solidFill>
          <a:ln w="635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8408" y="28620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Team-Building Activities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2862072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7F5F0"/>
          </a:solidFill>
          <a:ln w="635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47288" y="28620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 Flexibility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8680" y="3392424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7F5F0"/>
          </a:solidFill>
          <a:ln w="635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78408" y="339242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Projects Policy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37560" y="3392424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7F5F0"/>
          </a:solidFill>
          <a:ln w="635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47288" y="339242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Reimbursing Travel Expenses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" y="3922776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7F5F0"/>
          </a:solidFill>
          <a:ln w="635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8408" y="392277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from Abroad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922776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7F5F0"/>
          </a:solidFill>
          <a:ln w="635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47288" y="392277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Wellness Benefits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8680" y="4453128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7F5F0"/>
          </a:solidFill>
          <a:ln w="635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8408" y="445312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4453128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7F5F0"/>
          </a:solidFill>
          <a:ln w="635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47288" y="445312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Proposing New Ideas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691640"/>
            <a:ext cx="5468112" cy="3383280"/>
          </a:xfrm>
          <a:prstGeom prst="roundRect">
            <a:avLst>
              <a:gd name="adj" fmla="val 2162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1892808"/>
            <a:ext cx="49194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document_search_tool = {
</a:t>
            </a:r>
            <a:r>
              <a:rPr lang="en-US" sz="13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"document_search",
</a:t>
            </a:r>
            <a:r>
              <a:rPr lang="en-US" sz="130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"Returns relevant
     documents for a text query.",
  "parameters": {
</a:t>
            </a:r>
            <a:r>
              <a:rPr lang="en-US" sz="1300" b="1" dirty="0">
                <a:solidFill>
                  <a:srgbClr val="4A7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"query": {"type": "string"}
</a:t>
            </a:r>
            <a:r>
              <a:rPr lang="en-US" sz="1300" dirty="0">
                <a:solidFill>
                  <a:srgbClr val="D7E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}
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53949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document_search(query)</a:t>
            </a: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runs two stages under the hood: </a:t>
            </a:r>
            <a:r>
              <a:rPr lang="en-US" sz="1350" b="1" dirty="0">
                <a:solidFill>
                  <a:srgbClr val="4A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query and documents, retrieve the top 5 by similarity, then </a:t>
            </a:r>
            <a:r>
              <a:rPr lang="en-US" sz="13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to the top 2.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1–2 · User query, then tool planning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on its own that this one question really contains two — and plans a search for each.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</a:t>
            </a:r>
            <a:r>
              <a:rPr lang="en-US" sz="14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to get to know my teammates and where to get coffee”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B3B50"/>
          </a:solidFill>
          <a:ln w="127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tool_plan:  </a:t>
            </a:r>
            <a:r>
              <a:rPr lang="en-US" sz="13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will search for how to get to know my teammates and where to get coffee.”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document_search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D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{"query": "how to get to know my teammates"}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3949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8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document_search_m1q6a0ngb2mf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5204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37490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4297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document_search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7091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B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{"query": "where to get coffee"}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53949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8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document_search_b4fhmj148k83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turn, two independently-planned and independently-retrieved searches.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retrieval: embed, then rerank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doesn't just confirm the embedding results — it can completely reorder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33"/>
                </a:solidFill>
              </a:rPr>
              <a:t>Query: </a:t>
            </a:r>
            <a:r>
              <a:rPr lang="en-US" sz="1350" i="1" dirty="0">
                <a:solidFill>
                  <a:srgbClr val="5B6B72"/>
                </a:solidFill>
              </a:rPr>
              <a:t>"how to get to know my teammates"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 (top 3 of 5)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5120640" cy="329184"/>
          </a:xfrm>
          <a:prstGeom prst="roundRect">
            <a:avLst>
              <a:gd name="adj" fmla="val 13889"/>
            </a:avLst>
          </a:prstGeom>
          <a:solidFill>
            <a:srgbClr val="F7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Team-Building Activities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274320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127248"/>
            <a:ext cx="5120640" cy="329184"/>
          </a:xfrm>
          <a:prstGeom prst="roundRect">
            <a:avLst>
              <a:gd name="adj" fmla="val 13889"/>
            </a:avLst>
          </a:prstGeom>
          <a:solidFill>
            <a:srgbClr val="F7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1272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Proposing New Ideas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312724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0.291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511296"/>
            <a:ext cx="5120640" cy="329184"/>
          </a:xfrm>
          <a:prstGeom prst="roundRect">
            <a:avLst>
              <a:gd name="adj" fmla="val 13889"/>
            </a:avLst>
          </a:prstGeom>
          <a:solidFill>
            <a:srgbClr val="FFF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5112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Joining Slack Channels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351129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063240"/>
            <a:ext cx="502920" cy="0"/>
          </a:xfrm>
          <a:prstGeom prst="line">
            <a:avLst/>
          </a:prstGeom>
          <a:noFill/>
          <a:ln w="22225">
            <a:solidFill>
              <a:srgbClr val="FF6B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 (top 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2743200"/>
            <a:ext cx="4937760" cy="329184"/>
          </a:xfrm>
          <a:prstGeom prst="roundRect">
            <a:avLst>
              <a:gd name="adj" fmla="val 13889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274320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Joining Slack Channels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881360" y="274320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3127248"/>
            <a:ext cx="4937760" cy="329184"/>
          </a:xfrm>
          <a:prstGeom prst="roundRect">
            <a:avLst>
              <a:gd name="adj" fmla="val 13889"/>
            </a:avLst>
          </a:prstGeom>
          <a:solidFill>
            <a:srgbClr val="F7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12280" y="31272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Team-Building Activities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881360" y="312724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3931920"/>
            <a:ext cx="5394960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393192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→ #1: RERANK CATCHES WHAT EMBED MISSED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478231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B4A"/>
                </a:solidFill>
              </a:rPr>
              <a:t>Query: </a:t>
            </a:r>
            <a:r>
              <a:rPr lang="en-US" sz="1350" i="1" dirty="0">
                <a:solidFill>
                  <a:srgbClr val="C9D6D9"/>
                </a:solidFill>
              </a:rPr>
              <a:t>"where to get coffee"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52120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B6"/>
                </a:solidFill>
              </a:rPr>
              <a:t>Embed #1: </a:t>
            </a:r>
            <a:r>
              <a:rPr lang="en-US" sz="1250" b="1" dirty="0">
                <a:solidFill>
                  <a:srgbClr val="F4F1EA"/>
                </a:solidFill>
              </a:rPr>
              <a:t>Finding Coffee Spots (0.435)</a:t>
            </a:r>
            <a:r>
              <a:rPr lang="en-US" sz="1250" dirty="0">
                <a:solidFill>
                  <a:srgbClr val="6E848A"/>
                </a:solidFill>
              </a:rPr>
              <a:t>     →     </a:t>
            </a:r>
            <a:r>
              <a:rPr lang="en-US" sz="1250" dirty="0">
                <a:solidFill>
                  <a:srgbClr val="9FB2B6"/>
                </a:solidFill>
              </a:rPr>
              <a:t>Rerank #1: </a:t>
            </a:r>
            <a:r>
              <a:rPr lang="en-US" sz="1250" b="1" dirty="0">
                <a:solidFill>
                  <a:srgbClr val="FF6B4A"/>
                </a:solidFill>
              </a:rPr>
              <a:t>Finding Coffee Spots (0.621)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5778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top result both stages — rerank simply sharpens the confidence gap.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· A grounded, cited response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writes the final answer from the reranked documents — every claim traceable to its source.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to know your teammates, you can </a:t>
            </a:r>
            <a:r>
              <a:rPr lang="en-US" sz="1400" b="1" dirty="0">
                <a:solidFill>
                  <a:srgbClr val="FFFFFF"/>
                </a:solidFill>
                <a:highlight>
                  <a:srgbClr val="4A7C8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join relevant Slack channels</a:t>
            </a: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stay informed and engaged. You can also </a:t>
            </a:r>
            <a:r>
              <a:rPr lang="en-US" sz="1400" b="1" dirty="0">
                <a:solidFill>
                  <a:srgbClr val="FFFFFF"/>
                </a:solidFill>
                <a:highlight>
                  <a:srgbClr val="D9A44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team-building activities</a:t>
            </a: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such as monthly outings and weekly game nights.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coffee, you can 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FF6B4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head to the break room's coffee machine</a:t>
            </a: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cross the street to the café.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32A3A"/>
          </a:solidFill>
          <a:ln w="19050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388620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Channels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389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will receive an invite via email …”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983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search_m1q6a0ngb2mf:0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3400" y="36576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32A3A"/>
          </a:solidFill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388620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Team-Building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4389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“Monthly outings and weekly game nights …”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4983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search_m1q6a0ngb2mf:1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138160" y="36576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32A3A"/>
          </a:solidFill>
          <a:ln w="1905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66760" y="388620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Spots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4389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“Break room's coffee machine …”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4983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search_b4fhmj148k83:0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end, in one trace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43032" cy="960120"/>
          </a:xfrm>
          <a:prstGeom prst="roundRect">
            <a:avLst>
              <a:gd name="adj" fmla="val 8571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833372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D8DD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8333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20440" y="1554480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to get to know my teammates and where to get coffee”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4560" y="2532888"/>
            <a:ext cx="0" cy="128016"/>
          </a:xfrm>
          <a:prstGeom prst="line">
            <a:avLst/>
          </a:prstGeom>
          <a:noFill/>
          <a:ln w="15875">
            <a:solidFill>
              <a:srgbClr val="3A5C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679192"/>
            <a:ext cx="10543032" cy="960120"/>
          </a:xfrm>
          <a:prstGeom prst="roundRect">
            <a:avLst>
              <a:gd name="adj" fmla="val 8571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1560" y="2958084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9580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 · tool_plan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2679192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will search for how to get to know my teammates and where to get coffee.”  →  2 tool calls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94560" y="3657600"/>
            <a:ext cx="0" cy="128016"/>
          </a:xfrm>
          <a:prstGeom prst="line">
            <a:avLst/>
          </a:prstGeom>
          <a:noFill/>
          <a:ln w="15875">
            <a:solidFill>
              <a:srgbClr val="3A5C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803904"/>
            <a:ext cx="10543032" cy="960120"/>
          </a:xfrm>
          <a:prstGeom prst="roundRect">
            <a:avLst>
              <a:gd name="adj" fmla="val 8571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51560" y="4082796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408279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· document_search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0440" y="3803904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retrieves 5, Rerank narrows to 2, per query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94560" y="4782312"/>
            <a:ext cx="0" cy="128016"/>
          </a:xfrm>
          <a:prstGeom prst="line">
            <a:avLst/>
          </a:prstGeom>
          <a:noFill/>
          <a:ln w="15875">
            <a:solidFill>
              <a:srgbClr val="3A5C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4928616"/>
            <a:ext cx="10543032" cy="960120"/>
          </a:xfrm>
          <a:prstGeom prst="roundRect">
            <a:avLst>
              <a:gd name="adj" fmla="val 8571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" y="520750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52075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20440" y="4928616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answer, 6 citations, one per claim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API calls, fully orchestrated by the model itself — no hand-written retrieval logic in the loop.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842516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8425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15544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API can plan its own searches — breaking one user question into several targeted queries.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587752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" y="2875788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8757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2587752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casts a wide net quickly; Rerank narrows it to what's genuinely relevant, sometimes reordering the results entirely.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621024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51560" y="3909060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9090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3621024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response is generated only from the reranked documents, with citations tracing every claim back to its source.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654296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51560" y="4942332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49423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4654296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Embed, and Rerank together form a self-directed retrieval pipeline — no manual query engineering required.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623560"/>
            <a:ext cx="10543032" cy="685800"/>
          </a:xfrm>
          <a:prstGeom prst="roundRect">
            <a:avLst>
              <a:gd name="adj" fmla="val 13333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56235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module: </a:t>
            </a:r>
            <a:r>
              <a:rPr lang="en-US" sz="14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→ dense retrieval → reranking → generating answers → citations → agentic RAG.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975</Words>
  <Application>Microsoft Office PowerPoint</Application>
  <PresentationFormat>Widescreen</PresentationFormat>
  <Paragraphs>126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2026-08-24T04:16:39Z</dcterms:created>
  <dcterms:modified xsi:type="dcterms:W3CDTF">2026-08-24T18:12:13Z</dcterms:modified>
</cp:coreProperties>
</file>