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51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9203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9709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9203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9709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9203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9709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9203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9709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9709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2315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7016" y="832586"/>
            <a:ext cx="7206615" cy="43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9203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6581" y="2143441"/>
            <a:ext cx="7767955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86095" y="6527746"/>
            <a:ext cx="153670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9709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23153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2640" y="1005484"/>
            <a:ext cx="164515" cy="1645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32719" y="685444"/>
            <a:ext cx="109804" cy="1097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81359" y="1280160"/>
            <a:ext cx="201244" cy="2012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38204" y="822604"/>
            <a:ext cx="91439" cy="914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66604" y="1737004"/>
            <a:ext cx="128155" cy="1281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72444" y="2011324"/>
            <a:ext cx="146151" cy="1461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15244" y="2468524"/>
            <a:ext cx="91440" cy="9143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521440" y="1554480"/>
            <a:ext cx="109804" cy="10980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9686339" y="725220"/>
            <a:ext cx="1658620" cy="607060"/>
            <a:chOff x="9686339" y="725220"/>
            <a:chExt cx="1658620" cy="607060"/>
          </a:xfrm>
        </p:grpSpPr>
        <p:sp>
          <p:nvSpPr>
            <p:cNvPr id="12" name="object 12"/>
            <p:cNvSpPr/>
            <p:nvPr/>
          </p:nvSpPr>
          <p:spPr>
            <a:xfrm>
              <a:off x="9692639" y="731520"/>
              <a:ext cx="640080" cy="320040"/>
            </a:xfrm>
            <a:custGeom>
              <a:avLst/>
              <a:gdLst/>
              <a:ahLst/>
              <a:cxnLst/>
              <a:rect l="l" t="t" r="r" b="b"/>
              <a:pathLst>
                <a:path w="640079" h="320040">
                  <a:moveTo>
                    <a:pt x="0" y="320039"/>
                  </a:moveTo>
                  <a:lnTo>
                    <a:pt x="640079" y="0"/>
                  </a:lnTo>
                </a:path>
              </a:pathLst>
            </a:custGeom>
            <a:ln w="12599">
              <a:solidFill>
                <a:srgbClr val="694B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387443" y="731520"/>
              <a:ext cx="494030" cy="548640"/>
            </a:xfrm>
            <a:custGeom>
              <a:avLst/>
              <a:gdLst/>
              <a:ahLst/>
              <a:cxnLst/>
              <a:rect l="l" t="t" r="r" b="b"/>
              <a:pathLst>
                <a:path w="494029" h="548640">
                  <a:moveTo>
                    <a:pt x="0" y="0"/>
                  </a:moveTo>
                  <a:lnTo>
                    <a:pt x="493915" y="548639"/>
                  </a:lnTo>
                </a:path>
              </a:pathLst>
            </a:custGeom>
            <a:ln w="12599">
              <a:solidFill>
                <a:srgbClr val="694B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881359" y="822960"/>
              <a:ext cx="457200" cy="502920"/>
            </a:xfrm>
            <a:custGeom>
              <a:avLst/>
              <a:gdLst/>
              <a:ahLst/>
              <a:cxnLst/>
              <a:rect l="l" t="t" r="r" b="b"/>
              <a:pathLst>
                <a:path w="457200" h="502919">
                  <a:moveTo>
                    <a:pt x="0" y="502919"/>
                  </a:moveTo>
                  <a:lnTo>
                    <a:pt x="457200" y="0"/>
                  </a:lnTo>
                </a:path>
              </a:pathLst>
            </a:custGeom>
            <a:ln w="12599">
              <a:solidFill>
                <a:srgbClr val="B69E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854176" y="2257463"/>
            <a:ext cx="5296535" cy="13620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5000"/>
              </a:lnSpc>
              <a:spcBef>
                <a:spcPts val="700"/>
              </a:spcBef>
            </a:pPr>
            <a:r>
              <a:rPr sz="4600" dirty="0">
                <a:solidFill>
                  <a:srgbClr val="FFFFFF"/>
                </a:solidFill>
              </a:rPr>
              <a:t>What</a:t>
            </a:r>
            <a:r>
              <a:rPr sz="4600" spc="-55" dirty="0">
                <a:solidFill>
                  <a:srgbClr val="FFFFFF"/>
                </a:solidFill>
              </a:rPr>
              <a:t> </a:t>
            </a:r>
            <a:r>
              <a:rPr sz="4600" spc="50" dirty="0">
                <a:solidFill>
                  <a:srgbClr val="FFFFFF"/>
                </a:solidFill>
              </a:rPr>
              <a:t>Is</a:t>
            </a:r>
            <a:r>
              <a:rPr sz="4600" spc="-50" dirty="0">
                <a:solidFill>
                  <a:srgbClr val="FFFFFF"/>
                </a:solidFill>
              </a:rPr>
              <a:t> </a:t>
            </a:r>
            <a:r>
              <a:rPr sz="4600" spc="55" dirty="0">
                <a:solidFill>
                  <a:srgbClr val="FFFFFF"/>
                </a:solidFill>
              </a:rPr>
              <a:t>Similarity </a:t>
            </a:r>
            <a:r>
              <a:rPr sz="4600" spc="165" dirty="0">
                <a:solidFill>
                  <a:srgbClr val="FFFFFF"/>
                </a:solidFill>
              </a:rPr>
              <a:t>Between</a:t>
            </a:r>
            <a:r>
              <a:rPr sz="4600" spc="-125" dirty="0">
                <a:solidFill>
                  <a:srgbClr val="FFFFFF"/>
                </a:solidFill>
              </a:rPr>
              <a:t> </a:t>
            </a:r>
            <a:r>
              <a:rPr sz="4600" spc="85" dirty="0">
                <a:solidFill>
                  <a:srgbClr val="FFFFFF"/>
                </a:solidFill>
              </a:rPr>
              <a:t>Sentences?</a:t>
            </a:r>
            <a:endParaRPr sz="4600"/>
          </a:p>
        </p:txBody>
      </p:sp>
      <p:sp>
        <p:nvSpPr>
          <p:cNvPr id="17" name="object 17"/>
          <p:cNvSpPr/>
          <p:nvPr/>
        </p:nvSpPr>
        <p:spPr>
          <a:xfrm>
            <a:off x="822604" y="52574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69464" y="7739"/>
                </a:lnTo>
                <a:lnTo>
                  <a:pt x="114109" y="30594"/>
                </a:lnTo>
                <a:lnTo>
                  <a:pt x="66955" y="67002"/>
                </a:lnTo>
                <a:lnTo>
                  <a:pt x="30594" y="114477"/>
                </a:lnTo>
                <a:lnTo>
                  <a:pt x="7739" y="169510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7" y="367871"/>
                </a:lnTo>
                <a:lnTo>
                  <a:pt x="89473" y="409900"/>
                </a:lnTo>
                <a:lnTo>
                  <a:pt x="141267" y="439883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258431" y="455253"/>
                </a:lnTo>
                <a:lnTo>
                  <a:pt x="316075" y="439883"/>
                </a:lnTo>
                <a:lnTo>
                  <a:pt x="367871" y="409900"/>
                </a:lnTo>
                <a:lnTo>
                  <a:pt x="409900" y="367871"/>
                </a:lnTo>
                <a:lnTo>
                  <a:pt x="439883" y="316075"/>
                </a:lnTo>
                <a:lnTo>
                  <a:pt x="455253" y="258431"/>
                </a:lnTo>
                <a:lnTo>
                  <a:pt x="457200" y="228600"/>
                </a:lnTo>
                <a:lnTo>
                  <a:pt x="455253" y="198766"/>
                </a:lnTo>
                <a:lnTo>
                  <a:pt x="439883" y="141267"/>
                </a:lnTo>
                <a:lnTo>
                  <a:pt x="409900" y="89473"/>
                </a:lnTo>
                <a:lnTo>
                  <a:pt x="367871" y="47297"/>
                </a:lnTo>
                <a:lnTo>
                  <a:pt x="316075" y="17311"/>
                </a:lnTo>
                <a:lnTo>
                  <a:pt x="258431" y="1946"/>
                </a:lnTo>
                <a:lnTo>
                  <a:pt x="228600" y="0"/>
                </a:lnTo>
                <a:close/>
              </a:path>
            </a:pathLst>
          </a:custGeom>
          <a:solidFill>
            <a:srgbClr val="694B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99896" y="4096644"/>
            <a:ext cx="7213600" cy="10972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600" dirty="0">
                <a:solidFill>
                  <a:srgbClr val="D7CEED"/>
                </a:solidFill>
                <a:latin typeface="Calibri"/>
                <a:cs typeface="Calibri"/>
              </a:rPr>
              <a:t>How</a:t>
            </a:r>
            <a:r>
              <a:rPr sz="1600" spc="-5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7CEED"/>
                </a:solidFill>
                <a:latin typeface="Calibri"/>
                <a:cs typeface="Calibri"/>
              </a:rPr>
              <a:t>word</a:t>
            </a:r>
            <a:r>
              <a:rPr sz="1600" spc="-4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7CEED"/>
                </a:solidFill>
                <a:latin typeface="Calibri"/>
                <a:cs typeface="Calibri"/>
              </a:rPr>
              <a:t>and</a:t>
            </a:r>
            <a:r>
              <a:rPr sz="1600" spc="-4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D7CEED"/>
                </a:solidFill>
                <a:latin typeface="Calibri"/>
                <a:cs typeface="Calibri"/>
              </a:rPr>
              <a:t>sentence</a:t>
            </a:r>
            <a:r>
              <a:rPr sz="1600" spc="-4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7CEED"/>
                </a:solidFill>
                <a:latin typeface="Calibri"/>
                <a:cs typeface="Calibri"/>
              </a:rPr>
              <a:t>embeddings</a:t>
            </a:r>
            <a:r>
              <a:rPr sz="1600" spc="-4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7CEED"/>
                </a:solidFill>
                <a:latin typeface="Calibri"/>
                <a:cs typeface="Calibri"/>
              </a:rPr>
              <a:t>let</a:t>
            </a:r>
            <a:r>
              <a:rPr sz="1600" spc="-4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7CEED"/>
                </a:solidFill>
                <a:latin typeface="Calibri"/>
                <a:cs typeface="Calibri"/>
              </a:rPr>
              <a:t>language</a:t>
            </a:r>
            <a:r>
              <a:rPr sz="1600" spc="-4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7CEED"/>
                </a:solidFill>
                <a:latin typeface="Calibri"/>
                <a:cs typeface="Calibri"/>
              </a:rPr>
              <a:t>models</a:t>
            </a:r>
            <a:r>
              <a:rPr sz="1600" spc="-4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D7CEED"/>
                </a:solidFill>
                <a:latin typeface="Calibri"/>
                <a:cs typeface="Calibri"/>
              </a:rPr>
              <a:t>measure</a:t>
            </a:r>
            <a:r>
              <a:rPr sz="1600" spc="-5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7CEED"/>
                </a:solidFill>
                <a:latin typeface="Calibri"/>
                <a:cs typeface="Calibri"/>
              </a:rPr>
              <a:t>meaning</a:t>
            </a:r>
            <a:r>
              <a:rPr sz="1600" spc="-4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7CEED"/>
                </a:solidFill>
                <a:latin typeface="Calibri"/>
                <a:cs typeface="Calibri"/>
              </a:rPr>
              <a:t>—</a:t>
            </a:r>
            <a:r>
              <a:rPr sz="1600" spc="-5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D7CEED"/>
                </a:solidFill>
                <a:latin typeface="Calibri"/>
                <a:cs typeface="Calibri"/>
              </a:rPr>
              <a:t>through </a:t>
            </a:r>
            <a:r>
              <a:rPr sz="1600" dirty="0">
                <a:solidFill>
                  <a:srgbClr val="D7CEED"/>
                </a:solidFill>
                <a:latin typeface="Calibri"/>
                <a:cs typeface="Calibri"/>
              </a:rPr>
              <a:t>dot</a:t>
            </a:r>
            <a:r>
              <a:rPr sz="1600" spc="-5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7CEED"/>
                </a:solidFill>
                <a:latin typeface="Calibri"/>
                <a:cs typeface="Calibri"/>
              </a:rPr>
              <a:t>products</a:t>
            </a:r>
            <a:r>
              <a:rPr sz="1600" spc="-5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7CEED"/>
                </a:solidFill>
                <a:latin typeface="Calibri"/>
                <a:cs typeface="Calibri"/>
              </a:rPr>
              <a:t>and</a:t>
            </a:r>
            <a:r>
              <a:rPr sz="1600" spc="-5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7CEED"/>
                </a:solidFill>
                <a:latin typeface="Calibri"/>
                <a:cs typeface="Calibri"/>
              </a:rPr>
              <a:t>cosine</a:t>
            </a:r>
            <a:r>
              <a:rPr sz="1600" spc="-5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D7CEED"/>
                </a:solidFill>
                <a:latin typeface="Calibri"/>
                <a:cs typeface="Calibri"/>
              </a:rPr>
              <a:t>similarity.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600" dirty="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2960" y="6035040"/>
            <a:ext cx="10515600" cy="635"/>
          </a:xfrm>
          <a:custGeom>
            <a:avLst/>
            <a:gdLst/>
            <a:ahLst/>
            <a:cxnLst/>
            <a:rect l="l" t="t" r="r" b="b"/>
            <a:pathLst>
              <a:path w="10515600" h="635">
                <a:moveTo>
                  <a:pt x="0" y="0"/>
                </a:moveTo>
                <a:lnTo>
                  <a:pt x="10515600" y="355"/>
                </a:lnTo>
              </a:path>
            </a:pathLst>
          </a:custGeom>
          <a:ln w="12599">
            <a:solidFill>
              <a:srgbClr val="3E306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016" y="512889"/>
            <a:ext cx="1287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T</a:t>
            </a:r>
            <a:r>
              <a:rPr sz="1200" b="1" spc="-8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H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E</a:t>
            </a:r>
            <a:r>
              <a:rPr sz="1200" b="1" spc="39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C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O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R</a:t>
            </a:r>
            <a:r>
              <a:rPr sz="1200" b="1" spc="-6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E</a:t>
            </a:r>
            <a:r>
              <a:rPr sz="1200" b="1" spc="39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D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E</a:t>
            </a:r>
            <a:r>
              <a:rPr sz="1200" b="1" spc="-9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694B92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7016" y="855611"/>
            <a:ext cx="46583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Vectors</a:t>
            </a:r>
            <a:r>
              <a:rPr sz="3000" spc="-45" dirty="0"/>
              <a:t> </a:t>
            </a:r>
            <a:r>
              <a:rPr sz="3000" spc="90" dirty="0"/>
              <a:t>that</a:t>
            </a:r>
            <a:r>
              <a:rPr sz="3000" spc="-45" dirty="0"/>
              <a:t> </a:t>
            </a:r>
            <a:r>
              <a:rPr sz="3000" dirty="0"/>
              <a:t>carry</a:t>
            </a:r>
            <a:r>
              <a:rPr sz="3000" spc="-45" dirty="0"/>
              <a:t> </a:t>
            </a:r>
            <a:r>
              <a:rPr sz="3000" spc="105" dirty="0"/>
              <a:t>meaning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717016" y="1483177"/>
            <a:ext cx="6343650" cy="50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100"/>
              </a:spcBef>
            </a:pPr>
            <a:r>
              <a:rPr sz="1350" spc="-10" dirty="0">
                <a:solidFill>
                  <a:srgbClr val="797090"/>
                </a:solidFill>
                <a:latin typeface="Calibri"/>
                <a:cs typeface="Calibri"/>
              </a:rPr>
              <a:t>Every</a:t>
            </a:r>
            <a:r>
              <a:rPr sz="1350" spc="-5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797090"/>
                </a:solidFill>
                <a:latin typeface="Calibri"/>
                <a:cs typeface="Calibri"/>
              </a:rPr>
              <a:t>large</a:t>
            </a:r>
            <a:r>
              <a:rPr sz="135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797090"/>
                </a:solidFill>
                <a:latin typeface="Calibri"/>
                <a:cs typeface="Calibri"/>
              </a:rPr>
              <a:t>language</a:t>
            </a:r>
            <a:r>
              <a:rPr sz="1350" spc="-5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797090"/>
                </a:solidFill>
                <a:latin typeface="Calibri"/>
                <a:cs typeface="Calibri"/>
              </a:rPr>
              <a:t>model</a:t>
            </a:r>
            <a:r>
              <a:rPr sz="1350" spc="-4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797090"/>
                </a:solidFill>
                <a:latin typeface="Calibri"/>
                <a:cs typeface="Calibri"/>
              </a:rPr>
              <a:t>needs</a:t>
            </a:r>
            <a:r>
              <a:rPr sz="135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797090"/>
                </a:solidFill>
                <a:latin typeface="Calibri"/>
                <a:cs typeface="Calibri"/>
              </a:rPr>
              <a:t>to</a:t>
            </a:r>
            <a:r>
              <a:rPr sz="1350" spc="-4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797090"/>
                </a:solidFill>
                <a:latin typeface="Calibri"/>
                <a:cs typeface="Calibri"/>
              </a:rPr>
              <a:t>know</a:t>
            </a:r>
            <a:r>
              <a:rPr sz="135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797090"/>
                </a:solidFill>
                <a:latin typeface="Calibri"/>
                <a:cs typeface="Calibri"/>
              </a:rPr>
              <a:t>when</a:t>
            </a:r>
            <a:r>
              <a:rPr sz="135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797090"/>
                </a:solidFill>
                <a:latin typeface="Calibri"/>
                <a:cs typeface="Calibri"/>
              </a:rPr>
              <a:t>two</a:t>
            </a:r>
            <a:r>
              <a:rPr sz="135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797090"/>
                </a:solidFill>
                <a:latin typeface="Calibri"/>
                <a:cs typeface="Calibri"/>
              </a:rPr>
              <a:t>pieces</a:t>
            </a:r>
            <a:r>
              <a:rPr sz="13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797090"/>
                </a:solidFill>
                <a:latin typeface="Calibri"/>
                <a:cs typeface="Calibri"/>
              </a:rPr>
              <a:t>of</a:t>
            </a:r>
            <a:r>
              <a:rPr sz="135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797090"/>
                </a:solidFill>
                <a:latin typeface="Calibri"/>
                <a:cs typeface="Calibri"/>
              </a:rPr>
              <a:t>text</a:t>
            </a:r>
            <a:r>
              <a:rPr sz="135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797090"/>
                </a:solidFill>
                <a:latin typeface="Calibri"/>
                <a:cs typeface="Calibri"/>
              </a:rPr>
              <a:t>mean</a:t>
            </a:r>
            <a:r>
              <a:rPr sz="135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797090"/>
                </a:solidFill>
                <a:latin typeface="Calibri"/>
                <a:cs typeface="Calibri"/>
              </a:rPr>
              <a:t>roughly</a:t>
            </a:r>
            <a:r>
              <a:rPr sz="1350" spc="-5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797090"/>
                </a:solidFill>
                <a:latin typeface="Calibri"/>
                <a:cs typeface="Calibri"/>
              </a:rPr>
              <a:t>the</a:t>
            </a:r>
            <a:r>
              <a:rPr sz="135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797090"/>
                </a:solidFill>
                <a:latin typeface="Calibri"/>
                <a:cs typeface="Calibri"/>
              </a:rPr>
              <a:t>same </a:t>
            </a:r>
            <a:r>
              <a:rPr sz="1350" dirty="0">
                <a:solidFill>
                  <a:srgbClr val="797090"/>
                </a:solidFill>
                <a:latin typeface="Calibri"/>
                <a:cs typeface="Calibri"/>
              </a:rPr>
              <a:t>thing.</a:t>
            </a:r>
            <a:r>
              <a:rPr sz="1350" spc="-4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797090"/>
                </a:solidFill>
                <a:latin typeface="Calibri"/>
                <a:cs typeface="Calibri"/>
              </a:rPr>
              <a:t>Embeddings</a:t>
            </a:r>
            <a:r>
              <a:rPr sz="13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797090"/>
                </a:solidFill>
                <a:latin typeface="Calibri"/>
                <a:cs typeface="Calibri"/>
              </a:rPr>
              <a:t>make</a:t>
            </a:r>
            <a:r>
              <a:rPr sz="135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797090"/>
                </a:solidFill>
                <a:latin typeface="Calibri"/>
                <a:cs typeface="Calibri"/>
              </a:rPr>
              <a:t>that</a:t>
            </a:r>
            <a:r>
              <a:rPr sz="135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797090"/>
                </a:solidFill>
                <a:latin typeface="Calibri"/>
                <a:cs typeface="Calibri"/>
              </a:rPr>
              <a:t>measurable.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1804" y="2323444"/>
            <a:ext cx="473075" cy="473075"/>
            <a:chOff x="631804" y="2323444"/>
            <a:chExt cx="473075" cy="473075"/>
          </a:xfrm>
        </p:grpSpPr>
        <p:sp>
          <p:nvSpPr>
            <p:cNvPr id="6" name="object 6"/>
            <p:cNvSpPr/>
            <p:nvPr/>
          </p:nvSpPr>
          <p:spPr>
            <a:xfrm>
              <a:off x="639724" y="23313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2E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9724" y="23313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946" y="198766"/>
                  </a:lnTo>
                  <a:lnTo>
                    <a:pt x="7739" y="169510"/>
                  </a:lnTo>
                  <a:lnTo>
                    <a:pt x="30594" y="114477"/>
                  </a:lnTo>
                  <a:lnTo>
                    <a:pt x="66955" y="67002"/>
                  </a:lnTo>
                  <a:lnTo>
                    <a:pt x="114109" y="30594"/>
                  </a:lnTo>
                  <a:lnTo>
                    <a:pt x="169464" y="7739"/>
                  </a:lnTo>
                  <a:lnTo>
                    <a:pt x="228600" y="0"/>
                  </a:lnTo>
                  <a:lnTo>
                    <a:pt x="287724" y="7739"/>
                  </a:lnTo>
                  <a:lnTo>
                    <a:pt x="343077" y="30594"/>
                  </a:lnTo>
                  <a:lnTo>
                    <a:pt x="390236" y="67002"/>
                  </a:lnTo>
                  <a:lnTo>
                    <a:pt x="426593" y="114477"/>
                  </a:lnTo>
                  <a:lnTo>
                    <a:pt x="449459" y="169510"/>
                  </a:lnTo>
                  <a:lnTo>
                    <a:pt x="457200" y="228600"/>
                  </a:lnTo>
                  <a:lnTo>
                    <a:pt x="455253" y="258431"/>
                  </a:lnTo>
                  <a:lnTo>
                    <a:pt x="449459" y="287724"/>
                  </a:lnTo>
                  <a:lnTo>
                    <a:pt x="426593" y="343077"/>
                  </a:lnTo>
                  <a:lnTo>
                    <a:pt x="390236" y="390236"/>
                  </a:lnTo>
                  <a:lnTo>
                    <a:pt x="343077" y="426592"/>
                  </a:lnTo>
                  <a:lnTo>
                    <a:pt x="287724" y="449459"/>
                  </a:lnTo>
                  <a:lnTo>
                    <a:pt x="228600" y="457200"/>
                  </a:lnTo>
                  <a:lnTo>
                    <a:pt x="169510" y="449459"/>
                  </a:lnTo>
                  <a:lnTo>
                    <a:pt x="114477" y="426592"/>
                  </a:lnTo>
                  <a:lnTo>
                    <a:pt x="67002" y="390236"/>
                  </a:lnTo>
                  <a:lnTo>
                    <a:pt x="30594" y="343077"/>
                  </a:lnTo>
                  <a:lnTo>
                    <a:pt x="7739" y="287724"/>
                  </a:lnTo>
                  <a:lnTo>
                    <a:pt x="1946" y="258431"/>
                  </a:lnTo>
                  <a:lnTo>
                    <a:pt x="0" y="228600"/>
                  </a:lnTo>
                  <a:close/>
                </a:path>
              </a:pathLst>
            </a:custGeom>
            <a:ln w="15839">
              <a:solidFill>
                <a:srgbClr val="B69E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9536" y="2425230"/>
            <a:ext cx="1187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694B92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7096" y="2432786"/>
            <a:ext cx="14706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29203F"/>
                </a:solidFill>
                <a:latin typeface="Calibri"/>
                <a:cs typeface="Calibri"/>
              </a:rPr>
              <a:t>Word</a:t>
            </a:r>
            <a:r>
              <a:rPr sz="1500" b="1" spc="-5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03F"/>
                </a:solidFill>
                <a:latin typeface="Calibri"/>
                <a:cs typeface="Calibri"/>
              </a:rPr>
              <a:t>embeddings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28896" y="2372730"/>
            <a:ext cx="5520690" cy="457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99"/>
              </a:lnSpc>
              <a:spcBef>
                <a:spcPts val="100"/>
              </a:spcBef>
            </a:pP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Every</a:t>
            </a:r>
            <a:r>
              <a:rPr sz="1250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word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is</a:t>
            </a:r>
            <a:r>
              <a:rPr sz="125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assigned</a:t>
            </a:r>
            <a:r>
              <a:rPr sz="125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a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vector</a:t>
            </a:r>
            <a:r>
              <a:rPr sz="1250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of</a:t>
            </a:r>
            <a:r>
              <a:rPr sz="125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numbers,</a:t>
            </a:r>
            <a:r>
              <a:rPr sz="1250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so</a:t>
            </a:r>
            <a:r>
              <a:rPr sz="1250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that</a:t>
            </a:r>
            <a:r>
              <a:rPr sz="125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semantic</a:t>
            </a:r>
            <a:r>
              <a:rPr sz="1250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properties</a:t>
            </a:r>
            <a:r>
              <a:rPr sz="125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translate</a:t>
            </a:r>
            <a:r>
              <a:rPr sz="1250" spc="-20" dirty="0">
                <a:solidFill>
                  <a:srgbClr val="797090"/>
                </a:solidFill>
                <a:latin typeface="Calibri"/>
                <a:cs typeface="Calibri"/>
              </a:rPr>
              <a:t> into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mathematical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ones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—</a:t>
            </a:r>
            <a:r>
              <a:rPr sz="125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similar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words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get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similar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vectors.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1804" y="3493800"/>
            <a:ext cx="473075" cy="473075"/>
            <a:chOff x="631804" y="3493800"/>
            <a:chExt cx="473075" cy="473075"/>
          </a:xfrm>
        </p:grpSpPr>
        <p:sp>
          <p:nvSpPr>
            <p:cNvPr id="12" name="object 12"/>
            <p:cNvSpPr/>
            <p:nvPr/>
          </p:nvSpPr>
          <p:spPr>
            <a:xfrm>
              <a:off x="639724" y="35017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6"/>
                  </a:lnTo>
                  <a:lnTo>
                    <a:pt x="30594" y="114477"/>
                  </a:lnTo>
                  <a:lnTo>
                    <a:pt x="7739" y="169514"/>
                  </a:lnTo>
                  <a:lnTo>
                    <a:pt x="0" y="228600"/>
                  </a:lnTo>
                  <a:lnTo>
                    <a:pt x="1946" y="258433"/>
                  </a:lnTo>
                  <a:lnTo>
                    <a:pt x="17311" y="316080"/>
                  </a:lnTo>
                  <a:lnTo>
                    <a:pt x="47297" y="367871"/>
                  </a:lnTo>
                  <a:lnTo>
                    <a:pt x="89473" y="409905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5"/>
                  </a:lnTo>
                  <a:lnTo>
                    <a:pt x="409900" y="367871"/>
                  </a:lnTo>
                  <a:lnTo>
                    <a:pt x="439883" y="316080"/>
                  </a:lnTo>
                  <a:lnTo>
                    <a:pt x="455253" y="258433"/>
                  </a:lnTo>
                  <a:lnTo>
                    <a:pt x="457200" y="228600"/>
                  </a:lnTo>
                  <a:lnTo>
                    <a:pt x="455253" y="198772"/>
                  </a:lnTo>
                  <a:lnTo>
                    <a:pt x="439883" y="141269"/>
                  </a:lnTo>
                  <a:lnTo>
                    <a:pt x="409900" y="89478"/>
                  </a:lnTo>
                  <a:lnTo>
                    <a:pt x="367871" y="47299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2E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9724" y="350172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946" y="198772"/>
                  </a:lnTo>
                  <a:lnTo>
                    <a:pt x="7739" y="169514"/>
                  </a:lnTo>
                  <a:lnTo>
                    <a:pt x="30594" y="114477"/>
                  </a:lnTo>
                  <a:lnTo>
                    <a:pt x="66955" y="67006"/>
                  </a:lnTo>
                  <a:lnTo>
                    <a:pt x="114109" y="30594"/>
                  </a:lnTo>
                  <a:lnTo>
                    <a:pt x="169464" y="7739"/>
                  </a:lnTo>
                  <a:lnTo>
                    <a:pt x="228600" y="0"/>
                  </a:lnTo>
                  <a:lnTo>
                    <a:pt x="287724" y="7739"/>
                  </a:lnTo>
                  <a:lnTo>
                    <a:pt x="343077" y="30594"/>
                  </a:lnTo>
                  <a:lnTo>
                    <a:pt x="390236" y="67006"/>
                  </a:lnTo>
                  <a:lnTo>
                    <a:pt x="426593" y="114477"/>
                  </a:lnTo>
                  <a:lnTo>
                    <a:pt x="449459" y="169514"/>
                  </a:lnTo>
                  <a:lnTo>
                    <a:pt x="457200" y="228600"/>
                  </a:lnTo>
                  <a:lnTo>
                    <a:pt x="455253" y="258433"/>
                  </a:lnTo>
                  <a:lnTo>
                    <a:pt x="449459" y="287729"/>
                  </a:lnTo>
                  <a:lnTo>
                    <a:pt x="426593" y="343077"/>
                  </a:lnTo>
                  <a:lnTo>
                    <a:pt x="390236" y="390237"/>
                  </a:lnTo>
                  <a:lnTo>
                    <a:pt x="343077" y="426605"/>
                  </a:lnTo>
                  <a:lnTo>
                    <a:pt x="287724" y="449460"/>
                  </a:lnTo>
                  <a:lnTo>
                    <a:pt x="228600" y="457200"/>
                  </a:lnTo>
                  <a:lnTo>
                    <a:pt x="169510" y="449460"/>
                  </a:lnTo>
                  <a:lnTo>
                    <a:pt x="114477" y="426605"/>
                  </a:lnTo>
                  <a:lnTo>
                    <a:pt x="67002" y="390237"/>
                  </a:lnTo>
                  <a:lnTo>
                    <a:pt x="30594" y="343077"/>
                  </a:lnTo>
                  <a:lnTo>
                    <a:pt x="7739" y="287729"/>
                  </a:lnTo>
                  <a:lnTo>
                    <a:pt x="1946" y="258433"/>
                  </a:lnTo>
                  <a:lnTo>
                    <a:pt x="0" y="228600"/>
                  </a:lnTo>
                  <a:close/>
                </a:path>
              </a:pathLst>
            </a:custGeom>
            <a:ln w="15839">
              <a:solidFill>
                <a:srgbClr val="B69E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04138" y="3595585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694B92"/>
                </a:solidFill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7096" y="3603142"/>
            <a:ext cx="17595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9203F"/>
                </a:solidFill>
                <a:latin typeface="Calibri"/>
                <a:cs typeface="Calibri"/>
              </a:rPr>
              <a:t>Sentence</a:t>
            </a:r>
            <a:r>
              <a:rPr sz="1500" b="1" spc="-7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03F"/>
                </a:solidFill>
                <a:latin typeface="Calibri"/>
                <a:cs typeface="Calibri"/>
              </a:rPr>
              <a:t>embeddings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28896" y="3543086"/>
            <a:ext cx="6132195" cy="457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99"/>
              </a:lnSpc>
              <a:spcBef>
                <a:spcPts val="100"/>
              </a:spcBef>
            </a:pP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A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vector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is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assigned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to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an</a:t>
            </a:r>
            <a:r>
              <a:rPr sz="125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entire</a:t>
            </a:r>
            <a:r>
              <a:rPr sz="1250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sentence.</a:t>
            </a:r>
            <a:r>
              <a:rPr sz="1250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Cohere's</a:t>
            </a:r>
            <a:r>
              <a:rPr sz="1250" spc="-20" dirty="0">
                <a:solidFill>
                  <a:srgbClr val="797090"/>
                </a:solidFill>
                <a:latin typeface="Calibri"/>
                <a:cs typeface="Calibri"/>
              </a:rPr>
              <a:t> embed-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v4.0</a:t>
            </a:r>
            <a:r>
              <a:rPr sz="1250" spc="-1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returns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vectors</a:t>
            </a:r>
            <a:r>
              <a:rPr sz="125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of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length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1536,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across</a:t>
            </a:r>
            <a:r>
              <a:rPr sz="1250" spc="-5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100+</a:t>
            </a:r>
            <a:r>
              <a:rPr sz="1250" spc="-6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languages.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1804" y="4664156"/>
            <a:ext cx="473075" cy="473075"/>
            <a:chOff x="631804" y="4664156"/>
            <a:chExt cx="473075" cy="473075"/>
          </a:xfrm>
        </p:grpSpPr>
        <p:sp>
          <p:nvSpPr>
            <p:cNvPr id="18" name="object 18"/>
            <p:cNvSpPr/>
            <p:nvPr/>
          </p:nvSpPr>
          <p:spPr>
            <a:xfrm>
              <a:off x="639724" y="46720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6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2E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9724" y="46720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946" y="198774"/>
                  </a:lnTo>
                  <a:lnTo>
                    <a:pt x="7739" y="169519"/>
                  </a:lnTo>
                  <a:lnTo>
                    <a:pt x="30594" y="114477"/>
                  </a:lnTo>
                  <a:lnTo>
                    <a:pt x="66955" y="67008"/>
                  </a:lnTo>
                  <a:lnTo>
                    <a:pt x="114109" y="30606"/>
                  </a:lnTo>
                  <a:lnTo>
                    <a:pt x="169464" y="7740"/>
                  </a:lnTo>
                  <a:lnTo>
                    <a:pt x="228600" y="0"/>
                  </a:lnTo>
                  <a:lnTo>
                    <a:pt x="287724" y="7740"/>
                  </a:lnTo>
                  <a:lnTo>
                    <a:pt x="343077" y="30606"/>
                  </a:lnTo>
                  <a:lnTo>
                    <a:pt x="390236" y="67008"/>
                  </a:lnTo>
                  <a:lnTo>
                    <a:pt x="426593" y="114477"/>
                  </a:lnTo>
                  <a:lnTo>
                    <a:pt x="449459" y="169519"/>
                  </a:lnTo>
                  <a:lnTo>
                    <a:pt x="457200" y="228600"/>
                  </a:lnTo>
                  <a:lnTo>
                    <a:pt x="455253" y="258438"/>
                  </a:lnTo>
                  <a:lnTo>
                    <a:pt x="449459" y="287734"/>
                  </a:lnTo>
                  <a:lnTo>
                    <a:pt x="426593" y="343077"/>
                  </a:lnTo>
                  <a:lnTo>
                    <a:pt x="390236" y="390242"/>
                  </a:lnTo>
                  <a:lnTo>
                    <a:pt x="343077" y="426605"/>
                  </a:lnTo>
                  <a:lnTo>
                    <a:pt x="287724" y="449460"/>
                  </a:lnTo>
                  <a:lnTo>
                    <a:pt x="228600" y="457200"/>
                  </a:lnTo>
                  <a:lnTo>
                    <a:pt x="169510" y="449460"/>
                  </a:lnTo>
                  <a:lnTo>
                    <a:pt x="114477" y="426605"/>
                  </a:lnTo>
                  <a:lnTo>
                    <a:pt x="67002" y="390242"/>
                  </a:lnTo>
                  <a:lnTo>
                    <a:pt x="30594" y="343077"/>
                  </a:lnTo>
                  <a:lnTo>
                    <a:pt x="7739" y="287734"/>
                  </a:lnTo>
                  <a:lnTo>
                    <a:pt x="1946" y="258438"/>
                  </a:lnTo>
                  <a:lnTo>
                    <a:pt x="0" y="228600"/>
                  </a:lnTo>
                  <a:close/>
                </a:path>
              </a:pathLst>
            </a:custGeom>
            <a:ln w="15839">
              <a:solidFill>
                <a:srgbClr val="B69E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04138" y="4765941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694B92"/>
                </a:solidFill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57096" y="4773498"/>
            <a:ext cx="13119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9203F"/>
                </a:solidFill>
                <a:latin typeface="Calibri"/>
                <a:cs typeface="Calibri"/>
              </a:rPr>
              <a:t>Similarity</a:t>
            </a:r>
            <a:r>
              <a:rPr sz="1500" b="1" spc="-5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9203F"/>
                </a:solidFill>
                <a:latin typeface="Calibri"/>
                <a:cs typeface="Calibri"/>
              </a:rPr>
              <a:t>scores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28896" y="4713454"/>
            <a:ext cx="6188710" cy="457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99"/>
              </a:lnSpc>
              <a:spcBef>
                <a:spcPts val="100"/>
              </a:spcBef>
            </a:pP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Once</a:t>
            </a:r>
            <a:r>
              <a:rPr sz="1250" spc="-4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meaning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lives</a:t>
            </a:r>
            <a:r>
              <a:rPr sz="1250" spc="-4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in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numbers,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we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can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score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how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close</a:t>
            </a:r>
            <a:r>
              <a:rPr sz="125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two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vectors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are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—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the</a:t>
            </a:r>
            <a:r>
              <a:rPr sz="125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higher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the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score,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the</a:t>
            </a:r>
            <a:r>
              <a:rPr sz="125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more</a:t>
            </a:r>
            <a:r>
              <a:rPr sz="125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similar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the</a:t>
            </a:r>
            <a:r>
              <a:rPr sz="1250" spc="-4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meaning.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-355" y="5989320"/>
            <a:ext cx="12192000" cy="868680"/>
          </a:xfrm>
          <a:custGeom>
            <a:avLst/>
            <a:gdLst/>
            <a:ahLst/>
            <a:cxnLst/>
            <a:rect l="l" t="t" r="r" b="b"/>
            <a:pathLst>
              <a:path w="12192000" h="868679">
                <a:moveTo>
                  <a:pt x="12191390" y="0"/>
                </a:moveTo>
                <a:lnTo>
                  <a:pt x="0" y="0"/>
                </a:lnTo>
                <a:lnTo>
                  <a:pt x="0" y="868324"/>
                </a:lnTo>
                <a:lnTo>
                  <a:pt x="6095873" y="868324"/>
                </a:lnTo>
                <a:lnTo>
                  <a:pt x="12191390" y="868324"/>
                </a:lnTo>
                <a:lnTo>
                  <a:pt x="12191390" y="0"/>
                </a:lnTo>
                <a:close/>
              </a:path>
            </a:pathLst>
          </a:custGeom>
          <a:solidFill>
            <a:srgbClr val="F2EE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17016" y="6311785"/>
            <a:ext cx="873950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spc="-10" dirty="0">
                <a:solidFill>
                  <a:srgbClr val="694B92"/>
                </a:solidFill>
                <a:latin typeface="Calibri"/>
                <a:cs typeface="Calibri"/>
              </a:rPr>
              <a:t>“Hello,</a:t>
            </a:r>
            <a:r>
              <a:rPr sz="1300" i="1" spc="-2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94B92"/>
                </a:solidFill>
                <a:latin typeface="Calibri"/>
                <a:cs typeface="Calibri"/>
              </a:rPr>
              <a:t>how</a:t>
            </a:r>
            <a:r>
              <a:rPr sz="1300" i="1" spc="-2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94B92"/>
                </a:solidFill>
                <a:latin typeface="Calibri"/>
                <a:cs typeface="Calibri"/>
              </a:rPr>
              <a:t>are</a:t>
            </a:r>
            <a:r>
              <a:rPr sz="1300" i="1" spc="-3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94B92"/>
                </a:solidFill>
                <a:latin typeface="Calibri"/>
                <a:cs typeface="Calibri"/>
              </a:rPr>
              <a:t>you?”</a:t>
            </a:r>
            <a:r>
              <a:rPr sz="1300" i="1" spc="254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94B92"/>
                </a:solidFill>
                <a:latin typeface="Calibri"/>
                <a:cs typeface="Calibri"/>
              </a:rPr>
              <a:t>and</a:t>
            </a:r>
            <a:r>
              <a:rPr sz="1300" i="1" spc="25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spc="-20" dirty="0">
                <a:solidFill>
                  <a:srgbClr val="694B92"/>
                </a:solidFill>
                <a:latin typeface="Calibri"/>
                <a:cs typeface="Calibri"/>
              </a:rPr>
              <a:t>“</a:t>
            </a:r>
            <a:r>
              <a:rPr lang="ur-PK" sz="1300" i="1" spc="-20" dirty="0">
                <a:solidFill>
                  <a:srgbClr val="694B92"/>
                </a:solidFill>
                <a:latin typeface="Calibri"/>
                <a:cs typeface="Calibri"/>
              </a:rPr>
              <a:t>ہیلو، آپ کیسے ہیں؟</a:t>
            </a:r>
            <a:r>
              <a:rPr sz="1300" i="1" dirty="0">
                <a:solidFill>
                  <a:srgbClr val="694B92"/>
                </a:solidFill>
                <a:latin typeface="Calibri"/>
                <a:cs typeface="Calibri"/>
              </a:rPr>
              <a:t>”</a:t>
            </a:r>
            <a:r>
              <a:rPr sz="1300" i="1" spc="254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94B92"/>
                </a:solidFill>
                <a:latin typeface="Calibri"/>
                <a:cs typeface="Calibri"/>
              </a:rPr>
              <a:t>are</a:t>
            </a:r>
            <a:r>
              <a:rPr sz="1300" i="1" spc="-3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94B92"/>
                </a:solidFill>
                <a:latin typeface="Calibri"/>
                <a:cs typeface="Calibri"/>
              </a:rPr>
              <a:t>assigned</a:t>
            </a:r>
            <a:r>
              <a:rPr sz="1300" i="1" spc="-2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94B92"/>
                </a:solidFill>
                <a:latin typeface="Calibri"/>
                <a:cs typeface="Calibri"/>
              </a:rPr>
              <a:t>nearly</a:t>
            </a:r>
            <a:r>
              <a:rPr sz="1300" i="1" spc="-2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694B92"/>
                </a:solidFill>
                <a:latin typeface="Calibri"/>
                <a:cs typeface="Calibri"/>
              </a:rPr>
              <a:t>identical</a:t>
            </a:r>
            <a:r>
              <a:rPr sz="1300" i="1" spc="-2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94B92"/>
                </a:solidFill>
                <a:latin typeface="Calibri"/>
                <a:cs typeface="Calibri"/>
              </a:rPr>
              <a:t>vectors</a:t>
            </a:r>
            <a:r>
              <a:rPr sz="1300" i="1" spc="-1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94B92"/>
                </a:solidFill>
                <a:latin typeface="Calibri"/>
                <a:cs typeface="Calibri"/>
              </a:rPr>
              <a:t>—</a:t>
            </a:r>
            <a:r>
              <a:rPr sz="1300" i="1" spc="-3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94B92"/>
                </a:solidFill>
                <a:latin typeface="Calibri"/>
                <a:cs typeface="Calibri"/>
              </a:rPr>
              <a:t>same</a:t>
            </a:r>
            <a:r>
              <a:rPr sz="1300" i="1" spc="-2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94B92"/>
                </a:solidFill>
                <a:latin typeface="Calibri"/>
                <a:cs typeface="Calibri"/>
              </a:rPr>
              <a:t>meaning,</a:t>
            </a:r>
            <a:r>
              <a:rPr sz="1300" i="1" spc="-2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694B92"/>
                </a:solidFill>
                <a:latin typeface="Calibri"/>
                <a:cs typeface="Calibri"/>
              </a:rPr>
              <a:t>different</a:t>
            </a:r>
            <a:r>
              <a:rPr sz="1300" i="1" spc="-2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694B92"/>
                </a:solidFill>
                <a:latin typeface="Calibri"/>
                <a:cs typeface="Calibri"/>
              </a:rPr>
              <a:t>language.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016" y="512889"/>
            <a:ext cx="1343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A</a:t>
            </a:r>
            <a:r>
              <a:rPr sz="1200" b="1" spc="40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T</a:t>
            </a:r>
            <a:r>
              <a:rPr sz="1200" b="1" spc="-10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O</a:t>
            </a:r>
            <a:r>
              <a:rPr sz="1200" b="1" spc="-114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Y</a:t>
            </a:r>
            <a:r>
              <a:rPr sz="1200" b="1" spc="409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E</a:t>
            </a:r>
            <a:r>
              <a:rPr sz="1200" b="1" spc="-8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X</a:t>
            </a:r>
            <a:r>
              <a:rPr sz="1200" b="1" spc="-7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694B92"/>
                </a:solidFill>
                <a:latin typeface="Calibri"/>
                <a:cs typeface="Calibri"/>
              </a:rPr>
              <a:t>M</a:t>
            </a:r>
            <a:r>
              <a:rPr sz="1200" b="1" spc="-8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P</a:t>
            </a:r>
            <a:r>
              <a:rPr sz="1200" b="1" spc="-6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L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694B92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Four</a:t>
            </a:r>
            <a:r>
              <a:rPr spc="-95" dirty="0"/>
              <a:t> </a:t>
            </a:r>
            <a:r>
              <a:rPr spc="75" dirty="0"/>
              <a:t>movies,</a:t>
            </a:r>
            <a:r>
              <a:rPr spc="-95" dirty="0"/>
              <a:t> </a:t>
            </a:r>
            <a:r>
              <a:rPr spc="75" dirty="0"/>
              <a:t>two</a:t>
            </a:r>
            <a:r>
              <a:rPr spc="-95" dirty="0"/>
              <a:t> </a:t>
            </a:r>
            <a:r>
              <a:rPr spc="75" dirty="0"/>
              <a:t>scores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7016" y="1416928"/>
            <a:ext cx="4761230" cy="457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99"/>
              </a:lnSpc>
              <a:spcBef>
                <a:spcPts val="100"/>
              </a:spcBef>
            </a:pP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Imagine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a</a:t>
            </a:r>
            <a:r>
              <a:rPr sz="1250" spc="-20" dirty="0">
                <a:solidFill>
                  <a:srgbClr val="797090"/>
                </a:solidFill>
                <a:latin typeface="Calibri"/>
                <a:cs typeface="Calibri"/>
              </a:rPr>
              <a:t> 2-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dimensional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embedding:</a:t>
            </a:r>
            <a:r>
              <a:rPr sz="1250" spc="-1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an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Action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score</a:t>
            </a:r>
            <a:r>
              <a:rPr sz="1250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and</a:t>
            </a:r>
            <a:r>
              <a:rPr sz="125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a</a:t>
            </a:r>
            <a:r>
              <a:rPr sz="125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Comedy</a:t>
            </a:r>
            <a:r>
              <a:rPr sz="125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score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for</a:t>
            </a:r>
            <a:r>
              <a:rPr sz="1250" spc="-5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97090"/>
                </a:solidFill>
                <a:latin typeface="Calibri"/>
                <a:cs typeface="Calibri"/>
              </a:rPr>
              <a:t>each</a:t>
            </a:r>
            <a:r>
              <a:rPr sz="1250" spc="-5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797090"/>
                </a:solidFill>
                <a:latin typeface="Calibri"/>
                <a:cs typeface="Calibri"/>
              </a:rPr>
              <a:t>title.</a:t>
            </a:r>
            <a:endParaRPr sz="12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4681" y="2097721"/>
          <a:ext cx="5120640" cy="2009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Movie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  <a:solidFill>
                      <a:srgbClr val="2315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  <a:solidFill>
                      <a:srgbClr val="2315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Comedy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  <a:solidFill>
                      <a:srgbClr val="231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5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You’ve </a:t>
                      </a:r>
                      <a:r>
                        <a:rPr sz="120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Got</a:t>
                      </a:r>
                      <a:r>
                        <a:rPr sz="1200" spc="-2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Mail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0" dirty="0">
                          <a:solidFill>
                            <a:srgbClr val="79709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0" dirty="0">
                          <a:solidFill>
                            <a:srgbClr val="79709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Rush</a:t>
                      </a:r>
                      <a:r>
                        <a:rPr sz="1200" spc="-25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Hour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0" dirty="0">
                          <a:solidFill>
                            <a:srgbClr val="79709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0" dirty="0">
                          <a:solidFill>
                            <a:srgbClr val="79709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Rush</a:t>
                      </a:r>
                      <a:r>
                        <a:rPr sz="1200" spc="-2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Hour</a:t>
                      </a:r>
                      <a:r>
                        <a:rPr sz="1200" spc="-25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0" dirty="0">
                          <a:solidFill>
                            <a:srgbClr val="79709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0" dirty="0">
                          <a:solidFill>
                            <a:srgbClr val="79709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Taken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0" dirty="0">
                          <a:solidFill>
                            <a:srgbClr val="79709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0" dirty="0">
                          <a:solidFill>
                            <a:srgbClr val="79709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7016" y="4600552"/>
            <a:ext cx="4780280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Notice</a:t>
            </a:r>
            <a:r>
              <a:rPr sz="12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score</a:t>
            </a:r>
            <a:r>
              <a:rPr sz="120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1</a:t>
            </a:r>
            <a:r>
              <a:rPr sz="12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is</a:t>
            </a:r>
            <a:r>
              <a:rPr sz="120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high</a:t>
            </a:r>
            <a:r>
              <a:rPr sz="120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whenever</a:t>
            </a:r>
            <a:r>
              <a:rPr sz="12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a</a:t>
            </a:r>
            <a:r>
              <a:rPr sz="12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film</a:t>
            </a:r>
            <a:r>
              <a:rPr sz="120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leans</a:t>
            </a:r>
            <a:r>
              <a:rPr sz="120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action,</a:t>
            </a:r>
            <a:r>
              <a:rPr sz="120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and</a:t>
            </a:r>
            <a:r>
              <a:rPr sz="120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score</a:t>
            </a:r>
            <a:r>
              <a:rPr sz="120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2</a:t>
            </a:r>
            <a:r>
              <a:rPr sz="12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is</a:t>
            </a:r>
            <a:r>
              <a:rPr sz="1200" i="1" spc="-20" dirty="0">
                <a:solidFill>
                  <a:srgbClr val="797090"/>
                </a:solidFill>
                <a:latin typeface="Calibri"/>
                <a:cs typeface="Calibri"/>
              </a:rPr>
              <a:t> high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whenever</a:t>
            </a:r>
            <a:r>
              <a:rPr sz="12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it</a:t>
            </a:r>
            <a:r>
              <a:rPr sz="12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leans</a:t>
            </a:r>
            <a:r>
              <a:rPr sz="120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comedy</a:t>
            </a:r>
            <a:r>
              <a:rPr sz="120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—</a:t>
            </a:r>
            <a:r>
              <a:rPr sz="12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the</a:t>
            </a:r>
            <a:r>
              <a:rPr sz="120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numbers</a:t>
            </a:r>
            <a:r>
              <a:rPr sz="120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behave</a:t>
            </a:r>
            <a:r>
              <a:rPr sz="120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797090"/>
                </a:solidFill>
                <a:latin typeface="Calibri"/>
                <a:cs typeface="Calibri"/>
              </a:rPr>
              <a:t>like</a:t>
            </a:r>
            <a:r>
              <a:rPr sz="120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797090"/>
                </a:solidFill>
                <a:latin typeface="Calibri"/>
                <a:cs typeface="Calibri"/>
              </a:rPr>
              <a:t>human-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readable</a:t>
            </a:r>
            <a:r>
              <a:rPr sz="120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797090"/>
                </a:solidFill>
                <a:latin typeface="Calibri"/>
                <a:cs typeface="Calibri"/>
              </a:rPr>
              <a:t>traits,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though</a:t>
            </a:r>
            <a:r>
              <a:rPr sz="1200" i="1" spc="-1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that</a:t>
            </a:r>
            <a:r>
              <a:rPr sz="1200" i="1" spc="-1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97090"/>
                </a:solidFill>
                <a:latin typeface="Calibri"/>
                <a:cs typeface="Calibri"/>
              </a:rPr>
              <a:t>isn’t</a:t>
            </a:r>
            <a:r>
              <a:rPr sz="1200" i="1" spc="-1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797090"/>
                </a:solidFill>
                <a:latin typeface="Calibri"/>
                <a:cs typeface="Calibri"/>
              </a:rPr>
              <a:t>guaranteed.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00444" y="1965960"/>
            <a:ext cx="5120640" cy="4160520"/>
            <a:chOff x="6400444" y="1965960"/>
            <a:chExt cx="5120640" cy="4160520"/>
          </a:xfrm>
        </p:grpSpPr>
        <p:sp>
          <p:nvSpPr>
            <p:cNvPr id="8" name="object 8"/>
            <p:cNvSpPr/>
            <p:nvPr/>
          </p:nvSpPr>
          <p:spPr>
            <a:xfrm>
              <a:off x="6400444" y="1965960"/>
              <a:ext cx="5120640" cy="4160520"/>
            </a:xfrm>
            <a:custGeom>
              <a:avLst/>
              <a:gdLst/>
              <a:ahLst/>
              <a:cxnLst/>
              <a:rect l="l" t="t" r="r" b="b"/>
              <a:pathLst>
                <a:path w="5120640" h="4160520">
                  <a:moveTo>
                    <a:pt x="5120271" y="0"/>
                  </a:moveTo>
                  <a:lnTo>
                    <a:pt x="0" y="0"/>
                  </a:lnTo>
                  <a:lnTo>
                    <a:pt x="0" y="4160164"/>
                  </a:lnTo>
                  <a:lnTo>
                    <a:pt x="2560320" y="4160164"/>
                  </a:lnTo>
                  <a:lnTo>
                    <a:pt x="5120271" y="4160164"/>
                  </a:lnTo>
                  <a:lnTo>
                    <a:pt x="5120271" y="0"/>
                  </a:lnTo>
                  <a:close/>
                </a:path>
              </a:pathLst>
            </a:custGeom>
            <a:solidFill>
              <a:srgbClr val="F2E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86599" y="2286000"/>
              <a:ext cx="4069079" cy="3246755"/>
            </a:xfrm>
            <a:custGeom>
              <a:avLst/>
              <a:gdLst/>
              <a:ahLst/>
              <a:cxnLst/>
              <a:rect l="l" t="t" r="r" b="b"/>
              <a:pathLst>
                <a:path w="4069079" h="3246754">
                  <a:moveTo>
                    <a:pt x="0" y="0"/>
                  </a:moveTo>
                  <a:lnTo>
                    <a:pt x="355" y="3246120"/>
                  </a:lnTo>
                </a:path>
                <a:path w="4069079" h="3246754">
                  <a:moveTo>
                    <a:pt x="0" y="3246120"/>
                  </a:moveTo>
                  <a:lnTo>
                    <a:pt x="4069079" y="3246475"/>
                  </a:lnTo>
                </a:path>
              </a:pathLst>
            </a:custGeom>
            <a:ln w="12599">
              <a:solidFill>
                <a:srgbClr val="797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596545" y="2176780"/>
            <a:ext cx="46609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797090"/>
                </a:solidFill>
                <a:latin typeface="Calibri"/>
                <a:cs typeface="Calibri"/>
              </a:rPr>
              <a:t>Comedy</a:t>
            </a:r>
            <a:endParaRPr sz="105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012620" y="2753103"/>
            <a:ext cx="3646170" cy="2787015"/>
            <a:chOff x="7012620" y="2753103"/>
            <a:chExt cx="3646170" cy="2787015"/>
          </a:xfrm>
        </p:grpSpPr>
        <p:sp>
          <p:nvSpPr>
            <p:cNvPr id="12" name="object 12"/>
            <p:cNvSpPr/>
            <p:nvPr/>
          </p:nvSpPr>
          <p:spPr>
            <a:xfrm>
              <a:off x="7086599" y="2826715"/>
              <a:ext cx="3560445" cy="2705735"/>
            </a:xfrm>
            <a:custGeom>
              <a:avLst/>
              <a:gdLst/>
              <a:ahLst/>
              <a:cxnLst/>
              <a:rect l="l" t="t" r="r" b="b"/>
              <a:pathLst>
                <a:path w="3560445" h="2705735">
                  <a:moveTo>
                    <a:pt x="0" y="0"/>
                  </a:moveTo>
                  <a:lnTo>
                    <a:pt x="3560394" y="2705404"/>
                  </a:lnTo>
                </a:path>
              </a:pathLst>
            </a:custGeom>
            <a:ln w="15839">
              <a:solidFill>
                <a:srgbClr val="FF6E5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38320" y="2826715"/>
              <a:ext cx="509270" cy="541655"/>
            </a:xfrm>
            <a:custGeom>
              <a:avLst/>
              <a:gdLst/>
              <a:ahLst/>
              <a:cxnLst/>
              <a:rect l="l" t="t" r="r" b="b"/>
              <a:pathLst>
                <a:path w="509270" h="541654">
                  <a:moveTo>
                    <a:pt x="0" y="0"/>
                  </a:moveTo>
                  <a:lnTo>
                    <a:pt x="508673" y="541083"/>
                  </a:lnTo>
                </a:path>
              </a:pathLst>
            </a:custGeom>
            <a:ln w="22319">
              <a:solidFill>
                <a:srgbClr val="694B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2620" y="2753103"/>
              <a:ext cx="147235" cy="1472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64341" y="2753103"/>
              <a:ext cx="147235" cy="14723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477000" y="2724746"/>
            <a:ext cx="593847" cy="335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25" dirty="0">
                <a:solidFill>
                  <a:srgbClr val="29203F"/>
                </a:solidFill>
                <a:latin typeface="Calibri"/>
                <a:cs typeface="Calibri"/>
              </a:rPr>
              <a:t>You’ve</a:t>
            </a:r>
            <a:r>
              <a:rPr sz="1050" b="1" spc="-2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9203F"/>
                </a:solidFill>
                <a:latin typeface="Calibri"/>
                <a:cs typeface="Calibri"/>
              </a:rPr>
              <a:t>Got</a:t>
            </a:r>
            <a:r>
              <a:rPr sz="1050" b="1" spc="-20" dirty="0">
                <a:solidFill>
                  <a:srgbClr val="29203F"/>
                </a:solidFill>
                <a:latin typeface="Calibri"/>
                <a:cs typeface="Calibri"/>
              </a:rPr>
              <a:t> Mail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72142" y="2724746"/>
            <a:ext cx="59753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29203F"/>
                </a:solidFill>
                <a:latin typeface="Calibri"/>
                <a:cs typeface="Calibri"/>
              </a:rPr>
              <a:t>Rush</a:t>
            </a:r>
            <a:r>
              <a:rPr sz="1050" b="1" spc="-4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050" b="1" spc="-20" dirty="0">
                <a:solidFill>
                  <a:srgbClr val="29203F"/>
                </a:solidFill>
                <a:latin typeface="Calibri"/>
                <a:cs typeface="Calibri"/>
              </a:rPr>
              <a:t>Hour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573014" y="3294174"/>
            <a:ext cx="147320" cy="2311400"/>
            <a:chOff x="10573014" y="3294174"/>
            <a:chExt cx="147320" cy="231140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73014" y="3294174"/>
              <a:ext cx="147247" cy="14724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73014" y="5458140"/>
              <a:ext cx="147247" cy="14723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0815383" y="3265817"/>
            <a:ext cx="69405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29203F"/>
                </a:solidFill>
                <a:latin typeface="Calibri"/>
                <a:cs typeface="Calibri"/>
              </a:rPr>
              <a:t>Rush</a:t>
            </a:r>
            <a:r>
              <a:rPr sz="1050" b="1" spc="-5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9203F"/>
                </a:solidFill>
                <a:latin typeface="Calibri"/>
                <a:cs typeface="Calibri"/>
              </a:rPr>
              <a:t>Hour</a:t>
            </a:r>
            <a:r>
              <a:rPr sz="1050" b="1" spc="-50" dirty="0">
                <a:solidFill>
                  <a:srgbClr val="29203F"/>
                </a:solidFill>
                <a:latin typeface="Calibri"/>
                <a:cs typeface="Calibri"/>
              </a:rPr>
              <a:t> 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066655" y="5555616"/>
            <a:ext cx="525145" cy="464184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65"/>
              </a:spcBef>
            </a:pPr>
            <a:r>
              <a:rPr sz="1050" b="1" spc="-10" dirty="0">
                <a:solidFill>
                  <a:srgbClr val="29203F"/>
                </a:solidFill>
                <a:latin typeface="Calibri"/>
                <a:cs typeface="Calibri"/>
              </a:rPr>
              <a:t>Taken</a:t>
            </a:r>
            <a:endParaRPr sz="1050" dirty="0">
              <a:latin typeface="Calibri"/>
              <a:cs typeface="Calibri"/>
            </a:endParaRPr>
          </a:p>
          <a:p>
            <a:pPr marR="9525" algn="r">
              <a:lnSpc>
                <a:spcPct val="100000"/>
              </a:lnSpc>
              <a:spcBef>
                <a:spcPts val="465"/>
              </a:spcBef>
            </a:pPr>
            <a:r>
              <a:rPr sz="1050" spc="-10" dirty="0">
                <a:solidFill>
                  <a:srgbClr val="797090"/>
                </a:solidFill>
                <a:latin typeface="Calibri"/>
                <a:cs typeface="Calibri"/>
              </a:rPr>
              <a:t>Action </a:t>
            </a:r>
            <a:r>
              <a:rPr sz="1050" spc="-50" dirty="0">
                <a:solidFill>
                  <a:srgbClr val="797090"/>
                </a:solidFill>
                <a:latin typeface="Calibri"/>
                <a:cs typeface="Calibri"/>
              </a:rPr>
              <a:t>→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37016" y="3728415"/>
            <a:ext cx="45720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i="1" dirty="0">
                <a:solidFill>
                  <a:srgbClr val="FF6E58"/>
                </a:solidFill>
                <a:latin typeface="Calibri"/>
                <a:cs typeface="Calibri"/>
              </a:rPr>
              <a:t>far</a:t>
            </a:r>
            <a:r>
              <a:rPr sz="950" i="1" spc="-45" dirty="0">
                <a:solidFill>
                  <a:srgbClr val="FF6E58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FF6E58"/>
                </a:solidFill>
                <a:latin typeface="Calibri"/>
                <a:cs typeface="Calibri"/>
              </a:rPr>
              <a:t>apart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78338" y="2783420"/>
            <a:ext cx="2686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i="1" spc="-10" dirty="0">
                <a:solidFill>
                  <a:srgbClr val="694B92"/>
                </a:solidFill>
                <a:latin typeface="Calibri"/>
                <a:cs typeface="Calibri"/>
              </a:rPr>
              <a:t>close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2315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7016" y="512889"/>
            <a:ext cx="3058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B69EDD"/>
                </a:solidFill>
                <a:latin typeface="Calibri"/>
                <a:cs typeface="Calibri"/>
              </a:rPr>
              <a:t>M</a:t>
            </a:r>
            <a:r>
              <a:rPr sz="1200" b="1" spc="-8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E</a:t>
            </a:r>
            <a:r>
              <a:rPr sz="1200" b="1" spc="-9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A</a:t>
            </a:r>
            <a:r>
              <a:rPr sz="1200" b="1" spc="-6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S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U</a:t>
            </a:r>
            <a:r>
              <a:rPr sz="1200" b="1" spc="-6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R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I</a:t>
            </a:r>
            <a:r>
              <a:rPr sz="1200" b="1" spc="-6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N</a:t>
            </a:r>
            <a:r>
              <a:rPr sz="1200" b="1" spc="-8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G</a:t>
            </a:r>
            <a:r>
              <a:rPr sz="1200" b="1" spc="42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S</a:t>
            </a:r>
            <a:r>
              <a:rPr sz="1200" b="1" spc="-7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B69EDD"/>
                </a:solidFill>
                <a:latin typeface="Calibri"/>
                <a:cs typeface="Calibri"/>
              </a:rPr>
              <a:t>M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I</a:t>
            </a:r>
            <a:r>
              <a:rPr sz="1200" b="1" spc="-6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L</a:t>
            </a:r>
            <a:r>
              <a:rPr sz="1200" b="1" spc="-8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A</a:t>
            </a:r>
            <a:r>
              <a:rPr sz="1200" b="1" spc="-6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R</a:t>
            </a:r>
            <a:r>
              <a:rPr sz="1200" b="1" spc="-7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I</a:t>
            </a:r>
            <a:r>
              <a:rPr sz="1200" b="1" spc="-6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T</a:t>
            </a:r>
            <a:r>
              <a:rPr sz="1200" b="1" spc="-8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Y,</a:t>
            </a:r>
            <a:r>
              <a:rPr sz="1200" b="1" spc="42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B69EDD"/>
                </a:solidFill>
                <a:latin typeface="Calibri"/>
                <a:cs typeface="Calibri"/>
              </a:rPr>
              <a:t>M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E</a:t>
            </a:r>
            <a:r>
              <a:rPr sz="1200" b="1" spc="-6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T</a:t>
            </a:r>
            <a:r>
              <a:rPr sz="1200" b="1" spc="-6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H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O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D</a:t>
            </a:r>
            <a:r>
              <a:rPr sz="1200" b="1" spc="41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B69EDD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</a:rPr>
              <a:t>Dot</a:t>
            </a:r>
            <a:r>
              <a:rPr sz="3000" spc="5" dirty="0">
                <a:solidFill>
                  <a:srgbClr val="FFFFFF"/>
                </a:solidFill>
              </a:rPr>
              <a:t> </a:t>
            </a:r>
            <a:r>
              <a:rPr sz="3000" dirty="0">
                <a:solidFill>
                  <a:srgbClr val="FFFFFF"/>
                </a:solidFill>
              </a:rPr>
              <a:t>Product</a:t>
            </a:r>
            <a:r>
              <a:rPr sz="3000" spc="5" dirty="0">
                <a:solidFill>
                  <a:srgbClr val="FFFFFF"/>
                </a:solidFill>
              </a:rPr>
              <a:t> </a:t>
            </a:r>
            <a:r>
              <a:rPr sz="3000" spc="-10" dirty="0">
                <a:solidFill>
                  <a:srgbClr val="FFFFFF"/>
                </a:solidFill>
              </a:rPr>
              <a:t>Similarity</a:t>
            </a:r>
            <a:endParaRPr sz="3000"/>
          </a:p>
        </p:txBody>
      </p:sp>
      <p:sp>
        <p:nvSpPr>
          <p:cNvPr id="5" name="object 5"/>
          <p:cNvSpPr/>
          <p:nvPr/>
        </p:nvSpPr>
        <p:spPr>
          <a:xfrm>
            <a:off x="639724" y="2194560"/>
            <a:ext cx="4937760" cy="1051560"/>
          </a:xfrm>
          <a:custGeom>
            <a:avLst/>
            <a:gdLst/>
            <a:ahLst/>
            <a:cxnLst/>
            <a:rect l="l" t="t" r="r" b="b"/>
            <a:pathLst>
              <a:path w="4937760" h="1051560">
                <a:moveTo>
                  <a:pt x="486431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978484"/>
                </a:lnTo>
                <a:lnTo>
                  <a:pt x="594" y="987755"/>
                </a:lnTo>
                <a:lnTo>
                  <a:pt x="607" y="987960"/>
                </a:lnTo>
                <a:lnTo>
                  <a:pt x="2394" y="997156"/>
                </a:lnTo>
                <a:lnTo>
                  <a:pt x="2428" y="997335"/>
                </a:lnTo>
                <a:lnTo>
                  <a:pt x="5412" y="1006219"/>
                </a:lnTo>
                <a:lnTo>
                  <a:pt x="36360" y="1041844"/>
                </a:lnTo>
                <a:lnTo>
                  <a:pt x="73075" y="1051560"/>
                </a:lnTo>
                <a:lnTo>
                  <a:pt x="4864671" y="1051204"/>
                </a:lnTo>
                <a:lnTo>
                  <a:pt x="4909049" y="1036100"/>
                </a:lnTo>
                <a:lnTo>
                  <a:pt x="4935269" y="997335"/>
                </a:lnTo>
                <a:lnTo>
                  <a:pt x="4937760" y="978115"/>
                </a:lnTo>
                <a:lnTo>
                  <a:pt x="4937391" y="73075"/>
                </a:lnTo>
                <a:lnTo>
                  <a:pt x="4922300" y="28705"/>
                </a:lnTo>
                <a:lnTo>
                  <a:pt x="4883350" y="2428"/>
                </a:lnTo>
                <a:lnTo>
                  <a:pt x="4873949" y="607"/>
                </a:lnTo>
                <a:lnTo>
                  <a:pt x="4864315" y="0"/>
                </a:lnTo>
                <a:close/>
              </a:path>
            </a:pathLst>
          </a:custGeom>
          <a:solidFill>
            <a:srgbClr val="3322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45616" y="2555176"/>
            <a:ext cx="25228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0" dirty="0">
                <a:solidFill>
                  <a:srgbClr val="FF6E58"/>
                </a:solidFill>
                <a:latin typeface="Times New Roman"/>
                <a:cs typeface="Times New Roman"/>
              </a:rPr>
              <a:t>a</a:t>
            </a:r>
            <a:r>
              <a:rPr sz="2000" b="1" spc="-80" dirty="0">
                <a:solidFill>
                  <a:srgbClr val="FF6E58"/>
                </a:solidFill>
                <a:latin typeface="Times New Roman"/>
                <a:cs typeface="Times New Roman"/>
              </a:rPr>
              <a:t> </a:t>
            </a:r>
            <a:r>
              <a:rPr sz="2000" b="1" spc="-385" dirty="0">
                <a:solidFill>
                  <a:srgbClr val="FF6E58"/>
                </a:solidFill>
                <a:latin typeface="Times New Roman"/>
                <a:cs typeface="Times New Roman"/>
              </a:rPr>
              <a:t>·</a:t>
            </a:r>
            <a:r>
              <a:rPr sz="2000" b="1" spc="-65" dirty="0">
                <a:solidFill>
                  <a:srgbClr val="FF6E5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6E58"/>
                </a:solidFill>
                <a:latin typeface="Times New Roman"/>
                <a:cs typeface="Times New Roman"/>
              </a:rPr>
              <a:t>b</a:t>
            </a:r>
            <a:r>
              <a:rPr sz="2000" b="1" spc="210" dirty="0">
                <a:solidFill>
                  <a:srgbClr val="FF6E58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3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a₁b₁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a₂b₂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6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220" dirty="0">
                <a:solidFill>
                  <a:srgbClr val="FFFFFF"/>
                </a:solidFill>
                <a:latin typeface="Cambria"/>
                <a:cs typeface="Cambria"/>
              </a:rPr>
              <a:t>⋯</a:t>
            </a:r>
            <a:r>
              <a:rPr sz="1600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20" dirty="0">
                <a:solidFill>
                  <a:srgbClr val="FFFFFF"/>
                </a:solidFill>
                <a:latin typeface="Cambria"/>
                <a:cs typeface="Cambria"/>
              </a:rPr>
              <a:t>ₙ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600" spc="-20" dirty="0">
                <a:solidFill>
                  <a:srgbClr val="FFFFFF"/>
                </a:solidFill>
                <a:latin typeface="Cambria"/>
                <a:cs typeface="Cambria"/>
              </a:rPr>
              <a:t>ₙ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9724" y="3520440"/>
            <a:ext cx="4937760" cy="1417320"/>
          </a:xfrm>
          <a:custGeom>
            <a:avLst/>
            <a:gdLst/>
            <a:ahLst/>
            <a:cxnLst/>
            <a:rect l="l" t="t" r="r" b="b"/>
            <a:pathLst>
              <a:path w="4937760" h="1417320">
                <a:moveTo>
                  <a:pt x="486431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1344244"/>
                </a:lnTo>
                <a:lnTo>
                  <a:pt x="594" y="1353515"/>
                </a:lnTo>
                <a:lnTo>
                  <a:pt x="607" y="1353720"/>
                </a:lnTo>
                <a:lnTo>
                  <a:pt x="2394" y="1362916"/>
                </a:lnTo>
                <a:lnTo>
                  <a:pt x="2428" y="1363095"/>
                </a:lnTo>
                <a:lnTo>
                  <a:pt x="5412" y="1371979"/>
                </a:lnTo>
                <a:lnTo>
                  <a:pt x="5464" y="1372135"/>
                </a:lnTo>
                <a:lnTo>
                  <a:pt x="9715" y="1380604"/>
                </a:lnTo>
                <a:lnTo>
                  <a:pt x="44979" y="1411855"/>
                </a:lnTo>
                <a:lnTo>
                  <a:pt x="73075" y="1417320"/>
                </a:lnTo>
                <a:lnTo>
                  <a:pt x="4864671" y="1416964"/>
                </a:lnTo>
                <a:lnTo>
                  <a:pt x="4909049" y="1401860"/>
                </a:lnTo>
                <a:lnTo>
                  <a:pt x="4935269" y="1363095"/>
                </a:lnTo>
                <a:lnTo>
                  <a:pt x="4937760" y="1343875"/>
                </a:lnTo>
                <a:lnTo>
                  <a:pt x="4937391" y="73075"/>
                </a:lnTo>
                <a:lnTo>
                  <a:pt x="4922300" y="28705"/>
                </a:lnTo>
                <a:lnTo>
                  <a:pt x="4883350" y="2428"/>
                </a:lnTo>
                <a:lnTo>
                  <a:pt x="4873949" y="607"/>
                </a:lnTo>
                <a:lnTo>
                  <a:pt x="48643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45616" y="3700691"/>
            <a:ext cx="1666239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25" dirty="0">
                <a:solidFill>
                  <a:srgbClr val="797090"/>
                </a:solidFill>
                <a:latin typeface="Calibri"/>
                <a:cs typeface="Calibri"/>
              </a:rPr>
              <a:t>You’ve </a:t>
            </a:r>
            <a:r>
              <a:rPr sz="1250" b="1" dirty="0">
                <a:solidFill>
                  <a:srgbClr val="797090"/>
                </a:solidFill>
                <a:latin typeface="Calibri"/>
                <a:cs typeface="Calibri"/>
              </a:rPr>
              <a:t>Got</a:t>
            </a:r>
            <a:r>
              <a:rPr sz="1250" b="1" spc="-1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797090"/>
                </a:solidFill>
                <a:latin typeface="Calibri"/>
                <a:cs typeface="Calibri"/>
              </a:rPr>
              <a:t>Mail</a:t>
            </a:r>
            <a:r>
              <a:rPr sz="1250" b="1" spc="25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797090"/>
                </a:solidFill>
                <a:latin typeface="Calibri"/>
                <a:cs typeface="Calibri"/>
              </a:rPr>
              <a:t>×</a:t>
            </a:r>
            <a:r>
              <a:rPr sz="1250" b="1" spc="25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b="1" spc="-20" dirty="0">
                <a:solidFill>
                  <a:srgbClr val="797090"/>
                </a:solidFill>
                <a:latin typeface="Calibri"/>
                <a:cs typeface="Calibri"/>
              </a:rPr>
              <a:t>Taken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5616" y="4178058"/>
            <a:ext cx="12668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03F"/>
                </a:solidFill>
                <a:latin typeface="Calibri"/>
                <a:cs typeface="Calibri"/>
              </a:rPr>
              <a:t>0×7</a:t>
            </a:r>
            <a:r>
              <a:rPr sz="1700" spc="-2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9203F"/>
                </a:solidFill>
                <a:latin typeface="Calibri"/>
                <a:cs typeface="Calibri"/>
              </a:rPr>
              <a:t>+</a:t>
            </a:r>
            <a:r>
              <a:rPr sz="1700" spc="-2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9203F"/>
                </a:solidFill>
                <a:latin typeface="Calibri"/>
                <a:cs typeface="Calibri"/>
              </a:rPr>
              <a:t>5×0</a:t>
            </a:r>
            <a:r>
              <a:rPr sz="1700" spc="-1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9203F"/>
                </a:solidFill>
                <a:latin typeface="Calibri"/>
                <a:cs typeface="Calibri"/>
              </a:rPr>
              <a:t>=</a:t>
            </a:r>
            <a:r>
              <a:rPr sz="1700" spc="-1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2600" b="1" spc="25" dirty="0">
                <a:solidFill>
                  <a:srgbClr val="FF6E58"/>
                </a:solidFill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9724" y="5120640"/>
            <a:ext cx="4937760" cy="1417320"/>
          </a:xfrm>
          <a:custGeom>
            <a:avLst/>
            <a:gdLst/>
            <a:ahLst/>
            <a:cxnLst/>
            <a:rect l="l" t="t" r="r" b="b"/>
            <a:pathLst>
              <a:path w="4937760" h="1417320">
                <a:moveTo>
                  <a:pt x="486431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1344244"/>
                </a:lnTo>
                <a:lnTo>
                  <a:pt x="594" y="1353515"/>
                </a:lnTo>
                <a:lnTo>
                  <a:pt x="607" y="1353720"/>
                </a:lnTo>
                <a:lnTo>
                  <a:pt x="2394" y="1362916"/>
                </a:lnTo>
                <a:lnTo>
                  <a:pt x="2428" y="1363095"/>
                </a:lnTo>
                <a:lnTo>
                  <a:pt x="5412" y="1371979"/>
                </a:lnTo>
                <a:lnTo>
                  <a:pt x="36360" y="1407604"/>
                </a:lnTo>
                <a:lnTo>
                  <a:pt x="73075" y="1417320"/>
                </a:lnTo>
                <a:lnTo>
                  <a:pt x="4864671" y="1416964"/>
                </a:lnTo>
                <a:lnTo>
                  <a:pt x="4909049" y="1401860"/>
                </a:lnTo>
                <a:lnTo>
                  <a:pt x="4935269" y="1363095"/>
                </a:lnTo>
                <a:lnTo>
                  <a:pt x="4937760" y="1343875"/>
                </a:lnTo>
                <a:lnTo>
                  <a:pt x="4937391" y="73075"/>
                </a:lnTo>
                <a:lnTo>
                  <a:pt x="4922300" y="28705"/>
                </a:lnTo>
                <a:lnTo>
                  <a:pt x="4883350" y="2428"/>
                </a:lnTo>
                <a:lnTo>
                  <a:pt x="4873949" y="607"/>
                </a:lnTo>
                <a:lnTo>
                  <a:pt x="48643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45616" y="5300891"/>
            <a:ext cx="173101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797090"/>
                </a:solidFill>
                <a:latin typeface="Calibri"/>
                <a:cs typeface="Calibri"/>
              </a:rPr>
              <a:t>Rush</a:t>
            </a:r>
            <a:r>
              <a:rPr sz="1250" b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797090"/>
                </a:solidFill>
                <a:latin typeface="Calibri"/>
                <a:cs typeface="Calibri"/>
              </a:rPr>
              <a:t>Hour</a:t>
            </a:r>
            <a:r>
              <a:rPr sz="1250" b="1" spc="2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797090"/>
                </a:solidFill>
                <a:latin typeface="Calibri"/>
                <a:cs typeface="Calibri"/>
              </a:rPr>
              <a:t>×</a:t>
            </a:r>
            <a:r>
              <a:rPr sz="1250" b="1" spc="2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797090"/>
                </a:solidFill>
                <a:latin typeface="Calibri"/>
                <a:cs typeface="Calibri"/>
              </a:rPr>
              <a:t>Rush</a:t>
            </a:r>
            <a:r>
              <a:rPr sz="1250" b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797090"/>
                </a:solidFill>
                <a:latin typeface="Calibri"/>
                <a:cs typeface="Calibri"/>
              </a:rPr>
              <a:t>Hour</a:t>
            </a:r>
            <a:r>
              <a:rPr sz="1250" b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250" b="1" spc="-50" dirty="0">
                <a:solidFill>
                  <a:srgbClr val="797090"/>
                </a:solidFill>
                <a:latin typeface="Calibri"/>
                <a:cs typeface="Calibri"/>
              </a:rPr>
              <a:t>2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5616" y="5778258"/>
            <a:ext cx="14351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03F"/>
                </a:solidFill>
                <a:latin typeface="Calibri"/>
                <a:cs typeface="Calibri"/>
              </a:rPr>
              <a:t>6×7</a:t>
            </a:r>
            <a:r>
              <a:rPr sz="1700" spc="-2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9203F"/>
                </a:solidFill>
                <a:latin typeface="Calibri"/>
                <a:cs typeface="Calibri"/>
              </a:rPr>
              <a:t>+</a:t>
            </a:r>
            <a:r>
              <a:rPr sz="1700" spc="-2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9203F"/>
                </a:solidFill>
                <a:latin typeface="Calibri"/>
                <a:cs typeface="Calibri"/>
              </a:rPr>
              <a:t>5×4</a:t>
            </a:r>
            <a:r>
              <a:rPr sz="1700" spc="-1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9203F"/>
                </a:solidFill>
                <a:latin typeface="Calibri"/>
                <a:cs typeface="Calibri"/>
              </a:rPr>
              <a:t>=</a:t>
            </a:r>
            <a:r>
              <a:rPr sz="1700" spc="-1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694B92"/>
                </a:solidFill>
                <a:latin typeface="Times New Roman"/>
                <a:cs typeface="Times New Roman"/>
              </a:rPr>
              <a:t>62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7016" y="1495630"/>
            <a:ext cx="7026909" cy="967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19150">
              <a:lnSpc>
                <a:spcPct val="115399"/>
              </a:lnSpc>
              <a:spcBef>
                <a:spcPts val="100"/>
              </a:spcBef>
            </a:pP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Multiply</a:t>
            </a:r>
            <a:r>
              <a:rPr sz="1300" spc="-4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matching</a:t>
            </a:r>
            <a:r>
              <a:rPr sz="130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scores</a:t>
            </a:r>
            <a:r>
              <a:rPr sz="130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D7CEED"/>
                </a:solidFill>
                <a:latin typeface="Calibri"/>
                <a:cs typeface="Calibri"/>
              </a:rPr>
              <a:t>together,</a:t>
            </a:r>
            <a:r>
              <a:rPr sz="130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then</a:t>
            </a:r>
            <a:r>
              <a:rPr sz="130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add.</a:t>
            </a:r>
            <a:r>
              <a:rPr sz="1300" spc="-4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D7CEED"/>
                </a:solidFill>
                <a:latin typeface="Calibri"/>
                <a:cs typeface="Calibri"/>
              </a:rPr>
              <a:t>Vectors</a:t>
            </a:r>
            <a:r>
              <a:rPr sz="130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that</a:t>
            </a:r>
            <a:r>
              <a:rPr sz="1300" spc="-4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agree</a:t>
            </a:r>
            <a:r>
              <a:rPr sz="130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dimension</a:t>
            </a:r>
            <a:r>
              <a:rPr sz="1300" spc="-4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produce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a</a:t>
            </a:r>
            <a:r>
              <a:rPr sz="1300" spc="-4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large</a:t>
            </a:r>
            <a:r>
              <a:rPr sz="1300" spc="-4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number</a:t>
            </a:r>
            <a:r>
              <a:rPr sz="130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—</a:t>
            </a:r>
            <a:r>
              <a:rPr sz="1300" spc="-4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vectors</a:t>
            </a:r>
            <a:r>
              <a:rPr sz="130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don’t,</a:t>
            </a:r>
            <a:r>
              <a:rPr sz="130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small</a:t>
            </a:r>
            <a:r>
              <a:rPr sz="1300" spc="-4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D7CEED"/>
                </a:solidFill>
                <a:latin typeface="Calibri"/>
                <a:cs typeface="Calibri"/>
              </a:rPr>
              <a:t>one.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3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250" b="1" dirty="0">
                <a:solidFill>
                  <a:srgbClr val="B6AAD5"/>
                </a:solidFill>
                <a:latin typeface="Calibri"/>
                <a:cs typeface="Calibri"/>
              </a:rPr>
              <a:t>Which</a:t>
            </a:r>
            <a:r>
              <a:rPr sz="1250" b="1" spc="-45" dirty="0">
                <a:solidFill>
                  <a:srgbClr val="B6AAD5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B6AAD5"/>
                </a:solidFill>
                <a:latin typeface="Calibri"/>
                <a:cs typeface="Calibri"/>
              </a:rPr>
              <a:t>matches</a:t>
            </a:r>
            <a:r>
              <a:rPr sz="1250" b="1" spc="-30" dirty="0">
                <a:solidFill>
                  <a:srgbClr val="B6AAD5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B6AAD5"/>
                </a:solidFill>
                <a:latin typeface="Calibri"/>
                <a:cs typeface="Calibri"/>
              </a:rPr>
              <a:t>intuition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34684" y="2944444"/>
            <a:ext cx="5394960" cy="292735"/>
            <a:chOff x="6034684" y="2944444"/>
            <a:chExt cx="5394960" cy="292735"/>
          </a:xfrm>
        </p:grpSpPr>
        <p:sp>
          <p:nvSpPr>
            <p:cNvPr id="15" name="object 15"/>
            <p:cNvSpPr/>
            <p:nvPr/>
          </p:nvSpPr>
          <p:spPr>
            <a:xfrm>
              <a:off x="6034684" y="2944444"/>
              <a:ext cx="5394960" cy="292735"/>
            </a:xfrm>
            <a:custGeom>
              <a:avLst/>
              <a:gdLst/>
              <a:ahLst/>
              <a:cxnLst/>
              <a:rect l="l" t="t" r="r" b="b"/>
              <a:pathLst>
                <a:path w="5394959" h="292735">
                  <a:moveTo>
                    <a:pt x="5394591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2697479" y="292315"/>
                  </a:lnTo>
                  <a:lnTo>
                    <a:pt x="5394591" y="292315"/>
                  </a:lnTo>
                  <a:lnTo>
                    <a:pt x="5394591" y="0"/>
                  </a:lnTo>
                  <a:close/>
                </a:path>
              </a:pathLst>
            </a:custGeom>
            <a:solidFill>
              <a:srgbClr val="3322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34684" y="2944444"/>
              <a:ext cx="248920" cy="292735"/>
            </a:xfrm>
            <a:custGeom>
              <a:avLst/>
              <a:gdLst/>
              <a:ahLst/>
              <a:cxnLst/>
              <a:rect l="l" t="t" r="r" b="b"/>
              <a:pathLst>
                <a:path w="248920" h="292735">
                  <a:moveTo>
                    <a:pt x="248754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124561" y="292315"/>
                  </a:lnTo>
                  <a:lnTo>
                    <a:pt x="248754" y="292315"/>
                  </a:lnTo>
                  <a:lnTo>
                    <a:pt x="248754" y="0"/>
                  </a:lnTo>
                  <a:close/>
                </a:path>
              </a:pathLst>
            </a:custGeom>
            <a:solidFill>
              <a:srgbClr val="FF6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11976" y="2684411"/>
            <a:ext cx="1614805" cy="50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You’ve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Got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Mail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↔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Taken</a:t>
            </a:r>
            <a:endParaRPr sz="1200">
              <a:latin typeface="Calibri"/>
              <a:cs typeface="Calibri"/>
            </a:endParaRPr>
          </a:p>
          <a:p>
            <a:pPr marL="334645">
              <a:lnSpc>
                <a:spcPct val="100000"/>
              </a:lnSpc>
              <a:spcBef>
                <a:spcPts val="935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11976" y="3553091"/>
            <a:ext cx="1689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Rush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Hour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↔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Rush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Hour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34684" y="3813124"/>
            <a:ext cx="5394960" cy="292735"/>
            <a:chOff x="6034684" y="3813124"/>
            <a:chExt cx="5394960" cy="292735"/>
          </a:xfrm>
        </p:grpSpPr>
        <p:sp>
          <p:nvSpPr>
            <p:cNvPr id="20" name="object 20"/>
            <p:cNvSpPr/>
            <p:nvPr/>
          </p:nvSpPr>
          <p:spPr>
            <a:xfrm>
              <a:off x="6034684" y="3813124"/>
              <a:ext cx="5394960" cy="292735"/>
            </a:xfrm>
            <a:custGeom>
              <a:avLst/>
              <a:gdLst/>
              <a:ahLst/>
              <a:cxnLst/>
              <a:rect l="l" t="t" r="r" b="b"/>
              <a:pathLst>
                <a:path w="5394959" h="292735">
                  <a:moveTo>
                    <a:pt x="5394591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2697479" y="292315"/>
                  </a:lnTo>
                  <a:lnTo>
                    <a:pt x="5394591" y="292315"/>
                  </a:lnTo>
                  <a:lnTo>
                    <a:pt x="5394591" y="0"/>
                  </a:lnTo>
                  <a:close/>
                </a:path>
              </a:pathLst>
            </a:custGeom>
            <a:solidFill>
              <a:srgbClr val="3322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34684" y="3813124"/>
              <a:ext cx="5146040" cy="292735"/>
            </a:xfrm>
            <a:custGeom>
              <a:avLst/>
              <a:gdLst/>
              <a:ahLst/>
              <a:cxnLst/>
              <a:rect l="l" t="t" r="r" b="b"/>
              <a:pathLst>
                <a:path w="5146040" h="292735">
                  <a:moveTo>
                    <a:pt x="5145481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2572918" y="292315"/>
                  </a:lnTo>
                  <a:lnTo>
                    <a:pt x="5145481" y="292315"/>
                  </a:lnTo>
                  <a:lnTo>
                    <a:pt x="5145481" y="0"/>
                  </a:lnTo>
                  <a:close/>
                </a:path>
              </a:pathLst>
            </a:custGeom>
            <a:solidFill>
              <a:srgbClr val="694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331257" y="3854780"/>
            <a:ext cx="179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62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11976" y="4754272"/>
            <a:ext cx="5026025" cy="457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A</a:t>
            </a:r>
            <a:r>
              <a:rPr sz="1200" i="1" spc="-25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dot</a:t>
            </a:r>
            <a:r>
              <a:rPr sz="1200" i="1" spc="-20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product</a:t>
            </a:r>
            <a:r>
              <a:rPr sz="1200" i="1" spc="-20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of</a:t>
            </a:r>
            <a:r>
              <a:rPr sz="1200" i="1" spc="-20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0</a:t>
            </a:r>
            <a:r>
              <a:rPr sz="1200" i="1" spc="-20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means</a:t>
            </a:r>
            <a:r>
              <a:rPr sz="1200" i="1" spc="-25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“no</a:t>
            </a:r>
            <a:r>
              <a:rPr sz="1200" i="1" spc="-15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agreement</a:t>
            </a:r>
            <a:r>
              <a:rPr sz="1200" i="1" spc="-20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at</a:t>
            </a:r>
            <a:r>
              <a:rPr sz="1200" i="1" spc="-20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all”</a:t>
            </a:r>
            <a:r>
              <a:rPr sz="1200" i="1" spc="-25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—</a:t>
            </a:r>
            <a:r>
              <a:rPr sz="1200" i="1" spc="-20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C8BDDF"/>
                </a:solidFill>
                <a:latin typeface="Calibri"/>
                <a:cs typeface="Calibri"/>
              </a:rPr>
              <a:t>exactly</a:t>
            </a:r>
            <a:r>
              <a:rPr sz="1200" i="1" spc="-25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what</a:t>
            </a:r>
            <a:r>
              <a:rPr sz="1200" i="1" spc="-15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spc="-20" dirty="0">
                <a:solidFill>
                  <a:srgbClr val="C8BDDF"/>
                </a:solidFill>
                <a:latin typeface="Calibri"/>
                <a:cs typeface="Calibri"/>
              </a:rPr>
              <a:t>we’d </a:t>
            </a:r>
            <a:r>
              <a:rPr sz="1200" i="1" spc="-10" dirty="0">
                <a:solidFill>
                  <a:srgbClr val="C8BDDF"/>
                </a:solidFill>
                <a:latin typeface="Calibri"/>
                <a:cs typeface="Calibri"/>
              </a:rPr>
              <a:t>expect</a:t>
            </a:r>
            <a:r>
              <a:rPr sz="1200" i="1" spc="-20" dirty="0">
                <a:solidFill>
                  <a:srgbClr val="C8BDDF"/>
                </a:solidFill>
                <a:latin typeface="Calibri"/>
                <a:cs typeface="Calibri"/>
              </a:rPr>
              <a:t> from </a:t>
            </a: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two</a:t>
            </a:r>
            <a:r>
              <a:rPr sz="1200" i="1" spc="-20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8BDDF"/>
                </a:solidFill>
                <a:latin typeface="Calibri"/>
                <a:cs typeface="Calibri"/>
              </a:rPr>
              <a:t>very</a:t>
            </a:r>
            <a:r>
              <a:rPr sz="1200" i="1" spc="-20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C8BDDF"/>
                </a:solidFill>
                <a:latin typeface="Calibri"/>
                <a:cs typeface="Calibri"/>
              </a:rPr>
              <a:t>different</a:t>
            </a:r>
            <a:r>
              <a:rPr sz="1200" i="1" spc="-20" dirty="0">
                <a:solidFill>
                  <a:srgbClr val="C8BDDF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C8BDDF"/>
                </a:solidFill>
                <a:latin typeface="Calibri"/>
                <a:cs typeface="Calibri"/>
              </a:rPr>
              <a:t>films.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016" y="512889"/>
            <a:ext cx="3058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694B92"/>
                </a:solidFill>
                <a:latin typeface="Calibri"/>
                <a:cs typeface="Calibri"/>
              </a:rPr>
              <a:t>M</a:t>
            </a:r>
            <a:r>
              <a:rPr sz="1200" b="1" spc="-8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E</a:t>
            </a:r>
            <a:r>
              <a:rPr sz="1200" b="1" spc="-9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A</a:t>
            </a:r>
            <a:r>
              <a:rPr sz="1200" b="1" spc="-6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S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U</a:t>
            </a:r>
            <a:r>
              <a:rPr sz="1200" b="1" spc="-6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R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I</a:t>
            </a:r>
            <a:r>
              <a:rPr sz="1200" b="1" spc="-6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N</a:t>
            </a:r>
            <a:r>
              <a:rPr sz="1200" b="1" spc="-8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G</a:t>
            </a:r>
            <a:r>
              <a:rPr sz="1200" b="1" spc="42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S</a:t>
            </a:r>
            <a:r>
              <a:rPr sz="1200" b="1" spc="-7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694B92"/>
                </a:solidFill>
                <a:latin typeface="Calibri"/>
                <a:cs typeface="Calibri"/>
              </a:rPr>
              <a:t>M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I</a:t>
            </a:r>
            <a:r>
              <a:rPr sz="1200" b="1" spc="-6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L</a:t>
            </a:r>
            <a:r>
              <a:rPr sz="1200" b="1" spc="-8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A</a:t>
            </a:r>
            <a:r>
              <a:rPr sz="1200" b="1" spc="-6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R</a:t>
            </a:r>
            <a:r>
              <a:rPr sz="1200" b="1" spc="-7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I</a:t>
            </a:r>
            <a:r>
              <a:rPr sz="1200" b="1" spc="-6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T</a:t>
            </a:r>
            <a:r>
              <a:rPr sz="1200" b="1" spc="-8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Y,</a:t>
            </a:r>
            <a:r>
              <a:rPr sz="1200" b="1" spc="42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694B92"/>
                </a:solidFill>
                <a:latin typeface="Calibri"/>
                <a:cs typeface="Calibri"/>
              </a:rPr>
              <a:t>M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E</a:t>
            </a:r>
            <a:r>
              <a:rPr sz="1200" b="1" spc="-6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T</a:t>
            </a:r>
            <a:r>
              <a:rPr sz="1200" b="1" spc="-6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H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O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D</a:t>
            </a:r>
            <a:r>
              <a:rPr sz="1200" b="1" spc="41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694B92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Cosine</a:t>
            </a:r>
            <a:r>
              <a:rPr sz="2700" spc="-5" dirty="0"/>
              <a:t> </a:t>
            </a:r>
            <a:r>
              <a:rPr sz="2700" dirty="0"/>
              <a:t>Similarity:</a:t>
            </a:r>
            <a:r>
              <a:rPr sz="2700" spc="-5" dirty="0"/>
              <a:t> </a:t>
            </a:r>
            <a:r>
              <a:rPr sz="2700" spc="120" dirty="0"/>
              <a:t>the</a:t>
            </a:r>
            <a:r>
              <a:rPr sz="2700" dirty="0"/>
              <a:t> </a:t>
            </a:r>
            <a:r>
              <a:rPr sz="2700" spc="90" dirty="0"/>
              <a:t>angle</a:t>
            </a:r>
            <a:r>
              <a:rPr sz="2700" spc="-5" dirty="0"/>
              <a:t> </a:t>
            </a:r>
            <a:r>
              <a:rPr sz="2700" spc="114" dirty="0"/>
              <a:t>between</a:t>
            </a:r>
            <a:r>
              <a:rPr sz="2700" spc="-5" dirty="0"/>
              <a:t> </a:t>
            </a:r>
            <a:r>
              <a:rPr sz="2700" spc="95" dirty="0"/>
              <a:t>meanings</a:t>
            </a:r>
            <a:endParaRPr sz="2700"/>
          </a:p>
        </p:txBody>
      </p:sp>
      <p:sp>
        <p:nvSpPr>
          <p:cNvPr id="4" name="object 4"/>
          <p:cNvSpPr txBox="1"/>
          <p:nvPr/>
        </p:nvSpPr>
        <p:spPr>
          <a:xfrm>
            <a:off x="717016" y="1502905"/>
            <a:ext cx="89820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Instead</a:t>
            </a:r>
            <a:r>
              <a:rPr sz="1300" spc="-4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distance,</a:t>
            </a:r>
            <a:r>
              <a:rPr sz="1300" spc="-4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look</a:t>
            </a:r>
            <a:r>
              <a:rPr sz="130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at</a:t>
            </a:r>
            <a:r>
              <a:rPr sz="130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angle</a:t>
            </a:r>
            <a:r>
              <a:rPr sz="130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between</a:t>
            </a:r>
            <a:r>
              <a:rPr sz="1300" spc="-4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two</a:t>
            </a:r>
            <a:r>
              <a:rPr sz="130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vectors</a:t>
            </a:r>
            <a:r>
              <a:rPr sz="1300" spc="-4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from</a:t>
            </a:r>
            <a:r>
              <a:rPr sz="130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origin.</a:t>
            </a:r>
            <a:r>
              <a:rPr sz="1300" spc="-4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small</a:t>
            </a:r>
            <a:r>
              <a:rPr sz="1300" spc="-4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angle</a:t>
            </a:r>
            <a:r>
              <a:rPr sz="130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→</a:t>
            </a:r>
            <a:r>
              <a:rPr sz="1300" spc="-4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high</a:t>
            </a:r>
            <a:r>
              <a:rPr sz="130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similarity.</a:t>
            </a:r>
            <a:r>
              <a:rPr sz="130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90°</a:t>
            </a:r>
            <a:r>
              <a:rPr sz="130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angle</a:t>
            </a:r>
            <a:r>
              <a:rPr sz="130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→</a:t>
            </a:r>
            <a:r>
              <a:rPr sz="1300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no</a:t>
            </a:r>
            <a:r>
              <a:rPr sz="1300" spc="-4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similarity.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9724" y="2057044"/>
            <a:ext cx="5120640" cy="4023360"/>
            <a:chOff x="639724" y="2057044"/>
            <a:chExt cx="5120640" cy="4023360"/>
          </a:xfrm>
        </p:grpSpPr>
        <p:sp>
          <p:nvSpPr>
            <p:cNvPr id="6" name="object 6"/>
            <p:cNvSpPr/>
            <p:nvPr/>
          </p:nvSpPr>
          <p:spPr>
            <a:xfrm>
              <a:off x="639724" y="2057044"/>
              <a:ext cx="5120640" cy="4023360"/>
            </a:xfrm>
            <a:custGeom>
              <a:avLst/>
              <a:gdLst/>
              <a:ahLst/>
              <a:cxnLst/>
              <a:rect l="l" t="t" r="r" b="b"/>
              <a:pathLst>
                <a:path w="5120640" h="4023360">
                  <a:moveTo>
                    <a:pt x="50471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950271"/>
                  </a:lnTo>
                  <a:lnTo>
                    <a:pt x="594" y="3959549"/>
                  </a:lnTo>
                  <a:lnTo>
                    <a:pt x="607" y="3959749"/>
                  </a:lnTo>
                  <a:lnTo>
                    <a:pt x="2394" y="3968950"/>
                  </a:lnTo>
                  <a:lnTo>
                    <a:pt x="2428" y="3969127"/>
                  </a:lnTo>
                  <a:lnTo>
                    <a:pt x="28548" y="4008250"/>
                  </a:lnTo>
                  <a:lnTo>
                    <a:pt x="73075" y="4023360"/>
                  </a:lnTo>
                  <a:lnTo>
                    <a:pt x="5047551" y="4022991"/>
                  </a:lnTo>
                  <a:lnTo>
                    <a:pt x="5091929" y="4007900"/>
                  </a:lnTo>
                  <a:lnTo>
                    <a:pt x="5118149" y="3969127"/>
                  </a:lnTo>
                  <a:lnTo>
                    <a:pt x="5119993" y="3959749"/>
                  </a:lnTo>
                  <a:lnTo>
                    <a:pt x="5120032" y="3959549"/>
                  </a:lnTo>
                  <a:lnTo>
                    <a:pt x="5120617" y="3950271"/>
                  </a:lnTo>
                  <a:lnTo>
                    <a:pt x="5120640" y="3949915"/>
                  </a:lnTo>
                  <a:lnTo>
                    <a:pt x="5120271" y="73075"/>
                  </a:lnTo>
                  <a:lnTo>
                    <a:pt x="5105180" y="28698"/>
                  </a:lnTo>
                  <a:lnTo>
                    <a:pt x="5066230" y="2428"/>
                  </a:lnTo>
                  <a:lnTo>
                    <a:pt x="5056829" y="607"/>
                  </a:lnTo>
                  <a:lnTo>
                    <a:pt x="5047195" y="0"/>
                  </a:lnTo>
                  <a:close/>
                </a:path>
              </a:pathLst>
            </a:custGeom>
            <a:solidFill>
              <a:srgbClr val="F2E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31719" y="3703320"/>
              <a:ext cx="1554480" cy="1555115"/>
            </a:xfrm>
            <a:custGeom>
              <a:avLst/>
              <a:gdLst/>
              <a:ahLst/>
              <a:cxnLst/>
              <a:rect l="l" t="t" r="r" b="b"/>
              <a:pathLst>
                <a:path w="1554479" h="1555114">
                  <a:moveTo>
                    <a:pt x="0" y="0"/>
                  </a:moveTo>
                  <a:lnTo>
                    <a:pt x="355" y="1554479"/>
                  </a:lnTo>
                </a:path>
                <a:path w="1554479" h="1555114">
                  <a:moveTo>
                    <a:pt x="0" y="1554479"/>
                  </a:moveTo>
                  <a:lnTo>
                    <a:pt x="1554480" y="1554835"/>
                  </a:lnTo>
                </a:path>
              </a:pathLst>
            </a:custGeom>
            <a:ln w="15839">
              <a:solidFill>
                <a:srgbClr val="D7C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31719" y="3827526"/>
              <a:ext cx="635" cy="1430655"/>
            </a:xfrm>
            <a:custGeom>
              <a:avLst/>
              <a:gdLst/>
              <a:ahLst/>
              <a:cxnLst/>
              <a:rect l="l" t="t" r="r" b="b"/>
              <a:pathLst>
                <a:path w="635" h="1430654">
                  <a:moveTo>
                    <a:pt x="0" y="1430274"/>
                  </a:moveTo>
                  <a:lnTo>
                    <a:pt x="355" y="0"/>
                  </a:lnTo>
                </a:path>
              </a:pathLst>
            </a:custGeom>
            <a:ln w="28439">
              <a:solidFill>
                <a:srgbClr val="2315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31719" y="5257800"/>
              <a:ext cx="1430020" cy="635"/>
            </a:xfrm>
            <a:custGeom>
              <a:avLst/>
              <a:gdLst/>
              <a:ahLst/>
              <a:cxnLst/>
              <a:rect l="l" t="t" r="r" b="b"/>
              <a:pathLst>
                <a:path w="1430020" h="635">
                  <a:moveTo>
                    <a:pt x="0" y="0"/>
                  </a:moveTo>
                  <a:lnTo>
                    <a:pt x="1429918" y="355"/>
                  </a:lnTo>
                </a:path>
              </a:pathLst>
            </a:custGeom>
            <a:ln w="28439">
              <a:solidFill>
                <a:srgbClr val="FF6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5644" y="3781437"/>
              <a:ext cx="91439" cy="914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5918" y="5211724"/>
              <a:ext cx="91439" cy="9143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035040" y="2057044"/>
            <a:ext cx="5440680" cy="4023360"/>
            <a:chOff x="6035040" y="2057044"/>
            <a:chExt cx="5440680" cy="4023360"/>
          </a:xfrm>
        </p:grpSpPr>
        <p:sp>
          <p:nvSpPr>
            <p:cNvPr id="13" name="object 13"/>
            <p:cNvSpPr/>
            <p:nvPr/>
          </p:nvSpPr>
          <p:spPr>
            <a:xfrm>
              <a:off x="6035040" y="2057044"/>
              <a:ext cx="5440680" cy="4023360"/>
            </a:xfrm>
            <a:custGeom>
              <a:avLst/>
              <a:gdLst/>
              <a:ahLst/>
              <a:cxnLst/>
              <a:rect l="l" t="t" r="r" b="b"/>
              <a:pathLst>
                <a:path w="5440680" h="4023360">
                  <a:moveTo>
                    <a:pt x="536723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950271"/>
                  </a:lnTo>
                  <a:lnTo>
                    <a:pt x="5412" y="3978012"/>
                  </a:lnTo>
                  <a:lnTo>
                    <a:pt x="5464" y="3978167"/>
                  </a:lnTo>
                  <a:lnTo>
                    <a:pt x="36360" y="4013631"/>
                  </a:lnTo>
                  <a:lnTo>
                    <a:pt x="73075" y="4023360"/>
                  </a:lnTo>
                  <a:lnTo>
                    <a:pt x="5367604" y="4022991"/>
                  </a:lnTo>
                  <a:lnTo>
                    <a:pt x="5411974" y="4007900"/>
                  </a:lnTo>
                  <a:lnTo>
                    <a:pt x="5438191" y="3969127"/>
                  </a:lnTo>
                  <a:lnTo>
                    <a:pt x="5440034" y="3959749"/>
                  </a:lnTo>
                  <a:lnTo>
                    <a:pt x="5440072" y="3959549"/>
                  </a:lnTo>
                  <a:lnTo>
                    <a:pt x="5440657" y="3950271"/>
                  </a:lnTo>
                  <a:lnTo>
                    <a:pt x="5440680" y="3949915"/>
                  </a:lnTo>
                  <a:lnTo>
                    <a:pt x="5440324" y="73075"/>
                  </a:lnTo>
                  <a:lnTo>
                    <a:pt x="5425220" y="28698"/>
                  </a:lnTo>
                  <a:lnTo>
                    <a:pt x="5386276" y="2428"/>
                  </a:lnTo>
                  <a:lnTo>
                    <a:pt x="5376875" y="607"/>
                  </a:lnTo>
                  <a:lnTo>
                    <a:pt x="5367235" y="0"/>
                  </a:lnTo>
                  <a:close/>
                </a:path>
              </a:pathLst>
            </a:custGeom>
            <a:solidFill>
              <a:srgbClr val="F2E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92440" y="3703320"/>
              <a:ext cx="1554480" cy="1555115"/>
            </a:xfrm>
            <a:custGeom>
              <a:avLst/>
              <a:gdLst/>
              <a:ahLst/>
              <a:cxnLst/>
              <a:rect l="l" t="t" r="r" b="b"/>
              <a:pathLst>
                <a:path w="1554479" h="1555114">
                  <a:moveTo>
                    <a:pt x="0" y="0"/>
                  </a:moveTo>
                  <a:lnTo>
                    <a:pt x="355" y="1554479"/>
                  </a:lnTo>
                </a:path>
                <a:path w="1554479" h="1555114">
                  <a:moveTo>
                    <a:pt x="0" y="1554479"/>
                  </a:moveTo>
                  <a:lnTo>
                    <a:pt x="1554479" y="1554835"/>
                  </a:lnTo>
                </a:path>
              </a:pathLst>
            </a:custGeom>
            <a:ln w="15839">
              <a:solidFill>
                <a:srgbClr val="D7C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92440" y="3827526"/>
              <a:ext cx="635" cy="1430655"/>
            </a:xfrm>
            <a:custGeom>
              <a:avLst/>
              <a:gdLst/>
              <a:ahLst/>
              <a:cxnLst/>
              <a:rect l="l" t="t" r="r" b="b"/>
              <a:pathLst>
                <a:path w="634" h="1430654">
                  <a:moveTo>
                    <a:pt x="0" y="1430274"/>
                  </a:moveTo>
                  <a:lnTo>
                    <a:pt x="355" y="0"/>
                  </a:lnTo>
                </a:path>
              </a:pathLst>
            </a:custGeom>
            <a:ln w="28439">
              <a:solidFill>
                <a:srgbClr val="2315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92440" y="3855237"/>
              <a:ext cx="280670" cy="1402715"/>
            </a:xfrm>
            <a:custGeom>
              <a:avLst/>
              <a:gdLst/>
              <a:ahLst/>
              <a:cxnLst/>
              <a:rect l="l" t="t" r="r" b="b"/>
              <a:pathLst>
                <a:path w="280670" h="1402714">
                  <a:moveTo>
                    <a:pt x="0" y="1402562"/>
                  </a:moveTo>
                  <a:lnTo>
                    <a:pt x="280441" y="0"/>
                  </a:lnTo>
                </a:path>
              </a:pathLst>
            </a:custGeom>
            <a:ln w="28439">
              <a:solidFill>
                <a:srgbClr val="694B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6364" y="3781437"/>
              <a:ext cx="91440" cy="914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26805" y="3809517"/>
              <a:ext cx="91440" cy="9144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904657" y="3483991"/>
            <a:ext cx="9448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29203F"/>
                </a:solidFill>
                <a:latin typeface="Calibri"/>
                <a:cs typeface="Calibri"/>
              </a:rPr>
              <a:t>You’ve</a:t>
            </a:r>
            <a:r>
              <a:rPr sz="1100" b="1" spc="-2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9203F"/>
                </a:solidFill>
                <a:latin typeface="Calibri"/>
                <a:cs typeface="Calibri"/>
              </a:rPr>
              <a:t>Got</a:t>
            </a:r>
            <a:r>
              <a:rPr sz="1100" b="1" spc="-1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9203F"/>
                </a:solidFill>
                <a:latin typeface="Calibri"/>
                <a:cs typeface="Calibri"/>
              </a:rPr>
              <a:t>Mail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56063" y="5206581"/>
            <a:ext cx="361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29203F"/>
                </a:solidFill>
                <a:latin typeface="Calibri"/>
                <a:cs typeface="Calibri"/>
              </a:rPr>
              <a:t>Taken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45816" y="4520781"/>
            <a:ext cx="57594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α</a:t>
            </a:r>
            <a:r>
              <a:rPr sz="110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=</a:t>
            </a:r>
            <a:r>
              <a:rPr sz="1100" i="1" spc="-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spc="-25" dirty="0">
                <a:solidFill>
                  <a:srgbClr val="797090"/>
                </a:solidFill>
                <a:latin typeface="Calibri"/>
                <a:cs typeface="Calibri"/>
              </a:rPr>
              <a:t>90°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cos(α)</a:t>
            </a:r>
            <a:r>
              <a:rPr sz="110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=</a:t>
            </a:r>
            <a:r>
              <a:rPr sz="110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spc="-50" dirty="0">
                <a:solidFill>
                  <a:srgbClr val="797090"/>
                </a:solidFill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22336" y="3483991"/>
            <a:ext cx="6292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9203F"/>
                </a:solidFill>
                <a:latin typeface="Calibri"/>
                <a:cs typeface="Calibri"/>
              </a:rPr>
              <a:t>Rush</a:t>
            </a:r>
            <a:r>
              <a:rPr sz="1100" b="1" spc="-1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9203F"/>
                </a:solidFill>
                <a:latin typeface="Calibri"/>
                <a:cs typeface="Calibri"/>
              </a:rPr>
              <a:t>Hour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66938" y="3804386"/>
            <a:ext cx="7327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9203F"/>
                </a:solidFill>
                <a:latin typeface="Calibri"/>
                <a:cs typeface="Calibri"/>
              </a:rPr>
              <a:t>Rush</a:t>
            </a:r>
            <a:r>
              <a:rPr sz="1100" b="1" spc="-1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9203F"/>
                </a:solidFill>
                <a:latin typeface="Calibri"/>
                <a:cs typeface="Calibri"/>
              </a:rPr>
              <a:t>Hour</a:t>
            </a:r>
            <a:r>
              <a:rPr sz="1100" b="1" spc="-2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29203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06536" y="4520781"/>
            <a:ext cx="75374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α</a:t>
            </a:r>
            <a:r>
              <a:rPr sz="110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=</a:t>
            </a:r>
            <a:r>
              <a:rPr sz="1100" i="1" spc="-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797090"/>
                </a:solidFill>
                <a:latin typeface="Calibri"/>
                <a:cs typeface="Calibri"/>
              </a:rPr>
              <a:t>11.31°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cos(α)</a:t>
            </a:r>
            <a:r>
              <a:rPr sz="110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=</a:t>
            </a:r>
            <a:r>
              <a:rPr sz="110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spc="-20" dirty="0">
                <a:solidFill>
                  <a:srgbClr val="797090"/>
                </a:solidFill>
                <a:latin typeface="Calibri"/>
                <a:cs typeface="Calibri"/>
              </a:rPr>
              <a:t>0.98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68324" y="5394959"/>
            <a:ext cx="2560320" cy="502920"/>
          </a:xfrm>
          <a:custGeom>
            <a:avLst/>
            <a:gdLst/>
            <a:ahLst/>
            <a:cxnLst/>
            <a:rect l="l" t="t" r="r" b="b"/>
            <a:pathLst>
              <a:path w="2560320" h="502920">
                <a:moveTo>
                  <a:pt x="250524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1" y="21422"/>
                </a:lnTo>
                <a:lnTo>
                  <a:pt x="0" y="54724"/>
                </a:lnTo>
                <a:lnTo>
                  <a:pt x="0" y="448195"/>
                </a:lnTo>
                <a:lnTo>
                  <a:pt x="3994" y="468794"/>
                </a:lnTo>
                <a:lnTo>
                  <a:pt x="4098" y="469110"/>
                </a:lnTo>
                <a:lnTo>
                  <a:pt x="33757" y="498821"/>
                </a:lnTo>
                <a:lnTo>
                  <a:pt x="48065" y="502564"/>
                </a:lnTo>
                <a:lnTo>
                  <a:pt x="49212" y="502564"/>
                </a:lnTo>
                <a:lnTo>
                  <a:pt x="54711" y="502919"/>
                </a:lnTo>
                <a:lnTo>
                  <a:pt x="2505595" y="502564"/>
                </a:lnTo>
                <a:lnTo>
                  <a:pt x="2544249" y="486627"/>
                </a:lnTo>
                <a:lnTo>
                  <a:pt x="2558395" y="462284"/>
                </a:lnTo>
                <a:lnTo>
                  <a:pt x="2558472" y="462056"/>
                </a:lnTo>
                <a:lnTo>
                  <a:pt x="2559811" y="455256"/>
                </a:lnTo>
                <a:lnTo>
                  <a:pt x="2559852" y="455048"/>
                </a:lnTo>
                <a:lnTo>
                  <a:pt x="2560296" y="448195"/>
                </a:lnTo>
                <a:lnTo>
                  <a:pt x="2559951" y="54724"/>
                </a:lnTo>
                <a:lnTo>
                  <a:pt x="2544025" y="16063"/>
                </a:lnTo>
                <a:lnTo>
                  <a:pt x="2512448" y="466"/>
                </a:lnTo>
                <a:lnTo>
                  <a:pt x="2505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274305" y="5557227"/>
            <a:ext cx="17468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6E58"/>
                </a:solidFill>
                <a:latin typeface="Calibri"/>
                <a:cs typeface="Calibri"/>
              </a:rPr>
              <a:t>similarity</a:t>
            </a:r>
            <a:r>
              <a:rPr sz="1000" b="1" spc="-5" dirty="0">
                <a:solidFill>
                  <a:srgbClr val="FF6E58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6E58"/>
                </a:solidFill>
                <a:latin typeface="Calibri"/>
                <a:cs typeface="Calibri"/>
              </a:rPr>
              <a:t>= 0</a:t>
            </a:r>
            <a:r>
              <a:rPr sz="1000" b="1" spc="240" dirty="0">
                <a:solidFill>
                  <a:srgbClr val="FF6E58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6E58"/>
                </a:solidFill>
                <a:latin typeface="Calibri"/>
                <a:cs typeface="Calibri"/>
              </a:rPr>
              <a:t>—</a:t>
            </a:r>
            <a:r>
              <a:rPr sz="1000" b="1" spc="220" dirty="0">
                <a:solidFill>
                  <a:srgbClr val="FF6E58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6E58"/>
                </a:solidFill>
                <a:latin typeface="Calibri"/>
                <a:cs typeface="Calibri"/>
              </a:rPr>
              <a:t>totally</a:t>
            </a:r>
            <a:r>
              <a:rPr sz="1000" b="1" spc="-5" dirty="0">
                <a:solidFill>
                  <a:srgbClr val="FF6E58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6E58"/>
                </a:solidFill>
                <a:latin typeface="Calibri"/>
                <a:cs typeface="Calibri"/>
              </a:rPr>
              <a:t>different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09204" y="5394959"/>
            <a:ext cx="3200400" cy="502920"/>
          </a:xfrm>
          <a:custGeom>
            <a:avLst/>
            <a:gdLst/>
            <a:ahLst/>
            <a:cxnLst/>
            <a:rect l="l" t="t" r="r" b="b"/>
            <a:pathLst>
              <a:path w="3200400" h="502920">
                <a:moveTo>
                  <a:pt x="314532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1" y="21422"/>
                </a:lnTo>
                <a:lnTo>
                  <a:pt x="0" y="54724"/>
                </a:lnTo>
                <a:lnTo>
                  <a:pt x="0" y="448195"/>
                </a:lnTo>
                <a:lnTo>
                  <a:pt x="452" y="455048"/>
                </a:lnTo>
                <a:lnTo>
                  <a:pt x="466" y="455256"/>
                </a:lnTo>
                <a:lnTo>
                  <a:pt x="1798" y="462056"/>
                </a:lnTo>
                <a:lnTo>
                  <a:pt x="1843" y="462284"/>
                </a:lnTo>
                <a:lnTo>
                  <a:pt x="3994" y="468794"/>
                </a:lnTo>
                <a:lnTo>
                  <a:pt x="33757" y="498821"/>
                </a:lnTo>
                <a:lnTo>
                  <a:pt x="48065" y="502564"/>
                </a:lnTo>
                <a:lnTo>
                  <a:pt x="49212" y="502564"/>
                </a:lnTo>
                <a:lnTo>
                  <a:pt x="54711" y="502919"/>
                </a:lnTo>
                <a:lnTo>
                  <a:pt x="3145675" y="502564"/>
                </a:lnTo>
                <a:lnTo>
                  <a:pt x="3184329" y="486627"/>
                </a:lnTo>
                <a:lnTo>
                  <a:pt x="3198475" y="462284"/>
                </a:lnTo>
                <a:lnTo>
                  <a:pt x="3198552" y="462056"/>
                </a:lnTo>
                <a:lnTo>
                  <a:pt x="3199891" y="455256"/>
                </a:lnTo>
                <a:lnTo>
                  <a:pt x="3199932" y="455048"/>
                </a:lnTo>
                <a:lnTo>
                  <a:pt x="3200376" y="448195"/>
                </a:lnTo>
                <a:lnTo>
                  <a:pt x="3200400" y="447840"/>
                </a:lnTo>
                <a:lnTo>
                  <a:pt x="3200031" y="54724"/>
                </a:lnTo>
                <a:lnTo>
                  <a:pt x="3184105" y="16063"/>
                </a:lnTo>
                <a:lnTo>
                  <a:pt x="3152528" y="466"/>
                </a:lnTo>
                <a:lnTo>
                  <a:pt x="31453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560701" y="5557227"/>
            <a:ext cx="1896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694B92"/>
                </a:solidFill>
                <a:latin typeface="Calibri"/>
                <a:cs typeface="Calibri"/>
              </a:rPr>
              <a:t>similarity</a:t>
            </a:r>
            <a:r>
              <a:rPr sz="1000" b="1" spc="-1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694B92"/>
                </a:solidFill>
                <a:latin typeface="Calibri"/>
                <a:cs typeface="Calibri"/>
              </a:rPr>
              <a:t>=</a:t>
            </a:r>
            <a:r>
              <a:rPr sz="1000" b="1" spc="-1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694B92"/>
                </a:solidFill>
                <a:latin typeface="Calibri"/>
                <a:cs typeface="Calibri"/>
              </a:rPr>
              <a:t>0.98</a:t>
            </a:r>
            <a:r>
              <a:rPr sz="1000" b="1" spc="21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694B92"/>
                </a:solidFill>
                <a:latin typeface="Calibri"/>
                <a:cs typeface="Calibri"/>
              </a:rPr>
              <a:t>—</a:t>
            </a:r>
            <a:r>
              <a:rPr sz="1000" b="1" spc="21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694B92"/>
                </a:solidFill>
                <a:latin typeface="Calibri"/>
                <a:cs typeface="Calibri"/>
              </a:rPr>
              <a:t>nearly</a:t>
            </a:r>
            <a:r>
              <a:rPr sz="1000" b="1" spc="-10" dirty="0">
                <a:solidFill>
                  <a:srgbClr val="694B92"/>
                </a:solidFill>
                <a:latin typeface="Calibri"/>
                <a:cs typeface="Calibri"/>
              </a:rPr>
              <a:t> identical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7384" y="6345618"/>
            <a:ext cx="535622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A</a:t>
            </a:r>
            <a:r>
              <a:rPr sz="115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sentence</a:t>
            </a:r>
            <a:r>
              <a:rPr sz="1150" i="1" spc="-1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compared</a:t>
            </a:r>
            <a:r>
              <a:rPr sz="115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with</a:t>
            </a:r>
            <a:r>
              <a:rPr sz="115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itself</a:t>
            </a:r>
            <a:r>
              <a:rPr sz="115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always</a:t>
            </a:r>
            <a:r>
              <a:rPr sz="115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scores</a:t>
            </a:r>
            <a:r>
              <a:rPr sz="115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1</a:t>
            </a:r>
            <a:r>
              <a:rPr sz="115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—</a:t>
            </a:r>
            <a:r>
              <a:rPr sz="115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the</a:t>
            </a:r>
            <a:r>
              <a:rPr sz="1150" i="1" spc="-1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angle</a:t>
            </a:r>
            <a:r>
              <a:rPr sz="115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to</a:t>
            </a:r>
            <a:r>
              <a:rPr sz="115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itself</a:t>
            </a:r>
            <a:r>
              <a:rPr sz="115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is</a:t>
            </a:r>
            <a:r>
              <a:rPr sz="115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0°,</a:t>
            </a:r>
            <a:r>
              <a:rPr sz="115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and</a:t>
            </a:r>
            <a:r>
              <a:rPr sz="115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cos(0°)</a:t>
            </a:r>
            <a:r>
              <a:rPr sz="115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797090"/>
                </a:solidFill>
                <a:latin typeface="Calibri"/>
                <a:cs typeface="Calibri"/>
              </a:rPr>
              <a:t>=</a:t>
            </a:r>
            <a:r>
              <a:rPr sz="1150" i="1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i="1" spc="-25" dirty="0">
                <a:solidFill>
                  <a:srgbClr val="797090"/>
                </a:solidFill>
                <a:latin typeface="Calibri"/>
                <a:cs typeface="Calibri"/>
              </a:rPr>
              <a:t>1.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2315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7016" y="512889"/>
            <a:ext cx="2996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F</a:t>
            </a:r>
            <a:r>
              <a:rPr sz="1200" b="1" spc="-8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R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O</a:t>
            </a:r>
            <a:r>
              <a:rPr sz="1200" b="1" spc="-8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M</a:t>
            </a:r>
            <a:r>
              <a:rPr sz="1200" b="1" spc="40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T</a:t>
            </a:r>
            <a:r>
              <a:rPr sz="1200" b="1" spc="-10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O</a:t>
            </a:r>
            <a:r>
              <a:rPr sz="1200" b="1" spc="-10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Y</a:t>
            </a:r>
            <a:r>
              <a:rPr sz="1200" b="1" spc="39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B69EDD"/>
                </a:solidFill>
                <a:latin typeface="Calibri"/>
                <a:cs typeface="Calibri"/>
              </a:rPr>
              <a:t>M</a:t>
            </a:r>
            <a:r>
              <a:rPr sz="1200" b="1" spc="-6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O</a:t>
            </a:r>
            <a:r>
              <a:rPr sz="1200" b="1" spc="-8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D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E</a:t>
            </a:r>
            <a:r>
              <a:rPr sz="1200" b="1" spc="-7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L</a:t>
            </a:r>
            <a:r>
              <a:rPr sz="1200" b="1" spc="40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T</a:t>
            </a:r>
            <a:r>
              <a:rPr sz="1200" b="1" spc="-10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O</a:t>
            </a:r>
            <a:r>
              <a:rPr sz="1200" b="1" spc="40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P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R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O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D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U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C</a:t>
            </a:r>
            <a:r>
              <a:rPr sz="1200" b="1" spc="-6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T</a:t>
            </a:r>
            <a:r>
              <a:rPr sz="1200" b="1" spc="-8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O</a:t>
            </a:r>
            <a:r>
              <a:rPr sz="1200" b="1" spc="-7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B69EDD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5" dirty="0">
                <a:solidFill>
                  <a:srgbClr val="FFFFFF"/>
                </a:solidFill>
              </a:rPr>
              <a:t>A</a:t>
            </a:r>
            <a:r>
              <a:rPr sz="2700" spc="-85" dirty="0">
                <a:solidFill>
                  <a:srgbClr val="FFFFFF"/>
                </a:solidFill>
              </a:rPr>
              <a:t> </a:t>
            </a:r>
            <a:r>
              <a:rPr sz="2700" spc="75" dirty="0">
                <a:solidFill>
                  <a:srgbClr val="FFFFFF"/>
                </a:solidFill>
              </a:rPr>
              <a:t>real</a:t>
            </a:r>
            <a:r>
              <a:rPr sz="2700" spc="-70" dirty="0">
                <a:solidFill>
                  <a:srgbClr val="FFFFFF"/>
                </a:solidFill>
              </a:rPr>
              <a:t> </a:t>
            </a:r>
            <a:r>
              <a:rPr sz="2700" spc="90" dirty="0">
                <a:solidFill>
                  <a:srgbClr val="FFFFFF"/>
                </a:solidFill>
              </a:rPr>
              <a:t>example</a:t>
            </a:r>
            <a:r>
              <a:rPr sz="2700" spc="-85" dirty="0">
                <a:solidFill>
                  <a:srgbClr val="FFFFFF"/>
                </a:solidFill>
              </a:rPr>
              <a:t> </a:t>
            </a:r>
            <a:r>
              <a:rPr sz="2700" spc="100" dirty="0">
                <a:solidFill>
                  <a:srgbClr val="FFFFFF"/>
                </a:solidFill>
              </a:rPr>
              <a:t>with</a:t>
            </a:r>
            <a:r>
              <a:rPr sz="2700" spc="-80" dirty="0">
                <a:solidFill>
                  <a:srgbClr val="FFFFFF"/>
                </a:solidFill>
              </a:rPr>
              <a:t> </a:t>
            </a:r>
            <a:r>
              <a:rPr sz="2700" spc="-10" dirty="0">
                <a:solidFill>
                  <a:srgbClr val="FFFFFF"/>
                </a:solidFill>
              </a:rPr>
              <a:t>Cohere’s</a:t>
            </a:r>
            <a:r>
              <a:rPr sz="2700" spc="-70" dirty="0">
                <a:solidFill>
                  <a:srgbClr val="FFFFFF"/>
                </a:solidFill>
              </a:rPr>
              <a:t> </a:t>
            </a:r>
            <a:r>
              <a:rPr sz="2700" spc="90" dirty="0">
                <a:solidFill>
                  <a:srgbClr val="FFFFFF"/>
                </a:solidFill>
              </a:rPr>
              <a:t>embed-</a:t>
            </a:r>
            <a:r>
              <a:rPr sz="2700" spc="-20" dirty="0">
                <a:solidFill>
                  <a:srgbClr val="FFFFFF"/>
                </a:solidFill>
              </a:rPr>
              <a:t>v4.0</a:t>
            </a:r>
            <a:endParaRPr sz="2700"/>
          </a:p>
        </p:txBody>
      </p:sp>
      <p:sp>
        <p:nvSpPr>
          <p:cNvPr id="5" name="object 5"/>
          <p:cNvSpPr txBox="1"/>
          <p:nvPr/>
        </p:nvSpPr>
        <p:spPr>
          <a:xfrm>
            <a:off x="717016" y="1487779"/>
            <a:ext cx="70262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Three</a:t>
            </a:r>
            <a:r>
              <a:rPr sz="130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sentences,</a:t>
            </a:r>
            <a:r>
              <a:rPr sz="130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embedded</a:t>
            </a:r>
            <a:r>
              <a:rPr sz="130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into</a:t>
            </a:r>
            <a:r>
              <a:rPr sz="130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D7CEED"/>
                </a:solidFill>
                <a:latin typeface="Calibri"/>
                <a:cs typeface="Calibri"/>
              </a:rPr>
              <a:t>1536-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dimensional</a:t>
            </a:r>
            <a:r>
              <a:rPr sz="130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vectors.</a:t>
            </a:r>
            <a:r>
              <a:rPr sz="130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Two</a:t>
            </a:r>
            <a:r>
              <a:rPr sz="1300" spc="-2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should</a:t>
            </a:r>
            <a:r>
              <a:rPr sz="130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be</a:t>
            </a:r>
            <a:r>
              <a:rPr sz="130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alike;</a:t>
            </a:r>
            <a:r>
              <a:rPr sz="130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D7CEED"/>
                </a:solidFill>
                <a:latin typeface="Calibri"/>
                <a:cs typeface="Calibri"/>
              </a:rPr>
              <a:t>should</a:t>
            </a:r>
            <a:r>
              <a:rPr sz="1300" spc="-2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stand</a:t>
            </a:r>
            <a:r>
              <a:rPr sz="130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D7CEED"/>
                </a:solidFill>
                <a:latin typeface="Calibri"/>
                <a:cs typeface="Calibri"/>
              </a:rPr>
              <a:t>apart.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9724" y="2148839"/>
            <a:ext cx="5577840" cy="777240"/>
            <a:chOff x="639724" y="2148839"/>
            <a:chExt cx="5577840" cy="777240"/>
          </a:xfrm>
        </p:grpSpPr>
        <p:sp>
          <p:nvSpPr>
            <p:cNvPr id="7" name="object 7"/>
            <p:cNvSpPr/>
            <p:nvPr/>
          </p:nvSpPr>
          <p:spPr>
            <a:xfrm>
              <a:off x="639724" y="2148839"/>
              <a:ext cx="5577840" cy="777240"/>
            </a:xfrm>
            <a:custGeom>
              <a:avLst/>
              <a:gdLst/>
              <a:ahLst/>
              <a:cxnLst/>
              <a:rect l="l" t="t" r="r" b="b"/>
              <a:pathLst>
                <a:path w="5577840" h="777239">
                  <a:moveTo>
                    <a:pt x="55227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722515"/>
                  </a:lnTo>
                  <a:lnTo>
                    <a:pt x="452" y="729368"/>
                  </a:lnTo>
                  <a:lnTo>
                    <a:pt x="466" y="729576"/>
                  </a:lnTo>
                  <a:lnTo>
                    <a:pt x="1798" y="736376"/>
                  </a:lnTo>
                  <a:lnTo>
                    <a:pt x="1843" y="736604"/>
                  </a:lnTo>
                  <a:lnTo>
                    <a:pt x="3994" y="743114"/>
                  </a:lnTo>
                  <a:lnTo>
                    <a:pt x="33757" y="773141"/>
                  </a:lnTo>
                  <a:lnTo>
                    <a:pt x="48065" y="776884"/>
                  </a:lnTo>
                  <a:lnTo>
                    <a:pt x="49212" y="776884"/>
                  </a:lnTo>
                  <a:lnTo>
                    <a:pt x="54711" y="777239"/>
                  </a:lnTo>
                  <a:lnTo>
                    <a:pt x="5523115" y="776884"/>
                  </a:lnTo>
                  <a:lnTo>
                    <a:pt x="5561769" y="760947"/>
                  </a:lnTo>
                  <a:lnTo>
                    <a:pt x="5577331" y="729576"/>
                  </a:lnTo>
                  <a:lnTo>
                    <a:pt x="5577372" y="729368"/>
                  </a:lnTo>
                  <a:lnTo>
                    <a:pt x="5577816" y="722515"/>
                  </a:lnTo>
                  <a:lnTo>
                    <a:pt x="5577840" y="722160"/>
                  </a:lnTo>
                  <a:lnTo>
                    <a:pt x="5577471" y="54724"/>
                  </a:lnTo>
                  <a:lnTo>
                    <a:pt x="5561545" y="16063"/>
                  </a:lnTo>
                  <a:lnTo>
                    <a:pt x="5529968" y="466"/>
                  </a:lnTo>
                  <a:lnTo>
                    <a:pt x="5522760" y="0"/>
                  </a:lnTo>
                  <a:close/>
                </a:path>
              </a:pathLst>
            </a:custGeom>
            <a:solidFill>
              <a:srgbClr val="3322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2960" y="2331719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80">
                  <a:moveTo>
                    <a:pt x="205917" y="0"/>
                  </a:moveTo>
                  <a:lnTo>
                    <a:pt x="152547" y="6929"/>
                  </a:lnTo>
                  <a:lnTo>
                    <a:pt x="102958" y="27355"/>
                  </a:lnTo>
                  <a:lnTo>
                    <a:pt x="60345" y="59988"/>
                  </a:lnTo>
                  <a:lnTo>
                    <a:pt x="27724" y="102603"/>
                  </a:lnTo>
                  <a:lnTo>
                    <a:pt x="6975" y="152325"/>
                  </a:lnTo>
                  <a:lnTo>
                    <a:pt x="0" y="205562"/>
                  </a:lnTo>
                  <a:lnTo>
                    <a:pt x="1749" y="232429"/>
                  </a:lnTo>
                  <a:lnTo>
                    <a:pt x="15644" y="284282"/>
                  </a:lnTo>
                  <a:lnTo>
                    <a:pt x="42667" y="330958"/>
                  </a:lnTo>
                  <a:lnTo>
                    <a:pt x="80521" y="368812"/>
                  </a:lnTo>
                  <a:lnTo>
                    <a:pt x="127145" y="395685"/>
                  </a:lnTo>
                  <a:lnTo>
                    <a:pt x="178895" y="409680"/>
                  </a:lnTo>
                  <a:lnTo>
                    <a:pt x="205917" y="411479"/>
                  </a:lnTo>
                  <a:lnTo>
                    <a:pt x="232734" y="409680"/>
                  </a:lnTo>
                  <a:lnTo>
                    <a:pt x="284340" y="395685"/>
                  </a:lnTo>
                  <a:lnTo>
                    <a:pt x="330958" y="368812"/>
                  </a:lnTo>
                  <a:lnTo>
                    <a:pt x="368812" y="330958"/>
                  </a:lnTo>
                  <a:lnTo>
                    <a:pt x="395835" y="284282"/>
                  </a:lnTo>
                  <a:lnTo>
                    <a:pt x="409730" y="232429"/>
                  </a:lnTo>
                  <a:lnTo>
                    <a:pt x="411480" y="205562"/>
                  </a:lnTo>
                  <a:lnTo>
                    <a:pt x="409730" y="178689"/>
                  </a:lnTo>
                  <a:lnTo>
                    <a:pt x="395835" y="126839"/>
                  </a:lnTo>
                  <a:lnTo>
                    <a:pt x="368812" y="80165"/>
                  </a:lnTo>
                  <a:lnTo>
                    <a:pt x="330958" y="42306"/>
                  </a:lnTo>
                  <a:lnTo>
                    <a:pt x="284340" y="15489"/>
                  </a:lnTo>
                  <a:lnTo>
                    <a:pt x="232734" y="1743"/>
                  </a:lnTo>
                  <a:lnTo>
                    <a:pt x="205917" y="0"/>
                  </a:lnTo>
                  <a:close/>
                </a:path>
              </a:pathLst>
            </a:custGeom>
            <a:solidFill>
              <a:srgbClr val="694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75499" y="2418016"/>
            <a:ext cx="10731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4256" y="2421979"/>
            <a:ext cx="17291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“I</a:t>
            </a:r>
            <a:r>
              <a:rPr sz="135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spc="-1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135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35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35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35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my</a:t>
            </a:r>
            <a:r>
              <a:rPr sz="135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spc="-10" dirty="0">
                <a:solidFill>
                  <a:srgbClr val="FFFFFF"/>
                </a:solidFill>
                <a:latin typeface="Calibri"/>
                <a:cs typeface="Calibri"/>
              </a:rPr>
              <a:t>house”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9724" y="3108960"/>
            <a:ext cx="5577840" cy="777240"/>
            <a:chOff x="639724" y="3108960"/>
            <a:chExt cx="5577840" cy="777240"/>
          </a:xfrm>
        </p:grpSpPr>
        <p:sp>
          <p:nvSpPr>
            <p:cNvPr id="12" name="object 12"/>
            <p:cNvSpPr/>
            <p:nvPr/>
          </p:nvSpPr>
          <p:spPr>
            <a:xfrm>
              <a:off x="639724" y="3108960"/>
              <a:ext cx="5577840" cy="777240"/>
            </a:xfrm>
            <a:custGeom>
              <a:avLst/>
              <a:gdLst/>
              <a:ahLst/>
              <a:cxnLst/>
              <a:rect l="l" t="t" r="r" b="b"/>
              <a:pathLst>
                <a:path w="5577840" h="777239">
                  <a:moveTo>
                    <a:pt x="55227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722515"/>
                  </a:lnTo>
                  <a:lnTo>
                    <a:pt x="3994" y="743114"/>
                  </a:lnTo>
                  <a:lnTo>
                    <a:pt x="4098" y="743430"/>
                  </a:lnTo>
                  <a:lnTo>
                    <a:pt x="33757" y="773141"/>
                  </a:lnTo>
                  <a:lnTo>
                    <a:pt x="48065" y="776884"/>
                  </a:lnTo>
                  <a:lnTo>
                    <a:pt x="49212" y="776884"/>
                  </a:lnTo>
                  <a:lnTo>
                    <a:pt x="54711" y="777239"/>
                  </a:lnTo>
                  <a:lnTo>
                    <a:pt x="5523115" y="776884"/>
                  </a:lnTo>
                  <a:lnTo>
                    <a:pt x="5561769" y="760947"/>
                  </a:lnTo>
                  <a:lnTo>
                    <a:pt x="5575915" y="736604"/>
                  </a:lnTo>
                  <a:lnTo>
                    <a:pt x="5575992" y="736376"/>
                  </a:lnTo>
                  <a:lnTo>
                    <a:pt x="5577331" y="729576"/>
                  </a:lnTo>
                  <a:lnTo>
                    <a:pt x="5577372" y="729368"/>
                  </a:lnTo>
                  <a:lnTo>
                    <a:pt x="5577816" y="722515"/>
                  </a:lnTo>
                  <a:lnTo>
                    <a:pt x="5577840" y="722160"/>
                  </a:lnTo>
                  <a:lnTo>
                    <a:pt x="5577471" y="54724"/>
                  </a:lnTo>
                  <a:lnTo>
                    <a:pt x="5561545" y="16063"/>
                  </a:lnTo>
                  <a:lnTo>
                    <a:pt x="5529968" y="466"/>
                  </a:lnTo>
                  <a:lnTo>
                    <a:pt x="5522760" y="0"/>
                  </a:lnTo>
                  <a:close/>
                </a:path>
              </a:pathLst>
            </a:custGeom>
            <a:solidFill>
              <a:srgbClr val="3322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2960" y="3291840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205917" y="0"/>
                  </a:moveTo>
                  <a:lnTo>
                    <a:pt x="152547" y="6929"/>
                  </a:lnTo>
                  <a:lnTo>
                    <a:pt x="102958" y="27355"/>
                  </a:lnTo>
                  <a:lnTo>
                    <a:pt x="60345" y="59988"/>
                  </a:lnTo>
                  <a:lnTo>
                    <a:pt x="27724" y="102603"/>
                  </a:lnTo>
                  <a:lnTo>
                    <a:pt x="6975" y="152325"/>
                  </a:lnTo>
                  <a:lnTo>
                    <a:pt x="0" y="205562"/>
                  </a:lnTo>
                  <a:lnTo>
                    <a:pt x="1749" y="232429"/>
                  </a:lnTo>
                  <a:lnTo>
                    <a:pt x="15644" y="284282"/>
                  </a:lnTo>
                  <a:lnTo>
                    <a:pt x="42667" y="330958"/>
                  </a:lnTo>
                  <a:lnTo>
                    <a:pt x="80521" y="368812"/>
                  </a:lnTo>
                  <a:lnTo>
                    <a:pt x="127145" y="395685"/>
                  </a:lnTo>
                  <a:lnTo>
                    <a:pt x="178895" y="409680"/>
                  </a:lnTo>
                  <a:lnTo>
                    <a:pt x="205917" y="411480"/>
                  </a:lnTo>
                  <a:lnTo>
                    <a:pt x="232734" y="409680"/>
                  </a:lnTo>
                  <a:lnTo>
                    <a:pt x="284340" y="395685"/>
                  </a:lnTo>
                  <a:lnTo>
                    <a:pt x="330958" y="368812"/>
                  </a:lnTo>
                  <a:lnTo>
                    <a:pt x="368812" y="330958"/>
                  </a:lnTo>
                  <a:lnTo>
                    <a:pt x="395835" y="284282"/>
                  </a:lnTo>
                  <a:lnTo>
                    <a:pt x="409730" y="232429"/>
                  </a:lnTo>
                  <a:lnTo>
                    <a:pt x="411480" y="205562"/>
                  </a:lnTo>
                  <a:lnTo>
                    <a:pt x="409730" y="178689"/>
                  </a:lnTo>
                  <a:lnTo>
                    <a:pt x="395835" y="126839"/>
                  </a:lnTo>
                  <a:lnTo>
                    <a:pt x="368812" y="80165"/>
                  </a:lnTo>
                  <a:lnTo>
                    <a:pt x="330958" y="42306"/>
                  </a:lnTo>
                  <a:lnTo>
                    <a:pt x="284340" y="15489"/>
                  </a:lnTo>
                  <a:lnTo>
                    <a:pt x="232734" y="1743"/>
                  </a:lnTo>
                  <a:lnTo>
                    <a:pt x="205917" y="0"/>
                  </a:lnTo>
                  <a:close/>
                </a:path>
              </a:pathLst>
            </a:custGeom>
            <a:solidFill>
              <a:srgbClr val="694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70826" y="3378136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94256" y="3382098"/>
            <a:ext cx="15855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“I</a:t>
            </a:r>
            <a:r>
              <a:rPr sz="135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enjoy</a:t>
            </a:r>
            <a:r>
              <a:rPr sz="135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spc="-10" dirty="0">
                <a:solidFill>
                  <a:srgbClr val="FFFFFF"/>
                </a:solidFill>
                <a:latin typeface="Calibri"/>
                <a:cs typeface="Calibri"/>
              </a:rPr>
              <a:t>staying</a:t>
            </a:r>
            <a:r>
              <a:rPr sz="135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spc="-20" dirty="0">
                <a:solidFill>
                  <a:srgbClr val="FFFFFF"/>
                </a:solidFill>
                <a:latin typeface="Calibri"/>
                <a:cs typeface="Calibri"/>
              </a:rPr>
              <a:t>home”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9724" y="4069079"/>
            <a:ext cx="5577840" cy="777240"/>
            <a:chOff x="639724" y="4069079"/>
            <a:chExt cx="5577840" cy="777240"/>
          </a:xfrm>
        </p:grpSpPr>
        <p:sp>
          <p:nvSpPr>
            <p:cNvPr id="17" name="object 17"/>
            <p:cNvSpPr/>
            <p:nvPr/>
          </p:nvSpPr>
          <p:spPr>
            <a:xfrm>
              <a:off x="639724" y="4069079"/>
              <a:ext cx="5577840" cy="777240"/>
            </a:xfrm>
            <a:custGeom>
              <a:avLst/>
              <a:gdLst/>
              <a:ahLst/>
              <a:cxnLst/>
              <a:rect l="l" t="t" r="r" b="b"/>
              <a:pathLst>
                <a:path w="5577840" h="777239">
                  <a:moveTo>
                    <a:pt x="55227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722515"/>
                  </a:lnTo>
                  <a:lnTo>
                    <a:pt x="452" y="729368"/>
                  </a:lnTo>
                  <a:lnTo>
                    <a:pt x="466" y="729576"/>
                  </a:lnTo>
                  <a:lnTo>
                    <a:pt x="21370" y="765927"/>
                  </a:lnTo>
                  <a:lnTo>
                    <a:pt x="48065" y="776884"/>
                  </a:lnTo>
                  <a:lnTo>
                    <a:pt x="49212" y="776884"/>
                  </a:lnTo>
                  <a:lnTo>
                    <a:pt x="54711" y="777240"/>
                  </a:lnTo>
                  <a:lnTo>
                    <a:pt x="5523115" y="776884"/>
                  </a:lnTo>
                  <a:lnTo>
                    <a:pt x="5561769" y="760947"/>
                  </a:lnTo>
                  <a:lnTo>
                    <a:pt x="5575915" y="736604"/>
                  </a:lnTo>
                  <a:lnTo>
                    <a:pt x="5575992" y="736376"/>
                  </a:lnTo>
                  <a:lnTo>
                    <a:pt x="5577331" y="729576"/>
                  </a:lnTo>
                  <a:lnTo>
                    <a:pt x="5577372" y="729368"/>
                  </a:lnTo>
                  <a:lnTo>
                    <a:pt x="5577816" y="722515"/>
                  </a:lnTo>
                  <a:lnTo>
                    <a:pt x="5577840" y="722160"/>
                  </a:lnTo>
                  <a:lnTo>
                    <a:pt x="5577471" y="54724"/>
                  </a:lnTo>
                  <a:lnTo>
                    <a:pt x="5561545" y="16063"/>
                  </a:lnTo>
                  <a:lnTo>
                    <a:pt x="5529968" y="466"/>
                  </a:lnTo>
                  <a:lnTo>
                    <a:pt x="5522760" y="0"/>
                  </a:lnTo>
                  <a:close/>
                </a:path>
              </a:pathLst>
            </a:custGeom>
            <a:solidFill>
              <a:srgbClr val="3322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2960" y="4251959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205917" y="0"/>
                  </a:moveTo>
                  <a:lnTo>
                    <a:pt x="152547" y="6929"/>
                  </a:lnTo>
                  <a:lnTo>
                    <a:pt x="102958" y="27355"/>
                  </a:lnTo>
                  <a:lnTo>
                    <a:pt x="60345" y="59988"/>
                  </a:lnTo>
                  <a:lnTo>
                    <a:pt x="27724" y="102603"/>
                  </a:lnTo>
                  <a:lnTo>
                    <a:pt x="6975" y="152325"/>
                  </a:lnTo>
                  <a:lnTo>
                    <a:pt x="0" y="205562"/>
                  </a:lnTo>
                  <a:lnTo>
                    <a:pt x="1749" y="232429"/>
                  </a:lnTo>
                  <a:lnTo>
                    <a:pt x="15644" y="284282"/>
                  </a:lnTo>
                  <a:lnTo>
                    <a:pt x="42667" y="330958"/>
                  </a:lnTo>
                  <a:lnTo>
                    <a:pt x="80521" y="368812"/>
                  </a:lnTo>
                  <a:lnTo>
                    <a:pt x="127145" y="395685"/>
                  </a:lnTo>
                  <a:lnTo>
                    <a:pt x="178895" y="409680"/>
                  </a:lnTo>
                  <a:lnTo>
                    <a:pt x="205917" y="411479"/>
                  </a:lnTo>
                  <a:lnTo>
                    <a:pt x="232734" y="409680"/>
                  </a:lnTo>
                  <a:lnTo>
                    <a:pt x="284340" y="395685"/>
                  </a:lnTo>
                  <a:lnTo>
                    <a:pt x="330958" y="368812"/>
                  </a:lnTo>
                  <a:lnTo>
                    <a:pt x="368812" y="330958"/>
                  </a:lnTo>
                  <a:lnTo>
                    <a:pt x="395835" y="284282"/>
                  </a:lnTo>
                  <a:lnTo>
                    <a:pt x="409730" y="232429"/>
                  </a:lnTo>
                  <a:lnTo>
                    <a:pt x="411480" y="205562"/>
                  </a:lnTo>
                  <a:lnTo>
                    <a:pt x="409730" y="178689"/>
                  </a:lnTo>
                  <a:lnTo>
                    <a:pt x="395835" y="126839"/>
                  </a:lnTo>
                  <a:lnTo>
                    <a:pt x="368812" y="80165"/>
                  </a:lnTo>
                  <a:lnTo>
                    <a:pt x="330958" y="42306"/>
                  </a:lnTo>
                  <a:lnTo>
                    <a:pt x="284340" y="15489"/>
                  </a:lnTo>
                  <a:lnTo>
                    <a:pt x="232734" y="1743"/>
                  </a:lnTo>
                  <a:lnTo>
                    <a:pt x="205917" y="0"/>
                  </a:lnTo>
                  <a:close/>
                </a:path>
              </a:pathLst>
            </a:custGeom>
            <a:solidFill>
              <a:srgbClr val="FF6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70826" y="4338256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94256" y="4342218"/>
            <a:ext cx="24828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“the</a:t>
            </a:r>
            <a:r>
              <a:rPr sz="1350" i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isotope</a:t>
            </a:r>
            <a:r>
              <a:rPr sz="135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238u</a:t>
            </a:r>
            <a:r>
              <a:rPr sz="135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decays</a:t>
            </a:r>
            <a:r>
              <a:rPr sz="135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35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spc="-10" dirty="0">
                <a:solidFill>
                  <a:srgbClr val="FFFFFF"/>
                </a:solidFill>
                <a:latin typeface="Calibri"/>
                <a:cs typeface="Calibri"/>
              </a:rPr>
              <a:t>206pb”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85534" y="2142489"/>
            <a:ext cx="5041900" cy="4173220"/>
            <a:chOff x="6485534" y="2142489"/>
            <a:chExt cx="5041900" cy="4173220"/>
          </a:xfrm>
        </p:grpSpPr>
        <p:sp>
          <p:nvSpPr>
            <p:cNvPr id="22" name="object 22"/>
            <p:cNvSpPr/>
            <p:nvPr/>
          </p:nvSpPr>
          <p:spPr>
            <a:xfrm>
              <a:off x="6491884" y="2148839"/>
              <a:ext cx="5029200" cy="4160520"/>
            </a:xfrm>
            <a:custGeom>
              <a:avLst/>
              <a:gdLst/>
              <a:ahLst/>
              <a:cxnLst/>
              <a:rect l="l" t="t" r="r" b="b"/>
              <a:pathLst>
                <a:path w="5029200" h="4160520">
                  <a:moveTo>
                    <a:pt x="497412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4105795"/>
                  </a:lnTo>
                  <a:lnTo>
                    <a:pt x="452" y="4112648"/>
                  </a:lnTo>
                  <a:lnTo>
                    <a:pt x="466" y="4112856"/>
                  </a:lnTo>
                  <a:lnTo>
                    <a:pt x="1798" y="4119656"/>
                  </a:lnTo>
                  <a:lnTo>
                    <a:pt x="1843" y="4119884"/>
                  </a:lnTo>
                  <a:lnTo>
                    <a:pt x="3994" y="4126394"/>
                  </a:lnTo>
                  <a:lnTo>
                    <a:pt x="4098" y="4126710"/>
                  </a:lnTo>
                  <a:lnTo>
                    <a:pt x="33757" y="4156421"/>
                  </a:lnTo>
                  <a:lnTo>
                    <a:pt x="48065" y="4160164"/>
                  </a:lnTo>
                  <a:lnTo>
                    <a:pt x="49212" y="4160164"/>
                  </a:lnTo>
                  <a:lnTo>
                    <a:pt x="54711" y="4160520"/>
                  </a:lnTo>
                  <a:lnTo>
                    <a:pt x="4974475" y="4160164"/>
                  </a:lnTo>
                  <a:lnTo>
                    <a:pt x="5013129" y="4144227"/>
                  </a:lnTo>
                  <a:lnTo>
                    <a:pt x="5027275" y="4119884"/>
                  </a:lnTo>
                  <a:lnTo>
                    <a:pt x="5027352" y="4119656"/>
                  </a:lnTo>
                  <a:lnTo>
                    <a:pt x="5028691" y="4112856"/>
                  </a:lnTo>
                  <a:lnTo>
                    <a:pt x="5028732" y="4112648"/>
                  </a:lnTo>
                  <a:lnTo>
                    <a:pt x="5029176" y="4105795"/>
                  </a:lnTo>
                  <a:lnTo>
                    <a:pt x="5029200" y="4105440"/>
                  </a:lnTo>
                  <a:lnTo>
                    <a:pt x="5028831" y="54724"/>
                  </a:lnTo>
                  <a:lnTo>
                    <a:pt x="5012905" y="16063"/>
                  </a:lnTo>
                  <a:lnTo>
                    <a:pt x="4981328" y="466"/>
                  </a:lnTo>
                  <a:lnTo>
                    <a:pt x="4974120" y="0"/>
                  </a:lnTo>
                  <a:close/>
                </a:path>
              </a:pathLst>
            </a:custGeom>
            <a:solidFill>
              <a:srgbClr val="160F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91884" y="2148839"/>
              <a:ext cx="5029200" cy="4160520"/>
            </a:xfrm>
            <a:custGeom>
              <a:avLst/>
              <a:gdLst/>
              <a:ahLst/>
              <a:cxnLst/>
              <a:rect l="l" t="t" r="r" b="b"/>
              <a:pathLst>
                <a:path w="5029200" h="416052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4974120" y="0"/>
                  </a:lnTo>
                  <a:lnTo>
                    <a:pt x="5012905" y="16063"/>
                  </a:lnTo>
                  <a:lnTo>
                    <a:pt x="5028831" y="54724"/>
                  </a:lnTo>
                  <a:lnTo>
                    <a:pt x="5029200" y="4105440"/>
                  </a:lnTo>
                  <a:lnTo>
                    <a:pt x="5028732" y="4112648"/>
                  </a:lnTo>
                  <a:lnTo>
                    <a:pt x="5027352" y="4119656"/>
                  </a:lnTo>
                  <a:lnTo>
                    <a:pt x="5001831" y="4152963"/>
                  </a:lnTo>
                  <a:lnTo>
                    <a:pt x="54711" y="4160520"/>
                  </a:lnTo>
                  <a:lnTo>
                    <a:pt x="15925" y="4144456"/>
                  </a:lnTo>
                  <a:lnTo>
                    <a:pt x="0" y="4105795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3E30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856196" y="2318514"/>
            <a:ext cx="301561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760" marR="905510" indent="-36576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solidFill>
                  <a:srgbClr val="D7CEED"/>
                </a:solidFill>
                <a:latin typeface="Courier New"/>
                <a:cs typeface="Courier New"/>
              </a:rPr>
              <a:t>response</a:t>
            </a:r>
            <a:r>
              <a:rPr sz="1200" spc="-60" dirty="0">
                <a:solidFill>
                  <a:srgbClr val="D7CEED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D7CEED"/>
                </a:solidFill>
                <a:latin typeface="Courier New"/>
                <a:cs typeface="Courier New"/>
              </a:rPr>
              <a:t>=</a:t>
            </a:r>
            <a:r>
              <a:rPr sz="1200" spc="-55" dirty="0">
                <a:solidFill>
                  <a:srgbClr val="D7CEED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D7CEED"/>
                </a:solidFill>
                <a:latin typeface="Courier New"/>
                <a:cs typeface="Courier New"/>
              </a:rPr>
              <a:t>co.embed( texts=texts, </a:t>
            </a:r>
            <a:r>
              <a:rPr sz="1200" spc="-20" dirty="0">
                <a:solidFill>
                  <a:srgbClr val="D7CEED"/>
                </a:solidFill>
                <a:latin typeface="Courier New"/>
                <a:cs typeface="Courier New"/>
              </a:rPr>
              <a:t>model='embed-</a:t>
            </a:r>
            <a:r>
              <a:rPr sz="1200" spc="-10" dirty="0">
                <a:solidFill>
                  <a:srgbClr val="D7CEED"/>
                </a:solidFill>
                <a:latin typeface="Courier New"/>
                <a:cs typeface="Courier New"/>
              </a:rPr>
              <a:t>v4.0',</a:t>
            </a:r>
            <a:endParaRPr sz="1200">
              <a:latin typeface="Courier New"/>
              <a:cs typeface="Courier New"/>
            </a:endParaRPr>
          </a:p>
          <a:p>
            <a:pPr marL="365760">
              <a:lnSpc>
                <a:spcPct val="125000"/>
              </a:lnSpc>
            </a:pPr>
            <a:r>
              <a:rPr sz="1200" spc="-10" dirty="0">
                <a:solidFill>
                  <a:srgbClr val="D7CEED"/>
                </a:solidFill>
                <a:latin typeface="Courier New"/>
                <a:cs typeface="Courier New"/>
              </a:rPr>
              <a:t>input_type='search_document', embedding_types=['float']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56196" y="3507371"/>
            <a:ext cx="91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solidFill>
                  <a:srgbClr val="D7CEED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43496" y="3964571"/>
            <a:ext cx="34975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D7CEED"/>
                </a:solidFill>
                <a:latin typeface="Courier New"/>
                <a:cs typeface="Courier New"/>
              </a:rPr>
              <a:t>embeddings</a:t>
            </a:r>
            <a:r>
              <a:rPr sz="1200" spc="-70" dirty="0">
                <a:solidFill>
                  <a:srgbClr val="D7CEED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D7CEED"/>
                </a:solidFill>
                <a:latin typeface="Courier New"/>
                <a:cs typeface="Courier New"/>
              </a:rPr>
              <a:t>=</a:t>
            </a:r>
            <a:r>
              <a:rPr sz="1200" spc="-65" dirty="0">
                <a:solidFill>
                  <a:srgbClr val="D7CEED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D7CEED"/>
                </a:solidFill>
                <a:latin typeface="Courier New"/>
                <a:cs typeface="Courier New"/>
              </a:rPr>
              <a:t>response.embeddings.float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766559" y="4297679"/>
            <a:ext cx="4480560" cy="635"/>
          </a:xfrm>
          <a:custGeom>
            <a:avLst/>
            <a:gdLst/>
            <a:ahLst/>
            <a:cxnLst/>
            <a:rect l="l" t="t" r="r" b="b"/>
            <a:pathLst>
              <a:path w="4480559" h="635">
                <a:moveTo>
                  <a:pt x="0" y="0"/>
                </a:moveTo>
                <a:lnTo>
                  <a:pt x="4480560" y="355"/>
                </a:lnTo>
              </a:path>
            </a:pathLst>
          </a:custGeom>
          <a:ln w="12599">
            <a:solidFill>
              <a:srgbClr val="3E306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843496" y="4479023"/>
            <a:ext cx="277431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i="1" dirty="0">
                <a:solidFill>
                  <a:srgbClr val="B6AAD5"/>
                </a:solidFill>
                <a:latin typeface="Calibri"/>
                <a:cs typeface="Calibri"/>
              </a:rPr>
              <a:t>Each</a:t>
            </a:r>
            <a:r>
              <a:rPr sz="1050" i="1" spc="-35" dirty="0">
                <a:solidFill>
                  <a:srgbClr val="B6AAD5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B6AAD5"/>
                </a:solidFill>
                <a:latin typeface="Calibri"/>
                <a:cs typeface="Calibri"/>
              </a:rPr>
              <a:t>vector</a:t>
            </a:r>
            <a:r>
              <a:rPr sz="1050" i="1" spc="-50" dirty="0">
                <a:solidFill>
                  <a:srgbClr val="B6AAD5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B6AAD5"/>
                </a:solidFill>
                <a:latin typeface="Calibri"/>
                <a:cs typeface="Calibri"/>
              </a:rPr>
              <a:t>has</a:t>
            </a:r>
            <a:r>
              <a:rPr sz="1050" i="1" spc="-45" dirty="0">
                <a:solidFill>
                  <a:srgbClr val="B6AAD5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B6AAD5"/>
                </a:solidFill>
                <a:latin typeface="Calibri"/>
                <a:cs typeface="Calibri"/>
              </a:rPr>
              <a:t>1536</a:t>
            </a:r>
            <a:r>
              <a:rPr sz="1050" i="1" spc="-40" dirty="0">
                <a:solidFill>
                  <a:srgbClr val="B6AAD5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B6AAD5"/>
                </a:solidFill>
                <a:latin typeface="Calibri"/>
                <a:cs typeface="Calibri"/>
              </a:rPr>
              <a:t>numbers</a:t>
            </a:r>
            <a:r>
              <a:rPr sz="1050" i="1" spc="-40" dirty="0">
                <a:solidFill>
                  <a:srgbClr val="B6AAD5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B6AAD5"/>
                </a:solidFill>
                <a:latin typeface="Calibri"/>
                <a:cs typeface="Calibri"/>
              </a:rPr>
              <a:t>—</a:t>
            </a:r>
            <a:r>
              <a:rPr sz="1050" i="1" spc="-40" dirty="0">
                <a:solidFill>
                  <a:srgbClr val="B6AAD5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B6AAD5"/>
                </a:solidFill>
                <a:latin typeface="Calibri"/>
                <a:cs typeface="Calibri"/>
              </a:rPr>
              <a:t>shown</a:t>
            </a:r>
            <a:r>
              <a:rPr sz="1050" i="1" spc="-45" dirty="0">
                <a:solidFill>
                  <a:srgbClr val="B6AAD5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B6AAD5"/>
                </a:solidFill>
                <a:latin typeface="Calibri"/>
                <a:cs typeface="Calibri"/>
              </a:rPr>
              <a:t>truncated:</a:t>
            </a:r>
            <a:endParaRPr sz="1050">
              <a:latin typeface="Calibri"/>
              <a:cs typeface="Calibri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6824446" y="5188312"/>
          <a:ext cx="3082922" cy="537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6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4940">
                <a:tc>
                  <a:txBody>
                    <a:bodyPr/>
                    <a:lstStyle/>
                    <a:p>
                      <a:pPr marR="635" algn="ctr">
                        <a:lnSpc>
                          <a:spcPts val="1085"/>
                        </a:lnSpc>
                      </a:pPr>
                      <a:r>
                        <a:rPr sz="1050" b="1" spc="-10" dirty="0">
                          <a:solidFill>
                            <a:srgbClr val="694B92"/>
                          </a:solidFill>
                          <a:latin typeface="Courier New"/>
                          <a:cs typeface="Courier New"/>
                        </a:rPr>
                        <a:t>sentence1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085"/>
                        </a:lnSpc>
                      </a:pPr>
                      <a:r>
                        <a:rPr sz="1050" spc="-10" dirty="0">
                          <a:solidFill>
                            <a:srgbClr val="D7CEED"/>
                          </a:solidFill>
                          <a:latin typeface="Courier New"/>
                          <a:cs typeface="Courier New"/>
                        </a:rPr>
                        <a:t>[0.0497,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5"/>
                        </a:lnSpc>
                      </a:pPr>
                      <a:r>
                        <a:rPr sz="1050" spc="-10" dirty="0">
                          <a:solidFill>
                            <a:srgbClr val="D7CEED"/>
                          </a:solidFill>
                          <a:latin typeface="Courier New"/>
                          <a:cs typeface="Courier New"/>
                        </a:rPr>
                        <a:t>0.0380,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5"/>
                        </a:lnSpc>
                      </a:pPr>
                      <a:r>
                        <a:rPr sz="1050" spc="-10" dirty="0">
                          <a:solidFill>
                            <a:srgbClr val="D7CEED"/>
                          </a:solidFill>
                          <a:latin typeface="Courier New"/>
                          <a:cs typeface="Courier New"/>
                        </a:rPr>
                        <a:t>-0.0296,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085"/>
                        </a:lnSpc>
                      </a:pPr>
                      <a:r>
                        <a:rPr sz="1050" spc="-25" dirty="0">
                          <a:solidFill>
                            <a:srgbClr val="D7CEED"/>
                          </a:solidFill>
                          <a:latin typeface="Courier New"/>
                          <a:cs typeface="Courier New"/>
                        </a:rPr>
                        <a:t>…]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R="635" algn="ctr">
                        <a:lnSpc>
                          <a:spcPts val="1120"/>
                        </a:lnSpc>
                      </a:pPr>
                      <a:r>
                        <a:rPr sz="1050" b="1" spc="-10" dirty="0">
                          <a:solidFill>
                            <a:srgbClr val="694B92"/>
                          </a:solidFill>
                          <a:latin typeface="Courier New"/>
                          <a:cs typeface="Courier New"/>
                        </a:rPr>
                        <a:t>sentence2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20"/>
                        </a:lnSpc>
                      </a:pPr>
                      <a:r>
                        <a:rPr sz="1050" spc="-10" dirty="0">
                          <a:solidFill>
                            <a:srgbClr val="D7CEED"/>
                          </a:solidFill>
                          <a:latin typeface="Courier New"/>
                          <a:cs typeface="Courier New"/>
                        </a:rPr>
                        <a:t>[0.0434,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</a:pPr>
                      <a:r>
                        <a:rPr sz="1050" spc="-10" dirty="0">
                          <a:solidFill>
                            <a:srgbClr val="D7CEED"/>
                          </a:solidFill>
                          <a:latin typeface="Courier New"/>
                          <a:cs typeface="Courier New"/>
                        </a:rPr>
                        <a:t>0.0540,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</a:pPr>
                      <a:r>
                        <a:rPr sz="1050" spc="-10" dirty="0">
                          <a:solidFill>
                            <a:srgbClr val="D7CEED"/>
                          </a:solidFill>
                          <a:latin typeface="Courier New"/>
                          <a:cs typeface="Courier New"/>
                        </a:rPr>
                        <a:t>-0.0246,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20"/>
                        </a:lnSpc>
                      </a:pPr>
                      <a:r>
                        <a:rPr sz="1050" spc="-25" dirty="0">
                          <a:solidFill>
                            <a:srgbClr val="D7CEED"/>
                          </a:solidFill>
                          <a:latin typeface="Courier New"/>
                          <a:cs typeface="Courier New"/>
                        </a:rPr>
                        <a:t>…]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050" b="1" spc="-10" dirty="0">
                          <a:solidFill>
                            <a:srgbClr val="FF6E58"/>
                          </a:solidFill>
                          <a:latin typeface="Courier New"/>
                          <a:cs typeface="Courier New"/>
                        </a:rPr>
                        <a:t>sentence3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050" spc="-10" dirty="0">
                          <a:solidFill>
                            <a:srgbClr val="D7CEED"/>
                          </a:solidFill>
                          <a:latin typeface="Courier New"/>
                          <a:cs typeface="Courier New"/>
                        </a:rPr>
                        <a:t>[0.0244,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050" spc="-10" dirty="0">
                          <a:solidFill>
                            <a:srgbClr val="D7CEED"/>
                          </a:solidFill>
                          <a:latin typeface="Courier New"/>
                          <a:cs typeface="Courier New"/>
                        </a:rPr>
                        <a:t>0.0071,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050" spc="-10" dirty="0">
                          <a:solidFill>
                            <a:srgbClr val="D7CEED"/>
                          </a:solidFill>
                          <a:latin typeface="Courier New"/>
                          <a:cs typeface="Courier New"/>
                        </a:rPr>
                        <a:t>-0.0467,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050" spc="-25" dirty="0">
                          <a:solidFill>
                            <a:srgbClr val="D7CEED"/>
                          </a:solidFill>
                          <a:latin typeface="Courier New"/>
                          <a:cs typeface="Courier New"/>
                        </a:rPr>
                        <a:t>…]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016" y="512889"/>
            <a:ext cx="10883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T</a:t>
            </a:r>
            <a:r>
              <a:rPr sz="1200" b="1" spc="-8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H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E</a:t>
            </a:r>
            <a:r>
              <a:rPr sz="1200" b="1" spc="40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R</a:t>
            </a:r>
            <a:r>
              <a:rPr sz="1200" b="1" spc="-6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E</a:t>
            </a:r>
            <a:r>
              <a:rPr sz="1200" b="1" spc="-8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S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U</a:t>
            </a:r>
            <a:r>
              <a:rPr sz="1200" b="1" spc="-8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50" dirty="0">
                <a:solidFill>
                  <a:srgbClr val="694B92"/>
                </a:solidFill>
                <a:latin typeface="Calibri"/>
                <a:cs typeface="Calibri"/>
              </a:rPr>
              <a:t>LT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694B92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Both</a:t>
            </a:r>
            <a:r>
              <a:rPr spc="5" dirty="0"/>
              <a:t> </a:t>
            </a:r>
            <a:r>
              <a:rPr spc="105" dirty="0"/>
              <a:t>methods</a:t>
            </a:r>
            <a:r>
              <a:rPr spc="5" dirty="0"/>
              <a:t> </a:t>
            </a:r>
            <a:r>
              <a:rPr spc="65" dirty="0"/>
              <a:t>agree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7016" y="1502905"/>
            <a:ext cx="7811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Because</a:t>
            </a:r>
            <a:r>
              <a:rPr sz="1300" spc="-20" dirty="0">
                <a:solidFill>
                  <a:srgbClr val="797090"/>
                </a:solidFill>
                <a:latin typeface="Calibri"/>
                <a:cs typeface="Calibri"/>
              </a:rPr>
              <a:t> embed-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v4.0</a:t>
            </a:r>
            <a:r>
              <a:rPr sz="130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returns</a:t>
            </a:r>
            <a:r>
              <a:rPr sz="130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normalized</a:t>
            </a:r>
            <a:r>
              <a:rPr sz="130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vectors,</a:t>
            </a:r>
            <a:r>
              <a:rPr sz="130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dot</a:t>
            </a:r>
            <a:r>
              <a:rPr sz="130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product</a:t>
            </a:r>
            <a:r>
              <a:rPr sz="1300" spc="-1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cosine</a:t>
            </a:r>
            <a:r>
              <a:rPr sz="130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similarity</a:t>
            </a:r>
            <a:r>
              <a:rPr sz="130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land</a:t>
            </a:r>
            <a:r>
              <a:rPr sz="1300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797090"/>
                </a:solidFill>
                <a:latin typeface="Calibri"/>
                <a:cs typeface="Calibri"/>
              </a:rPr>
              <a:t>on</a:t>
            </a:r>
            <a:r>
              <a:rPr sz="130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almost</a:t>
            </a:r>
            <a:r>
              <a:rPr sz="1300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identical</a:t>
            </a:r>
            <a:r>
              <a:rPr sz="1300" spc="-2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797090"/>
                </a:solidFill>
                <a:latin typeface="Calibri"/>
                <a:cs typeface="Calibri"/>
              </a:rPr>
              <a:t>numbers.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583264"/>
              </p:ext>
            </p:extLst>
          </p:nvPr>
        </p:nvGraphicFramePr>
        <p:xfrm>
          <a:off x="634681" y="2143441"/>
          <a:ext cx="7680959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Pair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  <a:solidFill>
                      <a:srgbClr val="2315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Dot</a:t>
                      </a:r>
                      <a:r>
                        <a:rPr sz="13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Product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  <a:solidFill>
                      <a:srgbClr val="2315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Cosine</a:t>
                      </a:r>
                      <a:r>
                        <a:rPr sz="13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Similarity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  <a:solidFill>
                      <a:srgbClr val="231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spc="-1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Sentence</a:t>
                      </a:r>
                      <a:r>
                        <a:rPr sz="1300" spc="-3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300" spc="-3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↔</a:t>
                      </a:r>
                      <a:r>
                        <a:rPr sz="1300" spc="-25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Sentence</a:t>
                      </a:r>
                      <a:r>
                        <a:rPr sz="1300" spc="-25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5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00" b="1" spc="-10" dirty="0">
                          <a:solidFill>
                            <a:srgbClr val="694B92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lang="en-US" sz="1500" b="1" spc="-10" dirty="0">
                          <a:solidFill>
                            <a:srgbClr val="694B92"/>
                          </a:solidFill>
                          <a:latin typeface="Calibri"/>
                          <a:cs typeface="Calibri"/>
                        </a:rPr>
                        <a:t>7441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00" b="1" spc="-10" dirty="0">
                          <a:solidFill>
                            <a:srgbClr val="694B92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lang="en-US" sz="1500" b="1" spc="-10" dirty="0">
                          <a:solidFill>
                            <a:srgbClr val="694B92"/>
                          </a:solidFill>
                          <a:latin typeface="Calibri"/>
                          <a:cs typeface="Calibri"/>
                        </a:rPr>
                        <a:t>7441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spc="-1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Sentence</a:t>
                      </a:r>
                      <a:r>
                        <a:rPr sz="1300" spc="-3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300" spc="-3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↔</a:t>
                      </a:r>
                      <a:r>
                        <a:rPr sz="1300" spc="-25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Sentence</a:t>
                      </a:r>
                      <a:r>
                        <a:rPr sz="1300" spc="-25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5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00" b="1" spc="-10" dirty="0">
                          <a:solidFill>
                            <a:srgbClr val="FF6E58"/>
                          </a:solidFill>
                          <a:latin typeface="Calibri"/>
                          <a:cs typeface="Calibri"/>
                        </a:rPr>
                        <a:t>0.19</a:t>
                      </a:r>
                      <a:r>
                        <a:rPr lang="en-US" sz="1500" b="1" spc="-10" dirty="0">
                          <a:solidFill>
                            <a:srgbClr val="FF6E58"/>
                          </a:solidFill>
                          <a:latin typeface="Calibri"/>
                          <a:cs typeface="Calibri"/>
                        </a:rPr>
                        <a:t>33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00" b="1" spc="-10" dirty="0">
                          <a:solidFill>
                            <a:srgbClr val="FF6E58"/>
                          </a:solidFill>
                          <a:latin typeface="Calibri"/>
                          <a:cs typeface="Calibri"/>
                        </a:rPr>
                        <a:t>0.19</a:t>
                      </a:r>
                      <a:r>
                        <a:rPr lang="en-US" sz="1500" b="1" spc="-10" dirty="0">
                          <a:solidFill>
                            <a:srgbClr val="FF6E58"/>
                          </a:solidFill>
                          <a:latin typeface="Calibri"/>
                          <a:cs typeface="Calibri"/>
                        </a:rPr>
                        <a:t>33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00" spc="-1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Sentence</a:t>
                      </a:r>
                      <a:r>
                        <a:rPr sz="1300" spc="-3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300" spc="-3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↔</a:t>
                      </a:r>
                      <a:r>
                        <a:rPr sz="1300" spc="-25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Sentence</a:t>
                      </a:r>
                      <a:r>
                        <a:rPr sz="1300" spc="-25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50" dirty="0">
                          <a:solidFill>
                            <a:srgbClr val="29203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00" b="1" spc="-10" dirty="0">
                          <a:solidFill>
                            <a:srgbClr val="FF6E58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lang="en-US" sz="1500" b="1" spc="-10" dirty="0">
                          <a:solidFill>
                            <a:srgbClr val="FF6E58"/>
                          </a:solidFill>
                          <a:latin typeface="Calibri"/>
                          <a:cs typeface="Calibri"/>
                        </a:rPr>
                        <a:t>2185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00" b="1" spc="-10" dirty="0">
                          <a:solidFill>
                            <a:srgbClr val="FF6E58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lang="en-US" sz="1500" b="1" spc="-10" dirty="0">
                          <a:solidFill>
                            <a:srgbClr val="FF6E58"/>
                          </a:solidFill>
                          <a:latin typeface="Calibri"/>
                          <a:cs typeface="Calibri"/>
                        </a:rPr>
                        <a:t>2185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4DEF2"/>
                      </a:solidFill>
                      <a:prstDash val="solid"/>
                    </a:lnL>
                    <a:lnR w="12700">
                      <a:solidFill>
                        <a:srgbClr val="E4DEF2"/>
                      </a:solidFill>
                      <a:prstDash val="solid"/>
                    </a:lnR>
                    <a:lnT w="12700">
                      <a:solidFill>
                        <a:srgbClr val="E4DEF2"/>
                      </a:solidFill>
                      <a:prstDash val="solid"/>
                    </a:lnT>
                    <a:lnB w="12700">
                      <a:solidFill>
                        <a:srgbClr val="E4DEF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8686444" y="2148484"/>
            <a:ext cx="2834640" cy="4023360"/>
          </a:xfrm>
          <a:custGeom>
            <a:avLst/>
            <a:gdLst/>
            <a:ahLst/>
            <a:cxnLst/>
            <a:rect l="l" t="t" r="r" b="b"/>
            <a:pathLst>
              <a:path w="2834640" h="4023360">
                <a:moveTo>
                  <a:pt x="2761195" y="0"/>
                </a:moveTo>
                <a:lnTo>
                  <a:pt x="73075" y="0"/>
                </a:lnTo>
                <a:lnTo>
                  <a:pt x="63649" y="607"/>
                </a:lnTo>
                <a:lnTo>
                  <a:pt x="21458" y="21280"/>
                </a:lnTo>
                <a:lnTo>
                  <a:pt x="607" y="63442"/>
                </a:lnTo>
                <a:lnTo>
                  <a:pt x="0" y="73075"/>
                </a:lnTo>
                <a:lnTo>
                  <a:pt x="0" y="3950271"/>
                </a:lnTo>
                <a:lnTo>
                  <a:pt x="597" y="3959549"/>
                </a:lnTo>
                <a:lnTo>
                  <a:pt x="607" y="3959699"/>
                </a:lnTo>
                <a:lnTo>
                  <a:pt x="21280" y="4001889"/>
                </a:lnTo>
                <a:lnTo>
                  <a:pt x="63442" y="4022752"/>
                </a:lnTo>
                <a:lnTo>
                  <a:pt x="73075" y="4023359"/>
                </a:lnTo>
                <a:lnTo>
                  <a:pt x="2761551" y="4022991"/>
                </a:lnTo>
                <a:lnTo>
                  <a:pt x="2805929" y="4007950"/>
                </a:lnTo>
                <a:lnTo>
                  <a:pt x="2832194" y="3968994"/>
                </a:lnTo>
                <a:lnTo>
                  <a:pt x="2834617" y="3950271"/>
                </a:lnTo>
                <a:lnTo>
                  <a:pt x="2834640" y="3949915"/>
                </a:lnTo>
                <a:lnTo>
                  <a:pt x="2834271" y="73075"/>
                </a:lnTo>
                <a:lnTo>
                  <a:pt x="2819230" y="28698"/>
                </a:lnTo>
                <a:lnTo>
                  <a:pt x="2780230" y="2428"/>
                </a:lnTo>
                <a:lnTo>
                  <a:pt x="2770829" y="607"/>
                </a:lnTo>
                <a:lnTo>
                  <a:pt x="2761195" y="0"/>
                </a:lnTo>
                <a:close/>
              </a:path>
            </a:pathLst>
          </a:custGeom>
          <a:solidFill>
            <a:srgbClr val="F2EE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992336" y="2367978"/>
            <a:ext cx="123380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797090"/>
                </a:solidFill>
                <a:latin typeface="Calibri"/>
                <a:cs typeface="Calibri"/>
              </a:rPr>
              <a:t>Self-similarity</a:t>
            </a:r>
            <a:r>
              <a:rPr sz="1150" b="1" spc="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50" b="1" spc="-20" dirty="0">
                <a:solidFill>
                  <a:srgbClr val="797090"/>
                </a:solidFill>
                <a:latin typeface="Calibri"/>
                <a:cs typeface="Calibri"/>
              </a:rPr>
              <a:t>check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2336" y="2753169"/>
            <a:ext cx="704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9203F"/>
                </a:solidFill>
                <a:latin typeface="Calibri"/>
                <a:cs typeface="Calibri"/>
              </a:rPr>
              <a:t>Sentence</a:t>
            </a:r>
            <a:r>
              <a:rPr sz="120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29203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08893" y="2753169"/>
            <a:ext cx="4508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0.999</a:t>
            </a:r>
            <a:r>
              <a:rPr lang="en-US" sz="1200" b="1" spc="-10" dirty="0">
                <a:solidFill>
                  <a:srgbClr val="694B92"/>
                </a:solidFill>
                <a:latin typeface="Calibri"/>
                <a:cs typeface="Calibri"/>
              </a:rPr>
              <a:t>9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92336" y="3210369"/>
            <a:ext cx="704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9203F"/>
                </a:solidFill>
                <a:latin typeface="Calibri"/>
                <a:cs typeface="Calibri"/>
              </a:rPr>
              <a:t>Sentence</a:t>
            </a:r>
            <a:r>
              <a:rPr sz="120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29203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08893" y="3210369"/>
            <a:ext cx="4508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-10" dirty="0">
                <a:solidFill>
                  <a:srgbClr val="694B92"/>
                </a:solidFill>
                <a:latin typeface="Calibri"/>
                <a:cs typeface="Calibri"/>
              </a:rPr>
              <a:t>0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.</a:t>
            </a:r>
            <a:r>
              <a:rPr lang="en-US" sz="1200" b="1" spc="-10" dirty="0">
                <a:solidFill>
                  <a:srgbClr val="694B92"/>
                </a:solidFill>
                <a:latin typeface="Calibri"/>
                <a:cs typeface="Calibri"/>
              </a:rPr>
              <a:t>9999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92336" y="3667569"/>
            <a:ext cx="704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9203F"/>
                </a:solidFill>
                <a:latin typeface="Calibri"/>
                <a:cs typeface="Calibri"/>
              </a:rPr>
              <a:t>Sentence</a:t>
            </a:r>
            <a:r>
              <a:rPr sz="120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29203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08893" y="3667569"/>
            <a:ext cx="4508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-10" dirty="0">
                <a:solidFill>
                  <a:srgbClr val="694B92"/>
                </a:solidFill>
                <a:latin typeface="Calibri"/>
                <a:cs typeface="Calibri"/>
              </a:rPr>
              <a:t>0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.</a:t>
            </a:r>
            <a:r>
              <a:rPr lang="en-US" sz="1200" b="1" spc="-10" dirty="0">
                <a:solidFill>
                  <a:srgbClr val="694B92"/>
                </a:solidFill>
                <a:latin typeface="Calibri"/>
                <a:cs typeface="Calibri"/>
              </a:rPr>
              <a:t>9999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915400" y="4114800"/>
            <a:ext cx="2377440" cy="635"/>
          </a:xfrm>
          <a:custGeom>
            <a:avLst/>
            <a:gdLst/>
            <a:ahLst/>
            <a:cxnLst/>
            <a:rect l="l" t="t" r="r" b="b"/>
            <a:pathLst>
              <a:path w="2377440" h="635">
                <a:moveTo>
                  <a:pt x="0" y="0"/>
                </a:moveTo>
                <a:lnTo>
                  <a:pt x="2377440" y="355"/>
                </a:lnTo>
              </a:path>
            </a:pathLst>
          </a:custGeom>
          <a:ln w="12599">
            <a:solidFill>
              <a:srgbClr val="B69E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992336" y="4726540"/>
            <a:ext cx="2066289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Every</a:t>
            </a:r>
            <a:r>
              <a:rPr sz="110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sentence</a:t>
            </a:r>
            <a:r>
              <a:rPr sz="11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matches</a:t>
            </a:r>
            <a:r>
              <a:rPr sz="11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itself</a:t>
            </a:r>
            <a:r>
              <a:rPr sz="1100" i="1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with</a:t>
            </a:r>
            <a:r>
              <a:rPr sz="11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spc="-50" dirty="0">
                <a:solidFill>
                  <a:srgbClr val="797090"/>
                </a:solidFill>
                <a:latin typeface="Calibri"/>
                <a:cs typeface="Calibri"/>
              </a:rPr>
              <a:t>a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 score</a:t>
            </a:r>
            <a:r>
              <a:rPr sz="11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≈</a:t>
            </a:r>
            <a:r>
              <a:rPr sz="1100" i="1" spc="-1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1,</a:t>
            </a:r>
            <a:r>
              <a:rPr sz="11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higher</a:t>
            </a:r>
            <a:r>
              <a:rPr sz="1100" i="1" spc="-1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than</a:t>
            </a:r>
            <a:r>
              <a:rPr sz="1100" i="1" spc="-1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any</a:t>
            </a:r>
            <a:r>
              <a:rPr sz="1100" i="1" spc="-1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797090"/>
                </a:solidFill>
                <a:latin typeface="Calibri"/>
                <a:cs typeface="Calibri"/>
              </a:rPr>
              <a:t>cross-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sentence</a:t>
            </a:r>
            <a:r>
              <a:rPr sz="11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pair</a:t>
            </a:r>
            <a:r>
              <a:rPr sz="11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—</a:t>
            </a:r>
            <a:r>
              <a:rPr sz="1100" i="1" spc="-2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exactly</a:t>
            </a:r>
            <a:r>
              <a:rPr sz="1100" i="1" spc="-30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797090"/>
                </a:solidFill>
                <a:latin typeface="Calibri"/>
                <a:cs typeface="Calibri"/>
              </a:rPr>
              <a:t>what</a:t>
            </a:r>
            <a:r>
              <a:rPr sz="1100" i="1" spc="-35" dirty="0">
                <a:solidFill>
                  <a:srgbClr val="797090"/>
                </a:solidFill>
                <a:latin typeface="Calibri"/>
                <a:cs typeface="Calibri"/>
              </a:rPr>
              <a:t> </a:t>
            </a:r>
            <a:r>
              <a:rPr sz="1100" i="1" spc="-20" dirty="0">
                <a:solidFill>
                  <a:srgbClr val="797090"/>
                </a:solidFill>
                <a:latin typeface="Calibri"/>
                <a:cs typeface="Calibri"/>
              </a:rPr>
              <a:t>we’d </a:t>
            </a:r>
            <a:r>
              <a:rPr sz="1100" i="1" spc="-10" dirty="0">
                <a:solidFill>
                  <a:srgbClr val="797090"/>
                </a:solidFill>
                <a:latin typeface="Calibri"/>
                <a:cs typeface="Calibri"/>
              </a:rPr>
              <a:t>expect.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7016" y="4683432"/>
            <a:ext cx="7021830" cy="50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700"/>
              </a:lnSpc>
              <a:spcBef>
                <a:spcPts val="100"/>
              </a:spcBef>
            </a:pPr>
            <a:r>
              <a:rPr sz="1300" spc="-10" dirty="0">
                <a:solidFill>
                  <a:srgbClr val="29203F"/>
                </a:solidFill>
                <a:latin typeface="Calibri"/>
                <a:cs typeface="Calibri"/>
              </a:rPr>
              <a:t>Sentences</a:t>
            </a:r>
            <a:r>
              <a:rPr sz="1300" spc="-3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1</a:t>
            </a:r>
            <a:r>
              <a:rPr sz="1300" spc="-4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2</a:t>
            </a:r>
            <a:r>
              <a:rPr sz="1300" spc="-4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(about</a:t>
            </a:r>
            <a:r>
              <a:rPr sz="1300" spc="-3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9203F"/>
                </a:solidFill>
                <a:latin typeface="Calibri"/>
                <a:cs typeface="Calibri"/>
              </a:rPr>
              <a:t>staying</a:t>
            </a:r>
            <a:r>
              <a:rPr sz="1300" spc="-4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home)</a:t>
            </a:r>
            <a:r>
              <a:rPr sz="1300" spc="-4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score</a:t>
            </a:r>
            <a:r>
              <a:rPr sz="1300" spc="-4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far</a:t>
            </a:r>
            <a:r>
              <a:rPr sz="1300" spc="-4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above</a:t>
            </a:r>
            <a:r>
              <a:rPr sz="1300" spc="-3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9203F"/>
                </a:solidFill>
                <a:latin typeface="Calibri"/>
                <a:cs typeface="Calibri"/>
              </a:rPr>
              <a:t>pairs</a:t>
            </a:r>
            <a:r>
              <a:rPr sz="1300" spc="-4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9203F"/>
                </a:solidFill>
                <a:latin typeface="Calibri"/>
                <a:cs typeface="Calibri"/>
              </a:rPr>
              <a:t>involving</a:t>
            </a:r>
            <a:r>
              <a:rPr sz="1300" spc="-4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9203F"/>
                </a:solidFill>
                <a:latin typeface="Calibri"/>
                <a:cs typeface="Calibri"/>
              </a:rPr>
              <a:t>Sentence</a:t>
            </a:r>
            <a:r>
              <a:rPr sz="1300" spc="-3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3</a:t>
            </a:r>
            <a:r>
              <a:rPr sz="1300" spc="-4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9203F"/>
                </a:solidFill>
                <a:latin typeface="Calibri"/>
                <a:cs typeface="Calibri"/>
              </a:rPr>
              <a:t>(nuclear</a:t>
            </a:r>
            <a:r>
              <a:rPr sz="1300" spc="-4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9203F"/>
                </a:solidFill>
                <a:latin typeface="Calibri"/>
                <a:cs typeface="Calibri"/>
              </a:rPr>
              <a:t>decay)</a:t>
            </a:r>
            <a:r>
              <a:rPr sz="1300" spc="-3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9203F"/>
                </a:solidFill>
                <a:latin typeface="Calibri"/>
                <a:cs typeface="Calibri"/>
              </a:rPr>
              <a:t>— </a:t>
            </a:r>
            <a:r>
              <a:rPr sz="1300" spc="-10" dirty="0">
                <a:solidFill>
                  <a:srgbClr val="29203F"/>
                </a:solidFill>
                <a:latin typeface="Calibri"/>
                <a:cs typeface="Calibri"/>
              </a:rPr>
              <a:t>confirming</a:t>
            </a:r>
            <a:r>
              <a:rPr sz="1300" spc="-4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model</a:t>
            </a:r>
            <a:r>
              <a:rPr sz="1300" spc="-4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9203F"/>
                </a:solidFill>
                <a:latin typeface="Calibri"/>
                <a:cs typeface="Calibri"/>
              </a:rPr>
              <a:t>captured</a:t>
            </a:r>
            <a:r>
              <a:rPr sz="1300" spc="-4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meaning,</a:t>
            </a:r>
            <a:r>
              <a:rPr sz="1300" spc="-4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9203F"/>
                </a:solidFill>
                <a:latin typeface="Calibri"/>
                <a:cs typeface="Calibri"/>
              </a:rPr>
              <a:t>just</a:t>
            </a:r>
            <a:r>
              <a:rPr sz="1300" spc="-3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9203F"/>
                </a:solidFill>
                <a:latin typeface="Calibri"/>
                <a:cs typeface="Calibri"/>
              </a:rPr>
              <a:t>shared</a:t>
            </a:r>
            <a:r>
              <a:rPr sz="1300" spc="-4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9203F"/>
                </a:solidFill>
                <a:latin typeface="Calibri"/>
                <a:cs typeface="Calibri"/>
              </a:rPr>
              <a:t>words.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016" y="512889"/>
            <a:ext cx="1311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V</a:t>
            </a:r>
            <a:r>
              <a:rPr sz="1200" b="1" spc="-75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I</a:t>
            </a:r>
            <a:r>
              <a:rPr sz="1200" b="1" spc="-8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S</a:t>
            </a:r>
            <a:r>
              <a:rPr sz="1200" b="1" spc="-6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U</a:t>
            </a:r>
            <a:r>
              <a:rPr sz="1200" b="1" spc="-11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L</a:t>
            </a:r>
            <a:r>
              <a:rPr sz="1200" b="1" spc="-7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Z</a:t>
            </a:r>
            <a:r>
              <a:rPr sz="1200" b="1" spc="-8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N</a:t>
            </a:r>
            <a:r>
              <a:rPr sz="1200" b="1" spc="-7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694B92"/>
                </a:solidFill>
                <a:latin typeface="Calibri"/>
                <a:cs typeface="Calibri"/>
              </a:rPr>
              <a:t>G</a:t>
            </a:r>
            <a:r>
              <a:rPr sz="1200" b="1" spc="409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94B92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694B92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694B92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A</a:t>
            </a:r>
            <a:r>
              <a:rPr spc="-85" dirty="0"/>
              <a:t> </a:t>
            </a:r>
            <a:r>
              <a:rPr spc="80" dirty="0"/>
              <a:t>similarity</a:t>
            </a:r>
            <a:r>
              <a:rPr spc="-70" dirty="0"/>
              <a:t> </a:t>
            </a:r>
            <a:r>
              <a:rPr spc="-20" dirty="0"/>
              <a:t>grid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0953" y="1867192"/>
            <a:ext cx="7012305" cy="24493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726690">
              <a:lnSpc>
                <a:spcPct val="100000"/>
              </a:lnSpc>
              <a:spcBef>
                <a:spcPts val="495"/>
              </a:spcBef>
              <a:tabLst>
                <a:tab pos="3930015" algn="l"/>
                <a:tab pos="5092700" algn="l"/>
              </a:tabLst>
            </a:pP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in</a:t>
            </a:r>
            <a:r>
              <a:rPr sz="950" spc="-2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my</a:t>
            </a:r>
            <a:r>
              <a:rPr sz="950" spc="-2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9203F"/>
                </a:solidFill>
                <a:latin typeface="Calibri"/>
                <a:cs typeface="Calibri"/>
              </a:rPr>
              <a:t>house</a:t>
            </a: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	</a:t>
            </a:r>
            <a:r>
              <a:rPr sz="950" spc="-10" dirty="0">
                <a:solidFill>
                  <a:srgbClr val="29203F"/>
                </a:solidFill>
                <a:latin typeface="Calibri"/>
                <a:cs typeface="Calibri"/>
              </a:rPr>
              <a:t>staying</a:t>
            </a:r>
            <a:r>
              <a:rPr sz="950" spc="-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29203F"/>
                </a:solidFill>
                <a:latin typeface="Calibri"/>
                <a:cs typeface="Calibri"/>
              </a:rPr>
              <a:t>home</a:t>
            </a: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	</a:t>
            </a:r>
            <a:r>
              <a:rPr sz="950" spc="-10" dirty="0">
                <a:solidFill>
                  <a:srgbClr val="29203F"/>
                </a:solidFill>
                <a:latin typeface="Calibri"/>
                <a:cs typeface="Calibri"/>
              </a:rPr>
              <a:t>decays</a:t>
            </a:r>
            <a:r>
              <a:rPr sz="950" spc="-2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to</a:t>
            </a:r>
            <a:r>
              <a:rPr sz="950" spc="-20" dirty="0">
                <a:solidFill>
                  <a:srgbClr val="29203F"/>
                </a:solidFill>
                <a:latin typeface="Calibri"/>
                <a:cs typeface="Calibri"/>
              </a:rPr>
              <a:t> 206pb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79421" y="2562745"/>
            <a:ext cx="615315" cy="30988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indent="86360">
              <a:lnSpc>
                <a:spcPts val="1100"/>
              </a:lnSpc>
              <a:spcBef>
                <a:spcPts val="170"/>
              </a:spcBef>
            </a:pP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I</a:t>
            </a:r>
            <a:r>
              <a:rPr sz="950" spc="-3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like</a:t>
            </a:r>
            <a:r>
              <a:rPr sz="950" spc="-2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to</a:t>
            </a:r>
            <a:r>
              <a:rPr sz="950" spc="-25" dirty="0">
                <a:solidFill>
                  <a:srgbClr val="29203F"/>
                </a:solidFill>
                <a:latin typeface="Calibri"/>
                <a:cs typeface="Calibri"/>
              </a:rPr>
              <a:t> be</a:t>
            </a: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 in</a:t>
            </a:r>
            <a:r>
              <a:rPr sz="950" spc="-2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my</a:t>
            </a:r>
            <a:r>
              <a:rPr sz="950" spc="-2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29203F"/>
                </a:solidFill>
                <a:latin typeface="Calibri"/>
                <a:cs typeface="Calibri"/>
              </a:rPr>
              <a:t>house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8220" y="3797185"/>
            <a:ext cx="676275" cy="30988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indent="324485">
              <a:lnSpc>
                <a:spcPts val="1100"/>
              </a:lnSpc>
              <a:spcBef>
                <a:spcPts val="170"/>
              </a:spcBef>
            </a:pP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I</a:t>
            </a:r>
            <a:r>
              <a:rPr sz="950" spc="-2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9203F"/>
                </a:solidFill>
                <a:latin typeface="Calibri"/>
                <a:cs typeface="Calibri"/>
              </a:rPr>
              <a:t>enjoy staying</a:t>
            </a:r>
            <a:r>
              <a:rPr sz="950" spc="-5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29203F"/>
                </a:solidFill>
                <a:latin typeface="Calibri"/>
                <a:cs typeface="Calibri"/>
              </a:rPr>
              <a:t>home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1461" y="5031625"/>
            <a:ext cx="851535" cy="30988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44450" marR="5080" indent="-32384">
              <a:lnSpc>
                <a:spcPts val="1100"/>
              </a:lnSpc>
              <a:spcBef>
                <a:spcPts val="170"/>
              </a:spcBef>
            </a:pP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the </a:t>
            </a:r>
            <a:r>
              <a:rPr sz="950" spc="-10" dirty="0">
                <a:solidFill>
                  <a:srgbClr val="29203F"/>
                </a:solidFill>
                <a:latin typeface="Calibri"/>
                <a:cs typeface="Calibri"/>
              </a:rPr>
              <a:t>isotope </a:t>
            </a:r>
            <a:r>
              <a:rPr sz="950" spc="-20" dirty="0">
                <a:solidFill>
                  <a:srgbClr val="29203F"/>
                </a:solidFill>
                <a:latin typeface="Calibri"/>
                <a:cs typeface="Calibri"/>
              </a:rPr>
              <a:t>238u</a:t>
            </a:r>
            <a:r>
              <a:rPr sz="950" spc="-10" dirty="0">
                <a:solidFill>
                  <a:srgbClr val="29203F"/>
                </a:solidFill>
                <a:latin typeface="Calibri"/>
                <a:cs typeface="Calibri"/>
              </a:rPr>
              <a:t> decays</a:t>
            </a:r>
            <a:r>
              <a:rPr sz="950" spc="-2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to</a:t>
            </a:r>
            <a:r>
              <a:rPr sz="950" spc="-20" dirty="0">
                <a:solidFill>
                  <a:srgbClr val="29203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9203F"/>
                </a:solidFill>
                <a:latin typeface="Calibri"/>
                <a:cs typeface="Calibri"/>
              </a:rPr>
              <a:t>206pb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08960" y="2103120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1234084" y="0"/>
                </a:moveTo>
                <a:lnTo>
                  <a:pt x="0" y="0"/>
                </a:lnTo>
                <a:lnTo>
                  <a:pt x="0" y="1234084"/>
                </a:lnTo>
                <a:lnTo>
                  <a:pt x="617042" y="1234084"/>
                </a:lnTo>
                <a:lnTo>
                  <a:pt x="1234084" y="1234084"/>
                </a:lnTo>
                <a:lnTo>
                  <a:pt x="1234084" y="0"/>
                </a:lnTo>
                <a:close/>
              </a:path>
            </a:pathLst>
          </a:custGeom>
          <a:solidFill>
            <a:srgbClr val="B69E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66058" y="2608465"/>
            <a:ext cx="3194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0" dirty="0">
                <a:solidFill>
                  <a:srgbClr val="23153F"/>
                </a:solidFill>
                <a:latin typeface="Calibri"/>
                <a:cs typeface="Calibri"/>
              </a:rPr>
              <a:t>1.00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33557" y="2093277"/>
            <a:ext cx="1254125" cy="1254125"/>
            <a:chOff x="4333557" y="2093277"/>
            <a:chExt cx="1254125" cy="1254125"/>
          </a:xfrm>
        </p:grpSpPr>
        <p:sp>
          <p:nvSpPr>
            <p:cNvPr id="11" name="object 11"/>
            <p:cNvSpPr/>
            <p:nvPr/>
          </p:nvSpPr>
          <p:spPr>
            <a:xfrm>
              <a:off x="4343400" y="2103119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39" h="1234439">
                  <a:moveTo>
                    <a:pt x="1234084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617042" y="1234084"/>
                  </a:lnTo>
                  <a:lnTo>
                    <a:pt x="1234084" y="1234084"/>
                  </a:lnTo>
                  <a:lnTo>
                    <a:pt x="1234084" y="0"/>
                  </a:lnTo>
                  <a:close/>
                </a:path>
              </a:pathLst>
            </a:custGeom>
            <a:solidFill>
              <a:srgbClr val="9C85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43400" y="2103119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39" h="1234439">
                  <a:moveTo>
                    <a:pt x="617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1234084" y="0"/>
                  </a:lnTo>
                  <a:lnTo>
                    <a:pt x="1234084" y="1234084"/>
                  </a:lnTo>
                  <a:lnTo>
                    <a:pt x="617042" y="1234084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800498" y="2608465"/>
            <a:ext cx="31940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0" dirty="0">
                <a:solidFill>
                  <a:srgbClr val="23153F"/>
                </a:solidFill>
                <a:latin typeface="Calibri"/>
                <a:cs typeface="Calibri"/>
              </a:rPr>
              <a:t>0.</a:t>
            </a:r>
            <a:r>
              <a:rPr lang="en-US" sz="1300" b="1" spc="-20" dirty="0">
                <a:solidFill>
                  <a:srgbClr val="23153F"/>
                </a:solidFill>
                <a:latin typeface="Calibri"/>
                <a:cs typeface="Calibri"/>
              </a:rPr>
              <a:t>68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567997" y="2093277"/>
            <a:ext cx="1254125" cy="1254125"/>
            <a:chOff x="5567997" y="2093277"/>
            <a:chExt cx="1254125" cy="1254125"/>
          </a:xfrm>
        </p:grpSpPr>
        <p:sp>
          <p:nvSpPr>
            <p:cNvPr id="15" name="object 15"/>
            <p:cNvSpPr/>
            <p:nvPr/>
          </p:nvSpPr>
          <p:spPr>
            <a:xfrm>
              <a:off x="5577839" y="2103119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40" h="1234439">
                  <a:moveTo>
                    <a:pt x="1234084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617042" y="1234084"/>
                  </a:lnTo>
                  <a:lnTo>
                    <a:pt x="1234084" y="1234084"/>
                  </a:lnTo>
                  <a:lnTo>
                    <a:pt x="1234084" y="0"/>
                  </a:lnTo>
                  <a:close/>
                </a:path>
              </a:pathLst>
            </a:custGeom>
            <a:solidFill>
              <a:srgbClr val="403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77839" y="2103119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40" h="1234439">
                  <a:moveTo>
                    <a:pt x="617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1234084" y="0"/>
                  </a:lnTo>
                  <a:lnTo>
                    <a:pt x="1234084" y="1234084"/>
                  </a:lnTo>
                  <a:lnTo>
                    <a:pt x="617042" y="1234084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34938" y="2608465"/>
            <a:ext cx="31940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0.2</a:t>
            </a:r>
            <a:r>
              <a:rPr lang="en-US" sz="1300" b="1" spc="-2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99117" y="3327717"/>
            <a:ext cx="1254125" cy="1254125"/>
            <a:chOff x="3099117" y="3327717"/>
            <a:chExt cx="1254125" cy="1254125"/>
          </a:xfrm>
        </p:grpSpPr>
        <p:sp>
          <p:nvSpPr>
            <p:cNvPr id="19" name="object 19"/>
            <p:cNvSpPr/>
            <p:nvPr/>
          </p:nvSpPr>
          <p:spPr>
            <a:xfrm>
              <a:off x="3108959" y="3337559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39" h="1234439">
                  <a:moveTo>
                    <a:pt x="1234084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617042" y="1234084"/>
                  </a:lnTo>
                  <a:lnTo>
                    <a:pt x="1234084" y="1234084"/>
                  </a:lnTo>
                  <a:lnTo>
                    <a:pt x="1234084" y="0"/>
                  </a:lnTo>
                  <a:close/>
                </a:path>
              </a:pathLst>
            </a:custGeom>
            <a:solidFill>
              <a:srgbClr val="9C85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08959" y="3337559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39" h="1234439">
                  <a:moveTo>
                    <a:pt x="617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1234084" y="0"/>
                  </a:lnTo>
                  <a:lnTo>
                    <a:pt x="1234084" y="1234084"/>
                  </a:lnTo>
                  <a:lnTo>
                    <a:pt x="617042" y="1234084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66058" y="3842905"/>
            <a:ext cx="31940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0" dirty="0">
                <a:solidFill>
                  <a:srgbClr val="23153F"/>
                </a:solidFill>
                <a:latin typeface="Calibri"/>
                <a:cs typeface="Calibri"/>
              </a:rPr>
              <a:t>0.</a:t>
            </a:r>
            <a:r>
              <a:rPr lang="en-US" sz="1300" b="1" spc="-20" dirty="0">
                <a:solidFill>
                  <a:srgbClr val="23153F"/>
                </a:solidFill>
                <a:latin typeface="Calibri"/>
                <a:cs typeface="Calibri"/>
              </a:rPr>
              <a:t>68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33557" y="3327717"/>
            <a:ext cx="1254125" cy="1254125"/>
            <a:chOff x="4333557" y="3327717"/>
            <a:chExt cx="1254125" cy="1254125"/>
          </a:xfrm>
        </p:grpSpPr>
        <p:sp>
          <p:nvSpPr>
            <p:cNvPr id="23" name="object 23"/>
            <p:cNvSpPr/>
            <p:nvPr/>
          </p:nvSpPr>
          <p:spPr>
            <a:xfrm>
              <a:off x="4343400" y="3337559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39" h="1234439">
                  <a:moveTo>
                    <a:pt x="1234084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617042" y="1234084"/>
                  </a:lnTo>
                  <a:lnTo>
                    <a:pt x="1234084" y="1234084"/>
                  </a:lnTo>
                  <a:lnTo>
                    <a:pt x="1234084" y="0"/>
                  </a:lnTo>
                  <a:close/>
                </a:path>
              </a:pathLst>
            </a:custGeom>
            <a:solidFill>
              <a:srgbClr val="B69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43400" y="3337559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39" h="1234439">
                  <a:moveTo>
                    <a:pt x="617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1234084" y="0"/>
                  </a:lnTo>
                  <a:lnTo>
                    <a:pt x="1234084" y="1234084"/>
                  </a:lnTo>
                  <a:lnTo>
                    <a:pt x="617042" y="1234084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800498" y="3842905"/>
            <a:ext cx="3194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0" dirty="0">
                <a:solidFill>
                  <a:srgbClr val="23153F"/>
                </a:solidFill>
                <a:latin typeface="Calibri"/>
                <a:cs typeface="Calibri"/>
              </a:rPr>
              <a:t>1.00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567997" y="3327717"/>
            <a:ext cx="1254125" cy="1254125"/>
            <a:chOff x="5567997" y="3327717"/>
            <a:chExt cx="1254125" cy="1254125"/>
          </a:xfrm>
        </p:grpSpPr>
        <p:sp>
          <p:nvSpPr>
            <p:cNvPr id="27" name="object 27"/>
            <p:cNvSpPr/>
            <p:nvPr/>
          </p:nvSpPr>
          <p:spPr>
            <a:xfrm>
              <a:off x="5577839" y="3337559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40" h="1234439">
                  <a:moveTo>
                    <a:pt x="1234084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617042" y="1234084"/>
                  </a:lnTo>
                  <a:lnTo>
                    <a:pt x="1234084" y="1234084"/>
                  </a:lnTo>
                  <a:lnTo>
                    <a:pt x="1234084" y="0"/>
                  </a:lnTo>
                  <a:close/>
                </a:path>
              </a:pathLst>
            </a:custGeom>
            <a:solidFill>
              <a:srgbClr val="403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77839" y="3337559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40" h="1234439">
                  <a:moveTo>
                    <a:pt x="617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1234084" y="0"/>
                  </a:lnTo>
                  <a:lnTo>
                    <a:pt x="1234084" y="1234084"/>
                  </a:lnTo>
                  <a:lnTo>
                    <a:pt x="617042" y="1234084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034938" y="3842905"/>
            <a:ext cx="534238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00" b="1" spc="-2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0.</a:t>
            </a:r>
            <a:r>
              <a:rPr lang="en-US" sz="1300" b="1" spc="-20" dirty="0">
                <a:solidFill>
                  <a:srgbClr val="FFFFFF"/>
                </a:solidFill>
                <a:latin typeface="Calibri"/>
                <a:cs typeface="Calibri"/>
              </a:rPr>
              <a:t>35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099117" y="4562157"/>
            <a:ext cx="1254125" cy="1254125"/>
            <a:chOff x="3099117" y="4562157"/>
            <a:chExt cx="1254125" cy="1254125"/>
          </a:xfrm>
        </p:grpSpPr>
        <p:sp>
          <p:nvSpPr>
            <p:cNvPr id="31" name="object 31"/>
            <p:cNvSpPr/>
            <p:nvPr/>
          </p:nvSpPr>
          <p:spPr>
            <a:xfrm>
              <a:off x="3108959" y="4572000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39" h="1234439">
                  <a:moveTo>
                    <a:pt x="1234084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617042" y="1234084"/>
                  </a:lnTo>
                  <a:lnTo>
                    <a:pt x="1234084" y="1234084"/>
                  </a:lnTo>
                  <a:lnTo>
                    <a:pt x="1234084" y="0"/>
                  </a:lnTo>
                  <a:close/>
                </a:path>
              </a:pathLst>
            </a:custGeom>
            <a:solidFill>
              <a:srgbClr val="403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08959" y="4572000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39" h="1234439">
                  <a:moveTo>
                    <a:pt x="617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1234084" y="0"/>
                  </a:lnTo>
                  <a:lnTo>
                    <a:pt x="1234084" y="1234084"/>
                  </a:lnTo>
                  <a:lnTo>
                    <a:pt x="617042" y="1234084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566058" y="5077345"/>
            <a:ext cx="31940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0.2</a:t>
            </a:r>
            <a:r>
              <a:rPr lang="en-US" sz="1300" b="1" spc="-2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333557" y="4562157"/>
            <a:ext cx="1254125" cy="1254125"/>
            <a:chOff x="4333557" y="4562157"/>
            <a:chExt cx="1254125" cy="1254125"/>
          </a:xfrm>
        </p:grpSpPr>
        <p:sp>
          <p:nvSpPr>
            <p:cNvPr id="35" name="object 35"/>
            <p:cNvSpPr/>
            <p:nvPr/>
          </p:nvSpPr>
          <p:spPr>
            <a:xfrm>
              <a:off x="4343400" y="4572000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39" h="1234439">
                  <a:moveTo>
                    <a:pt x="1234084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617042" y="1234084"/>
                  </a:lnTo>
                  <a:lnTo>
                    <a:pt x="1234084" y="1234084"/>
                  </a:lnTo>
                  <a:lnTo>
                    <a:pt x="1234084" y="0"/>
                  </a:lnTo>
                  <a:close/>
                </a:path>
              </a:pathLst>
            </a:custGeom>
            <a:solidFill>
              <a:srgbClr val="403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343400" y="4572000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39" h="1234439">
                  <a:moveTo>
                    <a:pt x="617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1234084" y="0"/>
                  </a:lnTo>
                  <a:lnTo>
                    <a:pt x="1234084" y="1234084"/>
                  </a:lnTo>
                  <a:lnTo>
                    <a:pt x="617042" y="1234084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800498" y="5077345"/>
            <a:ext cx="36516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00" b="1" spc="-20" dirty="0">
                <a:solidFill>
                  <a:srgbClr val="FFFFFF"/>
                </a:solidFill>
                <a:latin typeface="Calibri"/>
                <a:cs typeface="Calibri"/>
              </a:rPr>
              <a:t>-0</a:t>
            </a: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lang="en-US" sz="1300" b="1" spc="-20" dirty="0">
                <a:solidFill>
                  <a:srgbClr val="FFFFFF"/>
                </a:solidFill>
                <a:latin typeface="Calibri"/>
                <a:cs typeface="Calibri"/>
              </a:rPr>
              <a:t>35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568300" y="4562460"/>
            <a:ext cx="1253490" cy="1253490"/>
            <a:chOff x="5568300" y="4562460"/>
            <a:chExt cx="1253490" cy="1253490"/>
          </a:xfrm>
        </p:grpSpPr>
        <p:sp>
          <p:nvSpPr>
            <p:cNvPr id="39" name="object 39"/>
            <p:cNvSpPr/>
            <p:nvPr/>
          </p:nvSpPr>
          <p:spPr>
            <a:xfrm>
              <a:off x="5577839" y="4572000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40" h="1234439">
                  <a:moveTo>
                    <a:pt x="1234084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617042" y="1234084"/>
                  </a:lnTo>
                  <a:lnTo>
                    <a:pt x="1234084" y="1234084"/>
                  </a:lnTo>
                  <a:lnTo>
                    <a:pt x="1234084" y="0"/>
                  </a:lnTo>
                  <a:close/>
                </a:path>
              </a:pathLst>
            </a:custGeom>
            <a:solidFill>
              <a:srgbClr val="B69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577839" y="4572000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40" h="1234439">
                  <a:moveTo>
                    <a:pt x="617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1234084" y="0"/>
                  </a:lnTo>
                  <a:lnTo>
                    <a:pt x="1234084" y="1234084"/>
                  </a:lnTo>
                  <a:lnTo>
                    <a:pt x="617042" y="1234084"/>
                  </a:lnTo>
                  <a:close/>
                </a:path>
              </a:pathLst>
            </a:custGeom>
            <a:ln w="190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034938" y="5077345"/>
            <a:ext cx="3194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0" dirty="0">
                <a:solidFill>
                  <a:srgbClr val="23153F"/>
                </a:solidFill>
                <a:latin typeface="Calibri"/>
                <a:cs typeface="Calibri"/>
              </a:rPr>
              <a:t>1.00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85896" y="6448590"/>
            <a:ext cx="1860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797090"/>
                </a:solidFill>
                <a:latin typeface="Calibri"/>
                <a:cs typeface="Calibri"/>
              </a:rPr>
              <a:t>0.0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108960" y="6025414"/>
            <a:ext cx="3721380" cy="402690"/>
            <a:chOff x="3565804" y="6172200"/>
            <a:chExt cx="3264535" cy="255904"/>
          </a:xfrm>
        </p:grpSpPr>
        <p:sp>
          <p:nvSpPr>
            <p:cNvPr id="44" name="object 44"/>
            <p:cNvSpPr/>
            <p:nvPr/>
          </p:nvSpPr>
          <p:spPr>
            <a:xfrm>
              <a:off x="3565804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52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52" y="255600"/>
                  </a:lnTo>
                  <a:lnTo>
                    <a:pt x="180352" y="0"/>
                  </a:lnTo>
                  <a:close/>
                </a:path>
              </a:pathLst>
            </a:custGeom>
            <a:solidFill>
              <a:srgbClr val="2315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728161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52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52" y="255600"/>
                  </a:lnTo>
                  <a:lnTo>
                    <a:pt x="180352" y="0"/>
                  </a:lnTo>
                  <a:close/>
                </a:path>
              </a:pathLst>
            </a:custGeom>
            <a:solidFill>
              <a:srgbClr val="2B1C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890518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65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65" y="255600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3323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52874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65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65" y="255600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3A2B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214876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65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65" y="255600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42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377245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52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52" y="255600"/>
                  </a:lnTo>
                  <a:lnTo>
                    <a:pt x="180352" y="0"/>
                  </a:lnTo>
                  <a:close/>
                </a:path>
              </a:pathLst>
            </a:custGeom>
            <a:solidFill>
              <a:srgbClr val="4A39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539602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52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52" y="255600"/>
                  </a:lnTo>
                  <a:lnTo>
                    <a:pt x="180352" y="0"/>
                  </a:lnTo>
                  <a:close/>
                </a:path>
              </a:pathLst>
            </a:custGeom>
            <a:solidFill>
              <a:srgbClr val="5140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701959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65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65" y="255600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594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864315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65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65" y="255600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614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26685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52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52" y="255600"/>
                  </a:lnTo>
                  <a:lnTo>
                    <a:pt x="180352" y="0"/>
                  </a:lnTo>
                  <a:close/>
                </a:path>
              </a:pathLst>
            </a:custGeom>
            <a:solidFill>
              <a:srgbClr val="6956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189042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52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52" y="255600"/>
                  </a:lnTo>
                  <a:lnTo>
                    <a:pt x="180352" y="0"/>
                  </a:lnTo>
                  <a:close/>
                </a:path>
              </a:pathLst>
            </a:custGeom>
            <a:solidFill>
              <a:srgbClr val="705D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351043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52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52" y="255600"/>
                  </a:lnTo>
                  <a:lnTo>
                    <a:pt x="180352" y="0"/>
                  </a:lnTo>
                  <a:close/>
                </a:path>
              </a:pathLst>
            </a:custGeom>
            <a:solidFill>
              <a:srgbClr val="7864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513400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65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65" y="255600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806C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675757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65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65" y="255600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887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838113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65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65" y="255600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8F7A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000483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52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52" y="255600"/>
                  </a:lnTo>
                  <a:lnTo>
                    <a:pt x="180352" y="0"/>
                  </a:lnTo>
                  <a:close/>
                </a:path>
              </a:pathLst>
            </a:custGeom>
            <a:solidFill>
              <a:srgbClr val="97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162840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65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65" y="255600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9F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324841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52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52" y="255600"/>
                  </a:lnTo>
                  <a:lnTo>
                    <a:pt x="180352" y="0"/>
                  </a:lnTo>
                  <a:close/>
                </a:path>
              </a:pathLst>
            </a:custGeom>
            <a:solidFill>
              <a:srgbClr val="A79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487198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65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65" y="255600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AE9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49554" y="6172200"/>
              <a:ext cx="180975" cy="255904"/>
            </a:xfrm>
            <a:custGeom>
              <a:avLst/>
              <a:gdLst/>
              <a:ahLst/>
              <a:cxnLst/>
              <a:rect l="l" t="t" r="r" b="b"/>
              <a:pathLst>
                <a:path w="180975" h="255904">
                  <a:moveTo>
                    <a:pt x="180365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90360" y="255600"/>
                  </a:lnTo>
                  <a:lnTo>
                    <a:pt x="180365" y="255600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B69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569176" y="6448590"/>
            <a:ext cx="1860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797090"/>
                </a:solidFill>
                <a:latin typeface="Calibri"/>
                <a:cs typeface="Calibri"/>
              </a:rPr>
              <a:t>1.0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B00483-318F-6D7B-BC3E-C8F7BB935DCF}"/>
              </a:ext>
            </a:extLst>
          </p:cNvPr>
          <p:cNvSpPr txBox="1"/>
          <p:nvPr/>
        </p:nvSpPr>
        <p:spPr>
          <a:xfrm>
            <a:off x="1197141" y="1247254"/>
            <a:ext cx="9851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>
              <a:lnSpc>
                <a:spcPct val="100000"/>
              </a:lnSpc>
              <a:spcBef>
                <a:spcPts val="770"/>
              </a:spcBef>
            </a:pPr>
            <a:r>
              <a:rPr lang="en-US" spc="-20" dirty="0">
                <a:solidFill>
                  <a:srgbClr val="797090"/>
                </a:solidFill>
                <a:latin typeface="Calibri"/>
                <a:cs typeface="Calibri"/>
              </a:rPr>
              <a:t>Plotting cosine similarity between every pair turns the numbers into a picture: darker means more alike, lighter means less alike.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69" name="object 4">
            <a:extLst>
              <a:ext uri="{FF2B5EF4-FFF2-40B4-BE49-F238E27FC236}">
                <a16:creationId xmlns:a16="http://schemas.microsoft.com/office/drawing/2014/main" id="{18D21354-3DDB-E634-CF43-AD6C3F66909B}"/>
              </a:ext>
            </a:extLst>
          </p:cNvPr>
          <p:cNvSpPr txBox="1"/>
          <p:nvPr/>
        </p:nvSpPr>
        <p:spPr>
          <a:xfrm>
            <a:off x="623987" y="1740483"/>
            <a:ext cx="7012305" cy="24493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726690">
              <a:lnSpc>
                <a:spcPct val="100000"/>
              </a:lnSpc>
              <a:spcBef>
                <a:spcPts val="495"/>
              </a:spcBef>
              <a:tabLst>
                <a:tab pos="3930015" algn="l"/>
                <a:tab pos="5092700" algn="l"/>
              </a:tabLst>
            </a:pPr>
            <a:r>
              <a:rPr lang="en-US" sz="950" dirty="0">
                <a:solidFill>
                  <a:srgbClr val="29203F"/>
                </a:solidFill>
                <a:latin typeface="Calibri"/>
                <a:cs typeface="Calibri"/>
              </a:rPr>
              <a:t>I like to be</a:t>
            </a: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	</a:t>
            </a:r>
            <a:r>
              <a:rPr lang="en-US" sz="950" dirty="0">
                <a:solidFill>
                  <a:srgbClr val="29203F"/>
                </a:solidFill>
                <a:latin typeface="Calibri"/>
                <a:cs typeface="Calibri"/>
              </a:rPr>
              <a:t>I enjoy</a:t>
            </a:r>
            <a:r>
              <a:rPr sz="950" dirty="0">
                <a:solidFill>
                  <a:srgbClr val="29203F"/>
                </a:solidFill>
                <a:latin typeface="Calibri"/>
                <a:cs typeface="Calibri"/>
              </a:rPr>
              <a:t>	</a:t>
            </a:r>
            <a:r>
              <a:rPr lang="en-US" sz="950" dirty="0">
                <a:solidFill>
                  <a:srgbClr val="29203F"/>
                </a:solidFill>
                <a:latin typeface="Calibri"/>
                <a:cs typeface="Calibri"/>
              </a:rPr>
              <a:t>the isotope 238u</a:t>
            </a:r>
            <a:endParaRPr sz="9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016" y="604329"/>
            <a:ext cx="1210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W</a:t>
            </a:r>
            <a:r>
              <a:rPr sz="1200" b="1" spc="-8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R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P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P</a:t>
            </a:r>
            <a:r>
              <a:rPr sz="1200" b="1" spc="-7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N</a:t>
            </a:r>
            <a:r>
              <a:rPr sz="1200" b="1" spc="-7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69EDD"/>
                </a:solidFill>
                <a:latin typeface="Calibri"/>
                <a:cs typeface="Calibri"/>
              </a:rPr>
              <a:t>G</a:t>
            </a:r>
            <a:r>
              <a:rPr sz="1200" b="1" spc="400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69EDD"/>
                </a:solidFill>
                <a:latin typeface="Calibri"/>
                <a:cs typeface="Calibri"/>
              </a:rPr>
              <a:t>U</a:t>
            </a:r>
            <a:r>
              <a:rPr sz="1200" b="1" spc="-65" dirty="0">
                <a:solidFill>
                  <a:srgbClr val="B69EDD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B69EDD"/>
                </a:solidFill>
                <a:latin typeface="Calibri"/>
                <a:cs typeface="Calibri"/>
              </a:rPr>
              <a:t>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7016" y="1134618"/>
            <a:ext cx="83667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Similarity </a:t>
            </a:r>
            <a:r>
              <a:rPr spc="90" dirty="0">
                <a:solidFill>
                  <a:srgbClr val="FFFFFF"/>
                </a:solidFill>
              </a:rPr>
              <a:t>turns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spc="95" dirty="0">
                <a:solidFill>
                  <a:srgbClr val="FFFFFF"/>
                </a:solidFill>
              </a:rPr>
              <a:t>meaning</a:t>
            </a:r>
            <a:r>
              <a:rPr spc="-10" dirty="0">
                <a:solidFill>
                  <a:srgbClr val="FFFFFF"/>
                </a:solidFill>
              </a:rPr>
              <a:t> </a:t>
            </a:r>
            <a:r>
              <a:rPr spc="80" dirty="0">
                <a:solidFill>
                  <a:srgbClr val="FFFFFF"/>
                </a:solidFill>
              </a:rPr>
              <a:t>into</a:t>
            </a:r>
            <a:r>
              <a:rPr spc="-10" dirty="0">
                <a:solidFill>
                  <a:srgbClr val="FFFFFF"/>
                </a:solidFill>
              </a:rPr>
              <a:t> </a:t>
            </a:r>
            <a:r>
              <a:rPr spc="70" dirty="0">
                <a:solidFill>
                  <a:srgbClr val="FFFFFF"/>
                </a:solidFill>
              </a:rPr>
              <a:t>a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spc="95" dirty="0">
                <a:solidFill>
                  <a:srgbClr val="FFFFFF"/>
                </a:solidFill>
              </a:rPr>
              <a:t>measurable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spc="85" dirty="0">
                <a:solidFill>
                  <a:srgbClr val="FFFFFF"/>
                </a:solidFill>
              </a:rPr>
              <a:t>number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39724" y="1965960"/>
            <a:ext cx="5120640" cy="1691639"/>
            <a:chOff x="639724" y="1965960"/>
            <a:chExt cx="5120640" cy="1691639"/>
          </a:xfrm>
        </p:grpSpPr>
        <p:sp>
          <p:nvSpPr>
            <p:cNvPr id="5" name="object 5"/>
            <p:cNvSpPr/>
            <p:nvPr/>
          </p:nvSpPr>
          <p:spPr>
            <a:xfrm>
              <a:off x="639724" y="1965960"/>
              <a:ext cx="5120640" cy="1691639"/>
            </a:xfrm>
            <a:custGeom>
              <a:avLst/>
              <a:gdLst/>
              <a:ahLst/>
              <a:cxnLst/>
              <a:rect l="l" t="t" r="r" b="b"/>
              <a:pathLst>
                <a:path w="5120640" h="1691639">
                  <a:moveTo>
                    <a:pt x="50471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618564"/>
                  </a:lnTo>
                  <a:lnTo>
                    <a:pt x="594" y="1627835"/>
                  </a:lnTo>
                  <a:lnTo>
                    <a:pt x="607" y="1628040"/>
                  </a:lnTo>
                  <a:lnTo>
                    <a:pt x="2394" y="1637236"/>
                  </a:lnTo>
                  <a:lnTo>
                    <a:pt x="2428" y="1637415"/>
                  </a:lnTo>
                  <a:lnTo>
                    <a:pt x="5412" y="1646299"/>
                  </a:lnTo>
                  <a:lnTo>
                    <a:pt x="5464" y="1646455"/>
                  </a:lnTo>
                  <a:lnTo>
                    <a:pt x="9715" y="1654924"/>
                  </a:lnTo>
                  <a:lnTo>
                    <a:pt x="44979" y="1686175"/>
                  </a:lnTo>
                  <a:lnTo>
                    <a:pt x="73075" y="1691639"/>
                  </a:lnTo>
                  <a:lnTo>
                    <a:pt x="5047551" y="1691284"/>
                  </a:lnTo>
                  <a:lnTo>
                    <a:pt x="5091929" y="1676180"/>
                  </a:lnTo>
                  <a:lnTo>
                    <a:pt x="5118149" y="1637415"/>
                  </a:lnTo>
                  <a:lnTo>
                    <a:pt x="5120640" y="1618195"/>
                  </a:lnTo>
                  <a:lnTo>
                    <a:pt x="5120271" y="73075"/>
                  </a:lnTo>
                  <a:lnTo>
                    <a:pt x="5105180" y="28705"/>
                  </a:lnTo>
                  <a:lnTo>
                    <a:pt x="5066230" y="2428"/>
                  </a:lnTo>
                  <a:lnTo>
                    <a:pt x="5056829" y="607"/>
                  </a:lnTo>
                  <a:lnTo>
                    <a:pt x="5047195" y="0"/>
                  </a:lnTo>
                  <a:close/>
                </a:path>
              </a:pathLst>
            </a:custGeom>
            <a:solidFill>
              <a:srgbClr val="3322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8324" y="2194204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80" y="0"/>
                  </a:moveTo>
                  <a:lnTo>
                    <a:pt x="135535" y="6164"/>
                  </a:lnTo>
                  <a:lnTo>
                    <a:pt x="91440" y="24472"/>
                  </a:lnTo>
                  <a:lnTo>
                    <a:pt x="53636" y="53636"/>
                  </a:lnTo>
                  <a:lnTo>
                    <a:pt x="24472" y="91439"/>
                  </a:lnTo>
                  <a:lnTo>
                    <a:pt x="6164" y="135535"/>
                  </a:lnTo>
                  <a:lnTo>
                    <a:pt x="0" y="182880"/>
                  </a:lnTo>
                  <a:lnTo>
                    <a:pt x="1546" y="206781"/>
                  </a:lnTo>
                  <a:lnTo>
                    <a:pt x="13817" y="252840"/>
                  </a:lnTo>
                  <a:lnTo>
                    <a:pt x="37874" y="294195"/>
                  </a:lnTo>
                  <a:lnTo>
                    <a:pt x="71559" y="327878"/>
                  </a:lnTo>
                  <a:lnTo>
                    <a:pt x="112912" y="351936"/>
                  </a:lnTo>
                  <a:lnTo>
                    <a:pt x="158971" y="364212"/>
                  </a:lnTo>
                  <a:lnTo>
                    <a:pt x="182880" y="365760"/>
                  </a:lnTo>
                  <a:lnTo>
                    <a:pt x="206781" y="364212"/>
                  </a:lnTo>
                  <a:lnTo>
                    <a:pt x="252840" y="351936"/>
                  </a:lnTo>
                  <a:lnTo>
                    <a:pt x="294195" y="327878"/>
                  </a:lnTo>
                  <a:lnTo>
                    <a:pt x="327878" y="294195"/>
                  </a:lnTo>
                  <a:lnTo>
                    <a:pt x="351936" y="252840"/>
                  </a:lnTo>
                  <a:lnTo>
                    <a:pt x="364212" y="206781"/>
                  </a:lnTo>
                  <a:lnTo>
                    <a:pt x="365759" y="182880"/>
                  </a:lnTo>
                  <a:lnTo>
                    <a:pt x="364212" y="158971"/>
                  </a:lnTo>
                  <a:lnTo>
                    <a:pt x="351936" y="112912"/>
                  </a:lnTo>
                  <a:lnTo>
                    <a:pt x="327878" y="71559"/>
                  </a:lnTo>
                  <a:lnTo>
                    <a:pt x="294195" y="37874"/>
                  </a:lnTo>
                  <a:lnTo>
                    <a:pt x="252840" y="13817"/>
                  </a:lnTo>
                  <a:lnTo>
                    <a:pt x="206781" y="1546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FF6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01064" y="2253869"/>
            <a:ext cx="285750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0375" algn="l"/>
              </a:tabLst>
            </a:pPr>
            <a:r>
              <a:rPr sz="1950" b="1" spc="-75" baseline="2136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950" b="1" baseline="2136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Embeddings</a:t>
            </a:r>
            <a:r>
              <a:rPr sz="14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place</a:t>
            </a:r>
            <a:r>
              <a:rPr sz="14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r>
              <a:rPr sz="14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20" dirty="0">
                <a:solidFill>
                  <a:srgbClr val="FFFFFF"/>
                </a:solidFill>
                <a:latin typeface="Calibri"/>
                <a:cs typeface="Calibri"/>
              </a:rPr>
              <a:t>space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8904" y="2958020"/>
            <a:ext cx="400304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Similar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 sentences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land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close</a:t>
            </a:r>
            <a:r>
              <a:rPr sz="1150" spc="-2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together;</a:t>
            </a:r>
            <a:r>
              <a:rPr sz="1150" spc="-2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different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ones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land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far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apart.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17564" y="1965960"/>
            <a:ext cx="5120640" cy="1691639"/>
            <a:chOff x="6217564" y="1965960"/>
            <a:chExt cx="5120640" cy="1691639"/>
          </a:xfrm>
        </p:grpSpPr>
        <p:sp>
          <p:nvSpPr>
            <p:cNvPr id="10" name="object 10"/>
            <p:cNvSpPr/>
            <p:nvPr/>
          </p:nvSpPr>
          <p:spPr>
            <a:xfrm>
              <a:off x="6217564" y="1965960"/>
              <a:ext cx="5120640" cy="1691639"/>
            </a:xfrm>
            <a:custGeom>
              <a:avLst/>
              <a:gdLst/>
              <a:ahLst/>
              <a:cxnLst/>
              <a:rect l="l" t="t" r="r" b="b"/>
              <a:pathLst>
                <a:path w="5120640" h="1691639">
                  <a:moveTo>
                    <a:pt x="50471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618564"/>
                  </a:lnTo>
                  <a:lnTo>
                    <a:pt x="15091" y="1662934"/>
                  </a:lnTo>
                  <a:lnTo>
                    <a:pt x="54041" y="1689211"/>
                  </a:lnTo>
                  <a:lnTo>
                    <a:pt x="73075" y="1691639"/>
                  </a:lnTo>
                  <a:lnTo>
                    <a:pt x="5047551" y="1691284"/>
                  </a:lnTo>
                  <a:lnTo>
                    <a:pt x="5091929" y="1676180"/>
                  </a:lnTo>
                  <a:lnTo>
                    <a:pt x="5115092" y="1646455"/>
                  </a:lnTo>
                  <a:lnTo>
                    <a:pt x="5115169" y="1646299"/>
                  </a:lnTo>
                  <a:lnTo>
                    <a:pt x="5120616" y="1618564"/>
                  </a:lnTo>
                  <a:lnTo>
                    <a:pt x="5120640" y="1618195"/>
                  </a:lnTo>
                  <a:lnTo>
                    <a:pt x="5120271" y="73075"/>
                  </a:lnTo>
                  <a:lnTo>
                    <a:pt x="5105180" y="28705"/>
                  </a:lnTo>
                  <a:lnTo>
                    <a:pt x="5066230" y="2428"/>
                  </a:lnTo>
                  <a:lnTo>
                    <a:pt x="5056829" y="607"/>
                  </a:lnTo>
                  <a:lnTo>
                    <a:pt x="5047195" y="0"/>
                  </a:lnTo>
                  <a:close/>
                </a:path>
              </a:pathLst>
            </a:custGeom>
            <a:solidFill>
              <a:srgbClr val="3322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46164" y="2194204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35" y="6164"/>
                  </a:lnTo>
                  <a:lnTo>
                    <a:pt x="91440" y="24472"/>
                  </a:lnTo>
                  <a:lnTo>
                    <a:pt x="53636" y="53636"/>
                  </a:lnTo>
                  <a:lnTo>
                    <a:pt x="24472" y="91439"/>
                  </a:lnTo>
                  <a:lnTo>
                    <a:pt x="6164" y="135535"/>
                  </a:lnTo>
                  <a:lnTo>
                    <a:pt x="0" y="182880"/>
                  </a:lnTo>
                  <a:lnTo>
                    <a:pt x="1546" y="206781"/>
                  </a:lnTo>
                  <a:lnTo>
                    <a:pt x="13817" y="252840"/>
                  </a:lnTo>
                  <a:lnTo>
                    <a:pt x="37874" y="294195"/>
                  </a:lnTo>
                  <a:lnTo>
                    <a:pt x="71559" y="327878"/>
                  </a:lnTo>
                  <a:lnTo>
                    <a:pt x="112912" y="351936"/>
                  </a:lnTo>
                  <a:lnTo>
                    <a:pt x="158971" y="364212"/>
                  </a:lnTo>
                  <a:lnTo>
                    <a:pt x="182879" y="365760"/>
                  </a:lnTo>
                  <a:lnTo>
                    <a:pt x="206781" y="364212"/>
                  </a:lnTo>
                  <a:lnTo>
                    <a:pt x="252840" y="351936"/>
                  </a:lnTo>
                  <a:lnTo>
                    <a:pt x="294195" y="327878"/>
                  </a:lnTo>
                  <a:lnTo>
                    <a:pt x="327878" y="294195"/>
                  </a:lnTo>
                  <a:lnTo>
                    <a:pt x="351936" y="252840"/>
                  </a:lnTo>
                  <a:lnTo>
                    <a:pt x="364212" y="206781"/>
                  </a:lnTo>
                  <a:lnTo>
                    <a:pt x="365759" y="182880"/>
                  </a:lnTo>
                  <a:lnTo>
                    <a:pt x="364212" y="158971"/>
                  </a:lnTo>
                  <a:lnTo>
                    <a:pt x="351936" y="112912"/>
                  </a:lnTo>
                  <a:lnTo>
                    <a:pt x="327878" y="71559"/>
                  </a:lnTo>
                  <a:lnTo>
                    <a:pt x="294195" y="37874"/>
                  </a:lnTo>
                  <a:lnTo>
                    <a:pt x="252840" y="13817"/>
                  </a:lnTo>
                  <a:lnTo>
                    <a:pt x="206781" y="154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FF6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574942" y="2253869"/>
            <a:ext cx="4203700" cy="100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4184" algn="l"/>
              </a:tabLst>
            </a:pPr>
            <a:r>
              <a:rPr sz="1950" b="1" spc="-75" baseline="2136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1950" b="1" baseline="2136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Dot</a:t>
            </a:r>
            <a:r>
              <a:rPr sz="145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4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rewards</a:t>
            </a:r>
            <a:r>
              <a:rPr sz="14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FFFFFF"/>
                </a:solidFill>
                <a:latin typeface="Calibri"/>
                <a:cs typeface="Calibri"/>
              </a:rPr>
              <a:t>agreement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450">
              <a:latin typeface="Calibri"/>
              <a:cs typeface="Calibri"/>
            </a:endParaRPr>
          </a:p>
          <a:p>
            <a:pPr marL="464184" marR="5080">
              <a:lnSpc>
                <a:spcPct val="115799"/>
              </a:lnSpc>
            </a:pP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It's</a:t>
            </a:r>
            <a:r>
              <a:rPr sz="115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high</a:t>
            </a:r>
            <a:r>
              <a:rPr sz="115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when</a:t>
            </a:r>
            <a:r>
              <a:rPr sz="115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two</a:t>
            </a:r>
            <a:r>
              <a:rPr sz="115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vectors</a:t>
            </a:r>
            <a:r>
              <a:rPr sz="115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match</a:t>
            </a:r>
            <a:r>
              <a:rPr sz="115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dimension</a:t>
            </a:r>
            <a:r>
              <a:rPr sz="115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by</a:t>
            </a:r>
            <a:r>
              <a:rPr sz="115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dimension,</a:t>
            </a:r>
            <a:r>
              <a:rPr sz="1150" spc="-25" dirty="0">
                <a:solidFill>
                  <a:srgbClr val="D7CEED"/>
                </a:solidFill>
                <a:latin typeface="Calibri"/>
                <a:cs typeface="Calibri"/>
              </a:rPr>
              <a:t> low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when</a:t>
            </a:r>
            <a:r>
              <a:rPr sz="115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they</a:t>
            </a:r>
            <a:r>
              <a:rPr sz="115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don't.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9724" y="3931920"/>
            <a:ext cx="5120640" cy="1691639"/>
            <a:chOff x="639724" y="3931920"/>
            <a:chExt cx="5120640" cy="1691639"/>
          </a:xfrm>
        </p:grpSpPr>
        <p:sp>
          <p:nvSpPr>
            <p:cNvPr id="14" name="object 14"/>
            <p:cNvSpPr/>
            <p:nvPr/>
          </p:nvSpPr>
          <p:spPr>
            <a:xfrm>
              <a:off x="639724" y="3931920"/>
              <a:ext cx="5120640" cy="1691639"/>
            </a:xfrm>
            <a:custGeom>
              <a:avLst/>
              <a:gdLst/>
              <a:ahLst/>
              <a:cxnLst/>
              <a:rect l="l" t="t" r="r" b="b"/>
              <a:pathLst>
                <a:path w="5120640" h="1691639">
                  <a:moveTo>
                    <a:pt x="50471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618564"/>
                  </a:lnTo>
                  <a:lnTo>
                    <a:pt x="594" y="1627835"/>
                  </a:lnTo>
                  <a:lnTo>
                    <a:pt x="607" y="1628040"/>
                  </a:lnTo>
                  <a:lnTo>
                    <a:pt x="2394" y="1637236"/>
                  </a:lnTo>
                  <a:lnTo>
                    <a:pt x="2428" y="1637415"/>
                  </a:lnTo>
                  <a:lnTo>
                    <a:pt x="5412" y="1646299"/>
                  </a:lnTo>
                  <a:lnTo>
                    <a:pt x="5464" y="1646455"/>
                  </a:lnTo>
                  <a:lnTo>
                    <a:pt x="36360" y="1681924"/>
                  </a:lnTo>
                  <a:lnTo>
                    <a:pt x="73075" y="1691639"/>
                  </a:lnTo>
                  <a:lnTo>
                    <a:pt x="5047551" y="1691284"/>
                  </a:lnTo>
                  <a:lnTo>
                    <a:pt x="5091929" y="1676180"/>
                  </a:lnTo>
                  <a:lnTo>
                    <a:pt x="5118149" y="1637415"/>
                  </a:lnTo>
                  <a:lnTo>
                    <a:pt x="5120640" y="1618195"/>
                  </a:lnTo>
                  <a:lnTo>
                    <a:pt x="5120271" y="73075"/>
                  </a:lnTo>
                  <a:lnTo>
                    <a:pt x="5105180" y="28705"/>
                  </a:lnTo>
                  <a:lnTo>
                    <a:pt x="5066230" y="2428"/>
                  </a:lnTo>
                  <a:lnTo>
                    <a:pt x="5056829" y="607"/>
                  </a:lnTo>
                  <a:lnTo>
                    <a:pt x="5047195" y="0"/>
                  </a:lnTo>
                  <a:close/>
                </a:path>
              </a:pathLst>
            </a:custGeom>
            <a:solidFill>
              <a:srgbClr val="3322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8324" y="4160164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80" y="0"/>
                  </a:moveTo>
                  <a:lnTo>
                    <a:pt x="135535" y="6164"/>
                  </a:lnTo>
                  <a:lnTo>
                    <a:pt x="91440" y="24472"/>
                  </a:lnTo>
                  <a:lnTo>
                    <a:pt x="53636" y="53636"/>
                  </a:lnTo>
                  <a:lnTo>
                    <a:pt x="24472" y="91439"/>
                  </a:lnTo>
                  <a:lnTo>
                    <a:pt x="6164" y="135535"/>
                  </a:lnTo>
                  <a:lnTo>
                    <a:pt x="0" y="182880"/>
                  </a:lnTo>
                  <a:lnTo>
                    <a:pt x="1546" y="206781"/>
                  </a:lnTo>
                  <a:lnTo>
                    <a:pt x="13817" y="252840"/>
                  </a:lnTo>
                  <a:lnTo>
                    <a:pt x="37874" y="294195"/>
                  </a:lnTo>
                  <a:lnTo>
                    <a:pt x="71559" y="327878"/>
                  </a:lnTo>
                  <a:lnTo>
                    <a:pt x="112912" y="351936"/>
                  </a:lnTo>
                  <a:lnTo>
                    <a:pt x="158971" y="364212"/>
                  </a:lnTo>
                  <a:lnTo>
                    <a:pt x="182880" y="365760"/>
                  </a:lnTo>
                  <a:lnTo>
                    <a:pt x="206781" y="364212"/>
                  </a:lnTo>
                  <a:lnTo>
                    <a:pt x="252840" y="351936"/>
                  </a:lnTo>
                  <a:lnTo>
                    <a:pt x="294195" y="327878"/>
                  </a:lnTo>
                  <a:lnTo>
                    <a:pt x="327878" y="294195"/>
                  </a:lnTo>
                  <a:lnTo>
                    <a:pt x="351936" y="252840"/>
                  </a:lnTo>
                  <a:lnTo>
                    <a:pt x="364212" y="206781"/>
                  </a:lnTo>
                  <a:lnTo>
                    <a:pt x="365759" y="182880"/>
                  </a:lnTo>
                  <a:lnTo>
                    <a:pt x="364212" y="158971"/>
                  </a:lnTo>
                  <a:lnTo>
                    <a:pt x="351936" y="112912"/>
                  </a:lnTo>
                  <a:lnTo>
                    <a:pt x="327878" y="71559"/>
                  </a:lnTo>
                  <a:lnTo>
                    <a:pt x="294195" y="37874"/>
                  </a:lnTo>
                  <a:lnTo>
                    <a:pt x="252840" y="13817"/>
                  </a:lnTo>
                  <a:lnTo>
                    <a:pt x="206781" y="1546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FF6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97102" y="4219829"/>
            <a:ext cx="4411980" cy="100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4184" algn="l"/>
              </a:tabLst>
            </a:pPr>
            <a:r>
              <a:rPr sz="1950" b="1" spc="-75" baseline="2136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1950" b="1" baseline="2136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Cosine</a:t>
            </a:r>
            <a:r>
              <a:rPr sz="14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similarity</a:t>
            </a:r>
            <a:r>
              <a:rPr sz="14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reads</a:t>
            </a:r>
            <a:r>
              <a:rPr sz="14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20" dirty="0">
                <a:solidFill>
                  <a:srgbClr val="FFFFFF"/>
                </a:solidFill>
                <a:latin typeface="Calibri"/>
                <a:cs typeface="Calibri"/>
              </a:rPr>
              <a:t>angle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450">
              <a:latin typeface="Calibri"/>
              <a:cs typeface="Calibri"/>
            </a:endParaRPr>
          </a:p>
          <a:p>
            <a:pPr marL="464184" marR="5080">
              <a:lnSpc>
                <a:spcPct val="115799"/>
              </a:lnSpc>
            </a:pP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It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ignores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vector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length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and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focuses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purely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on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direction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—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0°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apart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means</a:t>
            </a:r>
            <a:r>
              <a:rPr sz="1150" spc="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identical meaning.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17564" y="3931920"/>
            <a:ext cx="5120640" cy="1691639"/>
            <a:chOff x="6217564" y="3931920"/>
            <a:chExt cx="5120640" cy="1691639"/>
          </a:xfrm>
        </p:grpSpPr>
        <p:sp>
          <p:nvSpPr>
            <p:cNvPr id="18" name="object 18"/>
            <p:cNvSpPr/>
            <p:nvPr/>
          </p:nvSpPr>
          <p:spPr>
            <a:xfrm>
              <a:off x="6217564" y="3931920"/>
              <a:ext cx="5120640" cy="1691639"/>
            </a:xfrm>
            <a:custGeom>
              <a:avLst/>
              <a:gdLst/>
              <a:ahLst/>
              <a:cxnLst/>
              <a:rect l="l" t="t" r="r" b="b"/>
              <a:pathLst>
                <a:path w="5120640" h="1691639">
                  <a:moveTo>
                    <a:pt x="50471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618564"/>
                  </a:lnTo>
                  <a:lnTo>
                    <a:pt x="15091" y="1662934"/>
                  </a:lnTo>
                  <a:lnTo>
                    <a:pt x="54041" y="1689211"/>
                  </a:lnTo>
                  <a:lnTo>
                    <a:pt x="73075" y="1691639"/>
                  </a:lnTo>
                  <a:lnTo>
                    <a:pt x="5047551" y="1691284"/>
                  </a:lnTo>
                  <a:lnTo>
                    <a:pt x="5091929" y="1676180"/>
                  </a:lnTo>
                  <a:lnTo>
                    <a:pt x="5115092" y="1646455"/>
                  </a:lnTo>
                  <a:lnTo>
                    <a:pt x="5115169" y="1646299"/>
                  </a:lnTo>
                  <a:lnTo>
                    <a:pt x="5120616" y="1618564"/>
                  </a:lnTo>
                  <a:lnTo>
                    <a:pt x="5120640" y="1618195"/>
                  </a:lnTo>
                  <a:lnTo>
                    <a:pt x="5120271" y="73075"/>
                  </a:lnTo>
                  <a:lnTo>
                    <a:pt x="5105180" y="28705"/>
                  </a:lnTo>
                  <a:lnTo>
                    <a:pt x="5066230" y="2428"/>
                  </a:lnTo>
                  <a:lnTo>
                    <a:pt x="5056829" y="607"/>
                  </a:lnTo>
                  <a:lnTo>
                    <a:pt x="5047195" y="0"/>
                  </a:lnTo>
                  <a:close/>
                </a:path>
              </a:pathLst>
            </a:custGeom>
            <a:solidFill>
              <a:srgbClr val="3322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46164" y="4160164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35" y="6164"/>
                  </a:lnTo>
                  <a:lnTo>
                    <a:pt x="91440" y="24472"/>
                  </a:lnTo>
                  <a:lnTo>
                    <a:pt x="53636" y="53636"/>
                  </a:lnTo>
                  <a:lnTo>
                    <a:pt x="24472" y="91439"/>
                  </a:lnTo>
                  <a:lnTo>
                    <a:pt x="6164" y="135535"/>
                  </a:lnTo>
                  <a:lnTo>
                    <a:pt x="0" y="182880"/>
                  </a:lnTo>
                  <a:lnTo>
                    <a:pt x="1546" y="206781"/>
                  </a:lnTo>
                  <a:lnTo>
                    <a:pt x="13817" y="252840"/>
                  </a:lnTo>
                  <a:lnTo>
                    <a:pt x="37874" y="294195"/>
                  </a:lnTo>
                  <a:lnTo>
                    <a:pt x="71559" y="327878"/>
                  </a:lnTo>
                  <a:lnTo>
                    <a:pt x="112912" y="351936"/>
                  </a:lnTo>
                  <a:lnTo>
                    <a:pt x="158971" y="364212"/>
                  </a:lnTo>
                  <a:lnTo>
                    <a:pt x="182879" y="365760"/>
                  </a:lnTo>
                  <a:lnTo>
                    <a:pt x="206781" y="364212"/>
                  </a:lnTo>
                  <a:lnTo>
                    <a:pt x="252840" y="351936"/>
                  </a:lnTo>
                  <a:lnTo>
                    <a:pt x="294195" y="327878"/>
                  </a:lnTo>
                  <a:lnTo>
                    <a:pt x="327878" y="294195"/>
                  </a:lnTo>
                  <a:lnTo>
                    <a:pt x="351936" y="252840"/>
                  </a:lnTo>
                  <a:lnTo>
                    <a:pt x="364212" y="206781"/>
                  </a:lnTo>
                  <a:lnTo>
                    <a:pt x="365759" y="182880"/>
                  </a:lnTo>
                  <a:lnTo>
                    <a:pt x="364212" y="158971"/>
                  </a:lnTo>
                  <a:lnTo>
                    <a:pt x="351936" y="112912"/>
                  </a:lnTo>
                  <a:lnTo>
                    <a:pt x="327878" y="71559"/>
                  </a:lnTo>
                  <a:lnTo>
                    <a:pt x="294195" y="37874"/>
                  </a:lnTo>
                  <a:lnTo>
                    <a:pt x="252840" y="13817"/>
                  </a:lnTo>
                  <a:lnTo>
                    <a:pt x="206781" y="154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FF6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70980" y="4219829"/>
            <a:ext cx="4279900" cy="100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7995" algn="l"/>
              </a:tabLst>
            </a:pPr>
            <a:r>
              <a:rPr sz="1950" b="1" spc="22" baseline="2136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1950" b="1" baseline="2136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Powers</a:t>
            </a:r>
            <a:r>
              <a:rPr sz="145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search,</a:t>
            </a:r>
            <a:r>
              <a:rPr sz="145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translation</a:t>
            </a:r>
            <a:r>
              <a:rPr sz="145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45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2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450">
              <a:latin typeface="Calibri"/>
              <a:cs typeface="Calibri"/>
            </a:endParaRPr>
          </a:p>
          <a:p>
            <a:pPr marL="467995" marR="5080">
              <a:lnSpc>
                <a:spcPct val="115799"/>
              </a:lnSpc>
            </a:pP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Once</a:t>
            </a:r>
            <a:r>
              <a:rPr sz="1150" spc="-2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similarity</a:t>
            </a:r>
            <a:r>
              <a:rPr sz="1150" spc="-2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is</a:t>
            </a:r>
            <a:r>
              <a:rPr sz="1150" spc="-2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a</a:t>
            </a:r>
            <a:r>
              <a:rPr sz="1150" spc="-2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number,</a:t>
            </a:r>
            <a:r>
              <a:rPr sz="1150" spc="-3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it</a:t>
            </a:r>
            <a:r>
              <a:rPr sz="1150" spc="-2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can</a:t>
            </a:r>
            <a:r>
              <a:rPr sz="1150" spc="-2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drive</a:t>
            </a:r>
            <a:r>
              <a:rPr sz="1150" spc="-1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retrieval,</a:t>
            </a:r>
            <a:r>
              <a:rPr sz="1150" spc="-25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D7CEED"/>
                </a:solidFill>
                <a:latin typeface="Calibri"/>
                <a:cs typeface="Calibri"/>
              </a:rPr>
              <a:t>clustering,</a:t>
            </a:r>
            <a:r>
              <a:rPr sz="1150" spc="-30" dirty="0">
                <a:solidFill>
                  <a:srgbClr val="D7CEED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D7CEED"/>
                </a:solidFill>
                <a:latin typeface="Calibri"/>
                <a:cs typeface="Calibri"/>
              </a:rPr>
              <a:t>and </a:t>
            </a:r>
            <a:r>
              <a:rPr sz="1150" spc="-10" dirty="0">
                <a:solidFill>
                  <a:srgbClr val="D7CEED"/>
                </a:solidFill>
                <a:latin typeface="Calibri"/>
                <a:cs typeface="Calibri"/>
              </a:rPr>
              <a:t>summarization.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1019</Words>
  <Application>Microsoft Office PowerPoint</Application>
  <PresentationFormat>Widescreen</PresentationFormat>
  <Paragraphs>156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Cambria</vt:lpstr>
      <vt:lpstr>Courier New</vt:lpstr>
      <vt:lpstr>Times New Roman</vt:lpstr>
      <vt:lpstr>Office Theme</vt:lpstr>
      <vt:lpstr>What Is Similarity Between Sentences?</vt:lpstr>
      <vt:lpstr>Vectors that carry meaning</vt:lpstr>
      <vt:lpstr>Four movies, two scores</vt:lpstr>
      <vt:lpstr>Dot Product Similarity</vt:lpstr>
      <vt:lpstr>Cosine Similarity: the angle between meanings</vt:lpstr>
      <vt:lpstr>A real example with Cohere’s embed-v4.0</vt:lpstr>
      <vt:lpstr>Both methods agree</vt:lpstr>
      <vt:lpstr>A similarity grid</vt:lpstr>
      <vt:lpstr>Similarity turns meaning into a measurable number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2026-08-03T07:31:44Z</dcterms:created>
  <dcterms:modified xsi:type="dcterms:W3CDTF">2026-08-03T10:34:05Z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2026-08-03T00:00:00Z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2026-08-03T00:00:00Z</vt:filetime>
  </property>
</Properties>
</file>