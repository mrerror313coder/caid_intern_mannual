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324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0" y="3840480"/>
            <a:ext cx="3657600" cy="3657600"/>
          </a:xfrm>
          <a:prstGeom prst="ellipse">
            <a:avLst/>
          </a:prstGeom>
          <a:solidFill>
            <a:srgbClr val="02C39A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Semantic Search?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text embeddings and similarity to find the right answer — not just the closest words.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778240" y="1828800"/>
            <a:ext cx="146304" cy="146304"/>
          </a:xfrm>
          <a:prstGeom prst="ellipse">
            <a:avLst/>
          </a:prstGeom>
          <a:solidFill>
            <a:srgbClr val="5FA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418320" y="2286000"/>
            <a:ext cx="146304" cy="146304"/>
          </a:xfrm>
          <a:prstGeom prst="ellipse">
            <a:avLst/>
          </a:prstGeom>
          <a:solidFill>
            <a:srgbClr val="5FA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0" y="3017520"/>
            <a:ext cx="146304" cy="146304"/>
          </a:xfrm>
          <a:prstGeom prst="ellipse">
            <a:avLst/>
          </a:prstGeom>
          <a:solidFill>
            <a:srgbClr val="5FA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241280" y="2011680"/>
            <a:ext cx="146304" cy="146304"/>
          </a:xfrm>
          <a:prstGeom prst="ellipse">
            <a:avLst/>
          </a:prstGeom>
          <a:solidFill>
            <a:srgbClr val="5FA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607040" y="3291840"/>
            <a:ext cx="146304" cy="146304"/>
          </a:xfrm>
          <a:prstGeom prst="ellipse">
            <a:avLst/>
          </a:prstGeom>
          <a:solidFill>
            <a:srgbClr val="5FA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95360" y="3840480"/>
            <a:ext cx="146304" cy="146304"/>
          </a:xfrm>
          <a:prstGeom prst="ellipse">
            <a:avLst/>
          </a:prstGeom>
          <a:solidFill>
            <a:srgbClr val="5FA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692640" y="4206240"/>
            <a:ext cx="146304" cy="146304"/>
          </a:xfrm>
          <a:prstGeom prst="ellipse">
            <a:avLst/>
          </a:prstGeom>
          <a:solidFill>
            <a:srgbClr val="5FA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881360" y="4480560"/>
            <a:ext cx="146304" cy="146304"/>
          </a:xfrm>
          <a:prstGeom prst="ellipse">
            <a:avLst/>
          </a:prstGeom>
          <a:solidFill>
            <a:srgbClr val="5FA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869680" y="4937760"/>
            <a:ext cx="146304" cy="146304"/>
          </a:xfrm>
          <a:prstGeom prst="ellipse">
            <a:avLst/>
          </a:prstGeom>
          <a:solidFill>
            <a:srgbClr val="5FA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3246120"/>
            <a:ext cx="201168" cy="201168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search counts words — not meaning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</a:t>
            </a:r>
            <a:r>
              <a:rPr lang="en-US" sz="1600" i="1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is the world cup?”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cup is in Qatar.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257800" y="2295144"/>
            <a:ext cx="2926080" cy="347472"/>
          </a:xfrm>
          <a:prstGeom prst="roundRect">
            <a:avLst>
              <a:gd name="adj" fmla="val 15789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94960" y="2240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shared words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072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sky is blue.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257800" y="2862072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B9C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94960" y="28072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shared words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3741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bear lives in the woods.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257800" y="3429000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B9C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94960" y="337413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shared words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9410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apple is a fruit.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257800" y="3995928"/>
            <a:ext cx="731520" cy="347472"/>
          </a:xfrm>
          <a:prstGeom prst="roundRect">
            <a:avLst>
              <a:gd name="adj" fmla="val 15789"/>
            </a:avLst>
          </a:prstGeom>
          <a:solidFill>
            <a:srgbClr val="B9C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94960" y="394106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shared word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49640" y="1600200"/>
            <a:ext cx="3108960" cy="2880360"/>
          </a:xfrm>
          <a:prstGeom prst="roundRect">
            <a:avLst>
              <a:gd name="adj" fmla="val 2540"/>
            </a:avLst>
          </a:prstGeom>
          <a:solidFill>
            <a:srgbClr val="FCEC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823960" y="1828800"/>
            <a:ext cx="457200" cy="457200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8239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549640" y="23957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tempting trap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49640" y="2761488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in the world is my cup of coffee?” shares 5 words with the query — more than the correct answer — but it's completely unrelated.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709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words and TF-IDF help, but ambiguity and synonyms still break pure keyword matching.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search in three steps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each sentence into a vector — a list of numbers — using a text embedding model.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33088" y="3246120"/>
            <a:ext cx="274320" cy="365760"/>
          </a:xfrm>
          <a:prstGeom prst="rightArrow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34840" y="178308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21031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5488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54880" y="34290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similarity between the query vector and every response vector.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19288" y="3246120"/>
            <a:ext cx="274320" cy="365760"/>
          </a:xfrm>
          <a:prstGeom prst="rightArrow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21040" y="178308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41080" y="21031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410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64108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641080" y="34290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response whose vector is most similar to the query.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EMBEDDINGS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 meaning → similar vectors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embedding assigns every piece of text — a word, sentence, or article — a vector of numbers. Cohere's Embed model returns vectors with </a:t>
            </a: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1536 dimensions</a:t>
            </a:r>
            <a:r>
              <a:rPr lang="en-US" sz="15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default.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“Hello, how are you?”</a:t>
            </a:r>
            <a:r>
              <a:rPr lang="en-US" sz="15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“Hi, what’s up?”</a:t>
            </a:r>
            <a:r>
              <a:rPr lang="en-US" sz="15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land close together. “Tomorrow is Friday” lands far away.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F2F9F8"/>
          </a:solidFill>
          <a:ln w="12700">
            <a:solidFill>
              <a:srgbClr val="D9E8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72300" y="1600200"/>
            <a:ext cx="0" cy="4572000"/>
          </a:xfrm>
          <a:prstGeom prst="line">
            <a:avLst/>
          </a:prstGeom>
          <a:noFill/>
          <a:ln w="9525">
            <a:solidFill>
              <a:srgbClr val="DCEA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0" cy="4572000"/>
          </a:xfrm>
          <a:prstGeom prst="line">
            <a:avLst/>
          </a:prstGeom>
          <a:noFill/>
          <a:ln w="9525">
            <a:solidFill>
              <a:srgbClr val="DCEA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98180" y="1600200"/>
            <a:ext cx="0" cy="4572000"/>
          </a:xfrm>
          <a:prstGeom prst="line">
            <a:avLst/>
          </a:prstGeom>
          <a:noFill/>
          <a:ln w="9525">
            <a:solidFill>
              <a:srgbClr val="DCEA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961120" y="1600200"/>
            <a:ext cx="0" cy="4572000"/>
          </a:xfrm>
          <a:prstGeom prst="line">
            <a:avLst/>
          </a:prstGeom>
          <a:noFill/>
          <a:ln w="9525">
            <a:solidFill>
              <a:srgbClr val="DCEA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24060" y="1600200"/>
            <a:ext cx="0" cy="4572000"/>
          </a:xfrm>
          <a:prstGeom prst="line">
            <a:avLst/>
          </a:prstGeom>
          <a:noFill/>
          <a:ln w="9525">
            <a:solidFill>
              <a:srgbClr val="DCEA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287000" y="1600200"/>
            <a:ext cx="0" cy="4572000"/>
          </a:xfrm>
          <a:prstGeom prst="line">
            <a:avLst/>
          </a:prstGeom>
          <a:noFill/>
          <a:ln w="9525">
            <a:solidFill>
              <a:srgbClr val="DCEA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949940" y="1600200"/>
            <a:ext cx="0" cy="4572000"/>
          </a:xfrm>
          <a:prstGeom prst="line">
            <a:avLst/>
          </a:prstGeom>
          <a:noFill/>
          <a:ln w="9525">
            <a:solidFill>
              <a:srgbClr val="DCEA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0" y="2362200"/>
            <a:ext cx="5303520" cy="0"/>
          </a:xfrm>
          <a:prstGeom prst="line">
            <a:avLst/>
          </a:prstGeom>
          <a:noFill/>
          <a:ln w="9525">
            <a:solidFill>
              <a:srgbClr val="DCEA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09360" y="3124200"/>
            <a:ext cx="5303520" cy="0"/>
          </a:xfrm>
          <a:prstGeom prst="line">
            <a:avLst/>
          </a:prstGeom>
          <a:noFill/>
          <a:ln w="9525">
            <a:solidFill>
              <a:srgbClr val="DCEA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3886200"/>
            <a:ext cx="5303520" cy="0"/>
          </a:xfrm>
          <a:prstGeom prst="line">
            <a:avLst/>
          </a:prstGeom>
          <a:noFill/>
          <a:ln w="9525">
            <a:solidFill>
              <a:srgbClr val="DCEA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0" y="4648200"/>
            <a:ext cx="5303520" cy="0"/>
          </a:xfrm>
          <a:prstGeom prst="line">
            <a:avLst/>
          </a:prstGeom>
          <a:noFill/>
          <a:ln w="9525">
            <a:solidFill>
              <a:srgbClr val="DCEA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9360" y="5410200"/>
            <a:ext cx="5303520" cy="0"/>
          </a:xfrm>
          <a:prstGeom prst="line">
            <a:avLst/>
          </a:prstGeom>
          <a:noFill/>
          <a:ln w="9525">
            <a:solidFill>
              <a:srgbClr val="DCEA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58000" y="2148840"/>
            <a:ext cx="201168" cy="201168"/>
          </a:xfrm>
          <a:prstGeom prst="ellipse">
            <a:avLst/>
          </a:prstGeom>
          <a:solidFill>
            <a:srgbClr val="5B6B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52160" y="2350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“Tomorrow is Friday”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89920" y="480060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784080" y="50017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“Hello, how are you?”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332720" y="534924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326880" y="55504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“Hi, what’s up?”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06640" y="5623560"/>
            <a:ext cx="201168" cy="201168"/>
          </a:xfrm>
          <a:prstGeom prst="ellipse">
            <a:avLst/>
          </a:prstGeom>
          <a:solidFill>
            <a:srgbClr val="5B6B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29600" y="2880360"/>
            <a:ext cx="201168" cy="201168"/>
          </a:xfrm>
          <a:prstGeom prst="ellipse">
            <a:avLst/>
          </a:prstGeom>
          <a:solidFill>
            <a:srgbClr val="5B6B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9360" y="58064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projection of an embedding space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query lands next to its answer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bear live?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7889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69748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bear lives in the woods.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37960" y="201168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796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86600" y="19202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world cup?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37960" y="27889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3796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86600" y="269748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cup is in Qatar.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2960" y="416052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06908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color is the sky?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22960" y="49377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4937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8463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sky is blue.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63640" y="38862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37960" y="416052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3796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86600" y="406908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apple?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537960" y="49377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37960" y="4937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86600" y="48463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apple is a fruit.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Euclidean distance in the embedding plane, all four queries sit closest to their correct response — but similarity scores (next) work better in practice.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SIMILARITY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score “close in meaning”?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2F9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 Product Similarity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Multiplies matching dimensions of two vectors and sums the results. Fast, but sensitive to vector length.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2F9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37960" y="1920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Cosine Similarity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3774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angle between two vectors, ignoring length. Used throughout this chapter — scores range from 0 to 1.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Cosine similarity — three properties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0B20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42976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31520" y="5029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compared with itself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416052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0B20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43400" y="42976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~0.7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26280" y="5029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genuinely similar sentences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416052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0B20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38160" y="42976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9C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321040" y="5029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unrelated sentences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IN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is an apple?” finds its match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011680" y="1280160"/>
            <a:ext cx="877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Q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615184" y="1280160"/>
            <a:ext cx="877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18688" y="1280160"/>
            <a:ext cx="877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 Q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22192" y="1280160"/>
            <a:ext cx="877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 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25696" y="1280160"/>
            <a:ext cx="877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Q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1280160"/>
            <a:ext cx="877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32704" y="1280160"/>
            <a:ext cx="877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Q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36208" y="1280160"/>
            <a:ext cx="877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691640"/>
            <a:ext cx="1508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Q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48840" y="1691640"/>
            <a:ext cx="580644" cy="580644"/>
          </a:xfrm>
          <a:prstGeom prst="rect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48840" y="1691640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52344" y="1691640"/>
            <a:ext cx="580644" cy="580644"/>
          </a:xfrm>
          <a:prstGeom prst="rect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52344" y="1691640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55848" y="1691640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55848" y="1691640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959352" y="1691640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59352" y="1691640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62856" y="1691640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62856" y="1691640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166360" y="1691640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66360" y="1691640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769864" y="1691640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69864" y="1691640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373368" y="1691640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73368" y="1691640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8640" y="2295144"/>
            <a:ext cx="1508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148840" y="2295144"/>
            <a:ext cx="580644" cy="580644"/>
          </a:xfrm>
          <a:prstGeom prst="rect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148840" y="2295144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52344" y="2295144"/>
            <a:ext cx="580644" cy="580644"/>
          </a:xfrm>
          <a:prstGeom prst="rect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52344" y="2295144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55848" y="2295144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55848" y="2295144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959352" y="2295144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959352" y="2295144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62856" y="2295144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62856" y="2295144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166360" y="2295144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166360" y="2295144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769864" y="2295144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769864" y="2295144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373368" y="2295144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73368" y="2295144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48640" y="2898648"/>
            <a:ext cx="1508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 Q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148840" y="2898648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148840" y="2898648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752344" y="2898648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752344" y="2898648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355848" y="2898648"/>
            <a:ext cx="580644" cy="580644"/>
          </a:xfrm>
          <a:prstGeom prst="rect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355848" y="2898648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959352" y="2898648"/>
            <a:ext cx="580644" cy="580644"/>
          </a:xfrm>
          <a:prstGeom prst="rect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959352" y="2898648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562856" y="2898648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562856" y="2898648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166360" y="2898648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166360" y="2898648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769864" y="2898648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769864" y="2898648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373368" y="2898648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373368" y="2898648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48640" y="3502152"/>
            <a:ext cx="1508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 A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148840" y="3502152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148840" y="3502152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752344" y="3502152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752344" y="3502152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355848" y="3502152"/>
            <a:ext cx="580644" cy="580644"/>
          </a:xfrm>
          <a:prstGeom prst="rect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355848" y="3502152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959352" y="3502152"/>
            <a:ext cx="580644" cy="580644"/>
          </a:xfrm>
          <a:prstGeom prst="rect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959352" y="3502152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562856" y="3502152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562856" y="3502152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166360" y="3502152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166360" y="3502152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769864" y="3502152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769864" y="3502152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373368" y="3502152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6373368" y="3502152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48640" y="4105656"/>
            <a:ext cx="1508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Q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148840" y="4105656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2148840" y="4105656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2752344" y="4105656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2752344" y="4105656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3355848" y="4105656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3355848" y="4105656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3959352" y="4105656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3959352" y="4105656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562856" y="4105656"/>
            <a:ext cx="580644" cy="580644"/>
          </a:xfrm>
          <a:prstGeom prst="rect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4562856" y="4105656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5166360" y="4105656"/>
            <a:ext cx="580644" cy="580644"/>
          </a:xfrm>
          <a:prstGeom prst="rect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5166360" y="4105656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5769864" y="4105656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5769864" y="4105656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6373368" y="4105656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6373368" y="4105656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548640" y="4709160"/>
            <a:ext cx="1508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A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2148840" y="4709160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2148840" y="4709160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2752344" y="4709160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2752344" y="4709160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3355848" y="4709160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3355848" y="4709160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3959352" y="4709160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3959352" y="4709160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562856" y="4709160"/>
            <a:ext cx="580644" cy="580644"/>
          </a:xfrm>
          <a:prstGeom prst="rect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4562856" y="4709160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5166360" y="4709160"/>
            <a:ext cx="580644" cy="580644"/>
          </a:xfrm>
          <a:prstGeom prst="rect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5166360" y="4709160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5769864" y="4709160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5769864" y="4709160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6373368" y="4709160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6373368" y="4709160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548640" y="5312664"/>
            <a:ext cx="1508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Q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2148840" y="5312664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2148840" y="5312664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2752344" y="5312664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2752344" y="5312664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3355848" y="5312664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3355848" y="5312664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3959352" y="5312664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3959352" y="5312664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4562856" y="5312664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4562856" y="5312664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5166360" y="5312664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5166360" y="5312664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5769864" y="5312664"/>
            <a:ext cx="580644" cy="580644"/>
          </a:xfrm>
          <a:prstGeom prst="rect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5769864" y="5312664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6373368" y="5312664"/>
            <a:ext cx="580644" cy="580644"/>
          </a:xfrm>
          <a:prstGeom prst="rect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6373368" y="5312664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548640" y="5916168"/>
            <a:ext cx="1508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A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2148840" y="5916168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2148840" y="5916168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2752344" y="5916168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2752344" y="5916168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3355848" y="5916168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3355848" y="5916168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3959352" y="5916168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3959352" y="5916168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4562856" y="5916168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4562856" y="5916168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5166360" y="5916168"/>
            <a:ext cx="580644" cy="580644"/>
          </a:xfrm>
          <a:prstGeom prst="rect">
            <a:avLst/>
          </a:prstGeom>
          <a:solidFill>
            <a:srgbClr val="EAF4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5166360" y="5916168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144" name="Shape 142"/>
          <p:cNvSpPr/>
          <p:nvPr/>
        </p:nvSpPr>
        <p:spPr>
          <a:xfrm>
            <a:off x="5769864" y="5916168"/>
            <a:ext cx="580644" cy="580644"/>
          </a:xfrm>
          <a:prstGeom prst="rect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3"/>
          <p:cNvSpPr/>
          <p:nvPr/>
        </p:nvSpPr>
        <p:spPr>
          <a:xfrm>
            <a:off x="5769864" y="5916168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6373368" y="5916168"/>
            <a:ext cx="580644" cy="580644"/>
          </a:xfrm>
          <a:prstGeom prst="rect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145"/>
          <p:cNvSpPr/>
          <p:nvPr/>
        </p:nvSpPr>
        <p:spPr>
          <a:xfrm>
            <a:off x="6373368" y="5916168"/>
            <a:ext cx="580644" cy="58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7525512" y="1691640"/>
            <a:ext cx="4160520" cy="4828032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E8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147"/>
          <p:cNvSpPr/>
          <p:nvPr/>
        </p:nvSpPr>
        <p:spPr>
          <a:xfrm>
            <a:off x="7799832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grid</a:t>
            </a:r>
            <a:endParaRPr lang="en-US" sz="1450" dirty="0"/>
          </a:p>
        </p:txBody>
      </p:sp>
      <p:sp>
        <p:nvSpPr>
          <p:cNvPr id="150" name="Shape 148"/>
          <p:cNvSpPr/>
          <p:nvPr/>
        </p:nvSpPr>
        <p:spPr>
          <a:xfrm>
            <a:off x="7799832" y="2468880"/>
            <a:ext cx="256032" cy="25603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Text 149"/>
          <p:cNvSpPr/>
          <p:nvPr/>
        </p:nvSpPr>
        <p:spPr>
          <a:xfrm>
            <a:off x="8183880" y="241401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= 1.00</a:t>
            </a:r>
            <a:endParaRPr lang="en-US" sz="1150" dirty="0"/>
          </a:p>
        </p:txBody>
      </p:sp>
      <p:sp>
        <p:nvSpPr>
          <p:cNvPr id="152" name="Text 150"/>
          <p:cNvSpPr/>
          <p:nvPr/>
        </p:nvSpPr>
        <p:spPr>
          <a:xfrm>
            <a:off x="8183880" y="27249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sentence vs. itself</a:t>
            </a:r>
            <a:endParaRPr lang="en-US" sz="1000" dirty="0"/>
          </a:p>
        </p:txBody>
      </p:sp>
      <p:sp>
        <p:nvSpPr>
          <p:cNvPr id="153" name="Shape 151"/>
          <p:cNvSpPr/>
          <p:nvPr/>
        </p:nvSpPr>
        <p:spPr>
          <a:xfrm>
            <a:off x="7799832" y="3337560"/>
            <a:ext cx="256032" cy="25603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/>
          <p:nvPr/>
        </p:nvSpPr>
        <p:spPr>
          <a:xfrm>
            <a:off x="8183880" y="328269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pairs ≈ 0.72</a:t>
            </a:r>
            <a:endParaRPr lang="en-US" sz="1150" dirty="0"/>
          </a:p>
        </p:txBody>
      </p:sp>
      <p:sp>
        <p:nvSpPr>
          <p:cNvPr id="155" name="Text 153"/>
          <p:cNvSpPr/>
          <p:nvPr/>
        </p:nvSpPr>
        <p:spPr>
          <a:xfrm>
            <a:off x="8183880" y="35935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and its correct response</a:t>
            </a:r>
            <a:endParaRPr lang="en-US" sz="1000" dirty="0"/>
          </a:p>
        </p:txBody>
      </p:sp>
      <p:sp>
        <p:nvSpPr>
          <p:cNvPr id="156" name="Shape 154"/>
          <p:cNvSpPr/>
          <p:nvPr/>
        </p:nvSpPr>
        <p:spPr>
          <a:xfrm>
            <a:off x="7799832" y="4206240"/>
            <a:ext cx="256032" cy="256032"/>
          </a:xfrm>
          <a:prstGeom prst="rect">
            <a:avLst/>
          </a:prstGeom>
          <a:solidFill>
            <a:srgbClr val="BFE0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" name="Text 155"/>
          <p:cNvSpPr/>
          <p:nvPr/>
        </p:nvSpPr>
        <p:spPr>
          <a:xfrm>
            <a:off x="8183880" y="415137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Unrelated pairs ≈ 0.15–0.22</a:t>
            </a:r>
            <a:endParaRPr lang="en-US" sz="1150" dirty="0"/>
          </a:p>
        </p:txBody>
      </p:sp>
      <p:sp>
        <p:nvSpPr>
          <p:cNvPr id="158" name="Text 156"/>
          <p:cNvSpPr/>
          <p:nvPr/>
        </p:nvSpPr>
        <p:spPr>
          <a:xfrm>
            <a:off x="8183880" y="44622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</a:t>
            </a:r>
            <a:endParaRPr lang="en-US" sz="1000" dirty="0"/>
          </a:p>
        </p:txBody>
      </p:sp>
      <p:sp>
        <p:nvSpPr>
          <p:cNvPr id="159" name="Text 15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query “What is an apple?” the top match (excluding itself) is “An apple is a fruit.”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Nearest neighbors: simple, but not free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best match, k-nearest-neighbors (k-NN) computes the distance between the query and </a:t>
            </a:r>
            <a:r>
              <a:rPr lang="en-US" sz="1450" i="1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</a:t>
            </a:r>
            <a:r>
              <a:rPr lang="en-US" sz="145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candidate, then keeps the closest ones.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for classification: the majority label among the k neighbors wins.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grows with dataset size — one query against 8 documents means 8 distance calculations.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 (millions of documents), exact k-NN becomes too slow for real-time search.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9052560" y="2011680"/>
            <a:ext cx="0" cy="1737360"/>
          </a:xfrm>
          <a:prstGeom prst="line">
            <a:avLst/>
          </a:prstGeom>
          <a:noFill/>
          <a:ln w="15875">
            <a:solidFill>
              <a:srgbClr val="C7DE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V="1">
            <a:off x="9052560" y="2520541"/>
            <a:ext cx="1228499" cy="1228499"/>
          </a:xfrm>
          <a:prstGeom prst="line">
            <a:avLst/>
          </a:prstGeom>
          <a:noFill/>
          <a:ln w="15875">
            <a:solidFill>
              <a:srgbClr val="C7DE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0" y="3749040"/>
            <a:ext cx="1737360" cy="0"/>
          </a:xfrm>
          <a:prstGeom prst="line">
            <a:avLst/>
          </a:prstGeom>
          <a:noFill/>
          <a:ln w="15875">
            <a:solidFill>
              <a:srgbClr val="C7DE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052560" y="3749040"/>
            <a:ext cx="1228499" cy="1228499"/>
          </a:xfrm>
          <a:prstGeom prst="line">
            <a:avLst/>
          </a:prstGeom>
          <a:noFill/>
          <a:ln w="15875">
            <a:solidFill>
              <a:srgbClr val="C7DE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052560" y="3749040"/>
            <a:ext cx="0" cy="1737360"/>
          </a:xfrm>
          <a:prstGeom prst="line">
            <a:avLst/>
          </a:prstGeom>
          <a:noFill/>
          <a:ln w="15875">
            <a:solidFill>
              <a:srgbClr val="C7DE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H="1">
            <a:off x="7824061" y="3749040"/>
            <a:ext cx="1228499" cy="1228499"/>
          </a:xfrm>
          <a:prstGeom prst="line">
            <a:avLst/>
          </a:prstGeom>
          <a:noFill/>
          <a:ln w="15875">
            <a:solidFill>
              <a:srgbClr val="C7DE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H="1">
            <a:off x="7315200" y="3749040"/>
            <a:ext cx="1737360" cy="0"/>
          </a:xfrm>
          <a:prstGeom prst="line">
            <a:avLst/>
          </a:prstGeom>
          <a:noFill/>
          <a:ln w="15875">
            <a:solidFill>
              <a:srgbClr val="C7DE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 flipH="1" flipV="1">
            <a:off x="7824061" y="2520541"/>
            <a:ext cx="1228499" cy="1228499"/>
          </a:xfrm>
          <a:prstGeom prst="line">
            <a:avLst/>
          </a:prstGeom>
          <a:noFill/>
          <a:ln w="15875">
            <a:solidFill>
              <a:srgbClr val="C7DE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933688" y="1892808"/>
            <a:ext cx="237744" cy="23774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162187" y="2401669"/>
            <a:ext cx="237744" cy="23774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671048" y="3630168"/>
            <a:ext cx="237744" cy="23774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162187" y="4858667"/>
            <a:ext cx="237744" cy="23774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933688" y="5367528"/>
            <a:ext cx="237744" cy="23774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05189" y="4858667"/>
            <a:ext cx="237744" cy="23774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96328" y="3630168"/>
            <a:ext cx="237744" cy="23774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05189" y="2401669"/>
            <a:ext cx="237744" cy="23774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851392" y="3547872"/>
            <a:ext cx="402336" cy="402336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98080" y="5623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“Where is the world cup?”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distance calculations for 8 documents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Approximate nearest neighbors for massive archives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Inverted File Index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3375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similar documents ahead of time, then search only the clusters closest to the query — skipping the rest.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37960" y="210312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2103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HNSW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7432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Navigable Small World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33375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few points and search a small graph, adding more points and connections at each iteration.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trade a small amount of accuracy for a large speed-up — essential once a search index holds millions of documents.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embedding, 100+ languages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multilingual embedding places a sentence and its translations in nearly the same spot — so a query in one language can retrieve answers written in another.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6791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89864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sky is blue.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260604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80560" y="26791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289864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cielo es azul.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260604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75320" y="26791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75320" y="289864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ciel est bleu.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6393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85876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apple is a fruit.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43400" y="35661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80560" y="36393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0" y="385876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manzana es una fruta.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38160" y="35661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75320" y="36393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75320" y="385876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pomme est un fruit.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" y="45994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481888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cup is in Qatar.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43400" y="452628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80560" y="45994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80560" y="481888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mundial es en Qatar.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452628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75320" y="45994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75320" y="481888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coupe du monde est au Qatar.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CAVEAT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 isn’t always correct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is the world cup?”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13343B"/>
          </a:solidFill>
          <a:ln w="1587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cup is in Qatar.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— but not the top-ranked match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138160" y="233172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13343B"/>
          </a:solidFill>
          <a:ln w="15875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cup is in the moon.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Wrong, yet dangerously close to the query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38160" y="347472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13343B"/>
          </a:solidFill>
          <a:ln w="15875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7091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previous world cup was in Russia.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statement, ranked closest of all three — but not the answer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38160" y="461772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closest match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8064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similarity search can rank a wrong-but-related answer above the true one — embeddings and similarity alone aren’t the whole story.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with multiple negative ranking loss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the model for pulling correct pairs together, and for pushing incorrect pairs apart.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E3F6EE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4505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PAIR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2491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(Where is the world cup? → The world cup is in Qatar.)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PAIRS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822192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BEAEA"/>
          </a:solidFill>
          <a:ln w="9525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82219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(Where is the world cup? → The world cup is in the moon.)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645152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BEAEA"/>
          </a:solidFill>
          <a:ln w="9525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464515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(Where is the world cup? → The previous world cup was in Russia.)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468112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BEAEA"/>
          </a:solidFill>
          <a:ln w="9525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546811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3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(Where is the world cup? → The world cup is in 2022.)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233172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0B20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0" y="2560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training changes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306324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9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response moves closer to its query in embedding space.</a:t>
            </a:r>
            <a:endParaRPr lang="en-US" sz="125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9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Wrong-but-related responses are pushed further away.</a:t>
            </a:r>
            <a:endParaRPr lang="en-US" sz="125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9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many examples, the model learns to separate “related” from “correct.”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486400" cy="54864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 beats keywords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embeds queries and documents into vectors, ranks candidates by similarity, and retrieves the closest match — handling synonyms and ambiguity that keyword search misses.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13343B"/>
          </a:solidFill>
          <a:ln w="12700">
            <a:solidFill>
              <a:srgbClr val="2C4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text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82112" y="3730752"/>
            <a:ext cx="219456" cy="219456"/>
          </a:xfrm>
          <a:prstGeom prst="rightArrow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29000" y="338328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13343B"/>
          </a:solidFill>
          <a:ln w="12700">
            <a:solidFill>
              <a:srgbClr val="2C4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33832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similarity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71032" y="3730752"/>
            <a:ext cx="219456" cy="219456"/>
          </a:xfrm>
          <a:prstGeom prst="rightArrow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7920" y="338328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13343B"/>
          </a:solidFill>
          <a:ln w="12700">
            <a:solidFill>
              <a:srgbClr val="2C4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33832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nearest neighbor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759952" y="3730752"/>
            <a:ext cx="219456" cy="219456"/>
          </a:xfrm>
          <a:prstGeom prst="rightArrow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006840" y="338328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13343B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006840" y="33832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answer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next: vector databases, re-ranking, and billion-scale semantic search.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1170</Words>
  <Application>Microsoft Office PowerPoint</Application>
  <PresentationFormat>Widescreen</PresentationFormat>
  <Paragraphs>243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2026-08-25T00:47:44Z</dcterms:created>
  <dcterms:modified xsi:type="dcterms:W3CDTF">2026-08-25T00:51:57Z</dcterms:modified>
</cp:coreProperties>
</file>