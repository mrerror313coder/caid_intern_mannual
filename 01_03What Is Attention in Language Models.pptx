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231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82296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118872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66960" y="1554480"/>
            <a:ext cx="137160" cy="1371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789920" y="640080"/>
            <a:ext cx="91440" cy="91440"/>
          </a:xfrm>
          <a:prstGeom prst="ellipse">
            <a:avLst/>
          </a:prstGeom>
          <a:solidFill>
            <a:srgbClr val="FBD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155680" y="13716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0" y="1920240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430000" y="1828800"/>
            <a:ext cx="118872" cy="118872"/>
          </a:xfrm>
          <a:prstGeom prst="ellipse">
            <a:avLst/>
          </a:prstGeom>
          <a:solidFill>
            <a:srgbClr val="FBD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509760" y="1280160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B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Attention in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Models?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B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model decides which meaning of a word to use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Embeddings Have an Achilles’ Heel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word, one vector — even when the word has more than one meaning.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148840"/>
            <a:ext cx="1463040" cy="1463040"/>
          </a:xfrm>
          <a:prstGeom prst="roundRect">
            <a:avLst>
              <a:gd name="adj" fmla="val 625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651760" y="22860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embedding assigns the SAME vector to “bank” no matter which sentence it appears in.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38404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bank of the river”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“Money in the bank”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8463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setting vs. financial setting — one vector can’t capture both.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5486400" cy="3749040"/>
          </a:xfrm>
          <a:prstGeom prst="roundRect">
            <a:avLst>
              <a:gd name="adj" fmla="val 2927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attention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269748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in “Attention Is All You Need” (co-authored by Cohere’s Aidan Gomez), self-attention lets a word borrow meaning from its neighbors — turning static word embeddings into contextualized ones.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46634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  →  bank₁ (near river)   +   bank₂ (near money)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Word, Two Contexts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resolve ambiguity by looking at neighboring words. A model needs to do the same — mathematically.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05156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233172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US" sz="2400" b="1" dirty="0">
                <a:solidFill>
                  <a:srgbClr val="FFFFFF"/>
                </a:solidFill>
                <a:highlight>
                  <a:srgbClr val="2F3C7E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bank</a:t>
            </a:r>
            <a:r>
              <a:rPr lang="en-US" sz="2400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 the </a:t>
            </a:r>
            <a:r>
              <a:rPr lang="en-US" sz="2400" b="1" dirty="0">
                <a:solidFill>
                  <a:srgbClr val="FFFFFF"/>
                </a:solidFill>
                <a:highlight>
                  <a:srgbClr val="2F3C7E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river</a:t>
            </a:r>
            <a:r>
              <a:rPr lang="en-US" sz="2400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315468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“river” signals a NATURE setting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05156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429768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highlight>
                  <a:srgbClr val="F96167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Money</a:t>
            </a:r>
            <a:r>
              <a:rPr lang="en-US" sz="2400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the </a:t>
            </a:r>
            <a:r>
              <a:rPr lang="en-US" sz="2400" b="1" dirty="0">
                <a:solidFill>
                  <a:srgbClr val="FFFFFF"/>
                </a:solidFill>
                <a:highlight>
                  <a:srgbClr val="F96167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bank</a:t>
            </a:r>
            <a:r>
              <a:rPr lang="en-US" sz="2400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51206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“money” signals a FINANCIAL setting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Cork Board Intuition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every word pinned to a board by meaning. Attention nudges “bank” toward whichever neighbor gives it context.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5820" y="2674620"/>
            <a:ext cx="868680" cy="868680"/>
          </a:xfrm>
          <a:prstGeom prst="ellipse">
            <a:avLst/>
          </a:prstGeom>
          <a:solidFill>
            <a:srgbClr val="2F3C7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96265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36804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setting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23260" y="2674620"/>
            <a:ext cx="868680" cy="868680"/>
          </a:xfrm>
          <a:prstGeom prst="ellipse">
            <a:avLst/>
          </a:prstGeom>
          <a:solidFill>
            <a:srgbClr val="2F3C7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34640" y="296265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36804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bank + 10% river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0" y="2606040"/>
            <a:ext cx="1005840" cy="1005840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66360" y="296265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3749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word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86700" y="2674620"/>
            <a:ext cx="868680" cy="86868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8080" y="296265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23760" y="36804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bank + 20% money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172700" y="2674620"/>
            <a:ext cx="868680" cy="86868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84080" y="296265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509760" y="36804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setting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719072" y="3108960"/>
            <a:ext cx="1499616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096512" y="3108960"/>
            <a:ext cx="1389888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92240" y="3108960"/>
            <a:ext cx="1389888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759952" y="3108960"/>
            <a:ext cx="1408176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5840" y="539496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 word “closer” to another simply means blending their vectors — a weighted average.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Math: A Weighted Average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Starting vectors — River: [0,5]  ·  Money: [8,0]  ·  Bank: [6,6]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2103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bank₁ = 0.9·bank + 0.1·river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25146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0.9·[6,6] + 0.1·[0,5]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[5.4,5.4] + [0,0.5]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[5.4, 5.9]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60120" y="3566160"/>
            <a:ext cx="4480560" cy="0"/>
          </a:xfrm>
          <a:prstGeom prst="line">
            <a:avLst/>
          </a:prstGeom>
          <a:noFill/>
          <a:ln w="12700">
            <a:solidFill>
              <a:srgbClr val="FBD9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3749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bank₂ = 0.8·bank + 0.2·money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41605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0.8·[6,6] + 0.2·[8,0]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[4.8,4.8] + [1.6,0]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[6.4, 4.8]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51663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bank₁ sits 10% of the way from bank to river; bank₂ sits 20% of the way from bank to money.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1828800"/>
            <a:ext cx="55778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09360" y="5257800"/>
            <a:ext cx="4846320" cy="0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2148840"/>
            <a:ext cx="0" cy="3108960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36208" y="3241548"/>
            <a:ext cx="146304" cy="146304"/>
          </a:xfrm>
          <a:prstGeom prst="ellipse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31775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082528" y="518464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247120" y="5120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70948" y="2852928"/>
            <a:ext cx="146304" cy="1463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35540" y="2788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07474" y="2891790"/>
            <a:ext cx="146304" cy="146304"/>
          </a:xfrm>
          <a:prstGeom prst="ellipse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72066" y="282778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113264" y="3319272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277856" y="32552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5257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Bank₁ and Bank₂ sit ON the line between “bank” and each context word.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Words Decide the Context?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scores tell the model which neighbors' matter — irrelevant words fade to zero automatically.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bank of the river”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24128" cy="47548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64208" y="2194560"/>
            <a:ext cx="1024128" cy="47548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64208" y="2194560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88336" y="2194560"/>
            <a:ext cx="1024128" cy="47548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88336" y="2194560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12464" y="2194560"/>
            <a:ext cx="1024128" cy="47548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12464" y="2194560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36592" y="2194560"/>
            <a:ext cx="1024128" cy="47548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36592" y="2194560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670048"/>
            <a:ext cx="1024128" cy="47548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67004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64208" y="2670048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64208" y="267004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688336" y="2670048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88336" y="267004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712464" y="2670048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12464" y="267004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36592" y="2670048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36592" y="267004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3145536"/>
            <a:ext cx="1024128" cy="47548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145536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664208" y="3145536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64208" y="3145536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688336" y="3145536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88336" y="3145536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712464" y="3145536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12464" y="3145536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36592" y="3145536"/>
            <a:ext cx="1024128" cy="475488"/>
          </a:xfrm>
          <a:prstGeom prst="rect">
            <a:avLst/>
          </a:prstGeom>
          <a:solidFill>
            <a:srgbClr val="FBD9D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36592" y="3145536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0.11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3621024"/>
            <a:ext cx="1024128" cy="47548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3621024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664208" y="3621024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664208" y="3621024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688336" y="3621024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688336" y="3621024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712464" y="3621024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712464" y="3621024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736592" y="3621024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36592" y="3621024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40080" y="4096512"/>
            <a:ext cx="1024128" cy="47548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0080" y="409651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664208" y="4096512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664208" y="409651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2688336" y="4096512"/>
            <a:ext cx="1024128" cy="475488"/>
          </a:xfrm>
          <a:prstGeom prst="rect">
            <a:avLst/>
          </a:prstGeom>
          <a:solidFill>
            <a:srgbClr val="FBD9D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688336" y="409651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0.11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3712464" y="4096512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712464" y="409651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4736592" y="4096512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36592" y="409651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630936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“Money in the bank”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309360" y="2194560"/>
            <a:ext cx="1024128" cy="47548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333488" y="2194560"/>
            <a:ext cx="1024128" cy="47548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333488" y="2194560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357616" y="2194560"/>
            <a:ext cx="1024128" cy="47548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357616" y="2194560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381744" y="2194560"/>
            <a:ext cx="1024128" cy="47548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381744" y="2194560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0405872" y="2194560"/>
            <a:ext cx="1024128" cy="47548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0405872" y="2194560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309360" y="2670048"/>
            <a:ext cx="1024128" cy="47548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309360" y="267004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333488" y="2670048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333488" y="267004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8357616" y="2670048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357616" y="267004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9381744" y="2670048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381744" y="267004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10405872" y="2670048"/>
            <a:ext cx="1024128" cy="475488"/>
          </a:xfrm>
          <a:prstGeom prst="rect">
            <a:avLst/>
          </a:prstGeom>
          <a:solidFill>
            <a:srgbClr val="FBD9D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0405872" y="267004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</a:t>
            </a:r>
            <a:endParaRPr lang="en-US" sz="1250" dirty="0"/>
          </a:p>
        </p:txBody>
      </p:sp>
      <p:sp>
        <p:nvSpPr>
          <p:cNvPr id="74" name="Shape 72"/>
          <p:cNvSpPr/>
          <p:nvPr/>
        </p:nvSpPr>
        <p:spPr>
          <a:xfrm>
            <a:off x="6309360" y="3145536"/>
            <a:ext cx="1024128" cy="47548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309360" y="3145536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7333488" y="3145536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333488" y="3145536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8357616" y="3145536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8357616" y="3145536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80" name="Shape 78"/>
          <p:cNvSpPr/>
          <p:nvPr/>
        </p:nvSpPr>
        <p:spPr>
          <a:xfrm>
            <a:off x="9381744" y="3145536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9381744" y="3145536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82" name="Shape 80"/>
          <p:cNvSpPr/>
          <p:nvPr/>
        </p:nvSpPr>
        <p:spPr>
          <a:xfrm>
            <a:off x="10405872" y="3145536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10405872" y="3145536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84" name="Shape 82"/>
          <p:cNvSpPr/>
          <p:nvPr/>
        </p:nvSpPr>
        <p:spPr>
          <a:xfrm>
            <a:off x="6309360" y="3621024"/>
            <a:ext cx="1024128" cy="47548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309360" y="3621024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7333488" y="3621024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7333488" y="3621024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88" name="Shape 86"/>
          <p:cNvSpPr/>
          <p:nvPr/>
        </p:nvSpPr>
        <p:spPr>
          <a:xfrm>
            <a:off x="8357616" y="3621024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8357616" y="3621024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90" name="Shape 88"/>
          <p:cNvSpPr/>
          <p:nvPr/>
        </p:nvSpPr>
        <p:spPr>
          <a:xfrm>
            <a:off x="9381744" y="3621024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9381744" y="3621024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92" name="Shape 90"/>
          <p:cNvSpPr/>
          <p:nvPr/>
        </p:nvSpPr>
        <p:spPr>
          <a:xfrm>
            <a:off x="10405872" y="3621024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10405872" y="3621024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94" name="Shape 92"/>
          <p:cNvSpPr/>
          <p:nvPr/>
        </p:nvSpPr>
        <p:spPr>
          <a:xfrm>
            <a:off x="6309360" y="4096512"/>
            <a:ext cx="1024128" cy="47548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6309360" y="409651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7333488" y="4096512"/>
            <a:ext cx="1024128" cy="475488"/>
          </a:xfrm>
          <a:prstGeom prst="rect">
            <a:avLst/>
          </a:prstGeom>
          <a:solidFill>
            <a:srgbClr val="FBD9D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7333488" y="409651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</a:t>
            </a:r>
            <a:endParaRPr lang="en-US" sz="1250" dirty="0"/>
          </a:p>
        </p:txBody>
      </p:sp>
      <p:sp>
        <p:nvSpPr>
          <p:cNvPr id="98" name="Shape 96"/>
          <p:cNvSpPr/>
          <p:nvPr/>
        </p:nvSpPr>
        <p:spPr>
          <a:xfrm>
            <a:off x="8357616" y="4096512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8357616" y="409651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100" name="Shape 98"/>
          <p:cNvSpPr/>
          <p:nvPr/>
        </p:nvSpPr>
        <p:spPr>
          <a:xfrm>
            <a:off x="9381744" y="4096512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9381744" y="409651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102" name="Shape 100"/>
          <p:cNvSpPr/>
          <p:nvPr/>
        </p:nvSpPr>
        <p:spPr>
          <a:xfrm>
            <a:off x="10405872" y="4096512"/>
            <a:ext cx="10241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10405872" y="409651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104" name="Text 102"/>
          <p:cNvSpPr/>
          <p:nvPr/>
        </p:nvSpPr>
        <p:spPr>
          <a:xfrm>
            <a:off x="640080" y="49377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Self-similarity is always 1. 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words (“the,” “of,” “in”) score 0. 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“bank” ↔ “river” = 0.11, but “bank” ↔ “money” = 0.25 — bank appears more often near money.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Normalize, Then Blend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each word’s similarity scores by their sum, then use those weights to blend every word with its context.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20574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</a:rPr>
              <a:t>the  </a:t>
            </a:r>
            <a:r>
              <a:rPr lang="en-US" sz="1600" b="1" dirty="0">
                <a:solidFill>
                  <a:srgbClr val="FFFFFF"/>
                </a:solidFill>
                <a:highlight>
                  <a:srgbClr val="2F3C7E"/>
                </a:highlight>
              </a:rPr>
              <a:t>bank  </a:t>
            </a:r>
            <a:r>
              <a:rPr lang="en-US" sz="1600" dirty="0">
                <a:solidFill>
                  <a:srgbClr val="2F3C7E"/>
                </a:solidFill>
              </a:rPr>
              <a:t>of  the  </a:t>
            </a:r>
            <a:r>
              <a:rPr lang="en-US" sz="1600" b="1" dirty="0">
                <a:solidFill>
                  <a:srgbClr val="FFFFFF"/>
                </a:solidFill>
                <a:highlight>
                  <a:srgbClr val="2F3C7E"/>
                </a:highlight>
              </a:rPr>
              <a:t>river  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26080" y="30632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6118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(context-weighted)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3931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→ the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43159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 → 0.9·bank + 0.1·river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470001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→ of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508406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river → river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82880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29400" y="20574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29400" y="2377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highlight>
                  <a:srgbClr val="F96167"/>
                </a:highlight>
              </a:rPr>
              <a:t>money  </a:t>
            </a:r>
            <a:r>
              <a:rPr lang="en-US" sz="1600" dirty="0">
                <a:solidFill>
                  <a:srgbClr val="2F3C7E"/>
                </a:solidFill>
              </a:rPr>
              <a:t>in  the  </a:t>
            </a:r>
            <a:r>
              <a:rPr lang="en-US" sz="1600" b="1" dirty="0">
                <a:solidFill>
                  <a:srgbClr val="FFFFFF"/>
                </a:solidFill>
                <a:highlight>
                  <a:srgbClr val="F96167"/>
                </a:highlight>
              </a:rPr>
              <a:t>bank  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95360" y="30632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9536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9400" y="36118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(context-weighted)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3931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money → 0.8·money + 0.2·bank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29400" y="43159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→ 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9400" y="470001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→ the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29400" y="508406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 → bank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Self-Attention: Multiple Heads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you’ve seen is one attention “head.” Real models run several in parallel, each learning a different way to relate words.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40280" y="237744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402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5204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— subject/verb agreement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21031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97880" y="23774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978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35204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nouns — like river / money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55480" y="23774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5554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5204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references across the sentence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5303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 combines these views into one rich, contextualized representation — the core building block behind modern LLMs.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63677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636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5453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embeddings fall short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0" y="154533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B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vector per word can’t capture words with multiple meanings, like “bank.”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50545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505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401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borrows context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0" y="241401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B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is blended with its neighbors to reflect how it’s actually used.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37413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374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2826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picks the neighbors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0" y="328269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B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similarity words pull harder; irrelevant words contribute almost nothing.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424281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242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1513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blend is a weighted average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0" y="415137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B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similarity scores become the weights in a simple vector sum.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511149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5111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50200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 scales it up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0" y="502005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B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attention “heads” run in parallel to capture different relationships.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“What Is Attention in Language Models?” — Luis Serrano, Cohere Blog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816</Words>
  <Application>Microsoft Office PowerPoint</Application>
  <PresentationFormat>Widescreen</PresentationFormat>
  <Paragraphs>161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2026-08-03T06:48:33Z</dcterms:created>
  <dcterms:modified xsi:type="dcterms:W3CDTF">2026-08-03T07:52:38Z</dcterms:modified>
</cp:coreProperties>
</file>