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A"/>
          </a:solidFill>
          <a:ln/>
        </p:spPr>
      </p:sp>
      <p:sp>
        <p:nvSpPr>
          <p:cNvPr id="3" name="Shape 1"/>
          <p:cNvSpPr/>
          <p:nvPr/>
        </p:nvSpPr>
        <p:spPr>
          <a:xfrm>
            <a:off x="9692640" y="-1463040"/>
            <a:ext cx="4754880" cy="4754880"/>
          </a:xfrm>
          <a:prstGeom prst="ellipse">
            <a:avLst/>
          </a:prstGeom>
          <a:solidFill>
            <a:srgbClr val="13294B"/>
          </a:solidFill>
          <a:ln/>
        </p:spPr>
      </p:sp>
      <p:sp>
        <p:nvSpPr>
          <p:cNvPr id="4" name="Shape 2"/>
          <p:cNvSpPr/>
          <p:nvPr/>
        </p:nvSpPr>
        <p:spPr>
          <a:xfrm>
            <a:off x="10607040" y="4206240"/>
            <a:ext cx="3108960" cy="3108960"/>
          </a:xfrm>
          <a:prstGeom prst="ellipse">
            <a:avLst/>
          </a:prstGeom>
          <a:solidFill>
            <a:srgbClr val="16345C"/>
          </a:solidFill>
          <a:ln/>
        </p:spPr>
      </p:sp>
      <p:sp>
        <p:nvSpPr>
          <p:cNvPr id="5" name="Text 3"/>
          <p:cNvSpPr/>
          <p:nvPr/>
        </p:nvSpPr>
        <p:spPr>
          <a:xfrm>
            <a:off x="822960" y="1417320"/>
            <a:ext cx="4572000" cy="320040"/>
          </a:xfrm>
          <a:prstGeom prst="rect">
            <a:avLst/>
          </a:prstGeom>
          <a:noFill/>
          <a:ln/>
        </p:spPr>
        <p:txBody>
          <a:bodyPr wrap="square" lIns="0" tIns="0" rIns="0" bIns="0" rtlCol="0" anchor="ctr"/>
          <a:lstStyle/>
          <a:p>
            <a:pPr indent="0" marL="0">
              <a:buNone/>
            </a:pPr>
            <a:r>
              <a:rPr lang="en-US" sz="1200" b="1" spc="200" kern="0" dirty="0">
                <a:solidFill>
                  <a:srgbClr val="CFE3EE"/>
                </a:solidFill>
                <a:latin typeface="Calibri" pitchFamily="34" charset="0"/>
                <a:ea typeface="Calibri" pitchFamily="34" charset="-122"/>
                <a:cs typeface="Calibri" pitchFamily="34" charset="-120"/>
              </a:rPr>
              <a:t>HOW MACHINE LEARNING READS AND WRITES LANGUAGE</a:t>
            </a:r>
            <a:endParaRPr lang="en-US" sz="1200" dirty="0"/>
          </a:p>
        </p:txBody>
      </p:sp>
      <p:sp>
        <p:nvSpPr>
          <p:cNvPr id="6" name="Text 4"/>
          <p:cNvSpPr/>
          <p:nvPr/>
        </p:nvSpPr>
        <p:spPr>
          <a:xfrm>
            <a:off x="777240" y="1783080"/>
            <a:ext cx="9692640" cy="15544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Inside the Transformer</a:t>
            </a:r>
            <a:endParaRPr lang="en-US" sz="5400" dirty="0"/>
          </a:p>
        </p:txBody>
      </p:sp>
      <p:sp>
        <p:nvSpPr>
          <p:cNvPr id="7" name="Text 5"/>
          <p:cNvSpPr/>
          <p:nvPr/>
        </p:nvSpPr>
        <p:spPr>
          <a:xfrm>
            <a:off x="822960" y="3246120"/>
            <a:ext cx="8778240" cy="731520"/>
          </a:xfrm>
          <a:prstGeom prst="rect">
            <a:avLst/>
          </a:prstGeom>
          <a:noFill/>
          <a:ln/>
        </p:spPr>
        <p:txBody>
          <a:bodyPr wrap="square" lIns="0" tIns="0" rIns="0" bIns="0" rtlCol="0" anchor="ctr"/>
          <a:lstStyle/>
          <a:p>
            <a:pPr indent="0" marL="0">
              <a:buNone/>
            </a:pPr>
            <a:r>
              <a:rPr lang="en-US" sz="1800" i="1" dirty="0">
                <a:solidFill>
                  <a:srgbClr val="CFE3EE"/>
                </a:solidFill>
                <a:latin typeface="Calibri" pitchFamily="34" charset="0"/>
                <a:ea typeface="Calibri" pitchFamily="34" charset="-122"/>
                <a:cs typeface="Calibri" pitchFamily="34" charset="-120"/>
              </a:rPr>
              <a:t>Self-attention, multi-head attention, and the architecture behind GPT, BERT, and Vision Transformers</a:t>
            </a:r>
            <a:endParaRPr lang="en-US" sz="1800" dirty="0"/>
          </a:p>
        </p:txBody>
      </p:sp>
      <p:sp>
        <p:nvSpPr>
          <p:cNvPr id="8" name="Shape 6"/>
          <p:cNvSpPr/>
          <p:nvPr/>
        </p:nvSpPr>
        <p:spPr>
          <a:xfrm>
            <a:off x="822960" y="4709160"/>
            <a:ext cx="3246120" cy="1188720"/>
          </a:xfrm>
          <a:prstGeom prst="roundRect">
            <a:avLst>
              <a:gd name="adj" fmla="val 6154"/>
            </a:avLst>
          </a:prstGeom>
          <a:solidFill>
            <a:srgbClr val="13294B"/>
          </a:solidFill>
          <a:ln w="12700">
            <a:solidFill>
              <a:srgbClr val="24446F"/>
            </a:solidFill>
            <a:prstDash val="solid"/>
          </a:ln>
        </p:spPr>
      </p:sp>
      <p:sp>
        <p:nvSpPr>
          <p:cNvPr id="9" name="Text 7"/>
          <p:cNvSpPr/>
          <p:nvPr/>
        </p:nvSpPr>
        <p:spPr>
          <a:xfrm>
            <a:off x="1051560" y="4828032"/>
            <a:ext cx="2834640" cy="548640"/>
          </a:xfrm>
          <a:prstGeom prst="rect">
            <a:avLst/>
          </a:prstGeom>
          <a:noFill/>
          <a:ln/>
        </p:spPr>
        <p:txBody>
          <a:bodyPr wrap="square" lIns="0" tIns="0" rIns="0" bIns="0" rtlCol="0" anchor="ctr"/>
          <a:lstStyle/>
          <a:p>
            <a:pPr indent="0" marL="0">
              <a:buNone/>
            </a:pPr>
            <a:r>
              <a:rPr lang="en-US" sz="3000" b="1" dirty="0">
                <a:solidFill>
                  <a:srgbClr val="E8983A"/>
                </a:solidFill>
                <a:latin typeface="Cambria" pitchFamily="34" charset="0"/>
                <a:ea typeface="Cambria" pitchFamily="34" charset="-122"/>
                <a:cs typeface="Cambria" pitchFamily="34" charset="-120"/>
              </a:rPr>
              <a:t>2017</a:t>
            </a:r>
            <a:endParaRPr lang="en-US" sz="3000" dirty="0"/>
          </a:p>
        </p:txBody>
      </p:sp>
      <p:sp>
        <p:nvSpPr>
          <p:cNvPr id="10" name="Text 8"/>
          <p:cNvSpPr/>
          <p:nvPr/>
        </p:nvSpPr>
        <p:spPr>
          <a:xfrm>
            <a:off x="1051560" y="5358384"/>
            <a:ext cx="2834640" cy="457200"/>
          </a:xfrm>
          <a:prstGeom prst="rect">
            <a:avLst/>
          </a:prstGeom>
          <a:noFill/>
          <a:ln/>
        </p:spPr>
        <p:txBody>
          <a:bodyPr wrap="square" lIns="0" tIns="0" rIns="0" bIns="0" rtlCol="0" anchor="ctr"/>
          <a:lstStyle/>
          <a:p>
            <a:pPr indent="0" marL="0">
              <a:buNone/>
            </a:pPr>
            <a:r>
              <a:rPr lang="en-US" sz="1150" dirty="0">
                <a:solidFill>
                  <a:srgbClr val="CFE3EE"/>
                </a:solidFill>
                <a:latin typeface="Calibri" pitchFamily="34" charset="0"/>
                <a:ea typeface="Calibri" pitchFamily="34" charset="-122"/>
                <a:cs typeface="Calibri" pitchFamily="34" charset="-120"/>
              </a:rPr>
              <a:t>“Attention Is All You Need”</a:t>
            </a:r>
            <a:endParaRPr lang="en-US" sz="1150" dirty="0"/>
          </a:p>
        </p:txBody>
      </p:sp>
      <p:sp>
        <p:nvSpPr>
          <p:cNvPr id="11" name="Shape 9"/>
          <p:cNvSpPr/>
          <p:nvPr/>
        </p:nvSpPr>
        <p:spPr>
          <a:xfrm>
            <a:off x="4251960" y="4709160"/>
            <a:ext cx="3246120" cy="1188720"/>
          </a:xfrm>
          <a:prstGeom prst="roundRect">
            <a:avLst>
              <a:gd name="adj" fmla="val 6154"/>
            </a:avLst>
          </a:prstGeom>
          <a:solidFill>
            <a:srgbClr val="13294B"/>
          </a:solidFill>
          <a:ln w="12700">
            <a:solidFill>
              <a:srgbClr val="24446F"/>
            </a:solidFill>
            <a:prstDash val="solid"/>
          </a:ln>
        </p:spPr>
      </p:sp>
      <p:sp>
        <p:nvSpPr>
          <p:cNvPr id="12" name="Text 10"/>
          <p:cNvSpPr/>
          <p:nvPr/>
        </p:nvSpPr>
        <p:spPr>
          <a:xfrm>
            <a:off x="4480560" y="4828032"/>
            <a:ext cx="2834640" cy="548640"/>
          </a:xfrm>
          <a:prstGeom prst="rect">
            <a:avLst/>
          </a:prstGeom>
          <a:noFill/>
          <a:ln/>
        </p:spPr>
        <p:txBody>
          <a:bodyPr wrap="square" lIns="0" tIns="0" rIns="0" bIns="0" rtlCol="0" anchor="ctr"/>
          <a:lstStyle/>
          <a:p>
            <a:pPr indent="0" marL="0">
              <a:buNone/>
            </a:pPr>
            <a:r>
              <a:rPr lang="en-US" sz="3000" b="1" dirty="0">
                <a:solidFill>
                  <a:srgbClr val="E8983A"/>
                </a:solidFill>
                <a:latin typeface="Cambria" pitchFamily="34" charset="0"/>
                <a:ea typeface="Cambria" pitchFamily="34" charset="-122"/>
                <a:cs typeface="Cambria" pitchFamily="34" charset="-120"/>
              </a:rPr>
              <a:t>8</a:t>
            </a:r>
            <a:endParaRPr lang="en-US" sz="3000" dirty="0"/>
          </a:p>
        </p:txBody>
      </p:sp>
      <p:sp>
        <p:nvSpPr>
          <p:cNvPr id="13" name="Text 11"/>
          <p:cNvSpPr/>
          <p:nvPr/>
        </p:nvSpPr>
        <p:spPr>
          <a:xfrm>
            <a:off x="4480560" y="5358384"/>
            <a:ext cx="2834640" cy="457200"/>
          </a:xfrm>
          <a:prstGeom prst="rect">
            <a:avLst/>
          </a:prstGeom>
          <a:noFill/>
          <a:ln/>
        </p:spPr>
        <p:txBody>
          <a:bodyPr wrap="square" lIns="0" tIns="0" rIns="0" bIns="0" rtlCol="0" anchor="ctr"/>
          <a:lstStyle/>
          <a:p>
            <a:pPr indent="0" marL="0">
              <a:buNone/>
            </a:pPr>
            <a:r>
              <a:rPr lang="en-US" sz="1150" dirty="0">
                <a:solidFill>
                  <a:srgbClr val="CFE3EE"/>
                </a:solidFill>
                <a:latin typeface="Calibri" pitchFamily="34" charset="0"/>
                <a:ea typeface="Calibri" pitchFamily="34" charset="-122"/>
                <a:cs typeface="Calibri" pitchFamily="34" charset="-120"/>
              </a:rPr>
              <a:t>attention heads in the original model</a:t>
            </a:r>
            <a:endParaRPr lang="en-US" sz="1150" dirty="0"/>
          </a:p>
        </p:txBody>
      </p:sp>
      <p:sp>
        <p:nvSpPr>
          <p:cNvPr id="14" name="Shape 12"/>
          <p:cNvSpPr/>
          <p:nvPr/>
        </p:nvSpPr>
        <p:spPr>
          <a:xfrm>
            <a:off x="7680960" y="4709160"/>
            <a:ext cx="3246120" cy="1188720"/>
          </a:xfrm>
          <a:prstGeom prst="roundRect">
            <a:avLst>
              <a:gd name="adj" fmla="val 6154"/>
            </a:avLst>
          </a:prstGeom>
          <a:solidFill>
            <a:srgbClr val="13294B"/>
          </a:solidFill>
          <a:ln w="12700">
            <a:solidFill>
              <a:srgbClr val="24446F"/>
            </a:solidFill>
            <a:prstDash val="solid"/>
          </a:ln>
        </p:spPr>
      </p:sp>
      <p:sp>
        <p:nvSpPr>
          <p:cNvPr id="15" name="Text 13"/>
          <p:cNvSpPr/>
          <p:nvPr/>
        </p:nvSpPr>
        <p:spPr>
          <a:xfrm>
            <a:off x="7909560" y="4828032"/>
            <a:ext cx="2834640" cy="548640"/>
          </a:xfrm>
          <a:prstGeom prst="rect">
            <a:avLst/>
          </a:prstGeom>
          <a:noFill/>
          <a:ln/>
        </p:spPr>
        <p:txBody>
          <a:bodyPr wrap="square" lIns="0" tIns="0" rIns="0" bIns="0" rtlCol="0" anchor="ctr"/>
          <a:lstStyle/>
          <a:p>
            <a:pPr indent="0" marL="0">
              <a:buNone/>
            </a:pPr>
            <a:r>
              <a:rPr lang="en-US" sz="3000" b="1" dirty="0">
                <a:solidFill>
                  <a:srgbClr val="E8983A"/>
                </a:solidFill>
                <a:latin typeface="Cambria" pitchFamily="34" charset="0"/>
                <a:ea typeface="Cambria" pitchFamily="34" charset="-122"/>
                <a:cs typeface="Cambria" pitchFamily="34" charset="-120"/>
              </a:rPr>
              <a:t>6 + 6</a:t>
            </a:r>
            <a:endParaRPr lang="en-US" sz="3000" dirty="0"/>
          </a:p>
        </p:txBody>
      </p:sp>
      <p:sp>
        <p:nvSpPr>
          <p:cNvPr id="16" name="Text 14"/>
          <p:cNvSpPr/>
          <p:nvPr/>
        </p:nvSpPr>
        <p:spPr>
          <a:xfrm>
            <a:off x="7909560" y="5358384"/>
            <a:ext cx="2834640" cy="457200"/>
          </a:xfrm>
          <a:prstGeom prst="rect">
            <a:avLst/>
          </a:prstGeom>
          <a:noFill/>
          <a:ln/>
        </p:spPr>
        <p:txBody>
          <a:bodyPr wrap="square" lIns="0" tIns="0" rIns="0" bIns="0" rtlCol="0" anchor="ctr"/>
          <a:lstStyle/>
          <a:p>
            <a:pPr indent="0" marL="0">
              <a:buNone/>
            </a:pPr>
            <a:r>
              <a:rPr lang="en-US" sz="1150" dirty="0">
                <a:solidFill>
                  <a:srgbClr val="CFE3EE"/>
                </a:solidFill>
                <a:latin typeface="Calibri" pitchFamily="34" charset="0"/>
                <a:ea typeface="Calibri" pitchFamily="34" charset="-122"/>
                <a:cs typeface="Calibri" pitchFamily="34" charset="-120"/>
              </a:rPr>
              <a:t>stacked encoder &amp; decoder layers</a:t>
            </a:r>
            <a:endParaRPr lang="en-US" sz="1150" dirty="0"/>
          </a:p>
        </p:txBody>
      </p:sp>
      <p:sp>
        <p:nvSpPr>
          <p:cNvPr id="17" name="Text 15"/>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6E8AA6"/>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640080" y="502920"/>
            <a:ext cx="45720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BIG PICTURE</a:t>
            </a:r>
            <a:endParaRPr lang="en-US" sz="1200" dirty="0"/>
          </a:p>
        </p:txBody>
      </p:sp>
      <p:sp>
        <p:nvSpPr>
          <p:cNvPr id="3" name="Text 1"/>
          <p:cNvSpPr/>
          <p:nvPr/>
        </p:nvSpPr>
        <p:spPr>
          <a:xfrm>
            <a:off x="640080" y="777240"/>
            <a:ext cx="7772400" cy="731520"/>
          </a:xfrm>
          <a:prstGeom prst="rect">
            <a:avLst/>
          </a:prstGeom>
          <a:noFill/>
          <a:ln/>
        </p:spPr>
        <p:txBody>
          <a:bodyPr wrap="square" lIns="0" tIns="0" rIns="0" bIns="0" rtlCol="0" anchor="ctr"/>
          <a:lstStyle/>
          <a:p>
            <a:pPr indent="0" marL="0">
              <a:buNone/>
            </a:pPr>
            <a:r>
              <a:rPr lang="en-US" sz="3400" b="1" dirty="0">
                <a:solidFill>
                  <a:srgbClr val="13253B"/>
                </a:solidFill>
                <a:latin typeface="Cambria" pitchFamily="34" charset="0"/>
                <a:ea typeface="Cambria" pitchFamily="34" charset="-122"/>
                <a:cs typeface="Cambria" pitchFamily="34" charset="-120"/>
              </a:rPr>
              <a:t>What is a Transformer?</a:t>
            </a:r>
            <a:endParaRPr lang="en-US" sz="3400" dirty="0"/>
          </a:p>
        </p:txBody>
      </p:sp>
      <p:sp>
        <p:nvSpPr>
          <p:cNvPr id="4" name="Text 2"/>
          <p:cNvSpPr/>
          <p:nvPr/>
        </p:nvSpPr>
        <p:spPr>
          <a:xfrm>
            <a:off x="640080" y="1417320"/>
            <a:ext cx="5486400" cy="1371600"/>
          </a:xfrm>
          <a:prstGeom prst="rect">
            <a:avLst/>
          </a:prstGeom>
          <a:noFill/>
          <a:ln/>
        </p:spPr>
        <p:txBody>
          <a:bodyPr wrap="square" lIns="0" tIns="0" rIns="0" bIns="0" rtlCol="0" anchor="ctr"/>
          <a:lstStyle/>
          <a:p>
            <a:pPr indent="0" marL="0">
              <a:lnSpc>
                <a:spcPct val="125000"/>
              </a:lnSpc>
              <a:buNone/>
            </a:pPr>
            <a:r>
              <a:rPr lang="en-US" sz="1450" dirty="0">
                <a:solidFill>
                  <a:srgbClr val="5B7185"/>
                </a:solidFill>
                <a:latin typeface="Calibri" pitchFamily="34" charset="0"/>
                <a:ea typeface="Calibri" pitchFamily="34" charset="-122"/>
                <a:cs typeface="Calibri" pitchFamily="34" charset="-120"/>
              </a:rPr>
              <a:t>A neural network that learns the context of sequential data and generates new data from it — built entirely on a mathematical technique called attention, with no recurrence at all.</a:t>
            </a:r>
            <a:endParaRPr lang="en-US" sz="1450" dirty="0"/>
          </a:p>
        </p:txBody>
      </p:sp>
      <p:sp>
        <p:nvSpPr>
          <p:cNvPr id="5" name="Shape 3"/>
          <p:cNvSpPr/>
          <p:nvPr/>
        </p:nvSpPr>
        <p:spPr>
          <a:xfrm>
            <a:off x="640080" y="2926080"/>
            <a:ext cx="128016" cy="128016"/>
          </a:xfrm>
          <a:prstGeom prst="ellipse">
            <a:avLst/>
          </a:prstGeom>
          <a:solidFill>
            <a:srgbClr val="E8983A"/>
          </a:solidFill>
          <a:ln/>
        </p:spPr>
      </p:sp>
      <p:sp>
        <p:nvSpPr>
          <p:cNvPr id="6" name="Text 4"/>
          <p:cNvSpPr/>
          <p:nvPr/>
        </p:nvSpPr>
        <p:spPr>
          <a:xfrm>
            <a:off x="914400" y="2770632"/>
            <a:ext cx="5120640" cy="320040"/>
          </a:xfrm>
          <a:prstGeom prst="rect">
            <a:avLst/>
          </a:prstGeom>
          <a:noFill/>
          <a:ln/>
        </p:spPr>
        <p:txBody>
          <a:bodyPr wrap="square" lIns="0" tIns="0" rIns="0" bIns="0" rtlCol="0" anchor="ctr"/>
          <a:lstStyle/>
          <a:p>
            <a:pPr indent="0" marL="0">
              <a:buNone/>
            </a:pPr>
            <a:r>
              <a:rPr lang="en-US" sz="1400" b="1" dirty="0">
                <a:solidFill>
                  <a:srgbClr val="13253B"/>
                </a:solidFill>
                <a:latin typeface="Calibri" pitchFamily="34" charset="0"/>
                <a:ea typeface="Calibri" pitchFamily="34" charset="-122"/>
                <a:cs typeface="Calibri" pitchFamily="34" charset="-120"/>
              </a:rPr>
              <a:t>Sequence to sequence</a:t>
            </a:r>
            <a:endParaRPr lang="en-US" sz="1400" dirty="0"/>
          </a:p>
        </p:txBody>
      </p:sp>
      <p:sp>
        <p:nvSpPr>
          <p:cNvPr id="7" name="Text 5"/>
          <p:cNvSpPr/>
          <p:nvPr/>
        </p:nvSpPr>
        <p:spPr>
          <a:xfrm>
            <a:off x="914400" y="3081528"/>
            <a:ext cx="5212080" cy="640080"/>
          </a:xfrm>
          <a:prstGeom prst="rect">
            <a:avLst/>
          </a:prstGeom>
          <a:noFill/>
          <a:ln/>
        </p:spPr>
        <p:txBody>
          <a:bodyPr wrap="square" lIns="0" tIns="0" rIns="0" bIns="0" rtlCol="0" anchor="ctr"/>
          <a:lstStyle/>
          <a:p>
            <a:pPr indent="0" marL="0">
              <a:lnSpc>
                <a:spcPct val="115000"/>
              </a:lnSpc>
              <a:buNone/>
            </a:pPr>
            <a:r>
              <a:rPr lang="en-US" sz="1150" dirty="0">
                <a:solidFill>
                  <a:srgbClr val="5B7185"/>
                </a:solidFill>
                <a:latin typeface="Calibri" pitchFamily="34" charset="0"/>
                <a:ea typeface="Calibri" pitchFamily="34" charset="-122"/>
                <a:cs typeface="Calibri" pitchFamily="34" charset="-120"/>
              </a:rPr>
              <a:t>Takes an input sequence (a sentence) and transforms it into an output sequence (a translation, an answer, a caption).</a:t>
            </a:r>
            <a:endParaRPr lang="en-US" sz="1150" dirty="0"/>
          </a:p>
        </p:txBody>
      </p:sp>
      <p:sp>
        <p:nvSpPr>
          <p:cNvPr id="8" name="Shape 6"/>
          <p:cNvSpPr/>
          <p:nvPr/>
        </p:nvSpPr>
        <p:spPr>
          <a:xfrm>
            <a:off x="640080" y="3977640"/>
            <a:ext cx="128016" cy="128016"/>
          </a:xfrm>
          <a:prstGeom prst="ellipse">
            <a:avLst/>
          </a:prstGeom>
          <a:solidFill>
            <a:srgbClr val="E8983A"/>
          </a:solidFill>
          <a:ln/>
        </p:spPr>
      </p:sp>
      <p:sp>
        <p:nvSpPr>
          <p:cNvPr id="9" name="Text 7"/>
          <p:cNvSpPr/>
          <p:nvPr/>
        </p:nvSpPr>
        <p:spPr>
          <a:xfrm>
            <a:off x="914400" y="3822192"/>
            <a:ext cx="5120640" cy="320040"/>
          </a:xfrm>
          <a:prstGeom prst="rect">
            <a:avLst/>
          </a:prstGeom>
          <a:noFill/>
          <a:ln/>
        </p:spPr>
        <p:txBody>
          <a:bodyPr wrap="square" lIns="0" tIns="0" rIns="0" bIns="0" rtlCol="0" anchor="ctr"/>
          <a:lstStyle/>
          <a:p>
            <a:pPr indent="0" marL="0">
              <a:buNone/>
            </a:pPr>
            <a:r>
              <a:rPr lang="en-US" sz="1400" b="1" dirty="0">
                <a:solidFill>
                  <a:srgbClr val="13253B"/>
                </a:solidFill>
                <a:latin typeface="Calibri" pitchFamily="34" charset="0"/>
                <a:ea typeface="Calibri" pitchFamily="34" charset="-122"/>
                <a:cs typeface="Calibri" pitchFamily="34" charset="-120"/>
              </a:rPr>
              <a:t>No recurrence</a:t>
            </a:r>
            <a:endParaRPr lang="en-US" sz="1400" dirty="0"/>
          </a:p>
        </p:txBody>
      </p:sp>
      <p:sp>
        <p:nvSpPr>
          <p:cNvPr id="10" name="Text 8"/>
          <p:cNvSpPr/>
          <p:nvPr/>
        </p:nvSpPr>
        <p:spPr>
          <a:xfrm>
            <a:off x="914400" y="4133088"/>
            <a:ext cx="5212080" cy="640080"/>
          </a:xfrm>
          <a:prstGeom prst="rect">
            <a:avLst/>
          </a:prstGeom>
          <a:noFill/>
          <a:ln/>
        </p:spPr>
        <p:txBody>
          <a:bodyPr wrap="square" lIns="0" tIns="0" rIns="0" bIns="0" rtlCol="0" anchor="ctr"/>
          <a:lstStyle/>
          <a:p>
            <a:pPr indent="0" marL="0">
              <a:lnSpc>
                <a:spcPct val="115000"/>
              </a:lnSpc>
              <a:buNone/>
            </a:pPr>
            <a:r>
              <a:rPr lang="en-US" sz="1150" dirty="0">
                <a:solidFill>
                  <a:srgbClr val="5B7185"/>
                </a:solidFill>
                <a:latin typeface="Calibri" pitchFamily="34" charset="0"/>
                <a:ea typeface="Calibri" pitchFamily="34" charset="-122"/>
                <a:cs typeface="Calibri" pitchFamily="34" charset="-120"/>
              </a:rPr>
              <a:t>Unlike RNNs and LSTMs, Transformers process an entire sequence in parallel instead of one token at a time.</a:t>
            </a:r>
            <a:endParaRPr lang="en-US" sz="1150" dirty="0"/>
          </a:p>
        </p:txBody>
      </p:sp>
      <p:sp>
        <p:nvSpPr>
          <p:cNvPr id="11" name="Shape 9"/>
          <p:cNvSpPr/>
          <p:nvPr/>
        </p:nvSpPr>
        <p:spPr>
          <a:xfrm>
            <a:off x="640080" y="5029200"/>
            <a:ext cx="128016" cy="128016"/>
          </a:xfrm>
          <a:prstGeom prst="ellipse">
            <a:avLst/>
          </a:prstGeom>
          <a:solidFill>
            <a:srgbClr val="E8983A"/>
          </a:solidFill>
          <a:ln/>
        </p:spPr>
      </p:sp>
      <p:sp>
        <p:nvSpPr>
          <p:cNvPr id="12" name="Text 10"/>
          <p:cNvSpPr/>
          <p:nvPr/>
        </p:nvSpPr>
        <p:spPr>
          <a:xfrm>
            <a:off x="914400" y="4873752"/>
            <a:ext cx="5120640" cy="320040"/>
          </a:xfrm>
          <a:prstGeom prst="rect">
            <a:avLst/>
          </a:prstGeom>
          <a:noFill/>
          <a:ln/>
        </p:spPr>
        <p:txBody>
          <a:bodyPr wrap="square" lIns="0" tIns="0" rIns="0" bIns="0" rtlCol="0" anchor="ctr"/>
          <a:lstStyle/>
          <a:p>
            <a:pPr indent="0" marL="0">
              <a:buNone/>
            </a:pPr>
            <a:r>
              <a:rPr lang="en-US" sz="1400" b="1" dirty="0">
                <a:solidFill>
                  <a:srgbClr val="13253B"/>
                </a:solidFill>
                <a:latin typeface="Calibri" pitchFamily="34" charset="0"/>
                <a:ea typeface="Calibri" pitchFamily="34" charset="-122"/>
                <a:cs typeface="Calibri" pitchFamily="34" charset="-120"/>
              </a:rPr>
              <a:t>Built on attention</a:t>
            </a:r>
            <a:endParaRPr lang="en-US" sz="1400" dirty="0"/>
          </a:p>
        </p:txBody>
      </p:sp>
      <p:sp>
        <p:nvSpPr>
          <p:cNvPr id="13" name="Text 11"/>
          <p:cNvSpPr/>
          <p:nvPr/>
        </p:nvSpPr>
        <p:spPr>
          <a:xfrm>
            <a:off x="914400" y="5184648"/>
            <a:ext cx="5212080" cy="640080"/>
          </a:xfrm>
          <a:prstGeom prst="rect">
            <a:avLst/>
          </a:prstGeom>
          <a:noFill/>
          <a:ln/>
        </p:spPr>
        <p:txBody>
          <a:bodyPr wrap="square" lIns="0" tIns="0" rIns="0" bIns="0" rtlCol="0" anchor="ctr"/>
          <a:lstStyle/>
          <a:p>
            <a:pPr indent="0" marL="0">
              <a:lnSpc>
                <a:spcPct val="115000"/>
              </a:lnSpc>
              <a:buNone/>
            </a:pPr>
            <a:r>
              <a:rPr lang="en-US" sz="1150" dirty="0">
                <a:solidFill>
                  <a:srgbClr val="5B7185"/>
                </a:solidFill>
                <a:latin typeface="Calibri" pitchFamily="34" charset="0"/>
                <a:ea typeface="Calibri" pitchFamily="34" charset="-122"/>
                <a:cs typeface="Calibri" pitchFamily="34" charset="-120"/>
              </a:rPr>
              <a:t>The model learns which words matter to each other, no matter how far apart they are in the sequence.</a:t>
            </a:r>
            <a:endParaRPr lang="en-US" sz="1150" dirty="0"/>
          </a:p>
        </p:txBody>
      </p:sp>
      <p:sp>
        <p:nvSpPr>
          <p:cNvPr id="14" name="Shape 12"/>
          <p:cNvSpPr/>
          <p:nvPr/>
        </p:nvSpPr>
        <p:spPr>
          <a:xfrm>
            <a:off x="6446520" y="1463040"/>
            <a:ext cx="5120640" cy="4480560"/>
          </a:xfrm>
          <a:prstGeom prst="roundRect">
            <a:avLst>
              <a:gd name="adj" fmla="val 1633"/>
            </a:avLst>
          </a:prstGeom>
          <a:solidFill>
            <a:srgbClr val="FFFFFF"/>
          </a:solidFill>
          <a:ln w="12700">
            <a:solidFill>
              <a:srgbClr val="DCE4EA"/>
            </a:solidFill>
            <a:prstDash val="solid"/>
          </a:ln>
          <a:effectLst>
            <a:outerShdw sx="100000" sy="100000" kx="0" ky="0" algn="bl" rotWithShape="0" blurRad="127000" dist="38100" dir="5400000">
              <a:srgbClr val="1B2A3D">
                <a:alpha val="18000"/>
              </a:srgbClr>
            </a:outerShdw>
          </a:effectLst>
        </p:spPr>
      </p:sp>
      <p:pic>
        <p:nvPicPr>
          <p:cNvPr id="15" name="Image 0" descr="/home/claude/work/build/crops/t3_blackbox.png">    </p:cNvPr>
          <p:cNvPicPr>
            <a:picLocks noChangeAspect="1"/>
          </p:cNvPicPr>
          <p:nvPr/>
        </p:nvPicPr>
        <p:blipFill>
          <a:blip r:embed="rId1"/>
          <a:stretch>
            <a:fillRect/>
          </a:stretch>
        </p:blipFill>
        <p:spPr>
          <a:xfrm>
            <a:off x="6812280" y="3047931"/>
            <a:ext cx="4389120" cy="1310778"/>
          </a:xfrm>
          <a:prstGeom prst="rect">
            <a:avLst/>
          </a:prstGeom>
        </p:spPr>
      </p:pic>
      <p:sp>
        <p:nvSpPr>
          <p:cNvPr id="16" name="Text 13"/>
          <p:cNvSpPr/>
          <p:nvPr/>
        </p:nvSpPr>
        <p:spPr>
          <a:xfrm>
            <a:off x="6812280" y="4663440"/>
            <a:ext cx="4389120" cy="914400"/>
          </a:xfrm>
          <a:prstGeom prst="rect">
            <a:avLst/>
          </a:prstGeom>
          <a:noFill/>
          <a:ln/>
        </p:spPr>
        <p:txBody>
          <a:bodyPr wrap="square" lIns="0" tIns="0" rIns="0" bIns="0" rtlCol="0" anchor="ctr"/>
          <a:lstStyle/>
          <a:p>
            <a:pPr indent="0" marL="0">
              <a:buNone/>
            </a:pPr>
            <a:r>
              <a:rPr lang="en-US" sz="1200" i="1" dirty="0">
                <a:solidFill>
                  <a:srgbClr val="5B7185"/>
                </a:solidFill>
                <a:latin typeface="Calibri" pitchFamily="34" charset="0"/>
                <a:ea typeface="Calibri" pitchFamily="34" charset="-122"/>
                <a:cs typeface="Calibri" pitchFamily="34" charset="-120"/>
              </a:rPr>
              <a:t>If we treat the Transformer as a black box, it takes a sentence in one language and outputs its translation — no recurrence required.</a:t>
            </a:r>
            <a:endParaRPr lang="en-US" sz="1200" dirty="0"/>
          </a:p>
        </p:txBody>
      </p:sp>
      <p:sp>
        <p:nvSpPr>
          <p:cNvPr id="17" name="Text 14"/>
          <p:cNvSpPr/>
          <p:nvPr/>
        </p:nvSpPr>
        <p:spPr>
          <a:xfrm>
            <a:off x="6812280" y="1783080"/>
            <a:ext cx="2743200" cy="274320"/>
          </a:xfrm>
          <a:prstGeom prst="rect">
            <a:avLst/>
          </a:prstGeom>
          <a:noFill/>
          <a:ln/>
        </p:spPr>
        <p:txBody>
          <a:bodyPr wrap="square" lIns="0" tIns="0" rIns="0" bIns="0" rtlCol="0" anchor="ctr"/>
          <a:lstStyle/>
          <a:p>
            <a:pPr indent="0" marL="0">
              <a:buNone/>
            </a:pPr>
            <a:r>
              <a:rPr lang="en-US" sz="1050" b="1" spc="150" kern="0" dirty="0">
                <a:solidFill>
                  <a:srgbClr val="1C7293"/>
                </a:solidFill>
                <a:latin typeface="Calibri" pitchFamily="34" charset="0"/>
                <a:ea typeface="Calibri" pitchFamily="34" charset="-122"/>
                <a:cs typeface="Calibri" pitchFamily="34" charset="-120"/>
              </a:rPr>
              <a:t>EXAMPLE</a:t>
            </a:r>
            <a:endParaRPr lang="en-US" sz="1050" dirty="0"/>
          </a:p>
        </p:txBody>
      </p:sp>
      <p:sp>
        <p:nvSpPr>
          <p:cNvPr id="18" name="Text 15"/>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640080" y="502920"/>
            <a:ext cx="45720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CORE STRUCTURE</a:t>
            </a:r>
            <a:endParaRPr lang="en-US" sz="1200" dirty="0"/>
          </a:p>
        </p:txBody>
      </p:sp>
      <p:sp>
        <p:nvSpPr>
          <p:cNvPr id="3" name="Text 1"/>
          <p:cNvSpPr/>
          <p:nvPr/>
        </p:nvSpPr>
        <p:spPr>
          <a:xfrm>
            <a:off x="640080" y="777240"/>
            <a:ext cx="9144000" cy="731520"/>
          </a:xfrm>
          <a:prstGeom prst="rect">
            <a:avLst/>
          </a:prstGeom>
          <a:noFill/>
          <a:ln/>
        </p:spPr>
        <p:txBody>
          <a:bodyPr wrap="square" lIns="0" tIns="0" rIns="0" bIns="0" rtlCol="0" anchor="ctr"/>
          <a:lstStyle/>
          <a:p>
            <a:pPr indent="0" marL="0">
              <a:buNone/>
            </a:pPr>
            <a:r>
              <a:rPr lang="en-US" sz="3200" b="1" dirty="0">
                <a:solidFill>
                  <a:srgbClr val="13253B"/>
                </a:solidFill>
                <a:latin typeface="Cambria" pitchFamily="34" charset="0"/>
                <a:ea typeface="Cambria" pitchFamily="34" charset="-122"/>
                <a:cs typeface="Cambria" pitchFamily="34" charset="-120"/>
              </a:rPr>
              <a:t>Two Stacks: Encoder and Decoder</a:t>
            </a:r>
            <a:endParaRPr lang="en-US" sz="3200" dirty="0"/>
          </a:p>
        </p:txBody>
      </p:sp>
      <p:sp>
        <p:nvSpPr>
          <p:cNvPr id="4" name="Shape 2"/>
          <p:cNvSpPr/>
          <p:nvPr/>
        </p:nvSpPr>
        <p:spPr>
          <a:xfrm>
            <a:off x="640080" y="1600200"/>
            <a:ext cx="5577840" cy="4389120"/>
          </a:xfrm>
          <a:prstGeom prst="roundRect">
            <a:avLst>
              <a:gd name="adj" fmla="val 1667"/>
            </a:avLst>
          </a:prstGeom>
          <a:solidFill>
            <a:srgbClr val="FFFFFF"/>
          </a:solidFill>
          <a:ln w="12700">
            <a:solidFill>
              <a:srgbClr val="DCE4EA"/>
            </a:solidFill>
            <a:prstDash val="solid"/>
          </a:ln>
          <a:effectLst>
            <a:outerShdw sx="100000" sy="100000" kx="0" ky="0" algn="bl" rotWithShape="0" blurRad="127000" dist="38100" dir="5400000">
              <a:srgbClr val="1B2A3D">
                <a:alpha val="18000"/>
              </a:srgbClr>
            </a:outerShdw>
          </a:effectLst>
        </p:spPr>
      </p:sp>
      <p:pic>
        <p:nvPicPr>
          <p:cNvPr id="5" name="Image 0" descr="/home/claude/work/build/crops/t3_encdec.png">    </p:cNvPr>
          <p:cNvPicPr>
            <a:picLocks noChangeAspect="1"/>
          </p:cNvPicPr>
          <p:nvPr/>
        </p:nvPicPr>
        <p:blipFill>
          <a:blip r:embed="rId1"/>
          <a:stretch>
            <a:fillRect/>
          </a:stretch>
        </p:blipFill>
        <p:spPr>
          <a:xfrm>
            <a:off x="1005840" y="2911811"/>
            <a:ext cx="4846320" cy="1765898"/>
          </a:xfrm>
          <a:prstGeom prst="rect">
            <a:avLst/>
          </a:prstGeom>
        </p:spPr>
      </p:pic>
      <p:sp>
        <p:nvSpPr>
          <p:cNvPr id="6" name="Shape 3"/>
          <p:cNvSpPr/>
          <p:nvPr/>
        </p:nvSpPr>
        <p:spPr>
          <a:xfrm>
            <a:off x="6537960" y="1691640"/>
            <a:ext cx="5029200" cy="1298448"/>
          </a:xfrm>
          <a:prstGeom prst="roundRect">
            <a:avLst>
              <a:gd name="adj" fmla="val 5634"/>
            </a:avLst>
          </a:prstGeom>
          <a:solidFill>
            <a:srgbClr val="EDF3F6"/>
          </a:solidFill>
          <a:ln/>
        </p:spPr>
      </p:sp>
      <p:sp>
        <p:nvSpPr>
          <p:cNvPr id="7" name="Text 4"/>
          <p:cNvSpPr/>
          <p:nvPr/>
        </p:nvSpPr>
        <p:spPr>
          <a:xfrm>
            <a:off x="6812280" y="1828800"/>
            <a:ext cx="4480560" cy="320040"/>
          </a:xfrm>
          <a:prstGeom prst="rect">
            <a:avLst/>
          </a:prstGeom>
          <a:noFill/>
          <a:ln/>
        </p:spPr>
        <p:txBody>
          <a:bodyPr wrap="square" lIns="0" tIns="0" rIns="0" bIns="0" rtlCol="0" anchor="ctr"/>
          <a:lstStyle/>
          <a:p>
            <a:pPr indent="0" marL="0">
              <a:buNone/>
            </a:pPr>
            <a:r>
              <a:rPr lang="en-US" sz="1500" b="1" dirty="0">
                <a:solidFill>
                  <a:srgbClr val="1C7293"/>
                </a:solidFill>
                <a:latin typeface="Calibri" pitchFamily="34" charset="0"/>
                <a:ea typeface="Calibri" pitchFamily="34" charset="-122"/>
                <a:cs typeface="Calibri" pitchFamily="34" charset="-120"/>
              </a:rPr>
              <a:t>Encoder</a:t>
            </a:r>
            <a:endParaRPr lang="en-US" sz="1500" dirty="0"/>
          </a:p>
        </p:txBody>
      </p:sp>
      <p:sp>
        <p:nvSpPr>
          <p:cNvPr id="8" name="Text 5"/>
          <p:cNvSpPr/>
          <p:nvPr/>
        </p:nvSpPr>
        <p:spPr>
          <a:xfrm>
            <a:off x="6812280" y="2176272"/>
            <a:ext cx="4480560" cy="749808"/>
          </a:xfrm>
          <a:prstGeom prst="rect">
            <a:avLst/>
          </a:prstGeom>
          <a:noFill/>
          <a:ln/>
        </p:spPr>
        <p:txBody>
          <a:bodyPr wrap="square" lIns="0" tIns="0" rIns="0" bIns="0" rtlCol="0" anchor="ctr"/>
          <a:lstStyle/>
          <a:p>
            <a:pPr indent="0" marL="0">
              <a:lnSpc>
                <a:spcPct val="115000"/>
              </a:lnSpc>
              <a:buNone/>
            </a:pPr>
            <a:r>
              <a:rPr lang="en-US" sz="1200" dirty="0">
                <a:solidFill>
                  <a:srgbClr val="5B7185"/>
                </a:solidFill>
                <a:latin typeface="Calibri" pitchFamily="34" charset="0"/>
                <a:ea typeface="Calibri" pitchFamily="34" charset="-122"/>
                <a:cs typeface="Calibri" pitchFamily="34" charset="-120"/>
              </a:rPr>
              <a:t>Takes in the input sentence and outputs a matrix representation — a rich, contextual encoding of every token.</a:t>
            </a:r>
            <a:endParaRPr lang="en-US" sz="1200" dirty="0"/>
          </a:p>
        </p:txBody>
      </p:sp>
      <p:sp>
        <p:nvSpPr>
          <p:cNvPr id="9" name="Shape 6"/>
          <p:cNvSpPr/>
          <p:nvPr/>
        </p:nvSpPr>
        <p:spPr>
          <a:xfrm>
            <a:off x="6537960" y="3172968"/>
            <a:ext cx="5029200" cy="1298448"/>
          </a:xfrm>
          <a:prstGeom prst="roundRect">
            <a:avLst>
              <a:gd name="adj" fmla="val 5634"/>
            </a:avLst>
          </a:prstGeom>
          <a:solidFill>
            <a:srgbClr val="EDF3F6"/>
          </a:solidFill>
          <a:ln/>
        </p:spPr>
      </p:sp>
      <p:sp>
        <p:nvSpPr>
          <p:cNvPr id="10" name="Text 7"/>
          <p:cNvSpPr/>
          <p:nvPr/>
        </p:nvSpPr>
        <p:spPr>
          <a:xfrm>
            <a:off x="6812280" y="3310128"/>
            <a:ext cx="4480560" cy="320040"/>
          </a:xfrm>
          <a:prstGeom prst="rect">
            <a:avLst/>
          </a:prstGeom>
          <a:noFill/>
          <a:ln/>
        </p:spPr>
        <p:txBody>
          <a:bodyPr wrap="square" lIns="0" tIns="0" rIns="0" bIns="0" rtlCol="0" anchor="ctr"/>
          <a:lstStyle/>
          <a:p>
            <a:pPr indent="0" marL="0">
              <a:buNone/>
            </a:pPr>
            <a:r>
              <a:rPr lang="en-US" sz="1500" b="1" dirty="0">
                <a:solidFill>
                  <a:srgbClr val="1C7293"/>
                </a:solidFill>
                <a:latin typeface="Calibri" pitchFamily="34" charset="0"/>
                <a:ea typeface="Calibri" pitchFamily="34" charset="-122"/>
                <a:cs typeface="Calibri" pitchFamily="34" charset="-120"/>
              </a:rPr>
              <a:t>Decoder</a:t>
            </a:r>
            <a:endParaRPr lang="en-US" sz="1500" dirty="0"/>
          </a:p>
        </p:txBody>
      </p:sp>
      <p:sp>
        <p:nvSpPr>
          <p:cNvPr id="11" name="Text 8"/>
          <p:cNvSpPr/>
          <p:nvPr/>
        </p:nvSpPr>
        <p:spPr>
          <a:xfrm>
            <a:off x="6812280" y="3657600"/>
            <a:ext cx="4480560" cy="749808"/>
          </a:xfrm>
          <a:prstGeom prst="rect">
            <a:avLst/>
          </a:prstGeom>
          <a:noFill/>
          <a:ln/>
        </p:spPr>
        <p:txBody>
          <a:bodyPr wrap="square" lIns="0" tIns="0" rIns="0" bIns="0" rtlCol="0" anchor="ctr"/>
          <a:lstStyle/>
          <a:p>
            <a:pPr indent="0" marL="0">
              <a:lnSpc>
                <a:spcPct val="115000"/>
              </a:lnSpc>
              <a:buNone/>
            </a:pPr>
            <a:r>
              <a:rPr lang="en-US" sz="1200" dirty="0">
                <a:solidFill>
                  <a:srgbClr val="5B7185"/>
                </a:solidFill>
                <a:latin typeface="Calibri" pitchFamily="34" charset="0"/>
                <a:ea typeface="Calibri" pitchFamily="34" charset="-122"/>
                <a:cs typeface="Calibri" pitchFamily="34" charset="-120"/>
              </a:rPr>
              <a:t>Takes that encoded representation and iteratively generates the output, one token at a time.</a:t>
            </a:r>
            <a:endParaRPr lang="en-US" sz="1200" dirty="0"/>
          </a:p>
        </p:txBody>
      </p:sp>
      <p:sp>
        <p:nvSpPr>
          <p:cNvPr id="12" name="Shape 9"/>
          <p:cNvSpPr/>
          <p:nvPr/>
        </p:nvSpPr>
        <p:spPr>
          <a:xfrm>
            <a:off x="6537960" y="4654296"/>
            <a:ext cx="5029200" cy="1298448"/>
          </a:xfrm>
          <a:prstGeom prst="roundRect">
            <a:avLst>
              <a:gd name="adj" fmla="val 5634"/>
            </a:avLst>
          </a:prstGeom>
          <a:solidFill>
            <a:srgbClr val="EDF3F6"/>
          </a:solidFill>
          <a:ln/>
        </p:spPr>
      </p:sp>
      <p:sp>
        <p:nvSpPr>
          <p:cNvPr id="13" name="Text 10"/>
          <p:cNvSpPr/>
          <p:nvPr/>
        </p:nvSpPr>
        <p:spPr>
          <a:xfrm>
            <a:off x="6812280" y="4791456"/>
            <a:ext cx="4480560" cy="320040"/>
          </a:xfrm>
          <a:prstGeom prst="rect">
            <a:avLst/>
          </a:prstGeom>
          <a:noFill/>
          <a:ln/>
        </p:spPr>
        <p:txBody>
          <a:bodyPr wrap="square" lIns="0" tIns="0" rIns="0" bIns="0" rtlCol="0" anchor="ctr"/>
          <a:lstStyle/>
          <a:p>
            <a:pPr indent="0" marL="0">
              <a:buNone/>
            </a:pPr>
            <a:r>
              <a:rPr lang="en-US" sz="1500" b="1" dirty="0">
                <a:solidFill>
                  <a:srgbClr val="1C7293"/>
                </a:solidFill>
                <a:latin typeface="Calibri" pitchFamily="34" charset="0"/>
                <a:ea typeface="Calibri" pitchFamily="34" charset="-122"/>
                <a:cs typeface="Calibri" pitchFamily="34" charset="-120"/>
              </a:rPr>
              <a:t>Stacked N times</a:t>
            </a:r>
            <a:endParaRPr lang="en-US" sz="1500" dirty="0"/>
          </a:p>
        </p:txBody>
      </p:sp>
      <p:sp>
        <p:nvSpPr>
          <p:cNvPr id="14" name="Text 11"/>
          <p:cNvSpPr/>
          <p:nvPr/>
        </p:nvSpPr>
        <p:spPr>
          <a:xfrm>
            <a:off x="6812280" y="5138928"/>
            <a:ext cx="4480560" cy="749808"/>
          </a:xfrm>
          <a:prstGeom prst="rect">
            <a:avLst/>
          </a:prstGeom>
          <a:noFill/>
          <a:ln/>
        </p:spPr>
        <p:txBody>
          <a:bodyPr wrap="square" lIns="0" tIns="0" rIns="0" bIns="0" rtlCol="0" anchor="ctr"/>
          <a:lstStyle/>
          <a:p>
            <a:pPr indent="0" marL="0">
              <a:lnSpc>
                <a:spcPct val="115000"/>
              </a:lnSpc>
              <a:buNone/>
            </a:pPr>
            <a:r>
              <a:rPr lang="en-US" sz="1200" dirty="0">
                <a:solidFill>
                  <a:srgbClr val="5B7185"/>
                </a:solidFill>
                <a:latin typeface="Calibri" pitchFamily="34" charset="0"/>
                <a:ea typeface="Calibri" pitchFamily="34" charset="-122"/>
                <a:cs typeface="Calibri" pitchFamily="34" charset="-120"/>
              </a:rPr>
              <a:t>Both encoder and decoder are stacks of identical layers — 6 of each in the original paper — that pass their output to the next layer.</a:t>
            </a:r>
            <a:endParaRPr lang="en-US" sz="1200" dirty="0"/>
          </a:p>
        </p:txBody>
      </p:sp>
      <p:sp>
        <p:nvSpPr>
          <p:cNvPr id="15" name="Text 12"/>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640080" y="502920"/>
            <a:ext cx="45720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STEP 1</a:t>
            </a:r>
            <a:endParaRPr lang="en-US" sz="1200" dirty="0"/>
          </a:p>
        </p:txBody>
      </p:sp>
      <p:sp>
        <p:nvSpPr>
          <p:cNvPr id="3" name="Text 1"/>
          <p:cNvSpPr/>
          <p:nvPr/>
        </p:nvSpPr>
        <p:spPr>
          <a:xfrm>
            <a:off x="640080" y="777240"/>
            <a:ext cx="7315200" cy="731520"/>
          </a:xfrm>
          <a:prstGeom prst="rect">
            <a:avLst/>
          </a:prstGeom>
          <a:noFill/>
          <a:ln/>
        </p:spPr>
        <p:txBody>
          <a:bodyPr wrap="square" lIns="0" tIns="0" rIns="0" bIns="0" rtlCol="0" anchor="ctr"/>
          <a:lstStyle/>
          <a:p>
            <a:pPr indent="0" marL="0">
              <a:buNone/>
            </a:pPr>
            <a:r>
              <a:rPr lang="en-US" sz="3200" b="1" dirty="0">
                <a:solidFill>
                  <a:srgbClr val="13253B"/>
                </a:solidFill>
                <a:latin typeface="Cambria" pitchFamily="34" charset="0"/>
                <a:ea typeface="Cambria" pitchFamily="34" charset="-122"/>
                <a:cs typeface="Cambria" pitchFamily="34" charset="-120"/>
              </a:rPr>
              <a:t>From Words to Vectors</a:t>
            </a:r>
            <a:endParaRPr lang="en-US" sz="3200" dirty="0"/>
          </a:p>
        </p:txBody>
      </p:sp>
      <p:sp>
        <p:nvSpPr>
          <p:cNvPr id="4" name="Text 2"/>
          <p:cNvSpPr/>
          <p:nvPr/>
        </p:nvSpPr>
        <p:spPr>
          <a:xfrm>
            <a:off x="640080" y="1371600"/>
            <a:ext cx="5669280" cy="548640"/>
          </a:xfrm>
          <a:prstGeom prst="rect">
            <a:avLst/>
          </a:prstGeom>
          <a:noFill/>
          <a:ln/>
        </p:spPr>
        <p:txBody>
          <a:bodyPr wrap="square" lIns="0" tIns="0" rIns="0" bIns="0" rtlCol="0" anchor="ctr"/>
          <a:lstStyle/>
          <a:p>
            <a:pPr indent="0" marL="0">
              <a:buNone/>
            </a:pPr>
            <a:r>
              <a:rPr lang="en-US" sz="1400" dirty="0">
                <a:solidFill>
                  <a:srgbClr val="5B7185"/>
                </a:solidFill>
                <a:latin typeface="Calibri" pitchFamily="34" charset="0"/>
                <a:ea typeface="Calibri" pitchFamily="34" charset="-122"/>
                <a:cs typeface="Calibri" pitchFamily="34" charset="-120"/>
              </a:rPr>
              <a:t>Before any attention happens, the model has to turn text into numbers.</a:t>
            </a:r>
            <a:endParaRPr lang="en-US" sz="1400" dirty="0"/>
          </a:p>
        </p:txBody>
      </p:sp>
      <p:sp>
        <p:nvSpPr>
          <p:cNvPr id="5" name="Shape 3"/>
          <p:cNvSpPr/>
          <p:nvPr/>
        </p:nvSpPr>
        <p:spPr>
          <a:xfrm>
            <a:off x="640080" y="2148840"/>
            <a:ext cx="457200" cy="457200"/>
          </a:xfrm>
          <a:prstGeom prst="ellipse">
            <a:avLst/>
          </a:prstGeom>
          <a:solidFill>
            <a:srgbClr val="0B1F3A"/>
          </a:solidFill>
          <a:ln/>
        </p:spPr>
      </p:sp>
      <p:sp>
        <p:nvSpPr>
          <p:cNvPr id="6" name="Text 4"/>
          <p:cNvSpPr/>
          <p:nvPr/>
        </p:nvSpPr>
        <p:spPr>
          <a:xfrm>
            <a:off x="640080" y="2148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280160" y="2103120"/>
            <a:ext cx="4846320" cy="320040"/>
          </a:xfrm>
          <a:prstGeom prst="rect">
            <a:avLst/>
          </a:prstGeom>
          <a:noFill/>
          <a:ln/>
        </p:spPr>
        <p:txBody>
          <a:bodyPr wrap="square" lIns="0" tIns="0" rIns="0" bIns="0" rtlCol="0" anchor="ctr"/>
          <a:lstStyle/>
          <a:p>
            <a:pPr indent="0" marL="0">
              <a:buNone/>
            </a:pPr>
            <a:r>
              <a:rPr lang="en-US" sz="1450" b="1" dirty="0">
                <a:solidFill>
                  <a:srgbClr val="13253B"/>
                </a:solidFill>
                <a:latin typeface="Calibri" pitchFamily="34" charset="0"/>
                <a:ea typeface="Calibri" pitchFamily="34" charset="-122"/>
                <a:cs typeface="Calibri" pitchFamily="34" charset="-120"/>
              </a:rPr>
              <a:t>Tokenize</a:t>
            </a:r>
            <a:endParaRPr lang="en-US" sz="1450" dirty="0"/>
          </a:p>
        </p:txBody>
      </p:sp>
      <p:sp>
        <p:nvSpPr>
          <p:cNvPr id="8" name="Text 6"/>
          <p:cNvSpPr/>
          <p:nvPr/>
        </p:nvSpPr>
        <p:spPr>
          <a:xfrm>
            <a:off x="1280160" y="2423160"/>
            <a:ext cx="4937760" cy="685800"/>
          </a:xfrm>
          <a:prstGeom prst="rect">
            <a:avLst/>
          </a:prstGeom>
          <a:noFill/>
          <a:ln/>
        </p:spPr>
        <p:txBody>
          <a:bodyPr wrap="square" lIns="0" tIns="0" rIns="0" bIns="0" rtlCol="0" anchor="ctr"/>
          <a:lstStyle/>
          <a:p>
            <a:pPr indent="0" marL="0">
              <a:lnSpc>
                <a:spcPct val="115000"/>
              </a:lnSpc>
              <a:buNone/>
            </a:pPr>
            <a:r>
              <a:rPr lang="en-US" sz="1150" dirty="0">
                <a:solidFill>
                  <a:srgbClr val="5B7185"/>
                </a:solidFill>
                <a:latin typeface="Calibri" pitchFamily="34" charset="0"/>
                <a:ea typeface="Calibri" pitchFamily="34" charset="-122"/>
                <a:cs typeface="Calibri" pitchFamily="34" charset="-120"/>
              </a:rPr>
              <a:t>The sentence is split into tokens — words or subwords — using a tokenizer such as byte-pair encoding.</a:t>
            </a:r>
            <a:endParaRPr lang="en-US" sz="1150" dirty="0"/>
          </a:p>
        </p:txBody>
      </p:sp>
      <p:sp>
        <p:nvSpPr>
          <p:cNvPr id="9" name="Shape 7"/>
          <p:cNvSpPr/>
          <p:nvPr/>
        </p:nvSpPr>
        <p:spPr>
          <a:xfrm>
            <a:off x="640080" y="3200400"/>
            <a:ext cx="457200" cy="457200"/>
          </a:xfrm>
          <a:prstGeom prst="ellipse">
            <a:avLst/>
          </a:prstGeom>
          <a:solidFill>
            <a:srgbClr val="0B1F3A"/>
          </a:solidFill>
          <a:ln/>
        </p:spPr>
      </p:sp>
      <p:sp>
        <p:nvSpPr>
          <p:cNvPr id="10" name="Text 8"/>
          <p:cNvSpPr/>
          <p:nvPr/>
        </p:nvSpPr>
        <p:spPr>
          <a:xfrm>
            <a:off x="640080" y="3200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1280160" y="3154680"/>
            <a:ext cx="4846320" cy="320040"/>
          </a:xfrm>
          <a:prstGeom prst="rect">
            <a:avLst/>
          </a:prstGeom>
          <a:noFill/>
          <a:ln/>
        </p:spPr>
        <p:txBody>
          <a:bodyPr wrap="square" lIns="0" tIns="0" rIns="0" bIns="0" rtlCol="0" anchor="ctr"/>
          <a:lstStyle/>
          <a:p>
            <a:pPr indent="0" marL="0">
              <a:buNone/>
            </a:pPr>
            <a:r>
              <a:rPr lang="en-US" sz="1450" b="1" dirty="0">
                <a:solidFill>
                  <a:srgbClr val="13253B"/>
                </a:solidFill>
                <a:latin typeface="Calibri" pitchFamily="34" charset="0"/>
                <a:ea typeface="Calibri" pitchFamily="34" charset="-122"/>
                <a:cs typeface="Calibri" pitchFamily="34" charset="-120"/>
              </a:rPr>
              <a:t>Look up token IDs</a:t>
            </a:r>
            <a:endParaRPr lang="en-US" sz="1450" dirty="0"/>
          </a:p>
        </p:txBody>
      </p:sp>
      <p:sp>
        <p:nvSpPr>
          <p:cNvPr id="12" name="Text 10"/>
          <p:cNvSpPr/>
          <p:nvPr/>
        </p:nvSpPr>
        <p:spPr>
          <a:xfrm>
            <a:off x="1280160" y="3474720"/>
            <a:ext cx="4937760" cy="685800"/>
          </a:xfrm>
          <a:prstGeom prst="rect">
            <a:avLst/>
          </a:prstGeom>
          <a:noFill/>
          <a:ln/>
        </p:spPr>
        <p:txBody>
          <a:bodyPr wrap="square" lIns="0" tIns="0" rIns="0" bIns="0" rtlCol="0" anchor="ctr"/>
          <a:lstStyle/>
          <a:p>
            <a:pPr indent="0" marL="0">
              <a:lnSpc>
                <a:spcPct val="115000"/>
              </a:lnSpc>
              <a:buNone/>
            </a:pPr>
            <a:r>
              <a:rPr lang="en-US" sz="1150" dirty="0">
                <a:solidFill>
                  <a:srgbClr val="5B7185"/>
                </a:solidFill>
                <a:latin typeface="Calibri" pitchFamily="34" charset="0"/>
                <a:ea typeface="Calibri" pitchFamily="34" charset="-122"/>
                <a:cs typeface="Calibri" pitchFamily="34" charset="-120"/>
              </a:rPr>
              <a:t>Each token maps to an integer ID from the model's vocabulary table.</a:t>
            </a:r>
            <a:endParaRPr lang="en-US" sz="1150" dirty="0"/>
          </a:p>
        </p:txBody>
      </p:sp>
      <p:sp>
        <p:nvSpPr>
          <p:cNvPr id="13" name="Shape 11"/>
          <p:cNvSpPr/>
          <p:nvPr/>
        </p:nvSpPr>
        <p:spPr>
          <a:xfrm>
            <a:off x="640080" y="4251960"/>
            <a:ext cx="457200" cy="457200"/>
          </a:xfrm>
          <a:prstGeom prst="ellipse">
            <a:avLst/>
          </a:prstGeom>
          <a:solidFill>
            <a:srgbClr val="0B1F3A"/>
          </a:solidFill>
          <a:ln/>
        </p:spPr>
      </p:sp>
      <p:sp>
        <p:nvSpPr>
          <p:cNvPr id="14" name="Text 12"/>
          <p:cNvSpPr/>
          <p:nvPr/>
        </p:nvSpPr>
        <p:spPr>
          <a:xfrm>
            <a:off x="640080" y="4251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3"/>
          <p:cNvSpPr/>
          <p:nvPr/>
        </p:nvSpPr>
        <p:spPr>
          <a:xfrm>
            <a:off x="1280160" y="4206240"/>
            <a:ext cx="4846320" cy="320040"/>
          </a:xfrm>
          <a:prstGeom prst="rect">
            <a:avLst/>
          </a:prstGeom>
          <a:noFill/>
          <a:ln/>
        </p:spPr>
        <p:txBody>
          <a:bodyPr wrap="square" lIns="0" tIns="0" rIns="0" bIns="0" rtlCol="0" anchor="ctr"/>
          <a:lstStyle/>
          <a:p>
            <a:pPr indent="0" marL="0">
              <a:buNone/>
            </a:pPr>
            <a:r>
              <a:rPr lang="en-US" sz="1450" b="1" dirty="0">
                <a:solidFill>
                  <a:srgbClr val="13253B"/>
                </a:solidFill>
                <a:latin typeface="Calibri" pitchFamily="34" charset="0"/>
                <a:ea typeface="Calibri" pitchFamily="34" charset="-122"/>
                <a:cs typeface="Calibri" pitchFamily="34" charset="-120"/>
              </a:rPr>
              <a:t>Embed</a:t>
            </a:r>
            <a:endParaRPr lang="en-US" sz="1450" dirty="0"/>
          </a:p>
        </p:txBody>
      </p:sp>
      <p:sp>
        <p:nvSpPr>
          <p:cNvPr id="16" name="Text 14"/>
          <p:cNvSpPr/>
          <p:nvPr/>
        </p:nvSpPr>
        <p:spPr>
          <a:xfrm>
            <a:off x="1280160" y="4526280"/>
            <a:ext cx="4937760" cy="685800"/>
          </a:xfrm>
          <a:prstGeom prst="rect">
            <a:avLst/>
          </a:prstGeom>
          <a:noFill/>
          <a:ln/>
        </p:spPr>
        <p:txBody>
          <a:bodyPr wrap="square" lIns="0" tIns="0" rIns="0" bIns="0" rtlCol="0" anchor="ctr"/>
          <a:lstStyle/>
          <a:p>
            <a:pPr indent="0" marL="0">
              <a:lnSpc>
                <a:spcPct val="115000"/>
              </a:lnSpc>
              <a:buNone/>
            </a:pPr>
            <a:r>
              <a:rPr lang="en-US" sz="1150" dirty="0">
                <a:solidFill>
                  <a:srgbClr val="5B7185"/>
                </a:solidFill>
                <a:latin typeface="Calibri" pitchFamily="34" charset="0"/>
                <a:ea typeface="Calibri" pitchFamily="34" charset="-122"/>
                <a:cs typeface="Calibri" pitchFamily="34" charset="-120"/>
              </a:rPr>
              <a:t>Every token ID is mapped to a learned vector — 512 dimensions in the original Transformer — capturing its meaning.</a:t>
            </a:r>
            <a:endParaRPr lang="en-US" sz="1150" dirty="0"/>
          </a:p>
        </p:txBody>
      </p:sp>
      <p:sp>
        <p:nvSpPr>
          <p:cNvPr id="17" name="Shape 15"/>
          <p:cNvSpPr/>
          <p:nvPr/>
        </p:nvSpPr>
        <p:spPr>
          <a:xfrm>
            <a:off x="6446520" y="1600200"/>
            <a:ext cx="5120640" cy="4389120"/>
          </a:xfrm>
          <a:prstGeom prst="roundRect">
            <a:avLst>
              <a:gd name="adj" fmla="val 1667"/>
            </a:avLst>
          </a:prstGeom>
          <a:solidFill>
            <a:srgbClr val="FFFFFF"/>
          </a:solidFill>
          <a:ln w="12700">
            <a:solidFill>
              <a:srgbClr val="DCE4EA"/>
            </a:solidFill>
            <a:prstDash val="solid"/>
          </a:ln>
          <a:effectLst>
            <a:outerShdw sx="100000" sy="100000" kx="0" ky="0" algn="bl" rotWithShape="0" blurRad="127000" dist="38100" dir="5400000">
              <a:srgbClr val="1B2A3D">
                <a:alpha val="18000"/>
              </a:srgbClr>
            </a:outerShdw>
          </a:effectLst>
        </p:spPr>
      </p:sp>
      <p:pic>
        <p:nvPicPr>
          <p:cNvPr id="18" name="Image 0" descr="/home/claude/work/build/crops/t3_input_embedding.png">    </p:cNvPr>
          <p:cNvPicPr>
            <a:picLocks noChangeAspect="1"/>
          </p:cNvPicPr>
          <p:nvPr/>
        </p:nvPicPr>
        <p:blipFill>
          <a:blip r:embed="rId1"/>
          <a:stretch>
            <a:fillRect/>
          </a:stretch>
        </p:blipFill>
        <p:spPr>
          <a:xfrm>
            <a:off x="6812280" y="2169042"/>
            <a:ext cx="4389120" cy="1422636"/>
          </a:xfrm>
          <a:prstGeom prst="rect">
            <a:avLst/>
          </a:prstGeom>
        </p:spPr>
      </p:pic>
      <p:sp>
        <p:nvSpPr>
          <p:cNvPr id="19" name="Shape 16"/>
          <p:cNvSpPr/>
          <p:nvPr/>
        </p:nvSpPr>
        <p:spPr>
          <a:xfrm>
            <a:off x="6812280" y="3931920"/>
            <a:ext cx="4389120" cy="0"/>
          </a:xfrm>
          <a:prstGeom prst="line">
            <a:avLst/>
          </a:prstGeom>
          <a:noFill/>
          <a:ln w="12700">
            <a:solidFill>
              <a:srgbClr val="DCE4EA"/>
            </a:solidFill>
            <a:prstDash val="solid"/>
          </a:ln>
        </p:spPr>
      </p:sp>
      <p:sp>
        <p:nvSpPr>
          <p:cNvPr id="20" name="Text 17"/>
          <p:cNvSpPr/>
          <p:nvPr/>
        </p:nvSpPr>
        <p:spPr>
          <a:xfrm>
            <a:off x="6812280" y="4160520"/>
            <a:ext cx="1645920" cy="640080"/>
          </a:xfrm>
          <a:prstGeom prst="rect">
            <a:avLst/>
          </a:prstGeom>
          <a:noFill/>
          <a:ln/>
        </p:spPr>
        <p:txBody>
          <a:bodyPr wrap="square" lIns="0" tIns="0" rIns="0" bIns="0" rtlCol="0" anchor="ctr"/>
          <a:lstStyle/>
          <a:p>
            <a:pPr indent="0" marL="0">
              <a:buNone/>
            </a:pPr>
            <a:r>
              <a:rPr lang="en-US" sz="3400" b="1" dirty="0">
                <a:solidFill>
                  <a:srgbClr val="E8983A"/>
                </a:solidFill>
                <a:latin typeface="Cambria" pitchFamily="34" charset="0"/>
                <a:ea typeface="Cambria" pitchFamily="34" charset="-122"/>
                <a:cs typeface="Cambria" pitchFamily="34" charset="-120"/>
              </a:rPr>
              <a:t>512</a:t>
            </a:r>
            <a:endParaRPr lang="en-US" sz="3400" dirty="0"/>
          </a:p>
        </p:txBody>
      </p:sp>
      <p:sp>
        <p:nvSpPr>
          <p:cNvPr id="21" name="Text 18"/>
          <p:cNvSpPr/>
          <p:nvPr/>
        </p:nvSpPr>
        <p:spPr>
          <a:xfrm>
            <a:off x="6812280" y="4846320"/>
            <a:ext cx="4389120" cy="1005840"/>
          </a:xfrm>
          <a:prstGeom prst="rect">
            <a:avLst/>
          </a:prstGeom>
          <a:noFill/>
          <a:ln/>
        </p:spPr>
        <p:txBody>
          <a:bodyPr wrap="square" lIns="0" tIns="0" rIns="0" bIns="0" rtlCol="0" anchor="ctr"/>
          <a:lstStyle/>
          <a:p>
            <a:pPr indent="0" marL="0">
              <a:lnSpc>
                <a:spcPct val="115000"/>
              </a:lnSpc>
              <a:buNone/>
            </a:pPr>
            <a:r>
              <a:rPr lang="en-US" sz="1200" dirty="0">
                <a:solidFill>
                  <a:srgbClr val="5B7185"/>
                </a:solidFill>
                <a:latin typeface="Calibri" pitchFamily="34" charset="0"/>
                <a:ea typeface="Calibri" pitchFamily="34" charset="-122"/>
                <a:cs typeface="Calibri" pitchFamily="34" charset="-120"/>
              </a:rPr>
              <a:t>dimensions per token vector in the original Transformer — the fixed size every encoder layer receives and passes on.</a:t>
            </a:r>
            <a:endParaRPr lang="en-US" sz="1200" dirty="0"/>
          </a:p>
        </p:txBody>
      </p:sp>
      <p:sp>
        <p:nvSpPr>
          <p:cNvPr id="22" name="Text 19"/>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640080" y="502920"/>
            <a:ext cx="45720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STEP 2</a:t>
            </a:r>
            <a:endParaRPr lang="en-US" sz="1200" dirty="0"/>
          </a:p>
        </p:txBody>
      </p:sp>
      <p:sp>
        <p:nvSpPr>
          <p:cNvPr id="3" name="Text 1"/>
          <p:cNvSpPr/>
          <p:nvPr/>
        </p:nvSpPr>
        <p:spPr>
          <a:xfrm>
            <a:off x="640080" y="777240"/>
            <a:ext cx="7315200" cy="731520"/>
          </a:xfrm>
          <a:prstGeom prst="rect">
            <a:avLst/>
          </a:prstGeom>
          <a:noFill/>
          <a:ln/>
        </p:spPr>
        <p:txBody>
          <a:bodyPr wrap="square" lIns="0" tIns="0" rIns="0" bIns="0" rtlCol="0" anchor="ctr"/>
          <a:lstStyle/>
          <a:p>
            <a:pPr indent="0" marL="0">
              <a:buNone/>
            </a:pPr>
            <a:r>
              <a:rPr lang="en-US" sz="3200" b="1" dirty="0">
                <a:solidFill>
                  <a:srgbClr val="13253B"/>
                </a:solidFill>
                <a:latin typeface="Cambria" pitchFamily="34" charset="0"/>
                <a:ea typeface="Cambria" pitchFamily="34" charset="-122"/>
                <a:cs typeface="Cambria" pitchFamily="34" charset="-120"/>
              </a:rPr>
              <a:t>Positional Encoding</a:t>
            </a:r>
            <a:endParaRPr lang="en-US" sz="3200" dirty="0"/>
          </a:p>
        </p:txBody>
      </p:sp>
      <p:sp>
        <p:nvSpPr>
          <p:cNvPr id="4" name="Text 2"/>
          <p:cNvSpPr/>
          <p:nvPr/>
        </p:nvSpPr>
        <p:spPr>
          <a:xfrm>
            <a:off x="640080" y="1417320"/>
            <a:ext cx="10881360" cy="822960"/>
          </a:xfrm>
          <a:prstGeom prst="rect">
            <a:avLst/>
          </a:prstGeom>
          <a:noFill/>
          <a:ln/>
        </p:spPr>
        <p:txBody>
          <a:bodyPr wrap="square" lIns="0" tIns="0" rIns="0" bIns="0" rtlCol="0" anchor="ctr"/>
          <a:lstStyle/>
          <a:p>
            <a:pPr indent="0" marL="0">
              <a:lnSpc>
                <a:spcPct val="120000"/>
              </a:lnSpc>
              <a:buNone/>
            </a:pPr>
            <a:r>
              <a:rPr lang="en-US" sz="1350" dirty="0">
                <a:solidFill>
                  <a:srgbClr val="5B7185"/>
                </a:solidFill>
                <a:latin typeface="Calibri" pitchFamily="34" charset="0"/>
                <a:ea typeface="Calibri" pitchFamily="34" charset="-122"/>
                <a:cs typeface="Calibri" pitchFamily="34" charset="-120"/>
              </a:rPr>
              <a:t>Self-attention is completely permutation-invariant — shuffle the tokens and you get the same output, just shuffled accordingly. Sine and cosine waves of different frequencies are added to each embedding so the model can tell tokens apart by position.</a:t>
            </a:r>
            <a:endParaRPr lang="en-US" sz="1350" dirty="0"/>
          </a:p>
        </p:txBody>
      </p:sp>
      <p:sp>
        <p:nvSpPr>
          <p:cNvPr id="5" name="Shape 3"/>
          <p:cNvSpPr/>
          <p:nvPr/>
        </p:nvSpPr>
        <p:spPr>
          <a:xfrm>
            <a:off x="640080" y="2423160"/>
            <a:ext cx="5349240" cy="3703320"/>
          </a:xfrm>
          <a:prstGeom prst="roundRect">
            <a:avLst>
              <a:gd name="adj" fmla="val 1975"/>
            </a:avLst>
          </a:prstGeom>
          <a:solidFill>
            <a:srgbClr val="FFFFFF"/>
          </a:solidFill>
          <a:ln w="12700">
            <a:solidFill>
              <a:srgbClr val="DCE4EA"/>
            </a:solidFill>
            <a:prstDash val="solid"/>
          </a:ln>
          <a:effectLst>
            <a:outerShdw sx="100000" sy="100000" kx="0" ky="0" algn="bl" rotWithShape="0" blurRad="127000" dist="38100" dir="5400000">
              <a:srgbClr val="1B2A3D">
                <a:alpha val="18000"/>
              </a:srgbClr>
            </a:outerShdw>
          </a:effectLst>
        </p:spPr>
      </p:sp>
      <p:pic>
        <p:nvPicPr>
          <p:cNvPr id="6" name="Image 0" descr="/home/claude/work/build/crops/t3_posenc.png">    </p:cNvPr>
          <p:cNvPicPr>
            <a:picLocks noChangeAspect="1"/>
          </p:cNvPicPr>
          <p:nvPr/>
        </p:nvPicPr>
        <p:blipFill>
          <a:blip r:embed="rId1"/>
          <a:stretch>
            <a:fillRect/>
          </a:stretch>
        </p:blipFill>
        <p:spPr>
          <a:xfrm>
            <a:off x="1329593" y="2743200"/>
            <a:ext cx="3970214" cy="2788920"/>
          </a:xfrm>
          <a:prstGeom prst="rect">
            <a:avLst/>
          </a:prstGeom>
        </p:spPr>
      </p:pic>
      <p:sp>
        <p:nvSpPr>
          <p:cNvPr id="7" name="Text 4"/>
          <p:cNvSpPr/>
          <p:nvPr/>
        </p:nvSpPr>
        <p:spPr>
          <a:xfrm>
            <a:off x="960120" y="5577840"/>
            <a:ext cx="4709160" cy="457200"/>
          </a:xfrm>
          <a:prstGeom prst="rect">
            <a:avLst/>
          </a:prstGeom>
          <a:noFill/>
          <a:ln/>
        </p:spPr>
        <p:txBody>
          <a:bodyPr wrap="square" lIns="0" tIns="0" rIns="0" bIns="0" rtlCol="0" anchor="ctr"/>
          <a:lstStyle/>
          <a:p>
            <a:pPr indent="0" marL="0">
              <a:buNone/>
            </a:pPr>
            <a:r>
              <a:rPr lang="en-US" sz="1150" i="1" dirty="0">
                <a:solidFill>
                  <a:srgbClr val="5B7185"/>
                </a:solidFill>
                <a:latin typeface="Calibri" pitchFamily="34" charset="0"/>
                <a:ea typeface="Calibri" pitchFamily="34" charset="-122"/>
                <a:cs typeface="Calibri" pitchFamily="34" charset="-120"/>
              </a:rPr>
              <a:t>Word vector + positional encoding = an embedding with positional context</a:t>
            </a:r>
            <a:endParaRPr lang="en-US" sz="1150" dirty="0"/>
          </a:p>
        </p:txBody>
      </p:sp>
      <p:sp>
        <p:nvSpPr>
          <p:cNvPr id="8" name="Shape 5"/>
          <p:cNvSpPr/>
          <p:nvPr/>
        </p:nvSpPr>
        <p:spPr>
          <a:xfrm>
            <a:off x="6199632" y="2423160"/>
            <a:ext cx="5349240" cy="3703320"/>
          </a:xfrm>
          <a:prstGeom prst="roundRect">
            <a:avLst>
              <a:gd name="adj" fmla="val 1975"/>
            </a:avLst>
          </a:prstGeom>
          <a:solidFill>
            <a:srgbClr val="FFFFFF"/>
          </a:solidFill>
          <a:ln w="12700">
            <a:solidFill>
              <a:srgbClr val="DCE4EA"/>
            </a:solidFill>
            <a:prstDash val="solid"/>
          </a:ln>
          <a:effectLst>
            <a:outerShdw sx="100000" sy="100000" kx="0" ky="0" algn="bl" rotWithShape="0" blurRad="127000" dist="38100" dir="5400000">
              <a:srgbClr val="1B2A3D">
                <a:alpha val="18000"/>
              </a:srgbClr>
            </a:outerShdw>
          </a:effectLst>
        </p:spPr>
      </p:sp>
      <p:pic>
        <p:nvPicPr>
          <p:cNvPr id="9" name="Image 1" descr="/home/claude/work/build/crops/t2_posenc_sine.png">    </p:cNvPr>
          <p:cNvPicPr>
            <a:picLocks noChangeAspect="1"/>
          </p:cNvPicPr>
          <p:nvPr/>
        </p:nvPicPr>
        <p:blipFill>
          <a:blip r:embed="rId2"/>
          <a:stretch>
            <a:fillRect/>
          </a:stretch>
        </p:blipFill>
        <p:spPr>
          <a:xfrm>
            <a:off x="6519672" y="2773748"/>
            <a:ext cx="4709160" cy="2727825"/>
          </a:xfrm>
          <a:prstGeom prst="rect">
            <a:avLst/>
          </a:prstGeom>
        </p:spPr>
      </p:pic>
      <p:sp>
        <p:nvSpPr>
          <p:cNvPr id="10" name="Text 6"/>
          <p:cNvSpPr/>
          <p:nvPr/>
        </p:nvSpPr>
        <p:spPr>
          <a:xfrm>
            <a:off x="6519672" y="5577840"/>
            <a:ext cx="4709160" cy="457200"/>
          </a:xfrm>
          <a:prstGeom prst="rect">
            <a:avLst/>
          </a:prstGeom>
          <a:noFill/>
          <a:ln/>
        </p:spPr>
        <p:txBody>
          <a:bodyPr wrap="square" lIns="0" tIns="0" rIns="0" bIns="0" rtlCol="0" anchor="ctr"/>
          <a:lstStyle/>
          <a:p>
            <a:pPr indent="0" marL="0">
              <a:buNone/>
            </a:pPr>
            <a:r>
              <a:rPr lang="en-US" sz="1150" i="1" dirty="0">
                <a:solidFill>
                  <a:srgbClr val="5B7185"/>
                </a:solidFill>
                <a:latin typeface="Calibri" pitchFamily="34" charset="0"/>
                <a:ea typeface="Calibri" pitchFamily="34" charset="-122"/>
                <a:cs typeface="Calibri" pitchFamily="34" charset="-120"/>
              </a:rPr>
              <a:t>Each dimension oscillates at a different frequency, so every position gets a unique signature</a:t>
            </a:r>
            <a:endParaRPr lang="en-US" sz="1150" dirty="0"/>
          </a:p>
        </p:txBody>
      </p:sp>
      <p:sp>
        <p:nvSpPr>
          <p:cNvPr id="11" name="Text 7"/>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640080" y="502920"/>
            <a:ext cx="4572000" cy="320040"/>
          </a:xfrm>
          <a:prstGeom prst="rect">
            <a:avLst/>
          </a:prstGeom>
          <a:noFill/>
          <a:ln/>
        </p:spPr>
        <p:txBody>
          <a:bodyPr wrap="square" lIns="0" tIns="0" rIns="0" bIns="0" rtlCol="0" anchor="ctr"/>
          <a:lstStyle/>
          <a:p>
            <a:pPr indent="0" marL="0">
              <a:buNone/>
            </a:pPr>
            <a:r>
              <a:rPr lang="en-US" sz="1200" b="1" spc="200" kern="0" dirty="0">
                <a:solidFill>
                  <a:srgbClr val="CFE3EE"/>
                </a:solidFill>
                <a:latin typeface="Calibri" pitchFamily="34" charset="0"/>
                <a:ea typeface="Calibri" pitchFamily="34" charset="-122"/>
                <a:cs typeface="Calibri" pitchFamily="34" charset="-120"/>
              </a:rPr>
              <a:t>THE CORE IDEA</a:t>
            </a:r>
            <a:endParaRPr lang="en-US" sz="1200" dirty="0"/>
          </a:p>
        </p:txBody>
      </p:sp>
      <p:sp>
        <p:nvSpPr>
          <p:cNvPr id="3" name="Text 1"/>
          <p:cNvSpPr/>
          <p:nvPr/>
        </p:nvSpPr>
        <p:spPr>
          <a:xfrm>
            <a:off x="640080" y="777240"/>
            <a:ext cx="82296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Does “Attention” Mean?</a:t>
            </a:r>
            <a:endParaRPr lang="en-US" sz="3200" dirty="0"/>
          </a:p>
        </p:txBody>
      </p:sp>
      <p:sp>
        <p:nvSpPr>
          <p:cNvPr id="4" name="Shape 2"/>
          <p:cNvSpPr/>
          <p:nvPr/>
        </p:nvSpPr>
        <p:spPr>
          <a:xfrm>
            <a:off x="640080" y="1691640"/>
            <a:ext cx="10881360" cy="1874520"/>
          </a:xfrm>
          <a:prstGeom prst="roundRect">
            <a:avLst>
              <a:gd name="adj" fmla="val 4878"/>
            </a:avLst>
          </a:prstGeom>
          <a:solidFill>
            <a:srgbClr val="FFFFFF"/>
          </a:solidFill>
          <a:ln/>
        </p:spPr>
      </p:sp>
      <p:pic>
        <p:nvPicPr>
          <p:cNvPr id="5" name="Image 0" descr="/home/claude/work/build/crops/t1_catmat_arrows.png">    </p:cNvPr>
          <p:cNvPicPr>
            <a:picLocks noChangeAspect="1"/>
          </p:cNvPicPr>
          <p:nvPr/>
        </p:nvPicPr>
        <p:blipFill>
          <a:blip r:embed="rId1"/>
          <a:stretch>
            <a:fillRect/>
          </a:stretch>
        </p:blipFill>
        <p:spPr>
          <a:xfrm>
            <a:off x="3554730" y="1874520"/>
            <a:ext cx="5052060" cy="1508760"/>
          </a:xfrm>
          <a:prstGeom prst="rect">
            <a:avLst/>
          </a:prstGeom>
        </p:spPr>
      </p:pic>
      <p:sp>
        <p:nvSpPr>
          <p:cNvPr id="6" name="Text 3"/>
          <p:cNvSpPr/>
          <p:nvPr/>
        </p:nvSpPr>
        <p:spPr>
          <a:xfrm>
            <a:off x="640080" y="3794760"/>
            <a:ext cx="7315200" cy="1371600"/>
          </a:xfrm>
          <a:prstGeom prst="rect">
            <a:avLst/>
          </a:prstGeom>
          <a:noFill/>
          <a:ln/>
        </p:spPr>
        <p:txBody>
          <a:bodyPr wrap="square" lIns="0" tIns="0" rIns="0" bIns="0" rtlCol="0" anchor="ctr"/>
          <a:lstStyle/>
          <a:p>
            <a:pPr indent="0" marL="0">
              <a:lnSpc>
                <a:spcPct val="130000"/>
              </a:lnSpc>
              <a:buNone/>
            </a:pPr>
            <a:r>
              <a:rPr lang="en-US" sz="1450" dirty="0">
                <a:solidFill>
                  <a:srgbClr val="CFE3EE"/>
                </a:solidFill>
                <a:latin typeface="Calibri" pitchFamily="34" charset="0"/>
                <a:ea typeface="Calibri" pitchFamily="34" charset="-122"/>
                <a:cs typeface="Calibri" pitchFamily="34" charset="-120"/>
              </a:rPr>
              <a:t>Attention lets every word look at every other word </a:t>
            </a:r>
            <a:pPr indent="0" marL="0">
              <a:lnSpc>
                <a:spcPct val="130000"/>
              </a:lnSpc>
              <a:buNone/>
            </a:pPr>
            <a:r>
              <a:rPr lang="en-US" sz="1450" dirty="0">
                <a:solidFill>
                  <a:srgbClr val="CFE3EE"/>
                </a:solidFill>
                <a:latin typeface="Calibri" pitchFamily="34" charset="0"/>
                <a:ea typeface="Calibri" pitchFamily="34" charset="-122"/>
                <a:cs typeface="Calibri" pitchFamily="34" charset="-120"/>
              </a:rPr>
              <a:t>and decide how much to focus on each one. In </a:t>
            </a:r>
            <a:pPr indent="0" marL="0">
              <a:lnSpc>
                <a:spcPct val="130000"/>
              </a:lnSpc>
              <a:buNone/>
            </a:pPr>
            <a:r>
              <a:rPr lang="en-US" sz="1450" i="1" dirty="0">
                <a:solidFill>
                  <a:srgbClr val="E8983A"/>
                </a:solidFill>
                <a:latin typeface="Calibri" pitchFamily="34" charset="0"/>
                <a:ea typeface="Calibri" pitchFamily="34" charset="-122"/>
                <a:cs typeface="Calibri" pitchFamily="34" charset="-120"/>
              </a:rPr>
              <a:t>“The animal didn’t cross the street because it was too tired,”</a:t>
            </a:r>
            <a:pPr indent="0" marL="0">
              <a:lnSpc>
                <a:spcPct val="130000"/>
              </a:lnSpc>
              <a:buNone/>
            </a:pPr>
            <a:r>
              <a:rPr lang="en-US" sz="1450" dirty="0">
                <a:solidFill>
                  <a:srgbClr val="CFE3EE"/>
                </a:solidFill>
                <a:latin typeface="Calibri" pitchFamily="34" charset="0"/>
                <a:ea typeface="Calibri" pitchFamily="34" charset="-122"/>
                <a:cs typeface="Calibri" pitchFamily="34" charset="-120"/>
              </a:rPr>
              <a:t> attention is what lets the model connect “it” back to “animal” rather than “street.”</a:t>
            </a:r>
            <a:endParaRPr lang="en-US" sz="1450" dirty="0"/>
          </a:p>
        </p:txBody>
      </p:sp>
      <p:sp>
        <p:nvSpPr>
          <p:cNvPr id="7" name="Shape 4"/>
          <p:cNvSpPr/>
          <p:nvPr/>
        </p:nvSpPr>
        <p:spPr>
          <a:xfrm>
            <a:off x="8229600" y="3794760"/>
            <a:ext cx="3291840" cy="777240"/>
          </a:xfrm>
          <a:prstGeom prst="roundRect">
            <a:avLst>
              <a:gd name="adj" fmla="val 9412"/>
            </a:avLst>
          </a:prstGeom>
          <a:solidFill>
            <a:srgbClr val="13294B"/>
          </a:solidFill>
          <a:ln w="12700">
            <a:solidFill>
              <a:srgbClr val="24446F"/>
            </a:solidFill>
            <a:prstDash val="solid"/>
          </a:ln>
        </p:spPr>
      </p:sp>
      <p:sp>
        <p:nvSpPr>
          <p:cNvPr id="8" name="Text 5"/>
          <p:cNvSpPr/>
          <p:nvPr/>
        </p:nvSpPr>
        <p:spPr>
          <a:xfrm>
            <a:off x="8458200" y="3867912"/>
            <a:ext cx="2926080" cy="292608"/>
          </a:xfrm>
          <a:prstGeom prst="rect">
            <a:avLst/>
          </a:prstGeom>
          <a:noFill/>
          <a:ln/>
        </p:spPr>
        <p:txBody>
          <a:bodyPr wrap="square" lIns="0" tIns="0" rIns="0" bIns="0" rtlCol="0" anchor="ctr"/>
          <a:lstStyle/>
          <a:p>
            <a:pPr indent="0" marL="0">
              <a:buNone/>
            </a:pPr>
            <a:r>
              <a:rPr lang="en-US" sz="1300" b="1" dirty="0">
                <a:solidFill>
                  <a:srgbClr val="E8983A"/>
                </a:solidFill>
                <a:latin typeface="Calibri" pitchFamily="34" charset="0"/>
                <a:ea typeface="Calibri" pitchFamily="34" charset="-122"/>
                <a:cs typeface="Calibri" pitchFamily="34" charset="-120"/>
              </a:rPr>
              <a:t>Query (Q)</a:t>
            </a:r>
            <a:endParaRPr lang="en-US" sz="1300" dirty="0"/>
          </a:p>
        </p:txBody>
      </p:sp>
      <p:sp>
        <p:nvSpPr>
          <p:cNvPr id="9" name="Text 6"/>
          <p:cNvSpPr/>
          <p:nvPr/>
        </p:nvSpPr>
        <p:spPr>
          <a:xfrm>
            <a:off x="8458200" y="4178808"/>
            <a:ext cx="2926080" cy="320040"/>
          </a:xfrm>
          <a:prstGeom prst="rect">
            <a:avLst/>
          </a:prstGeom>
          <a:noFill/>
          <a:ln/>
        </p:spPr>
        <p:txBody>
          <a:bodyPr wrap="square" lIns="0" tIns="0" rIns="0" bIns="0" rtlCol="0" anchor="ctr"/>
          <a:lstStyle/>
          <a:p>
            <a:pPr indent="0" marL="0">
              <a:buNone/>
            </a:pPr>
            <a:r>
              <a:rPr lang="en-US" sz="1050" dirty="0">
                <a:solidFill>
                  <a:srgbClr val="CFE3EE"/>
                </a:solidFill>
                <a:latin typeface="Calibri" pitchFamily="34" charset="0"/>
                <a:ea typeface="Calibri" pitchFamily="34" charset="-122"/>
                <a:cs typeface="Calibri" pitchFamily="34" charset="-120"/>
              </a:rPr>
              <a:t>what a word is looking for</a:t>
            </a:r>
            <a:endParaRPr lang="en-US" sz="1050" dirty="0"/>
          </a:p>
        </p:txBody>
      </p:sp>
      <p:sp>
        <p:nvSpPr>
          <p:cNvPr id="10" name="Shape 7"/>
          <p:cNvSpPr/>
          <p:nvPr/>
        </p:nvSpPr>
        <p:spPr>
          <a:xfrm>
            <a:off x="8229600" y="4709160"/>
            <a:ext cx="3291840" cy="777240"/>
          </a:xfrm>
          <a:prstGeom prst="roundRect">
            <a:avLst>
              <a:gd name="adj" fmla="val 9412"/>
            </a:avLst>
          </a:prstGeom>
          <a:solidFill>
            <a:srgbClr val="13294B"/>
          </a:solidFill>
          <a:ln w="12700">
            <a:solidFill>
              <a:srgbClr val="24446F"/>
            </a:solidFill>
            <a:prstDash val="solid"/>
          </a:ln>
        </p:spPr>
      </p:sp>
      <p:sp>
        <p:nvSpPr>
          <p:cNvPr id="11" name="Text 8"/>
          <p:cNvSpPr/>
          <p:nvPr/>
        </p:nvSpPr>
        <p:spPr>
          <a:xfrm>
            <a:off x="8458200" y="4782312"/>
            <a:ext cx="2926080" cy="292608"/>
          </a:xfrm>
          <a:prstGeom prst="rect">
            <a:avLst/>
          </a:prstGeom>
          <a:noFill/>
          <a:ln/>
        </p:spPr>
        <p:txBody>
          <a:bodyPr wrap="square" lIns="0" tIns="0" rIns="0" bIns="0" rtlCol="0" anchor="ctr"/>
          <a:lstStyle/>
          <a:p>
            <a:pPr indent="0" marL="0">
              <a:buNone/>
            </a:pPr>
            <a:r>
              <a:rPr lang="en-US" sz="1300" b="1" dirty="0">
                <a:solidFill>
                  <a:srgbClr val="E8983A"/>
                </a:solidFill>
                <a:latin typeface="Calibri" pitchFamily="34" charset="0"/>
                <a:ea typeface="Calibri" pitchFamily="34" charset="-122"/>
                <a:cs typeface="Calibri" pitchFamily="34" charset="-120"/>
              </a:rPr>
              <a:t>Key (K)</a:t>
            </a:r>
            <a:endParaRPr lang="en-US" sz="1300" dirty="0"/>
          </a:p>
        </p:txBody>
      </p:sp>
      <p:sp>
        <p:nvSpPr>
          <p:cNvPr id="12" name="Text 9"/>
          <p:cNvSpPr/>
          <p:nvPr/>
        </p:nvSpPr>
        <p:spPr>
          <a:xfrm>
            <a:off x="8458200" y="5093208"/>
            <a:ext cx="2926080" cy="320040"/>
          </a:xfrm>
          <a:prstGeom prst="rect">
            <a:avLst/>
          </a:prstGeom>
          <a:noFill/>
          <a:ln/>
        </p:spPr>
        <p:txBody>
          <a:bodyPr wrap="square" lIns="0" tIns="0" rIns="0" bIns="0" rtlCol="0" anchor="ctr"/>
          <a:lstStyle/>
          <a:p>
            <a:pPr indent="0" marL="0">
              <a:buNone/>
            </a:pPr>
            <a:r>
              <a:rPr lang="en-US" sz="1050" dirty="0">
                <a:solidFill>
                  <a:srgbClr val="CFE3EE"/>
                </a:solidFill>
                <a:latin typeface="Calibri" pitchFamily="34" charset="0"/>
                <a:ea typeface="Calibri" pitchFamily="34" charset="-122"/>
                <a:cs typeface="Calibri" pitchFamily="34" charset="-120"/>
              </a:rPr>
              <a:t>what a word offers to others</a:t>
            </a:r>
            <a:endParaRPr lang="en-US" sz="1050" dirty="0"/>
          </a:p>
        </p:txBody>
      </p:sp>
      <p:sp>
        <p:nvSpPr>
          <p:cNvPr id="13" name="Shape 10"/>
          <p:cNvSpPr/>
          <p:nvPr/>
        </p:nvSpPr>
        <p:spPr>
          <a:xfrm>
            <a:off x="8229600" y="5623560"/>
            <a:ext cx="3291840" cy="777240"/>
          </a:xfrm>
          <a:prstGeom prst="roundRect">
            <a:avLst>
              <a:gd name="adj" fmla="val 9412"/>
            </a:avLst>
          </a:prstGeom>
          <a:solidFill>
            <a:srgbClr val="13294B"/>
          </a:solidFill>
          <a:ln w="12700">
            <a:solidFill>
              <a:srgbClr val="24446F"/>
            </a:solidFill>
            <a:prstDash val="solid"/>
          </a:ln>
        </p:spPr>
      </p:sp>
      <p:sp>
        <p:nvSpPr>
          <p:cNvPr id="14" name="Text 11"/>
          <p:cNvSpPr/>
          <p:nvPr/>
        </p:nvSpPr>
        <p:spPr>
          <a:xfrm>
            <a:off x="8458200" y="5696712"/>
            <a:ext cx="2926080" cy="292608"/>
          </a:xfrm>
          <a:prstGeom prst="rect">
            <a:avLst/>
          </a:prstGeom>
          <a:noFill/>
          <a:ln/>
        </p:spPr>
        <p:txBody>
          <a:bodyPr wrap="square" lIns="0" tIns="0" rIns="0" bIns="0" rtlCol="0" anchor="ctr"/>
          <a:lstStyle/>
          <a:p>
            <a:pPr indent="0" marL="0">
              <a:buNone/>
            </a:pPr>
            <a:r>
              <a:rPr lang="en-US" sz="1300" b="1" dirty="0">
                <a:solidFill>
                  <a:srgbClr val="E8983A"/>
                </a:solidFill>
                <a:latin typeface="Calibri" pitchFamily="34" charset="0"/>
                <a:ea typeface="Calibri" pitchFamily="34" charset="-122"/>
                <a:cs typeface="Calibri" pitchFamily="34" charset="-120"/>
              </a:rPr>
              <a:t>Value (V)</a:t>
            </a:r>
            <a:endParaRPr lang="en-US" sz="1300" dirty="0"/>
          </a:p>
        </p:txBody>
      </p:sp>
      <p:sp>
        <p:nvSpPr>
          <p:cNvPr id="15" name="Text 12"/>
          <p:cNvSpPr/>
          <p:nvPr/>
        </p:nvSpPr>
        <p:spPr>
          <a:xfrm>
            <a:off x="8458200" y="6007608"/>
            <a:ext cx="2926080" cy="320040"/>
          </a:xfrm>
          <a:prstGeom prst="rect">
            <a:avLst/>
          </a:prstGeom>
          <a:noFill/>
          <a:ln/>
        </p:spPr>
        <p:txBody>
          <a:bodyPr wrap="square" lIns="0" tIns="0" rIns="0" bIns="0" rtlCol="0" anchor="ctr"/>
          <a:lstStyle/>
          <a:p>
            <a:pPr indent="0" marL="0">
              <a:buNone/>
            </a:pPr>
            <a:r>
              <a:rPr lang="en-US" sz="1050" dirty="0">
                <a:solidFill>
                  <a:srgbClr val="CFE3EE"/>
                </a:solidFill>
                <a:latin typeface="Calibri" pitchFamily="34" charset="0"/>
                <a:ea typeface="Calibri" pitchFamily="34" charset="-122"/>
                <a:cs typeface="Calibri" pitchFamily="34" charset="-120"/>
              </a:rPr>
              <a:t>the actual information a word holds</a:t>
            </a:r>
            <a:endParaRPr lang="en-US" sz="1050" dirty="0"/>
          </a:p>
        </p:txBody>
      </p:sp>
      <p:sp>
        <p:nvSpPr>
          <p:cNvPr id="16" name="Text 13"/>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6E8AA6"/>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640080" y="502920"/>
            <a:ext cx="45720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MATHEMATICAL CORE — PART 1</a:t>
            </a:r>
            <a:endParaRPr lang="en-US" sz="1200" dirty="0"/>
          </a:p>
        </p:txBody>
      </p:sp>
      <p:sp>
        <p:nvSpPr>
          <p:cNvPr id="3" name="Text 1"/>
          <p:cNvSpPr/>
          <p:nvPr/>
        </p:nvSpPr>
        <p:spPr>
          <a:xfrm>
            <a:off x="640080" y="777240"/>
            <a:ext cx="7315200" cy="731520"/>
          </a:xfrm>
          <a:prstGeom prst="rect">
            <a:avLst/>
          </a:prstGeom>
          <a:noFill/>
          <a:ln/>
        </p:spPr>
        <p:txBody>
          <a:bodyPr wrap="square" lIns="0" tIns="0" rIns="0" bIns="0" rtlCol="0" anchor="ctr"/>
          <a:lstStyle/>
          <a:p>
            <a:pPr indent="0" marL="0">
              <a:buNone/>
            </a:pPr>
            <a:r>
              <a:rPr lang="en-US" sz="3200" b="1" dirty="0">
                <a:solidFill>
                  <a:srgbClr val="13253B"/>
                </a:solidFill>
                <a:latin typeface="Cambria" pitchFamily="34" charset="0"/>
                <a:ea typeface="Cambria" pitchFamily="34" charset="-122"/>
                <a:cs typeface="Cambria" pitchFamily="34" charset="-120"/>
              </a:rPr>
              <a:t>Building Q, K, and V</a:t>
            </a:r>
            <a:endParaRPr lang="en-US" sz="3200" dirty="0"/>
          </a:p>
        </p:txBody>
      </p:sp>
      <p:sp>
        <p:nvSpPr>
          <p:cNvPr id="4" name="Text 2"/>
          <p:cNvSpPr/>
          <p:nvPr/>
        </p:nvSpPr>
        <p:spPr>
          <a:xfrm>
            <a:off x="640080" y="1417320"/>
            <a:ext cx="10881360" cy="594360"/>
          </a:xfrm>
          <a:prstGeom prst="rect">
            <a:avLst/>
          </a:prstGeom>
          <a:noFill/>
          <a:ln/>
        </p:spPr>
        <p:txBody>
          <a:bodyPr wrap="square" lIns="0" tIns="0" rIns="0" bIns="0" rtlCol="0" anchor="ctr"/>
          <a:lstStyle/>
          <a:p>
            <a:pPr indent="0" marL="0">
              <a:lnSpc>
                <a:spcPct val="120000"/>
              </a:lnSpc>
              <a:buNone/>
            </a:pPr>
            <a:r>
              <a:rPr lang="en-US" sz="1350" dirty="0">
                <a:solidFill>
                  <a:srgbClr val="5B7185"/>
                </a:solidFill>
                <a:latin typeface="Calibri" pitchFamily="34" charset="0"/>
                <a:ea typeface="Calibri" pitchFamily="34" charset="-122"/>
                <a:cs typeface="Calibri" pitchFamily="34" charset="-120"/>
              </a:rPr>
              <a:t>Every token embedding is multiplied by three separate, learned weight matrices. The results are three new vectors per token — a query, a key, and a value.</a:t>
            </a:r>
            <a:endParaRPr lang="en-US" sz="1350" dirty="0"/>
          </a:p>
        </p:txBody>
      </p:sp>
      <p:sp>
        <p:nvSpPr>
          <p:cNvPr id="5" name="Shape 3"/>
          <p:cNvSpPr/>
          <p:nvPr/>
        </p:nvSpPr>
        <p:spPr>
          <a:xfrm>
            <a:off x="640080" y="2148840"/>
            <a:ext cx="10881360" cy="960120"/>
          </a:xfrm>
          <a:prstGeom prst="roundRect">
            <a:avLst>
              <a:gd name="adj" fmla="val 7619"/>
            </a:avLst>
          </a:prstGeom>
          <a:solidFill>
            <a:srgbClr val="0B1F3A"/>
          </a:solidFill>
          <a:ln/>
        </p:spPr>
      </p:sp>
      <p:sp>
        <p:nvSpPr>
          <p:cNvPr id="6" name="Text 4"/>
          <p:cNvSpPr/>
          <p:nvPr/>
        </p:nvSpPr>
        <p:spPr>
          <a:xfrm>
            <a:off x="822960" y="2148840"/>
            <a:ext cx="10515600" cy="9601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Q = X·W_Q          K = X·W_K          V = X·W_V</a:t>
            </a:r>
            <a:endParaRPr lang="en-US" sz="2000" dirty="0"/>
          </a:p>
        </p:txBody>
      </p:sp>
      <p:sp>
        <p:nvSpPr>
          <p:cNvPr id="7" name="Shape 5"/>
          <p:cNvSpPr/>
          <p:nvPr/>
        </p:nvSpPr>
        <p:spPr>
          <a:xfrm>
            <a:off x="640080" y="3291840"/>
            <a:ext cx="3502152" cy="1691640"/>
          </a:xfrm>
          <a:prstGeom prst="roundRect">
            <a:avLst>
              <a:gd name="adj" fmla="val 4324"/>
            </a:avLst>
          </a:prstGeom>
          <a:solidFill>
            <a:srgbClr val="EDF3F6"/>
          </a:solidFill>
          <a:ln/>
        </p:spPr>
      </p:sp>
      <p:sp>
        <p:nvSpPr>
          <p:cNvPr id="8" name="Text 6"/>
          <p:cNvSpPr/>
          <p:nvPr/>
        </p:nvSpPr>
        <p:spPr>
          <a:xfrm>
            <a:off x="868680" y="3429000"/>
            <a:ext cx="3063240" cy="365760"/>
          </a:xfrm>
          <a:prstGeom prst="rect">
            <a:avLst/>
          </a:prstGeom>
          <a:noFill/>
          <a:ln/>
        </p:spPr>
        <p:txBody>
          <a:bodyPr wrap="square" lIns="0" tIns="0" rIns="0" bIns="0" rtlCol="0" anchor="ctr"/>
          <a:lstStyle/>
          <a:p>
            <a:pPr indent="0" marL="0">
              <a:buNone/>
            </a:pPr>
            <a:r>
              <a:rPr lang="en-US" sz="1500" b="1" dirty="0">
                <a:solidFill>
                  <a:srgbClr val="1C7293"/>
                </a:solidFill>
                <a:latin typeface="Courier New" pitchFamily="34" charset="0"/>
                <a:ea typeface="Courier New" pitchFamily="34" charset="-122"/>
                <a:cs typeface="Courier New" pitchFamily="34" charset="-120"/>
              </a:rPr>
              <a:t>X</a:t>
            </a:r>
            <a:endParaRPr lang="en-US" sz="1500" dirty="0"/>
          </a:p>
        </p:txBody>
      </p:sp>
      <p:sp>
        <p:nvSpPr>
          <p:cNvPr id="9" name="Text 7"/>
          <p:cNvSpPr/>
          <p:nvPr/>
        </p:nvSpPr>
        <p:spPr>
          <a:xfrm>
            <a:off x="868680" y="3794760"/>
            <a:ext cx="3063240" cy="365760"/>
          </a:xfrm>
          <a:prstGeom prst="rect">
            <a:avLst/>
          </a:prstGeom>
          <a:noFill/>
          <a:ln/>
        </p:spPr>
        <p:txBody>
          <a:bodyPr wrap="square" lIns="0" tIns="0" rIns="0" bIns="0" rtlCol="0" anchor="ctr"/>
          <a:lstStyle/>
          <a:p>
            <a:pPr indent="0" marL="0">
              <a:buNone/>
            </a:pPr>
            <a:r>
              <a:rPr lang="en-US" sz="1700" b="1" dirty="0">
                <a:solidFill>
                  <a:srgbClr val="E8983A"/>
                </a:solidFill>
                <a:latin typeface="Cambria" pitchFamily="34" charset="0"/>
                <a:ea typeface="Cambria" pitchFamily="34" charset="-122"/>
                <a:cs typeface="Cambria" pitchFamily="34" charset="-120"/>
              </a:rPr>
              <a:t>n × d_model</a:t>
            </a:r>
            <a:endParaRPr lang="en-US" sz="1700" dirty="0"/>
          </a:p>
        </p:txBody>
      </p:sp>
      <p:sp>
        <p:nvSpPr>
          <p:cNvPr id="10" name="Text 8"/>
          <p:cNvSpPr/>
          <p:nvPr/>
        </p:nvSpPr>
        <p:spPr>
          <a:xfrm>
            <a:off x="868680" y="4224528"/>
            <a:ext cx="3063240" cy="685800"/>
          </a:xfrm>
          <a:prstGeom prst="rect">
            <a:avLst/>
          </a:prstGeom>
          <a:noFill/>
          <a:ln/>
        </p:spPr>
        <p:txBody>
          <a:bodyPr wrap="square" lIns="0" tIns="0" rIns="0" bIns="0" rtlCol="0" anchor="ctr"/>
          <a:lstStyle/>
          <a:p>
            <a:pPr indent="0" marL="0">
              <a:lnSpc>
                <a:spcPct val="115000"/>
              </a:lnSpc>
              <a:buNone/>
            </a:pPr>
            <a:r>
              <a:rPr lang="en-US" sz="1080" dirty="0">
                <a:solidFill>
                  <a:srgbClr val="5B7185"/>
                </a:solidFill>
                <a:latin typeface="Calibri" pitchFamily="34" charset="0"/>
                <a:ea typeface="Calibri" pitchFamily="34" charset="-122"/>
                <a:cs typeface="Calibri" pitchFamily="34" charset="-120"/>
              </a:rPr>
              <a:t>the input: n tokens, each a d_model-dim embedding</a:t>
            </a:r>
            <a:endParaRPr lang="en-US" sz="1080" dirty="0"/>
          </a:p>
        </p:txBody>
      </p:sp>
      <p:sp>
        <p:nvSpPr>
          <p:cNvPr id="11" name="Shape 9"/>
          <p:cNvSpPr/>
          <p:nvPr/>
        </p:nvSpPr>
        <p:spPr>
          <a:xfrm>
            <a:off x="4325112" y="3291840"/>
            <a:ext cx="3502152" cy="1691640"/>
          </a:xfrm>
          <a:prstGeom prst="roundRect">
            <a:avLst>
              <a:gd name="adj" fmla="val 4324"/>
            </a:avLst>
          </a:prstGeom>
          <a:solidFill>
            <a:srgbClr val="EDF3F6"/>
          </a:solidFill>
          <a:ln/>
        </p:spPr>
      </p:sp>
      <p:sp>
        <p:nvSpPr>
          <p:cNvPr id="12" name="Text 10"/>
          <p:cNvSpPr/>
          <p:nvPr/>
        </p:nvSpPr>
        <p:spPr>
          <a:xfrm>
            <a:off x="4553712" y="3429000"/>
            <a:ext cx="3063240" cy="365760"/>
          </a:xfrm>
          <a:prstGeom prst="rect">
            <a:avLst/>
          </a:prstGeom>
          <a:noFill/>
          <a:ln/>
        </p:spPr>
        <p:txBody>
          <a:bodyPr wrap="square" lIns="0" tIns="0" rIns="0" bIns="0" rtlCol="0" anchor="ctr"/>
          <a:lstStyle/>
          <a:p>
            <a:pPr indent="0" marL="0">
              <a:buNone/>
            </a:pPr>
            <a:r>
              <a:rPr lang="en-US" sz="1500" b="1" dirty="0">
                <a:solidFill>
                  <a:srgbClr val="1C7293"/>
                </a:solidFill>
                <a:latin typeface="Courier New" pitchFamily="34" charset="0"/>
                <a:ea typeface="Courier New" pitchFamily="34" charset="-122"/>
                <a:cs typeface="Courier New" pitchFamily="34" charset="-120"/>
              </a:rPr>
              <a:t>W_Q, W_K, W_V</a:t>
            </a:r>
            <a:endParaRPr lang="en-US" sz="1500" dirty="0"/>
          </a:p>
        </p:txBody>
      </p:sp>
      <p:sp>
        <p:nvSpPr>
          <p:cNvPr id="13" name="Text 11"/>
          <p:cNvSpPr/>
          <p:nvPr/>
        </p:nvSpPr>
        <p:spPr>
          <a:xfrm>
            <a:off x="4553712" y="3794760"/>
            <a:ext cx="3063240" cy="365760"/>
          </a:xfrm>
          <a:prstGeom prst="rect">
            <a:avLst/>
          </a:prstGeom>
          <a:noFill/>
          <a:ln/>
        </p:spPr>
        <p:txBody>
          <a:bodyPr wrap="square" lIns="0" tIns="0" rIns="0" bIns="0" rtlCol="0" anchor="ctr"/>
          <a:lstStyle/>
          <a:p>
            <a:pPr indent="0" marL="0">
              <a:buNone/>
            </a:pPr>
            <a:r>
              <a:rPr lang="en-US" sz="1700" b="1" dirty="0">
                <a:solidFill>
                  <a:srgbClr val="E8983A"/>
                </a:solidFill>
                <a:latin typeface="Cambria" pitchFamily="34" charset="0"/>
                <a:ea typeface="Cambria" pitchFamily="34" charset="-122"/>
                <a:cs typeface="Cambria" pitchFamily="34" charset="-120"/>
              </a:rPr>
              <a:t>d_model × d_k</a:t>
            </a:r>
            <a:endParaRPr lang="en-US" sz="1700" dirty="0"/>
          </a:p>
        </p:txBody>
      </p:sp>
      <p:sp>
        <p:nvSpPr>
          <p:cNvPr id="14" name="Text 12"/>
          <p:cNvSpPr/>
          <p:nvPr/>
        </p:nvSpPr>
        <p:spPr>
          <a:xfrm>
            <a:off x="4553712" y="4224528"/>
            <a:ext cx="3063240" cy="685800"/>
          </a:xfrm>
          <a:prstGeom prst="rect">
            <a:avLst/>
          </a:prstGeom>
          <a:noFill/>
          <a:ln/>
        </p:spPr>
        <p:txBody>
          <a:bodyPr wrap="square" lIns="0" tIns="0" rIns="0" bIns="0" rtlCol="0" anchor="ctr"/>
          <a:lstStyle/>
          <a:p>
            <a:pPr indent="0" marL="0">
              <a:lnSpc>
                <a:spcPct val="115000"/>
              </a:lnSpc>
              <a:buNone/>
            </a:pPr>
            <a:r>
              <a:rPr lang="en-US" sz="1080" dirty="0">
                <a:solidFill>
                  <a:srgbClr val="5B7185"/>
                </a:solidFill>
                <a:latin typeface="Calibri" pitchFamily="34" charset="0"/>
                <a:ea typeface="Calibri" pitchFamily="34" charset="-122"/>
                <a:cs typeface="Calibri" pitchFamily="34" charset="-120"/>
              </a:rPr>
              <a:t>learned weight matrices — one per projection</a:t>
            </a:r>
            <a:endParaRPr lang="en-US" sz="1080" dirty="0"/>
          </a:p>
        </p:txBody>
      </p:sp>
      <p:sp>
        <p:nvSpPr>
          <p:cNvPr id="15" name="Shape 13"/>
          <p:cNvSpPr/>
          <p:nvPr/>
        </p:nvSpPr>
        <p:spPr>
          <a:xfrm>
            <a:off x="8010144" y="3291840"/>
            <a:ext cx="3502152" cy="1691640"/>
          </a:xfrm>
          <a:prstGeom prst="roundRect">
            <a:avLst>
              <a:gd name="adj" fmla="val 4324"/>
            </a:avLst>
          </a:prstGeom>
          <a:solidFill>
            <a:srgbClr val="EDF3F6"/>
          </a:solidFill>
          <a:ln/>
        </p:spPr>
      </p:sp>
      <p:sp>
        <p:nvSpPr>
          <p:cNvPr id="16" name="Text 14"/>
          <p:cNvSpPr/>
          <p:nvPr/>
        </p:nvSpPr>
        <p:spPr>
          <a:xfrm>
            <a:off x="8238744" y="3429000"/>
            <a:ext cx="3063240" cy="365760"/>
          </a:xfrm>
          <a:prstGeom prst="rect">
            <a:avLst/>
          </a:prstGeom>
          <a:noFill/>
          <a:ln/>
        </p:spPr>
        <p:txBody>
          <a:bodyPr wrap="square" lIns="0" tIns="0" rIns="0" bIns="0" rtlCol="0" anchor="ctr"/>
          <a:lstStyle/>
          <a:p>
            <a:pPr indent="0" marL="0">
              <a:buNone/>
            </a:pPr>
            <a:r>
              <a:rPr lang="en-US" sz="1500" b="1" dirty="0">
                <a:solidFill>
                  <a:srgbClr val="1C7293"/>
                </a:solidFill>
                <a:latin typeface="Courier New" pitchFamily="34" charset="0"/>
                <a:ea typeface="Courier New" pitchFamily="34" charset="-122"/>
                <a:cs typeface="Courier New" pitchFamily="34" charset="-120"/>
              </a:rPr>
              <a:t>Q, K, V</a:t>
            </a:r>
            <a:endParaRPr lang="en-US" sz="1500" dirty="0"/>
          </a:p>
        </p:txBody>
      </p:sp>
      <p:sp>
        <p:nvSpPr>
          <p:cNvPr id="17" name="Text 15"/>
          <p:cNvSpPr/>
          <p:nvPr/>
        </p:nvSpPr>
        <p:spPr>
          <a:xfrm>
            <a:off x="8238744" y="3794760"/>
            <a:ext cx="3063240" cy="365760"/>
          </a:xfrm>
          <a:prstGeom prst="rect">
            <a:avLst/>
          </a:prstGeom>
          <a:noFill/>
          <a:ln/>
        </p:spPr>
        <p:txBody>
          <a:bodyPr wrap="square" lIns="0" tIns="0" rIns="0" bIns="0" rtlCol="0" anchor="ctr"/>
          <a:lstStyle/>
          <a:p>
            <a:pPr indent="0" marL="0">
              <a:buNone/>
            </a:pPr>
            <a:r>
              <a:rPr lang="en-US" sz="1700" b="1" dirty="0">
                <a:solidFill>
                  <a:srgbClr val="E8983A"/>
                </a:solidFill>
                <a:latin typeface="Cambria" pitchFamily="34" charset="0"/>
                <a:ea typeface="Cambria" pitchFamily="34" charset="-122"/>
                <a:cs typeface="Cambria" pitchFamily="34" charset="-120"/>
              </a:rPr>
              <a:t>n × d_k</a:t>
            </a:r>
            <a:endParaRPr lang="en-US" sz="1700" dirty="0"/>
          </a:p>
        </p:txBody>
      </p:sp>
      <p:sp>
        <p:nvSpPr>
          <p:cNvPr id="18" name="Text 16"/>
          <p:cNvSpPr/>
          <p:nvPr/>
        </p:nvSpPr>
        <p:spPr>
          <a:xfrm>
            <a:off x="8238744" y="4224528"/>
            <a:ext cx="3063240" cy="685800"/>
          </a:xfrm>
          <a:prstGeom prst="rect">
            <a:avLst/>
          </a:prstGeom>
          <a:noFill/>
          <a:ln/>
        </p:spPr>
        <p:txBody>
          <a:bodyPr wrap="square" lIns="0" tIns="0" rIns="0" bIns="0" rtlCol="0" anchor="ctr"/>
          <a:lstStyle/>
          <a:p>
            <a:pPr indent="0" marL="0">
              <a:lnSpc>
                <a:spcPct val="115000"/>
              </a:lnSpc>
              <a:buNone/>
            </a:pPr>
            <a:r>
              <a:rPr lang="en-US" sz="1080" dirty="0">
                <a:solidFill>
                  <a:srgbClr val="5B7185"/>
                </a:solidFill>
                <a:latin typeface="Calibri" pitchFamily="34" charset="0"/>
                <a:ea typeface="Calibri" pitchFamily="34" charset="-122"/>
                <a:cs typeface="Calibri" pitchFamily="34" charset="-120"/>
              </a:rPr>
              <a:t>one query / key / value vector per token, dimension d_k</a:t>
            </a:r>
            <a:endParaRPr lang="en-US" sz="1080" dirty="0"/>
          </a:p>
        </p:txBody>
      </p:sp>
      <p:sp>
        <p:nvSpPr>
          <p:cNvPr id="19" name="Text 17"/>
          <p:cNvSpPr/>
          <p:nvPr/>
        </p:nvSpPr>
        <p:spPr>
          <a:xfrm>
            <a:off x="640080" y="5212080"/>
            <a:ext cx="10881360" cy="914400"/>
          </a:xfrm>
          <a:prstGeom prst="rect">
            <a:avLst/>
          </a:prstGeom>
          <a:noFill/>
          <a:ln/>
        </p:spPr>
        <p:txBody>
          <a:bodyPr wrap="square" lIns="0" tIns="0" rIns="0" bIns="0" rtlCol="0" anchor="ctr"/>
          <a:lstStyle/>
          <a:p>
            <a:pPr indent="0" marL="0">
              <a:lnSpc>
                <a:spcPct val="125000"/>
              </a:lnSpc>
              <a:buNone/>
            </a:pPr>
            <a:r>
              <a:rPr lang="en-US" sz="1250" b="1" dirty="0">
                <a:solidFill>
                  <a:srgbClr val="13253B"/>
                </a:solidFill>
                <a:latin typeface="Calibri" pitchFamily="34" charset="0"/>
                <a:ea typeface="Calibri" pitchFamily="34" charset="-122"/>
                <a:cs typeface="Calibri" pitchFamily="34" charset="-120"/>
              </a:rPr>
              <a:t>In words: </a:t>
            </a:r>
            <a:pPr indent="0" marL="0">
              <a:lnSpc>
                <a:spcPct val="125000"/>
              </a:lnSpc>
              <a:buNone/>
            </a:pPr>
            <a:r>
              <a:rPr lang="en-US" sz="1250" dirty="0">
                <a:solidFill>
                  <a:srgbClr val="5B7185"/>
                </a:solidFill>
                <a:latin typeface="Calibri" pitchFamily="34" charset="0"/>
                <a:ea typeface="Calibri" pitchFamily="34" charset="-122"/>
                <a:cs typeface="Calibri" pitchFamily="34" charset="-120"/>
              </a:rPr>
              <a:t>each row of X (one token’s embedding) is projected by each weight matrix independently. W_Q, W_K, and W_V start off random and are learned during training — they end up encoding what to look for, what to advertise, and what to actually carry as content.</a:t>
            </a:r>
            <a:endParaRPr lang="en-US" sz="1250" dirty="0"/>
          </a:p>
        </p:txBody>
      </p:sp>
      <p:sp>
        <p:nvSpPr>
          <p:cNvPr id="20" name="Text 18"/>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640080" y="502920"/>
            <a:ext cx="45720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MATHEMATICAL CORE — PART 2</a:t>
            </a:r>
            <a:endParaRPr lang="en-US" sz="1200" dirty="0"/>
          </a:p>
        </p:txBody>
      </p:sp>
      <p:sp>
        <p:nvSpPr>
          <p:cNvPr id="3" name="Text 1"/>
          <p:cNvSpPr/>
          <p:nvPr/>
        </p:nvSpPr>
        <p:spPr>
          <a:xfrm>
            <a:off x="640080" y="777240"/>
            <a:ext cx="8229600" cy="731520"/>
          </a:xfrm>
          <a:prstGeom prst="rect">
            <a:avLst/>
          </a:prstGeom>
          <a:noFill/>
          <a:ln/>
        </p:spPr>
        <p:txBody>
          <a:bodyPr wrap="square" lIns="0" tIns="0" rIns="0" bIns="0" rtlCol="0" anchor="ctr"/>
          <a:lstStyle/>
          <a:p>
            <a:pPr indent="0" marL="0">
              <a:buNone/>
            </a:pPr>
            <a:r>
              <a:rPr lang="en-US" sz="3200" b="1" dirty="0">
                <a:solidFill>
                  <a:srgbClr val="13253B"/>
                </a:solidFill>
                <a:latin typeface="Cambria" pitchFamily="34" charset="0"/>
                <a:ea typeface="Cambria" pitchFamily="34" charset="-122"/>
                <a:cs typeface="Cambria" pitchFamily="34" charset="-120"/>
              </a:rPr>
              <a:t>Why Transpose the Keys?</a:t>
            </a:r>
            <a:endParaRPr lang="en-US" sz="3200" dirty="0"/>
          </a:p>
        </p:txBody>
      </p:sp>
      <p:sp>
        <p:nvSpPr>
          <p:cNvPr id="4" name="Text 2"/>
          <p:cNvSpPr/>
          <p:nvPr/>
        </p:nvSpPr>
        <p:spPr>
          <a:xfrm>
            <a:off x="640080" y="1417320"/>
            <a:ext cx="5394960" cy="914400"/>
          </a:xfrm>
          <a:prstGeom prst="rect">
            <a:avLst/>
          </a:prstGeom>
          <a:noFill/>
          <a:ln/>
        </p:spPr>
        <p:txBody>
          <a:bodyPr wrap="square" lIns="0" tIns="0" rIns="0" bIns="0" rtlCol="0" anchor="ctr"/>
          <a:lstStyle/>
          <a:p>
            <a:pPr indent="0" marL="0">
              <a:lnSpc>
                <a:spcPct val="120000"/>
              </a:lnSpc>
              <a:buNone/>
            </a:pPr>
            <a:r>
              <a:rPr lang="en-US" sz="1350" dirty="0">
                <a:solidFill>
                  <a:srgbClr val="5B7185"/>
                </a:solidFill>
                <a:latin typeface="Calibri" pitchFamily="34" charset="0"/>
                <a:ea typeface="Calibri" pitchFamily="34" charset="-122"/>
                <a:cs typeface="Calibri" pitchFamily="34" charset="-120"/>
              </a:rPr>
              <a:t>To compare every query with every key using matrix multiplication, the shapes have to line up. That's what the transpose on K is for.</a:t>
            </a:r>
            <a:endParaRPr lang="en-US" sz="1350" dirty="0"/>
          </a:p>
        </p:txBody>
      </p:sp>
      <p:sp>
        <p:nvSpPr>
          <p:cNvPr id="5" name="Shape 3"/>
          <p:cNvSpPr/>
          <p:nvPr/>
        </p:nvSpPr>
        <p:spPr>
          <a:xfrm>
            <a:off x="640080" y="2468880"/>
            <a:ext cx="128016" cy="128016"/>
          </a:xfrm>
          <a:prstGeom prst="ellipse">
            <a:avLst/>
          </a:prstGeom>
          <a:solidFill>
            <a:srgbClr val="E8983A"/>
          </a:solidFill>
          <a:ln/>
        </p:spPr>
      </p:sp>
      <p:sp>
        <p:nvSpPr>
          <p:cNvPr id="6" name="Text 4"/>
          <p:cNvSpPr/>
          <p:nvPr/>
        </p:nvSpPr>
        <p:spPr>
          <a:xfrm>
            <a:off x="914400" y="2313432"/>
            <a:ext cx="5120640" cy="320040"/>
          </a:xfrm>
          <a:prstGeom prst="rect">
            <a:avLst/>
          </a:prstGeom>
          <a:noFill/>
          <a:ln/>
        </p:spPr>
        <p:txBody>
          <a:bodyPr wrap="square" lIns="0" tIns="0" rIns="0" bIns="0" rtlCol="0" anchor="ctr"/>
          <a:lstStyle/>
          <a:p>
            <a:pPr indent="0" marL="0">
              <a:buNone/>
            </a:pPr>
            <a:r>
              <a:rPr lang="en-US" sz="1350" b="1" dirty="0">
                <a:solidFill>
                  <a:srgbClr val="13253B"/>
                </a:solidFill>
                <a:latin typeface="Calibri" pitchFamily="34" charset="0"/>
                <a:ea typeface="Calibri" pitchFamily="34" charset="-122"/>
                <a:cs typeface="Calibri" pitchFamily="34" charset="-120"/>
              </a:rPr>
              <a:t>Matrix multiplication rule</a:t>
            </a:r>
            <a:endParaRPr lang="en-US" sz="1350" dirty="0"/>
          </a:p>
        </p:txBody>
      </p:sp>
      <p:sp>
        <p:nvSpPr>
          <p:cNvPr id="7" name="Text 5"/>
          <p:cNvSpPr/>
          <p:nvPr/>
        </p:nvSpPr>
        <p:spPr>
          <a:xfrm>
            <a:off x="914400" y="2624328"/>
            <a:ext cx="5212080" cy="868680"/>
          </a:xfrm>
          <a:prstGeom prst="rect">
            <a:avLst/>
          </a:prstGeom>
          <a:noFill/>
          <a:ln/>
        </p:spPr>
        <p:txBody>
          <a:bodyPr wrap="square" lIns="0" tIns="0" rIns="0" bIns="0" rtlCol="0" anchor="ctr"/>
          <a:lstStyle/>
          <a:p>
            <a:pPr indent="0" marL="0">
              <a:lnSpc>
                <a:spcPct val="115000"/>
              </a:lnSpc>
              <a:buNone/>
            </a:pPr>
            <a:r>
              <a:rPr lang="en-US" sz="1100" dirty="0">
                <a:solidFill>
                  <a:srgbClr val="5B7185"/>
                </a:solidFill>
                <a:latin typeface="Calibri" pitchFamily="34" charset="0"/>
                <a:ea typeface="Calibri" pitchFamily="34" charset="-122"/>
                <a:cs typeface="Calibri" pitchFamily="34" charset="-120"/>
              </a:rPr>
              <a:t>To multiply A × B, the number of columns in A must equal the number of rows in B. The result takes A's rows and B's columns.</a:t>
            </a:r>
            <a:endParaRPr lang="en-US" sz="1100" dirty="0"/>
          </a:p>
        </p:txBody>
      </p:sp>
      <p:sp>
        <p:nvSpPr>
          <p:cNvPr id="8" name="Shape 6"/>
          <p:cNvSpPr/>
          <p:nvPr/>
        </p:nvSpPr>
        <p:spPr>
          <a:xfrm>
            <a:off x="640080" y="3639312"/>
            <a:ext cx="128016" cy="128016"/>
          </a:xfrm>
          <a:prstGeom prst="ellipse">
            <a:avLst/>
          </a:prstGeom>
          <a:solidFill>
            <a:srgbClr val="E8983A"/>
          </a:solidFill>
          <a:ln/>
        </p:spPr>
      </p:sp>
      <p:sp>
        <p:nvSpPr>
          <p:cNvPr id="9" name="Text 7"/>
          <p:cNvSpPr/>
          <p:nvPr/>
        </p:nvSpPr>
        <p:spPr>
          <a:xfrm>
            <a:off x="914400" y="3483864"/>
            <a:ext cx="5120640" cy="320040"/>
          </a:xfrm>
          <a:prstGeom prst="rect">
            <a:avLst/>
          </a:prstGeom>
          <a:noFill/>
          <a:ln/>
        </p:spPr>
        <p:txBody>
          <a:bodyPr wrap="square" lIns="0" tIns="0" rIns="0" bIns="0" rtlCol="0" anchor="ctr"/>
          <a:lstStyle/>
          <a:p>
            <a:pPr indent="0" marL="0">
              <a:buNone/>
            </a:pPr>
            <a:r>
              <a:rPr lang="en-US" sz="1350" b="1" dirty="0">
                <a:solidFill>
                  <a:srgbClr val="13253B"/>
                </a:solidFill>
                <a:latin typeface="Calibri" pitchFamily="34" charset="0"/>
                <a:ea typeface="Calibri" pitchFamily="34" charset="-122"/>
                <a:cs typeface="Calibri" pitchFamily="34" charset="-120"/>
              </a:rPr>
              <a:t>Q and K start the same shape</a:t>
            </a:r>
            <a:endParaRPr lang="en-US" sz="1350" dirty="0"/>
          </a:p>
        </p:txBody>
      </p:sp>
      <p:sp>
        <p:nvSpPr>
          <p:cNvPr id="10" name="Text 8"/>
          <p:cNvSpPr/>
          <p:nvPr/>
        </p:nvSpPr>
        <p:spPr>
          <a:xfrm>
            <a:off x="914400" y="3794760"/>
            <a:ext cx="5212080" cy="868680"/>
          </a:xfrm>
          <a:prstGeom prst="rect">
            <a:avLst/>
          </a:prstGeom>
          <a:noFill/>
          <a:ln/>
        </p:spPr>
        <p:txBody>
          <a:bodyPr wrap="square" lIns="0" tIns="0" rIns="0" bIns="0" rtlCol="0" anchor="ctr"/>
          <a:lstStyle/>
          <a:p>
            <a:pPr indent="0" marL="0">
              <a:lnSpc>
                <a:spcPct val="115000"/>
              </a:lnSpc>
              <a:buNone/>
            </a:pPr>
            <a:r>
              <a:rPr lang="en-US" sz="1100" dirty="0">
                <a:solidFill>
                  <a:srgbClr val="5B7185"/>
                </a:solidFill>
                <a:latin typeface="Calibri" pitchFamily="34" charset="0"/>
                <a:ea typeface="Calibri" pitchFamily="34" charset="-122"/>
                <a:cs typeface="Calibri" pitchFamily="34" charset="-120"/>
              </a:rPr>
              <a:t>Both Q and K are n × d_k — n tokens, d_k dimensions each. You can't multiply Q × K directly; the inner dimensions (d_k and n) don't match unless n = d_k.</a:t>
            </a:r>
            <a:endParaRPr lang="en-US" sz="1100" dirty="0"/>
          </a:p>
        </p:txBody>
      </p:sp>
      <p:sp>
        <p:nvSpPr>
          <p:cNvPr id="11" name="Shape 9"/>
          <p:cNvSpPr/>
          <p:nvPr/>
        </p:nvSpPr>
        <p:spPr>
          <a:xfrm>
            <a:off x="640080" y="4809744"/>
            <a:ext cx="128016" cy="128016"/>
          </a:xfrm>
          <a:prstGeom prst="ellipse">
            <a:avLst/>
          </a:prstGeom>
          <a:solidFill>
            <a:srgbClr val="E8983A"/>
          </a:solidFill>
          <a:ln/>
        </p:spPr>
      </p:sp>
      <p:sp>
        <p:nvSpPr>
          <p:cNvPr id="12" name="Text 10"/>
          <p:cNvSpPr/>
          <p:nvPr/>
        </p:nvSpPr>
        <p:spPr>
          <a:xfrm>
            <a:off x="914400" y="4654296"/>
            <a:ext cx="5120640" cy="320040"/>
          </a:xfrm>
          <a:prstGeom prst="rect">
            <a:avLst/>
          </a:prstGeom>
          <a:noFill/>
          <a:ln/>
        </p:spPr>
        <p:txBody>
          <a:bodyPr wrap="square" lIns="0" tIns="0" rIns="0" bIns="0" rtlCol="0" anchor="ctr"/>
          <a:lstStyle/>
          <a:p>
            <a:pPr indent="0" marL="0">
              <a:buNone/>
            </a:pPr>
            <a:r>
              <a:rPr lang="en-US" sz="1350" b="1" dirty="0">
                <a:solidFill>
                  <a:srgbClr val="13253B"/>
                </a:solidFill>
                <a:latin typeface="Calibri" pitchFamily="34" charset="0"/>
                <a:ea typeface="Calibri" pitchFamily="34" charset="-122"/>
                <a:cs typeface="Calibri" pitchFamily="34" charset="-120"/>
              </a:rPr>
              <a:t>Transpose fixes it</a:t>
            </a:r>
            <a:endParaRPr lang="en-US" sz="1350" dirty="0"/>
          </a:p>
        </p:txBody>
      </p:sp>
      <p:sp>
        <p:nvSpPr>
          <p:cNvPr id="13" name="Text 11"/>
          <p:cNvSpPr/>
          <p:nvPr/>
        </p:nvSpPr>
        <p:spPr>
          <a:xfrm>
            <a:off x="914400" y="4965192"/>
            <a:ext cx="5212080" cy="868680"/>
          </a:xfrm>
          <a:prstGeom prst="rect">
            <a:avLst/>
          </a:prstGeom>
          <a:noFill/>
          <a:ln/>
        </p:spPr>
        <p:txBody>
          <a:bodyPr wrap="square" lIns="0" tIns="0" rIns="0" bIns="0" rtlCol="0" anchor="ctr"/>
          <a:lstStyle/>
          <a:p>
            <a:pPr indent="0" marL="0">
              <a:lnSpc>
                <a:spcPct val="115000"/>
              </a:lnSpc>
              <a:buNone/>
            </a:pPr>
            <a:r>
              <a:rPr lang="en-US" sz="1100" dirty="0">
                <a:solidFill>
                  <a:srgbClr val="5B7185"/>
                </a:solidFill>
                <a:latin typeface="Calibri" pitchFamily="34" charset="0"/>
                <a:ea typeface="Calibri" pitchFamily="34" charset="-122"/>
                <a:cs typeface="Calibri" pitchFamily="34" charset="-120"/>
              </a:rPr>
              <a:t>Kᵀ flips K from n × d_k to d_k × n. Now Q (n × d_k) × Kᵀ (d_k × n) is valid, and the shared d_k cancels out.</a:t>
            </a:r>
            <a:endParaRPr lang="en-US" sz="1100" dirty="0"/>
          </a:p>
        </p:txBody>
      </p:sp>
      <p:sp>
        <p:nvSpPr>
          <p:cNvPr id="14" name="Shape 12"/>
          <p:cNvSpPr/>
          <p:nvPr/>
        </p:nvSpPr>
        <p:spPr>
          <a:xfrm>
            <a:off x="6446520" y="1417320"/>
            <a:ext cx="5120640" cy="3657600"/>
          </a:xfrm>
          <a:prstGeom prst="roundRect">
            <a:avLst>
              <a:gd name="adj" fmla="val 2000"/>
            </a:avLst>
          </a:prstGeom>
          <a:solidFill>
            <a:srgbClr val="FFFFFF"/>
          </a:solidFill>
          <a:ln w="12700">
            <a:solidFill>
              <a:srgbClr val="DCE4EA"/>
            </a:solidFill>
            <a:prstDash val="solid"/>
          </a:ln>
          <a:effectLst>
            <a:outerShdw sx="100000" sy="100000" kx="0" ky="0" algn="bl" rotWithShape="0" blurRad="127000" dist="38100" dir="5400000">
              <a:srgbClr val="1B2A3D">
                <a:alpha val="18000"/>
              </a:srgbClr>
            </a:outerShdw>
          </a:effectLst>
        </p:spPr>
      </p:sp>
      <p:pic>
        <p:nvPicPr>
          <p:cNvPr id="15" name="Image 0" descr="/home/claude/work/build/crops/t3_qkv.png">    </p:cNvPr>
          <p:cNvPicPr>
            <a:picLocks noChangeAspect="1"/>
          </p:cNvPicPr>
          <p:nvPr/>
        </p:nvPicPr>
        <p:blipFill>
          <a:blip r:embed="rId1"/>
          <a:stretch>
            <a:fillRect/>
          </a:stretch>
        </p:blipFill>
        <p:spPr>
          <a:xfrm>
            <a:off x="7589394" y="1691640"/>
            <a:ext cx="2834892" cy="3108960"/>
          </a:xfrm>
          <a:prstGeom prst="rect">
            <a:avLst/>
          </a:prstGeom>
        </p:spPr>
      </p:pic>
      <p:sp>
        <p:nvSpPr>
          <p:cNvPr id="16" name="Shape 13"/>
          <p:cNvSpPr/>
          <p:nvPr/>
        </p:nvSpPr>
        <p:spPr>
          <a:xfrm>
            <a:off x="6446520" y="5257800"/>
            <a:ext cx="5120640" cy="868680"/>
          </a:xfrm>
          <a:prstGeom prst="roundRect">
            <a:avLst>
              <a:gd name="adj" fmla="val 8421"/>
            </a:avLst>
          </a:prstGeom>
          <a:solidFill>
            <a:srgbClr val="0B1F3A"/>
          </a:solidFill>
          <a:ln/>
        </p:spPr>
      </p:sp>
      <p:sp>
        <p:nvSpPr>
          <p:cNvPr id="17" name="Text 14"/>
          <p:cNvSpPr/>
          <p:nvPr/>
        </p:nvSpPr>
        <p:spPr>
          <a:xfrm>
            <a:off x="6629400" y="5257800"/>
            <a:ext cx="4754880"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(n × d_k)  ×  (d_k × n)  =  (n × n)</a:t>
            </a:r>
            <a:endParaRPr lang="en-US" sz="1600" dirty="0"/>
          </a:p>
        </p:txBody>
      </p:sp>
      <p:sp>
        <p:nvSpPr>
          <p:cNvPr id="18" name="Text 15"/>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640080" y="502920"/>
            <a:ext cx="45720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MATHEMATICAL CORE — PART 3 · WORKED EXAMPLE</a:t>
            </a:r>
            <a:endParaRPr lang="en-US" sz="1200" dirty="0"/>
          </a:p>
        </p:txBody>
      </p:sp>
      <p:sp>
        <p:nvSpPr>
          <p:cNvPr id="3" name="Text 1"/>
          <p:cNvSpPr/>
          <p:nvPr/>
        </p:nvSpPr>
        <p:spPr>
          <a:xfrm>
            <a:off x="640080" y="777240"/>
            <a:ext cx="8229600" cy="731520"/>
          </a:xfrm>
          <a:prstGeom prst="rect">
            <a:avLst/>
          </a:prstGeom>
          <a:noFill/>
          <a:ln/>
        </p:spPr>
        <p:txBody>
          <a:bodyPr wrap="square" lIns="0" tIns="0" rIns="0" bIns="0" rtlCol="0" anchor="ctr"/>
          <a:lstStyle/>
          <a:p>
            <a:pPr indent="0" marL="0">
              <a:buNone/>
            </a:pPr>
            <a:r>
              <a:rPr lang="en-US" sz="3200" b="1" dirty="0">
                <a:solidFill>
                  <a:srgbClr val="13253B"/>
                </a:solidFill>
                <a:latin typeface="Cambria" pitchFamily="34" charset="0"/>
                <a:ea typeface="Cambria" pitchFamily="34" charset="-122"/>
                <a:cs typeface="Cambria" pitchFamily="34" charset="-120"/>
              </a:rPr>
              <a:t>Raw Scores: Q · K-Transpose</a:t>
            </a:r>
            <a:endParaRPr lang="en-US" sz="3200" dirty="0"/>
          </a:p>
        </p:txBody>
      </p:sp>
      <p:sp>
        <p:nvSpPr>
          <p:cNvPr id="4" name="Text 2"/>
          <p:cNvSpPr/>
          <p:nvPr/>
        </p:nvSpPr>
        <p:spPr>
          <a:xfrm>
            <a:off x="640080" y="1417320"/>
            <a:ext cx="10881360" cy="594360"/>
          </a:xfrm>
          <a:prstGeom prst="rect">
            <a:avLst/>
          </a:prstGeom>
          <a:noFill/>
          <a:ln/>
        </p:spPr>
        <p:txBody>
          <a:bodyPr wrap="square" lIns="0" tIns="0" rIns="0" bIns="0" rtlCol="0" anchor="ctr"/>
          <a:lstStyle/>
          <a:p>
            <a:pPr indent="0" marL="0">
              <a:lnSpc>
                <a:spcPct val="120000"/>
              </a:lnSpc>
              <a:buNone/>
            </a:pPr>
            <a:r>
              <a:rPr lang="en-US" sz="1300" dirty="0">
                <a:solidFill>
                  <a:srgbClr val="5B7185"/>
                </a:solidFill>
                <a:latin typeface="Calibri" pitchFamily="34" charset="0"/>
                <a:ea typeface="Calibri" pitchFamily="34" charset="-122"/>
                <a:cs typeface="Calibri" pitchFamily="34" charset="-120"/>
              </a:rPr>
              <a:t>Take the sentence “...because it was too tired.” Suppose we're computing attention for the query token “it” against two candidate keys, “animal” and “street”, with d_k = 2.</a:t>
            </a:r>
            <a:endParaRPr lang="en-US" sz="1300" dirty="0"/>
          </a:p>
        </p:txBody>
      </p:sp>
      <p:sp>
        <p:nvSpPr>
          <p:cNvPr id="5" name="Shape 3"/>
          <p:cNvSpPr/>
          <p:nvPr/>
        </p:nvSpPr>
        <p:spPr>
          <a:xfrm>
            <a:off x="640080" y="2148840"/>
            <a:ext cx="3502152" cy="868680"/>
          </a:xfrm>
          <a:prstGeom prst="roundRect">
            <a:avLst>
              <a:gd name="adj" fmla="val 8421"/>
            </a:avLst>
          </a:prstGeom>
          <a:solidFill>
            <a:srgbClr val="EDF3F6"/>
          </a:solidFill>
          <a:ln/>
        </p:spPr>
      </p:sp>
      <p:sp>
        <p:nvSpPr>
          <p:cNvPr id="6" name="Text 4"/>
          <p:cNvSpPr/>
          <p:nvPr/>
        </p:nvSpPr>
        <p:spPr>
          <a:xfrm>
            <a:off x="822960" y="2148840"/>
            <a:ext cx="3136392" cy="868680"/>
          </a:xfrm>
          <a:prstGeom prst="rect">
            <a:avLst/>
          </a:prstGeom>
          <a:noFill/>
          <a:ln/>
        </p:spPr>
        <p:txBody>
          <a:bodyPr wrap="square" lIns="0" tIns="0" rIns="0" bIns="0" rtlCol="0" anchor="ctr"/>
          <a:lstStyle/>
          <a:p>
            <a:pPr indent="0" marL="0">
              <a:buNone/>
            </a:pPr>
            <a:r>
              <a:rPr lang="en-US" sz="1500" b="1" dirty="0">
                <a:solidFill>
                  <a:srgbClr val="13253B"/>
                </a:solidFill>
                <a:latin typeface="Calibri" pitchFamily="34" charset="0"/>
                <a:ea typeface="Calibri" pitchFamily="34" charset="-122"/>
                <a:cs typeface="Calibri" pitchFamily="34" charset="-120"/>
              </a:rPr>
              <a:t>q(it)  =  </a:t>
            </a:r>
            <a:pPr indent="0" marL="0">
              <a:buNone/>
            </a:pPr>
            <a:r>
              <a:rPr lang="en-US" sz="1500" b="1" dirty="0">
                <a:solidFill>
                  <a:srgbClr val="1C7293"/>
                </a:solidFill>
                <a:latin typeface="Courier New" pitchFamily="34" charset="0"/>
                <a:ea typeface="Courier New" pitchFamily="34" charset="-122"/>
                <a:cs typeface="Courier New" pitchFamily="34" charset="-120"/>
              </a:rPr>
              <a:t>[ 1, 0 ]</a:t>
            </a:r>
            <a:endParaRPr lang="en-US" sz="1500" dirty="0"/>
          </a:p>
        </p:txBody>
      </p:sp>
      <p:sp>
        <p:nvSpPr>
          <p:cNvPr id="7" name="Shape 5"/>
          <p:cNvSpPr/>
          <p:nvPr/>
        </p:nvSpPr>
        <p:spPr>
          <a:xfrm>
            <a:off x="4325112" y="2148840"/>
            <a:ext cx="3502152" cy="868680"/>
          </a:xfrm>
          <a:prstGeom prst="roundRect">
            <a:avLst>
              <a:gd name="adj" fmla="val 8421"/>
            </a:avLst>
          </a:prstGeom>
          <a:solidFill>
            <a:srgbClr val="EDF3F6"/>
          </a:solidFill>
          <a:ln/>
        </p:spPr>
      </p:sp>
      <p:sp>
        <p:nvSpPr>
          <p:cNvPr id="8" name="Text 6"/>
          <p:cNvSpPr/>
          <p:nvPr/>
        </p:nvSpPr>
        <p:spPr>
          <a:xfrm>
            <a:off x="4507992" y="2148840"/>
            <a:ext cx="3136392" cy="868680"/>
          </a:xfrm>
          <a:prstGeom prst="rect">
            <a:avLst/>
          </a:prstGeom>
          <a:noFill/>
          <a:ln/>
        </p:spPr>
        <p:txBody>
          <a:bodyPr wrap="square" lIns="0" tIns="0" rIns="0" bIns="0" rtlCol="0" anchor="ctr"/>
          <a:lstStyle/>
          <a:p>
            <a:pPr indent="0" marL="0">
              <a:buNone/>
            </a:pPr>
            <a:r>
              <a:rPr lang="en-US" sz="1500" b="1" dirty="0">
                <a:solidFill>
                  <a:srgbClr val="13253B"/>
                </a:solidFill>
                <a:latin typeface="Calibri" pitchFamily="34" charset="0"/>
                <a:ea typeface="Calibri" pitchFamily="34" charset="-122"/>
                <a:cs typeface="Calibri" pitchFamily="34" charset="-120"/>
              </a:rPr>
              <a:t>k(animal)  =  </a:t>
            </a:r>
            <a:pPr indent="0" marL="0">
              <a:buNone/>
            </a:pPr>
            <a:r>
              <a:rPr lang="en-US" sz="1500" b="1" dirty="0">
                <a:solidFill>
                  <a:srgbClr val="E8983A"/>
                </a:solidFill>
                <a:latin typeface="Courier New" pitchFamily="34" charset="0"/>
                <a:ea typeface="Courier New" pitchFamily="34" charset="-122"/>
                <a:cs typeface="Courier New" pitchFamily="34" charset="-120"/>
              </a:rPr>
              <a:t>[ 1, 1 ]</a:t>
            </a:r>
            <a:endParaRPr lang="en-US" sz="1500" dirty="0"/>
          </a:p>
        </p:txBody>
      </p:sp>
      <p:sp>
        <p:nvSpPr>
          <p:cNvPr id="9" name="Shape 7"/>
          <p:cNvSpPr/>
          <p:nvPr/>
        </p:nvSpPr>
        <p:spPr>
          <a:xfrm>
            <a:off x="8010144" y="2148840"/>
            <a:ext cx="3502152" cy="868680"/>
          </a:xfrm>
          <a:prstGeom prst="roundRect">
            <a:avLst>
              <a:gd name="adj" fmla="val 8421"/>
            </a:avLst>
          </a:prstGeom>
          <a:solidFill>
            <a:srgbClr val="EDF3F6"/>
          </a:solidFill>
          <a:ln/>
        </p:spPr>
      </p:sp>
      <p:sp>
        <p:nvSpPr>
          <p:cNvPr id="10" name="Text 8"/>
          <p:cNvSpPr/>
          <p:nvPr/>
        </p:nvSpPr>
        <p:spPr>
          <a:xfrm>
            <a:off x="8193024" y="2148840"/>
            <a:ext cx="3136392" cy="868680"/>
          </a:xfrm>
          <a:prstGeom prst="rect">
            <a:avLst/>
          </a:prstGeom>
          <a:noFill/>
          <a:ln/>
        </p:spPr>
        <p:txBody>
          <a:bodyPr wrap="square" lIns="0" tIns="0" rIns="0" bIns="0" rtlCol="0" anchor="ctr"/>
          <a:lstStyle/>
          <a:p>
            <a:pPr indent="0" marL="0">
              <a:buNone/>
            </a:pPr>
            <a:r>
              <a:rPr lang="en-US" sz="1500" b="1" dirty="0">
                <a:solidFill>
                  <a:srgbClr val="13253B"/>
                </a:solidFill>
                <a:latin typeface="Calibri" pitchFamily="34" charset="0"/>
                <a:ea typeface="Calibri" pitchFamily="34" charset="-122"/>
                <a:cs typeface="Calibri" pitchFamily="34" charset="-120"/>
              </a:rPr>
              <a:t>k(street)  =  </a:t>
            </a:r>
            <a:pPr indent="0" marL="0">
              <a:buNone/>
            </a:pPr>
            <a:r>
              <a:rPr lang="en-US" sz="1500" b="1" dirty="0">
                <a:solidFill>
                  <a:srgbClr val="E8983A"/>
                </a:solidFill>
                <a:latin typeface="Courier New" pitchFamily="34" charset="0"/>
                <a:ea typeface="Courier New" pitchFamily="34" charset="-122"/>
                <a:cs typeface="Courier New" pitchFamily="34" charset="-120"/>
              </a:rPr>
              <a:t>[ 0, 1 ]</a:t>
            </a:r>
            <a:endParaRPr lang="en-US" sz="1500" dirty="0"/>
          </a:p>
        </p:txBody>
      </p:sp>
      <p:sp>
        <p:nvSpPr>
          <p:cNvPr id="11" name="Text 9"/>
          <p:cNvSpPr/>
          <p:nvPr/>
        </p:nvSpPr>
        <p:spPr>
          <a:xfrm>
            <a:off x="640080" y="3246120"/>
            <a:ext cx="10881360" cy="365760"/>
          </a:xfrm>
          <a:prstGeom prst="rect">
            <a:avLst/>
          </a:prstGeom>
          <a:noFill/>
          <a:ln/>
        </p:spPr>
        <p:txBody>
          <a:bodyPr wrap="square" lIns="0" tIns="0" rIns="0" bIns="0" rtlCol="0" anchor="ctr"/>
          <a:lstStyle/>
          <a:p>
            <a:pPr indent="0" marL="0">
              <a:buNone/>
            </a:pPr>
            <a:r>
              <a:rPr lang="en-US" sz="1300" dirty="0">
                <a:solidFill>
                  <a:srgbClr val="5B7185"/>
                </a:solidFill>
                <a:latin typeface="Calibri" pitchFamily="34" charset="0"/>
                <a:ea typeface="Calibri" pitchFamily="34" charset="-122"/>
                <a:cs typeface="Calibri" pitchFamily="34" charset="-120"/>
              </a:rPr>
              <a:t>The dot product of the query with each key measures how well they align:</a:t>
            </a:r>
            <a:endParaRPr lang="en-US" sz="1300" dirty="0"/>
          </a:p>
        </p:txBody>
      </p:sp>
      <p:sp>
        <p:nvSpPr>
          <p:cNvPr id="12" name="Shape 10"/>
          <p:cNvSpPr/>
          <p:nvPr/>
        </p:nvSpPr>
        <p:spPr>
          <a:xfrm>
            <a:off x="640080" y="3703320"/>
            <a:ext cx="5349240" cy="777240"/>
          </a:xfrm>
          <a:prstGeom prst="roundRect">
            <a:avLst>
              <a:gd name="adj" fmla="val 9412"/>
            </a:avLst>
          </a:prstGeom>
          <a:solidFill>
            <a:srgbClr val="0B1F3A"/>
          </a:solidFill>
          <a:ln/>
        </p:spPr>
      </p:sp>
      <p:sp>
        <p:nvSpPr>
          <p:cNvPr id="13" name="Text 11"/>
          <p:cNvSpPr/>
          <p:nvPr/>
        </p:nvSpPr>
        <p:spPr>
          <a:xfrm>
            <a:off x="868680" y="3703320"/>
            <a:ext cx="4937760" cy="777240"/>
          </a:xfrm>
          <a:prstGeom prst="rect">
            <a:avLst/>
          </a:prstGeom>
          <a:noFill/>
          <a:ln/>
        </p:spPr>
        <p:txBody>
          <a:bodyPr wrap="square" lIns="0" tIns="0" rIns="0" bIns="0" rtlCol="0" anchor="ctr"/>
          <a:lstStyle/>
          <a:p>
            <a:pPr indent="0" marL="0">
              <a:buNone/>
            </a:pPr>
            <a:r>
              <a:rPr lang="en-US" sz="1450" b="1" dirty="0">
                <a:solidFill>
                  <a:srgbClr val="E8983A"/>
                </a:solidFill>
                <a:latin typeface="Courier New" pitchFamily="34" charset="0"/>
                <a:ea typeface="Courier New" pitchFamily="34" charset="-122"/>
                <a:cs typeface="Courier New" pitchFamily="34" charset="-120"/>
              </a:rPr>
              <a:t>q · k(animal)  =  </a:t>
            </a:r>
            <a:pPr indent="0" marL="0">
              <a:buNone/>
            </a:pPr>
            <a:r>
              <a:rPr lang="en-US" sz="1450" dirty="0">
                <a:solidFill>
                  <a:srgbClr val="CFE3EE"/>
                </a:solidFill>
                <a:latin typeface="Courier New" pitchFamily="34" charset="0"/>
                <a:ea typeface="Courier New" pitchFamily="34" charset="-122"/>
                <a:cs typeface="Courier New" pitchFamily="34" charset="-120"/>
              </a:rPr>
              <a:t>(1×1) + (0×1)  </a:t>
            </a:r>
            <a:pPr indent="0" marL="0">
              <a:buNone/>
            </a:pPr>
            <a:r>
              <a:rPr lang="en-US" sz="1450" b="1" dirty="0">
                <a:solidFill>
                  <a:srgbClr val="FFFFFF"/>
                </a:solidFill>
                <a:latin typeface="Courier New" pitchFamily="34" charset="0"/>
                <a:ea typeface="Courier New" pitchFamily="34" charset="-122"/>
                <a:cs typeface="Courier New" pitchFamily="34" charset="-120"/>
              </a:rPr>
              <a:t>= 1</a:t>
            </a:r>
            <a:endParaRPr lang="en-US" sz="1450" dirty="0"/>
          </a:p>
        </p:txBody>
      </p:sp>
      <p:sp>
        <p:nvSpPr>
          <p:cNvPr id="14" name="Shape 12"/>
          <p:cNvSpPr/>
          <p:nvPr/>
        </p:nvSpPr>
        <p:spPr>
          <a:xfrm>
            <a:off x="640080" y="4617720"/>
            <a:ext cx="5349240" cy="777240"/>
          </a:xfrm>
          <a:prstGeom prst="roundRect">
            <a:avLst>
              <a:gd name="adj" fmla="val 9412"/>
            </a:avLst>
          </a:prstGeom>
          <a:solidFill>
            <a:srgbClr val="0B1F3A"/>
          </a:solidFill>
          <a:ln/>
        </p:spPr>
      </p:sp>
      <p:sp>
        <p:nvSpPr>
          <p:cNvPr id="15" name="Text 13"/>
          <p:cNvSpPr/>
          <p:nvPr/>
        </p:nvSpPr>
        <p:spPr>
          <a:xfrm>
            <a:off x="868680" y="4617720"/>
            <a:ext cx="4937760" cy="777240"/>
          </a:xfrm>
          <a:prstGeom prst="rect">
            <a:avLst/>
          </a:prstGeom>
          <a:noFill/>
          <a:ln/>
        </p:spPr>
        <p:txBody>
          <a:bodyPr wrap="square" lIns="0" tIns="0" rIns="0" bIns="0" rtlCol="0" anchor="ctr"/>
          <a:lstStyle/>
          <a:p>
            <a:pPr indent="0" marL="0">
              <a:buNone/>
            </a:pPr>
            <a:r>
              <a:rPr lang="en-US" sz="1450" b="1" dirty="0">
                <a:solidFill>
                  <a:srgbClr val="E8983A"/>
                </a:solidFill>
                <a:latin typeface="Courier New" pitchFamily="34" charset="0"/>
                <a:ea typeface="Courier New" pitchFamily="34" charset="-122"/>
                <a:cs typeface="Courier New" pitchFamily="34" charset="-120"/>
              </a:rPr>
              <a:t>q · k(street)  =  </a:t>
            </a:r>
            <a:pPr indent="0" marL="0">
              <a:buNone/>
            </a:pPr>
            <a:r>
              <a:rPr lang="en-US" sz="1450" dirty="0">
                <a:solidFill>
                  <a:srgbClr val="CFE3EE"/>
                </a:solidFill>
                <a:latin typeface="Courier New" pitchFamily="34" charset="0"/>
                <a:ea typeface="Courier New" pitchFamily="34" charset="-122"/>
                <a:cs typeface="Courier New" pitchFamily="34" charset="-120"/>
              </a:rPr>
              <a:t>(1×0) + (0×1)  </a:t>
            </a:r>
            <a:pPr indent="0" marL="0">
              <a:buNone/>
            </a:pPr>
            <a:r>
              <a:rPr lang="en-US" sz="1450" b="1" dirty="0">
                <a:solidFill>
                  <a:srgbClr val="FFFFFF"/>
                </a:solidFill>
                <a:latin typeface="Courier New" pitchFamily="34" charset="0"/>
                <a:ea typeface="Courier New" pitchFamily="34" charset="-122"/>
                <a:cs typeface="Courier New" pitchFamily="34" charset="-120"/>
              </a:rPr>
              <a:t>= 0</a:t>
            </a:r>
            <a:endParaRPr lang="en-US" sz="1450" dirty="0"/>
          </a:p>
        </p:txBody>
      </p:sp>
      <p:sp>
        <p:nvSpPr>
          <p:cNvPr id="16" name="Text 14"/>
          <p:cNvSpPr/>
          <p:nvPr/>
        </p:nvSpPr>
        <p:spPr>
          <a:xfrm>
            <a:off x="640080" y="5532120"/>
            <a:ext cx="10881360" cy="822960"/>
          </a:xfrm>
          <a:prstGeom prst="rect">
            <a:avLst/>
          </a:prstGeom>
          <a:noFill/>
          <a:ln/>
        </p:spPr>
        <p:txBody>
          <a:bodyPr wrap="square" lIns="0" tIns="0" rIns="0" bIns="0" rtlCol="0" anchor="ctr"/>
          <a:lstStyle/>
          <a:p>
            <a:pPr indent="0" marL="0">
              <a:lnSpc>
                <a:spcPct val="125000"/>
              </a:lnSpc>
              <a:buNone/>
            </a:pPr>
            <a:r>
              <a:rPr lang="en-US" sz="1300" b="1" dirty="0">
                <a:solidFill>
                  <a:srgbClr val="13253B"/>
                </a:solidFill>
                <a:latin typeface="Calibri" pitchFamily="34" charset="0"/>
                <a:ea typeface="Calibri" pitchFamily="34" charset="-122"/>
                <a:cs typeface="Calibri" pitchFamily="34" charset="-120"/>
              </a:rPr>
              <a:t>Result: </a:t>
            </a:r>
            <a:pPr indent="0" marL="0">
              <a:lnSpc>
                <a:spcPct val="125000"/>
              </a:lnSpc>
              <a:buNone/>
            </a:pPr>
            <a:r>
              <a:rPr lang="en-US" sz="1300" dirty="0">
                <a:solidFill>
                  <a:srgbClr val="5B7185"/>
                </a:solidFill>
                <a:latin typeface="Calibri" pitchFamily="34" charset="0"/>
                <a:ea typeface="Calibri" pitchFamily="34" charset="-122"/>
                <a:cs typeface="Calibri" pitchFamily="34" charset="-120"/>
              </a:rPr>
              <a:t>the raw score vector for “it” is [1, 0] — “animal” already looks more relevant than “street”, before any scaling or normalization happens.</a:t>
            </a:r>
            <a:endParaRPr lang="en-US" sz="1300" dirty="0"/>
          </a:p>
        </p:txBody>
      </p:sp>
      <p:sp>
        <p:nvSpPr>
          <p:cNvPr id="17" name="Text 15"/>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640080" y="502920"/>
            <a:ext cx="4572000" cy="320040"/>
          </a:xfrm>
          <a:prstGeom prst="rect">
            <a:avLst/>
          </a:prstGeom>
          <a:noFill/>
          <a:ln/>
        </p:spPr>
        <p:txBody>
          <a:bodyPr wrap="square" lIns="0" tIns="0" rIns="0" bIns="0" rtlCol="0" anchor="ctr"/>
          <a:lstStyle/>
          <a:p>
            <a:pPr indent="0" marL="0">
              <a:buNone/>
            </a:pPr>
            <a:r>
              <a:rPr lang="en-US" sz="1200" b="1" spc="200" kern="0" dirty="0">
                <a:solidFill>
                  <a:srgbClr val="CFE3EE"/>
                </a:solidFill>
                <a:latin typeface="Calibri" pitchFamily="34" charset="0"/>
                <a:ea typeface="Calibri" pitchFamily="34" charset="-122"/>
                <a:cs typeface="Calibri" pitchFamily="34" charset="-120"/>
              </a:rPr>
              <a:t>THE MATHEMATICAL CORE — PART 4</a:t>
            </a:r>
            <a:endParaRPr lang="en-US" sz="1200" dirty="0"/>
          </a:p>
        </p:txBody>
      </p:sp>
      <p:sp>
        <p:nvSpPr>
          <p:cNvPr id="3" name="Text 1"/>
          <p:cNvSpPr/>
          <p:nvPr/>
        </p:nvSpPr>
        <p:spPr>
          <a:xfrm>
            <a:off x="640080" y="777240"/>
            <a:ext cx="82296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Why Divide by √d_k?</a:t>
            </a:r>
            <a:endParaRPr lang="en-US" sz="3200" dirty="0"/>
          </a:p>
        </p:txBody>
      </p:sp>
      <p:sp>
        <p:nvSpPr>
          <p:cNvPr id="4" name="Text 2"/>
          <p:cNvSpPr/>
          <p:nvPr/>
        </p:nvSpPr>
        <p:spPr>
          <a:xfrm>
            <a:off x="640080" y="1463040"/>
            <a:ext cx="10881360" cy="777240"/>
          </a:xfrm>
          <a:prstGeom prst="rect">
            <a:avLst/>
          </a:prstGeom>
          <a:noFill/>
          <a:ln/>
        </p:spPr>
        <p:txBody>
          <a:bodyPr wrap="square" lIns="0" tIns="0" rIns="0" bIns="0" rtlCol="0" anchor="ctr"/>
          <a:lstStyle/>
          <a:p>
            <a:pPr indent="0" marL="0">
              <a:lnSpc>
                <a:spcPct val="130000"/>
              </a:lnSpc>
              <a:buNone/>
            </a:pPr>
            <a:r>
              <a:rPr lang="en-US" sz="1400" dirty="0">
                <a:solidFill>
                  <a:srgbClr val="CFE3EE"/>
                </a:solidFill>
                <a:latin typeface="Calibri" pitchFamily="34" charset="0"/>
                <a:ea typeface="Calibri" pitchFamily="34" charset="-122"/>
                <a:cs typeface="Calibri" pitchFamily="34" charset="-120"/>
              </a:rPr>
              <a:t>If the components of q and k are independent random values with mean 0 and variance 1, their dot product q·k = Σ qᵢkᵢ sums d_k such terms — so its </a:t>
            </a:r>
            <a:pPr indent="0" marL="0">
              <a:lnSpc>
                <a:spcPct val="130000"/>
              </a:lnSpc>
              <a:buNone/>
            </a:pPr>
            <a:r>
              <a:rPr lang="en-US" sz="1400" b="1" dirty="0">
                <a:solidFill>
                  <a:srgbClr val="E8983A"/>
                </a:solidFill>
                <a:latin typeface="Calibri" pitchFamily="34" charset="0"/>
                <a:ea typeface="Calibri" pitchFamily="34" charset="-122"/>
                <a:cs typeface="Calibri" pitchFamily="34" charset="-120"/>
              </a:rPr>
              <a:t>variance grows to d_k</a:t>
            </a:r>
            <a:pPr indent="0" marL="0">
              <a:lnSpc>
                <a:spcPct val="130000"/>
              </a:lnSpc>
              <a:buNone/>
            </a:pPr>
            <a:r>
              <a:rPr lang="en-US" sz="1400" dirty="0">
                <a:solidFill>
                  <a:srgbClr val="CFE3EE"/>
                </a:solidFill>
                <a:latin typeface="Calibri" pitchFamily="34" charset="0"/>
                <a:ea typeface="Calibri" pitchFamily="34" charset="-122"/>
                <a:cs typeface="Calibri" pitchFamily="34" charset="-120"/>
              </a:rPr>
              <a:t> instead of staying at 1.</a:t>
            </a:r>
            <a:endParaRPr lang="en-US" sz="1400" dirty="0"/>
          </a:p>
        </p:txBody>
      </p:sp>
      <p:sp>
        <p:nvSpPr>
          <p:cNvPr id="5" name="Shape 3"/>
          <p:cNvSpPr/>
          <p:nvPr/>
        </p:nvSpPr>
        <p:spPr>
          <a:xfrm>
            <a:off x="640080" y="2377440"/>
            <a:ext cx="10881360" cy="914400"/>
          </a:xfrm>
          <a:prstGeom prst="roundRect">
            <a:avLst>
              <a:gd name="adj" fmla="val 8000"/>
            </a:avLst>
          </a:prstGeom>
          <a:solidFill>
            <a:srgbClr val="13294B"/>
          </a:solidFill>
          <a:ln w="12700">
            <a:solidFill>
              <a:srgbClr val="24446F"/>
            </a:solidFill>
            <a:prstDash val="solid"/>
          </a:ln>
        </p:spPr>
      </p:sp>
      <p:sp>
        <p:nvSpPr>
          <p:cNvPr id="6" name="Text 4"/>
          <p:cNvSpPr/>
          <p:nvPr/>
        </p:nvSpPr>
        <p:spPr>
          <a:xfrm>
            <a:off x="822960" y="2377440"/>
            <a:ext cx="10515600" cy="914400"/>
          </a:xfrm>
          <a:prstGeom prst="rect">
            <a:avLst/>
          </a:prstGeom>
          <a:noFill/>
          <a:ln/>
        </p:spPr>
        <p:txBody>
          <a:bodyPr wrap="square" lIns="0" tIns="0" rIns="0" bIns="0" rtlCol="0" anchor="ctr"/>
          <a:lstStyle/>
          <a:p>
            <a:pPr algn="ctr" indent="0" marL="0">
              <a:buNone/>
            </a:pPr>
            <a:r>
              <a:rPr lang="en-US" sz="1800" b="1" dirty="0">
                <a:solidFill>
                  <a:srgbClr val="E8983A"/>
                </a:solidFill>
                <a:latin typeface="Courier New" pitchFamily="34" charset="0"/>
                <a:ea typeface="Courier New" pitchFamily="34" charset="-122"/>
                <a:cs typeface="Courier New" pitchFamily="34" charset="-120"/>
              </a:rPr>
              <a:t>Var(q · k) = d_k        →        Var(q · k / √d_k) = 1</a:t>
            </a:r>
            <a:endParaRPr lang="en-US" sz="1800" dirty="0"/>
          </a:p>
        </p:txBody>
      </p:sp>
      <p:sp>
        <p:nvSpPr>
          <p:cNvPr id="7" name="Shape 5"/>
          <p:cNvSpPr/>
          <p:nvPr/>
        </p:nvSpPr>
        <p:spPr>
          <a:xfrm>
            <a:off x="640080" y="3657600"/>
            <a:ext cx="128016" cy="128016"/>
          </a:xfrm>
          <a:prstGeom prst="ellipse">
            <a:avLst/>
          </a:prstGeom>
          <a:solidFill>
            <a:srgbClr val="E8983A"/>
          </a:solidFill>
          <a:ln/>
        </p:spPr>
      </p:sp>
      <p:sp>
        <p:nvSpPr>
          <p:cNvPr id="8" name="Text 6"/>
          <p:cNvSpPr/>
          <p:nvPr/>
        </p:nvSpPr>
        <p:spPr>
          <a:xfrm>
            <a:off x="914400" y="3502152"/>
            <a:ext cx="996696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Large dot products → saturated softmax</a:t>
            </a:r>
            <a:endParaRPr lang="en-US" sz="1350" dirty="0"/>
          </a:p>
        </p:txBody>
      </p:sp>
      <p:sp>
        <p:nvSpPr>
          <p:cNvPr id="9" name="Text 7"/>
          <p:cNvSpPr/>
          <p:nvPr/>
        </p:nvSpPr>
        <p:spPr>
          <a:xfrm>
            <a:off x="914400" y="3813048"/>
            <a:ext cx="9966960" cy="457200"/>
          </a:xfrm>
          <a:prstGeom prst="rect">
            <a:avLst/>
          </a:prstGeom>
          <a:noFill/>
          <a:ln/>
        </p:spPr>
        <p:txBody>
          <a:bodyPr wrap="square" lIns="0" tIns="0" rIns="0" bIns="0" rtlCol="0" anchor="ctr"/>
          <a:lstStyle/>
          <a:p>
            <a:pPr indent="0" marL="0">
              <a:lnSpc>
                <a:spcPct val="115000"/>
              </a:lnSpc>
              <a:buNone/>
            </a:pPr>
            <a:r>
              <a:rPr lang="en-US" sz="1150" dirty="0">
                <a:solidFill>
                  <a:srgbClr val="CFE3EE"/>
                </a:solidFill>
                <a:latin typeface="Calibri" pitchFamily="34" charset="0"/>
                <a:ea typeface="Calibri" pitchFamily="34" charset="-122"/>
                <a:cs typeface="Calibri" pitchFamily="34" charset="-120"/>
              </a:rPr>
              <a:t>As d_k grows, scores can become very large in magnitude. softmax(z) pushes extreme values to nearly 0 or 1.</a:t>
            </a:r>
            <a:endParaRPr lang="en-US" sz="1150" dirty="0"/>
          </a:p>
        </p:txBody>
      </p:sp>
      <p:sp>
        <p:nvSpPr>
          <p:cNvPr id="10" name="Shape 8"/>
          <p:cNvSpPr/>
          <p:nvPr/>
        </p:nvSpPr>
        <p:spPr>
          <a:xfrm>
            <a:off x="640080" y="4434840"/>
            <a:ext cx="128016" cy="128016"/>
          </a:xfrm>
          <a:prstGeom prst="ellipse">
            <a:avLst/>
          </a:prstGeom>
          <a:solidFill>
            <a:srgbClr val="E8983A"/>
          </a:solidFill>
          <a:ln/>
        </p:spPr>
      </p:sp>
      <p:sp>
        <p:nvSpPr>
          <p:cNvPr id="11" name="Text 9"/>
          <p:cNvSpPr/>
          <p:nvPr/>
        </p:nvSpPr>
        <p:spPr>
          <a:xfrm>
            <a:off x="914400" y="4279392"/>
            <a:ext cx="996696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Vanishing gradients</a:t>
            </a:r>
            <a:endParaRPr lang="en-US" sz="1350" dirty="0"/>
          </a:p>
        </p:txBody>
      </p:sp>
      <p:sp>
        <p:nvSpPr>
          <p:cNvPr id="12" name="Text 10"/>
          <p:cNvSpPr/>
          <p:nvPr/>
        </p:nvSpPr>
        <p:spPr>
          <a:xfrm>
            <a:off x="914400" y="4590288"/>
            <a:ext cx="9966960" cy="457200"/>
          </a:xfrm>
          <a:prstGeom prst="rect">
            <a:avLst/>
          </a:prstGeom>
          <a:noFill/>
          <a:ln/>
        </p:spPr>
        <p:txBody>
          <a:bodyPr wrap="square" lIns="0" tIns="0" rIns="0" bIns="0" rtlCol="0" anchor="ctr"/>
          <a:lstStyle/>
          <a:p>
            <a:pPr indent="0" marL="0">
              <a:lnSpc>
                <a:spcPct val="115000"/>
              </a:lnSpc>
              <a:buNone/>
            </a:pPr>
            <a:r>
              <a:rPr lang="en-US" sz="1150" dirty="0">
                <a:solidFill>
                  <a:srgbClr val="CFE3EE"/>
                </a:solidFill>
                <a:latin typeface="Calibri" pitchFamily="34" charset="0"/>
                <a:ea typeface="Calibri" pitchFamily="34" charset="-122"/>
                <a:cs typeface="Calibri" pitchFamily="34" charset="-120"/>
              </a:rPr>
              <a:t>A saturated softmax has almost-flat gradients almost everywhere — the model stops learning from those positions.</a:t>
            </a:r>
            <a:endParaRPr lang="en-US" sz="1150" dirty="0"/>
          </a:p>
        </p:txBody>
      </p:sp>
      <p:sp>
        <p:nvSpPr>
          <p:cNvPr id="13" name="Shape 11"/>
          <p:cNvSpPr/>
          <p:nvPr/>
        </p:nvSpPr>
        <p:spPr>
          <a:xfrm>
            <a:off x="640080" y="5212080"/>
            <a:ext cx="128016" cy="128016"/>
          </a:xfrm>
          <a:prstGeom prst="ellipse">
            <a:avLst/>
          </a:prstGeom>
          <a:solidFill>
            <a:srgbClr val="E8983A"/>
          </a:solidFill>
          <a:ln/>
        </p:spPr>
      </p:sp>
      <p:sp>
        <p:nvSpPr>
          <p:cNvPr id="14" name="Text 12"/>
          <p:cNvSpPr/>
          <p:nvPr/>
        </p:nvSpPr>
        <p:spPr>
          <a:xfrm>
            <a:off x="914400" y="5056632"/>
            <a:ext cx="996696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Dividing by √d_k restores stability</a:t>
            </a:r>
            <a:endParaRPr lang="en-US" sz="1350" dirty="0"/>
          </a:p>
        </p:txBody>
      </p:sp>
      <p:sp>
        <p:nvSpPr>
          <p:cNvPr id="15" name="Text 13"/>
          <p:cNvSpPr/>
          <p:nvPr/>
        </p:nvSpPr>
        <p:spPr>
          <a:xfrm>
            <a:off x="914400" y="5367528"/>
            <a:ext cx="9966960" cy="457200"/>
          </a:xfrm>
          <a:prstGeom prst="rect">
            <a:avLst/>
          </a:prstGeom>
          <a:noFill/>
          <a:ln/>
        </p:spPr>
        <p:txBody>
          <a:bodyPr wrap="square" lIns="0" tIns="0" rIns="0" bIns="0" rtlCol="0" anchor="ctr"/>
          <a:lstStyle/>
          <a:p>
            <a:pPr indent="0" marL="0">
              <a:lnSpc>
                <a:spcPct val="115000"/>
              </a:lnSpc>
              <a:buNone/>
            </a:pPr>
            <a:r>
              <a:rPr lang="en-US" sz="1150" dirty="0">
                <a:solidFill>
                  <a:srgbClr val="CFE3EE"/>
                </a:solidFill>
                <a:latin typeface="Calibri" pitchFamily="34" charset="0"/>
                <a:ea typeface="Calibri" pitchFamily="34" charset="-122"/>
                <a:cs typeface="Calibri" pitchFamily="34" charset="-120"/>
              </a:rPr>
              <a:t>Scaling the scores back down keeps the softmax input in a reasonable range, so gradients stay informative throughout training.</a:t>
            </a:r>
            <a:endParaRPr lang="en-US" sz="1150" dirty="0"/>
          </a:p>
        </p:txBody>
      </p:sp>
      <p:sp>
        <p:nvSpPr>
          <p:cNvPr id="16" name="Shape 14"/>
          <p:cNvSpPr/>
          <p:nvPr/>
        </p:nvSpPr>
        <p:spPr>
          <a:xfrm>
            <a:off x="640080" y="5943600"/>
            <a:ext cx="10881360" cy="594360"/>
          </a:xfrm>
          <a:prstGeom prst="roundRect">
            <a:avLst>
              <a:gd name="adj" fmla="val 12308"/>
            </a:avLst>
          </a:prstGeom>
          <a:solidFill>
            <a:srgbClr val="16345C"/>
          </a:solidFill>
          <a:ln/>
        </p:spPr>
      </p:sp>
      <p:sp>
        <p:nvSpPr>
          <p:cNvPr id="17" name="Text 15"/>
          <p:cNvSpPr/>
          <p:nvPr/>
        </p:nvSpPr>
        <p:spPr>
          <a:xfrm>
            <a:off x="822960" y="5943600"/>
            <a:ext cx="10515600" cy="594360"/>
          </a:xfrm>
          <a:prstGeom prst="rect">
            <a:avLst/>
          </a:prstGeom>
          <a:noFill/>
          <a:ln/>
        </p:spPr>
        <p:txBody>
          <a:bodyPr wrap="square" lIns="0" tIns="0" rIns="0" bIns="0" rtlCol="0" anchor="ctr"/>
          <a:lstStyle/>
          <a:p>
            <a:pPr algn="ctr" indent="0" marL="0">
              <a:buNone/>
            </a:pPr>
            <a:r>
              <a:rPr lang="en-US" sz="1300" b="1" dirty="0">
                <a:solidFill>
                  <a:srgbClr val="CFE3EE"/>
                </a:solidFill>
                <a:latin typeface="Courier New" pitchFamily="34" charset="0"/>
                <a:ea typeface="Courier New" pitchFamily="34" charset="-122"/>
                <a:cs typeface="Courier New" pitchFamily="34" charset="-120"/>
              </a:rPr>
              <a:t>Continuing the example (d_k = 2, √2 ≈ 1.414):   scaled scores = [1, 0] / 1.414  =  [0.707, 0]</a:t>
            </a:r>
            <a:endParaRPr lang="en-US" sz="1300" dirty="0"/>
          </a:p>
        </p:txBody>
      </p:sp>
      <p:sp>
        <p:nvSpPr>
          <p:cNvPr id="18" name="Text 16"/>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6E8AA6"/>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640080" y="502920"/>
            <a:ext cx="45720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MATHEMATICAL CORE — PART 5</a:t>
            </a:r>
            <a:endParaRPr lang="en-US" sz="1200" dirty="0"/>
          </a:p>
        </p:txBody>
      </p:sp>
      <p:sp>
        <p:nvSpPr>
          <p:cNvPr id="3" name="Text 1"/>
          <p:cNvSpPr/>
          <p:nvPr/>
        </p:nvSpPr>
        <p:spPr>
          <a:xfrm>
            <a:off x="640080" y="777240"/>
            <a:ext cx="9144000" cy="731520"/>
          </a:xfrm>
          <a:prstGeom prst="rect">
            <a:avLst/>
          </a:prstGeom>
          <a:noFill/>
          <a:ln/>
        </p:spPr>
        <p:txBody>
          <a:bodyPr wrap="square" lIns="0" tIns="0" rIns="0" bIns="0" rtlCol="0" anchor="ctr"/>
          <a:lstStyle/>
          <a:p>
            <a:pPr indent="0" marL="0">
              <a:buNone/>
            </a:pPr>
            <a:r>
              <a:rPr lang="en-US" sz="3000" b="1" dirty="0">
                <a:solidFill>
                  <a:srgbClr val="13253B"/>
                </a:solidFill>
                <a:latin typeface="Cambria" pitchFamily="34" charset="0"/>
                <a:ea typeface="Cambria" pitchFamily="34" charset="-122"/>
                <a:cs typeface="Cambria" pitchFamily="34" charset="-120"/>
              </a:rPr>
              <a:t>Softmax: Scores to Probabilities</a:t>
            </a:r>
            <a:endParaRPr lang="en-US" sz="3000" dirty="0"/>
          </a:p>
        </p:txBody>
      </p:sp>
      <p:sp>
        <p:nvSpPr>
          <p:cNvPr id="4" name="Shape 2"/>
          <p:cNvSpPr/>
          <p:nvPr/>
        </p:nvSpPr>
        <p:spPr>
          <a:xfrm>
            <a:off x="640080" y="1554480"/>
            <a:ext cx="10881360" cy="960120"/>
          </a:xfrm>
          <a:prstGeom prst="roundRect">
            <a:avLst>
              <a:gd name="adj" fmla="val 7619"/>
            </a:avLst>
          </a:prstGeom>
          <a:solidFill>
            <a:srgbClr val="0B1F3A"/>
          </a:solidFill>
          <a:ln/>
        </p:spPr>
      </p:sp>
      <p:sp>
        <p:nvSpPr>
          <p:cNvPr id="5" name="Text 3"/>
          <p:cNvSpPr/>
          <p:nvPr/>
        </p:nvSpPr>
        <p:spPr>
          <a:xfrm>
            <a:off x="822960" y="1554480"/>
            <a:ext cx="10515600" cy="960120"/>
          </a:xfrm>
          <a:prstGeom prst="rect">
            <a:avLst/>
          </a:prstGeom>
          <a:no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softmax(zᵢ) = e^zᵢ / Σⱼ e^zⱼ</a:t>
            </a:r>
            <a:endParaRPr lang="en-US" sz="2200" dirty="0"/>
          </a:p>
        </p:txBody>
      </p:sp>
      <p:sp>
        <p:nvSpPr>
          <p:cNvPr id="6" name="Text 4"/>
          <p:cNvSpPr/>
          <p:nvPr/>
        </p:nvSpPr>
        <p:spPr>
          <a:xfrm>
            <a:off x="640080" y="2606040"/>
            <a:ext cx="10881360" cy="502920"/>
          </a:xfrm>
          <a:prstGeom prst="rect">
            <a:avLst/>
          </a:prstGeom>
          <a:noFill/>
          <a:ln/>
        </p:spPr>
        <p:txBody>
          <a:bodyPr wrap="square" lIns="0" tIns="0" rIns="0" bIns="0" rtlCol="0" anchor="ctr"/>
          <a:lstStyle/>
          <a:p>
            <a:pPr indent="0" marL="0">
              <a:lnSpc>
                <a:spcPct val="120000"/>
              </a:lnSpc>
              <a:buNone/>
            </a:pPr>
            <a:r>
              <a:rPr lang="en-US" sz="1300" dirty="0">
                <a:solidFill>
                  <a:srgbClr val="5B7185"/>
                </a:solidFill>
                <a:latin typeface="Calibri" pitchFamily="34" charset="0"/>
                <a:ea typeface="Calibri" pitchFamily="34" charset="-122"/>
                <a:cs typeface="Calibri" pitchFamily="34" charset="-120"/>
              </a:rPr>
              <a:t>Exponentiate every score, then divide by the sum of all the exponentials in that row — the result is a probability distribution that sums to exactly 1.</a:t>
            </a:r>
            <a:endParaRPr lang="en-US" sz="1300" dirty="0"/>
          </a:p>
        </p:txBody>
      </p:sp>
      <p:sp>
        <p:nvSpPr>
          <p:cNvPr id="7" name="Shape 5"/>
          <p:cNvSpPr/>
          <p:nvPr/>
        </p:nvSpPr>
        <p:spPr>
          <a:xfrm>
            <a:off x="640080" y="3291840"/>
            <a:ext cx="3200400" cy="566928"/>
          </a:xfrm>
          <a:prstGeom prst="rect">
            <a:avLst/>
          </a:prstGeom>
          <a:solidFill>
            <a:srgbClr val="0B1F3A"/>
          </a:solidFill>
          <a:ln w="9525">
            <a:solidFill>
              <a:srgbClr val="DCE4EA"/>
            </a:solidFill>
            <a:prstDash val="solid"/>
          </a:ln>
        </p:spPr>
      </p:sp>
      <p:sp>
        <p:nvSpPr>
          <p:cNvPr id="8" name="Text 6"/>
          <p:cNvSpPr/>
          <p:nvPr/>
        </p:nvSpPr>
        <p:spPr>
          <a:xfrm>
            <a:off x="777240" y="3291840"/>
            <a:ext cx="2926080" cy="566928"/>
          </a:xfrm>
          <a:prstGeom prst="rect">
            <a:avLst/>
          </a:prstGeom>
          <a:noFill/>
          <a:ln/>
        </p:spPr>
        <p:txBody>
          <a:bodyPr wrap="square" lIns="0" tIns="0" rIns="0" bIns="0" rtlCol="0" anchor="ctr"/>
          <a:lstStyle/>
          <a:p>
            <a:pPr algn="l" indent="0" marL="0">
              <a:buNone/>
            </a:pPr>
            <a:endParaRPr lang="en-US" sz="1250" dirty="0"/>
          </a:p>
        </p:txBody>
      </p:sp>
      <p:sp>
        <p:nvSpPr>
          <p:cNvPr id="9" name="Shape 7"/>
          <p:cNvSpPr/>
          <p:nvPr/>
        </p:nvSpPr>
        <p:spPr>
          <a:xfrm>
            <a:off x="3840480" y="3291840"/>
            <a:ext cx="3840480" cy="566928"/>
          </a:xfrm>
          <a:prstGeom prst="rect">
            <a:avLst/>
          </a:prstGeom>
          <a:solidFill>
            <a:srgbClr val="0B1F3A"/>
          </a:solidFill>
          <a:ln w="9525">
            <a:solidFill>
              <a:srgbClr val="DCE4EA"/>
            </a:solidFill>
            <a:prstDash val="solid"/>
          </a:ln>
        </p:spPr>
      </p:sp>
      <p:sp>
        <p:nvSpPr>
          <p:cNvPr id="10" name="Text 8"/>
          <p:cNvSpPr/>
          <p:nvPr/>
        </p:nvSpPr>
        <p:spPr>
          <a:xfrm>
            <a:off x="3977640" y="3291840"/>
            <a:ext cx="356616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“animal”</a:t>
            </a:r>
            <a:endParaRPr lang="en-US" sz="1250" dirty="0"/>
          </a:p>
        </p:txBody>
      </p:sp>
      <p:sp>
        <p:nvSpPr>
          <p:cNvPr id="11" name="Shape 9"/>
          <p:cNvSpPr/>
          <p:nvPr/>
        </p:nvSpPr>
        <p:spPr>
          <a:xfrm>
            <a:off x="7680960" y="3291840"/>
            <a:ext cx="3840480" cy="566928"/>
          </a:xfrm>
          <a:prstGeom prst="rect">
            <a:avLst/>
          </a:prstGeom>
          <a:solidFill>
            <a:srgbClr val="0B1F3A"/>
          </a:solidFill>
          <a:ln w="9525">
            <a:solidFill>
              <a:srgbClr val="DCE4EA"/>
            </a:solidFill>
            <a:prstDash val="solid"/>
          </a:ln>
        </p:spPr>
      </p:sp>
      <p:sp>
        <p:nvSpPr>
          <p:cNvPr id="12" name="Text 10"/>
          <p:cNvSpPr/>
          <p:nvPr/>
        </p:nvSpPr>
        <p:spPr>
          <a:xfrm>
            <a:off x="7818120" y="3291840"/>
            <a:ext cx="356616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“street”</a:t>
            </a:r>
            <a:endParaRPr lang="en-US" sz="1250" dirty="0"/>
          </a:p>
        </p:txBody>
      </p:sp>
      <p:sp>
        <p:nvSpPr>
          <p:cNvPr id="13" name="Shape 11"/>
          <p:cNvSpPr/>
          <p:nvPr/>
        </p:nvSpPr>
        <p:spPr>
          <a:xfrm>
            <a:off x="640080" y="3858768"/>
            <a:ext cx="3200400" cy="566928"/>
          </a:xfrm>
          <a:prstGeom prst="rect">
            <a:avLst/>
          </a:prstGeom>
          <a:solidFill>
            <a:srgbClr val="FFFFFF"/>
          </a:solidFill>
          <a:ln w="9525">
            <a:solidFill>
              <a:srgbClr val="DCE4EA"/>
            </a:solidFill>
            <a:prstDash val="solid"/>
          </a:ln>
        </p:spPr>
      </p:sp>
      <p:sp>
        <p:nvSpPr>
          <p:cNvPr id="14" name="Text 12"/>
          <p:cNvSpPr/>
          <p:nvPr/>
        </p:nvSpPr>
        <p:spPr>
          <a:xfrm>
            <a:off x="777240" y="3858768"/>
            <a:ext cx="2926080" cy="566928"/>
          </a:xfrm>
          <a:prstGeom prst="rect">
            <a:avLst/>
          </a:prstGeom>
          <a:noFill/>
          <a:ln/>
        </p:spPr>
        <p:txBody>
          <a:bodyPr wrap="square" lIns="0" tIns="0" rIns="0" bIns="0" rtlCol="0" anchor="ctr"/>
          <a:lstStyle/>
          <a:p>
            <a:pPr algn="l" indent="0" marL="0">
              <a:buNone/>
            </a:pPr>
            <a:r>
              <a:rPr lang="en-US" sz="1250" b="1" dirty="0">
                <a:solidFill>
                  <a:srgbClr val="13253B"/>
                </a:solidFill>
                <a:latin typeface="Calibri" pitchFamily="34" charset="0"/>
                <a:ea typeface="Calibri" pitchFamily="34" charset="-122"/>
                <a:cs typeface="Calibri" pitchFamily="34" charset="-120"/>
              </a:rPr>
              <a:t>scaled score</a:t>
            </a:r>
            <a:endParaRPr lang="en-US" sz="1250" dirty="0"/>
          </a:p>
        </p:txBody>
      </p:sp>
      <p:sp>
        <p:nvSpPr>
          <p:cNvPr id="15" name="Shape 13"/>
          <p:cNvSpPr/>
          <p:nvPr/>
        </p:nvSpPr>
        <p:spPr>
          <a:xfrm>
            <a:off x="3840480" y="3858768"/>
            <a:ext cx="3840480" cy="566928"/>
          </a:xfrm>
          <a:prstGeom prst="rect">
            <a:avLst/>
          </a:prstGeom>
          <a:solidFill>
            <a:srgbClr val="FFFFFF"/>
          </a:solidFill>
          <a:ln w="9525">
            <a:solidFill>
              <a:srgbClr val="DCE4EA"/>
            </a:solidFill>
            <a:prstDash val="solid"/>
          </a:ln>
        </p:spPr>
      </p:sp>
      <p:sp>
        <p:nvSpPr>
          <p:cNvPr id="16" name="Text 14"/>
          <p:cNvSpPr/>
          <p:nvPr/>
        </p:nvSpPr>
        <p:spPr>
          <a:xfrm>
            <a:off x="3977640" y="3858768"/>
            <a:ext cx="3566160" cy="566928"/>
          </a:xfrm>
          <a:prstGeom prst="rect">
            <a:avLst/>
          </a:prstGeom>
          <a:noFill/>
          <a:ln/>
        </p:spPr>
        <p:txBody>
          <a:bodyPr wrap="square" lIns="0" tIns="0" rIns="0" bIns="0" rtlCol="0" anchor="ctr"/>
          <a:lstStyle/>
          <a:p>
            <a:pPr algn="ctr" indent="0" marL="0">
              <a:buNone/>
            </a:pPr>
            <a:r>
              <a:rPr lang="en-US" sz="1250" dirty="0">
                <a:solidFill>
                  <a:srgbClr val="13253B"/>
                </a:solidFill>
                <a:latin typeface="Courier New" pitchFamily="34" charset="0"/>
                <a:ea typeface="Courier New" pitchFamily="34" charset="-122"/>
                <a:cs typeface="Courier New" pitchFamily="34" charset="-120"/>
              </a:rPr>
              <a:t>0.707</a:t>
            </a:r>
            <a:endParaRPr lang="en-US" sz="1250" dirty="0"/>
          </a:p>
        </p:txBody>
      </p:sp>
      <p:sp>
        <p:nvSpPr>
          <p:cNvPr id="17" name="Shape 15"/>
          <p:cNvSpPr/>
          <p:nvPr/>
        </p:nvSpPr>
        <p:spPr>
          <a:xfrm>
            <a:off x="7680960" y="3858768"/>
            <a:ext cx="3840480" cy="566928"/>
          </a:xfrm>
          <a:prstGeom prst="rect">
            <a:avLst/>
          </a:prstGeom>
          <a:solidFill>
            <a:srgbClr val="FFFFFF"/>
          </a:solidFill>
          <a:ln w="9525">
            <a:solidFill>
              <a:srgbClr val="DCE4EA"/>
            </a:solidFill>
            <a:prstDash val="solid"/>
          </a:ln>
        </p:spPr>
      </p:sp>
      <p:sp>
        <p:nvSpPr>
          <p:cNvPr id="18" name="Text 16"/>
          <p:cNvSpPr/>
          <p:nvPr/>
        </p:nvSpPr>
        <p:spPr>
          <a:xfrm>
            <a:off x="7818120" y="3858768"/>
            <a:ext cx="3566160" cy="566928"/>
          </a:xfrm>
          <a:prstGeom prst="rect">
            <a:avLst/>
          </a:prstGeom>
          <a:noFill/>
          <a:ln/>
        </p:spPr>
        <p:txBody>
          <a:bodyPr wrap="square" lIns="0" tIns="0" rIns="0" bIns="0" rtlCol="0" anchor="ctr"/>
          <a:lstStyle/>
          <a:p>
            <a:pPr algn="ctr" indent="0" marL="0">
              <a:buNone/>
            </a:pPr>
            <a:r>
              <a:rPr lang="en-US" sz="1250" dirty="0">
                <a:solidFill>
                  <a:srgbClr val="13253B"/>
                </a:solidFill>
                <a:latin typeface="Courier New" pitchFamily="34" charset="0"/>
                <a:ea typeface="Courier New" pitchFamily="34" charset="-122"/>
                <a:cs typeface="Courier New" pitchFamily="34" charset="-120"/>
              </a:rPr>
              <a:t>0</a:t>
            </a:r>
            <a:endParaRPr lang="en-US" sz="1250" dirty="0"/>
          </a:p>
        </p:txBody>
      </p:sp>
      <p:sp>
        <p:nvSpPr>
          <p:cNvPr id="19" name="Shape 17"/>
          <p:cNvSpPr/>
          <p:nvPr/>
        </p:nvSpPr>
        <p:spPr>
          <a:xfrm>
            <a:off x="640080" y="4425696"/>
            <a:ext cx="3200400" cy="566928"/>
          </a:xfrm>
          <a:prstGeom prst="rect">
            <a:avLst/>
          </a:prstGeom>
          <a:solidFill>
            <a:srgbClr val="EDF3F6"/>
          </a:solidFill>
          <a:ln w="9525">
            <a:solidFill>
              <a:srgbClr val="DCE4EA"/>
            </a:solidFill>
            <a:prstDash val="solid"/>
          </a:ln>
        </p:spPr>
      </p:sp>
      <p:sp>
        <p:nvSpPr>
          <p:cNvPr id="20" name="Text 18"/>
          <p:cNvSpPr/>
          <p:nvPr/>
        </p:nvSpPr>
        <p:spPr>
          <a:xfrm>
            <a:off x="777240" y="4425696"/>
            <a:ext cx="2926080" cy="566928"/>
          </a:xfrm>
          <a:prstGeom prst="rect">
            <a:avLst/>
          </a:prstGeom>
          <a:noFill/>
          <a:ln/>
        </p:spPr>
        <p:txBody>
          <a:bodyPr wrap="square" lIns="0" tIns="0" rIns="0" bIns="0" rtlCol="0" anchor="ctr"/>
          <a:lstStyle/>
          <a:p>
            <a:pPr algn="l" indent="0" marL="0">
              <a:buNone/>
            </a:pPr>
            <a:r>
              <a:rPr lang="en-US" sz="1250" b="1" dirty="0">
                <a:solidFill>
                  <a:srgbClr val="13253B"/>
                </a:solidFill>
                <a:latin typeface="Calibri" pitchFamily="34" charset="0"/>
                <a:ea typeface="Calibri" pitchFamily="34" charset="-122"/>
                <a:cs typeface="Calibri" pitchFamily="34" charset="-120"/>
              </a:rPr>
              <a:t>e^score</a:t>
            </a:r>
            <a:endParaRPr lang="en-US" sz="1250" dirty="0"/>
          </a:p>
        </p:txBody>
      </p:sp>
      <p:sp>
        <p:nvSpPr>
          <p:cNvPr id="21" name="Shape 19"/>
          <p:cNvSpPr/>
          <p:nvPr/>
        </p:nvSpPr>
        <p:spPr>
          <a:xfrm>
            <a:off x="3840480" y="4425696"/>
            <a:ext cx="3840480" cy="566928"/>
          </a:xfrm>
          <a:prstGeom prst="rect">
            <a:avLst/>
          </a:prstGeom>
          <a:solidFill>
            <a:srgbClr val="EDF3F6"/>
          </a:solidFill>
          <a:ln w="9525">
            <a:solidFill>
              <a:srgbClr val="DCE4EA"/>
            </a:solidFill>
            <a:prstDash val="solid"/>
          </a:ln>
        </p:spPr>
      </p:sp>
      <p:sp>
        <p:nvSpPr>
          <p:cNvPr id="22" name="Text 20"/>
          <p:cNvSpPr/>
          <p:nvPr/>
        </p:nvSpPr>
        <p:spPr>
          <a:xfrm>
            <a:off x="3977640" y="4425696"/>
            <a:ext cx="3566160" cy="566928"/>
          </a:xfrm>
          <a:prstGeom prst="rect">
            <a:avLst/>
          </a:prstGeom>
          <a:noFill/>
          <a:ln/>
        </p:spPr>
        <p:txBody>
          <a:bodyPr wrap="square" lIns="0" tIns="0" rIns="0" bIns="0" rtlCol="0" anchor="ctr"/>
          <a:lstStyle/>
          <a:p>
            <a:pPr algn="ctr" indent="0" marL="0">
              <a:buNone/>
            </a:pPr>
            <a:r>
              <a:rPr lang="en-US" sz="1250" dirty="0">
                <a:solidFill>
                  <a:srgbClr val="13253B"/>
                </a:solidFill>
                <a:latin typeface="Courier New" pitchFamily="34" charset="0"/>
                <a:ea typeface="Courier New" pitchFamily="34" charset="-122"/>
                <a:cs typeface="Courier New" pitchFamily="34" charset="-120"/>
              </a:rPr>
              <a:t>e^0.707 ≈ 2.028</a:t>
            </a:r>
            <a:endParaRPr lang="en-US" sz="1250" dirty="0"/>
          </a:p>
        </p:txBody>
      </p:sp>
      <p:sp>
        <p:nvSpPr>
          <p:cNvPr id="23" name="Shape 21"/>
          <p:cNvSpPr/>
          <p:nvPr/>
        </p:nvSpPr>
        <p:spPr>
          <a:xfrm>
            <a:off x="7680960" y="4425696"/>
            <a:ext cx="3840480" cy="566928"/>
          </a:xfrm>
          <a:prstGeom prst="rect">
            <a:avLst/>
          </a:prstGeom>
          <a:solidFill>
            <a:srgbClr val="EDF3F6"/>
          </a:solidFill>
          <a:ln w="9525">
            <a:solidFill>
              <a:srgbClr val="DCE4EA"/>
            </a:solidFill>
            <a:prstDash val="solid"/>
          </a:ln>
        </p:spPr>
      </p:sp>
      <p:sp>
        <p:nvSpPr>
          <p:cNvPr id="24" name="Text 22"/>
          <p:cNvSpPr/>
          <p:nvPr/>
        </p:nvSpPr>
        <p:spPr>
          <a:xfrm>
            <a:off x="7818120" y="4425696"/>
            <a:ext cx="3566160" cy="566928"/>
          </a:xfrm>
          <a:prstGeom prst="rect">
            <a:avLst/>
          </a:prstGeom>
          <a:noFill/>
          <a:ln/>
        </p:spPr>
        <p:txBody>
          <a:bodyPr wrap="square" lIns="0" tIns="0" rIns="0" bIns="0" rtlCol="0" anchor="ctr"/>
          <a:lstStyle/>
          <a:p>
            <a:pPr algn="ctr" indent="0" marL="0">
              <a:buNone/>
            </a:pPr>
            <a:r>
              <a:rPr lang="en-US" sz="1250" dirty="0">
                <a:solidFill>
                  <a:srgbClr val="13253B"/>
                </a:solidFill>
                <a:latin typeface="Courier New" pitchFamily="34" charset="0"/>
                <a:ea typeface="Courier New" pitchFamily="34" charset="-122"/>
                <a:cs typeface="Courier New" pitchFamily="34" charset="-120"/>
              </a:rPr>
              <a:t>e^0 = 1</a:t>
            </a:r>
            <a:endParaRPr lang="en-US" sz="1250" dirty="0"/>
          </a:p>
        </p:txBody>
      </p:sp>
      <p:sp>
        <p:nvSpPr>
          <p:cNvPr id="25" name="Shape 23"/>
          <p:cNvSpPr/>
          <p:nvPr/>
        </p:nvSpPr>
        <p:spPr>
          <a:xfrm>
            <a:off x="640080" y="4992624"/>
            <a:ext cx="3200400" cy="566928"/>
          </a:xfrm>
          <a:prstGeom prst="rect">
            <a:avLst/>
          </a:prstGeom>
          <a:solidFill>
            <a:srgbClr val="DCEBF0"/>
          </a:solidFill>
          <a:ln w="9525">
            <a:solidFill>
              <a:srgbClr val="DCE4EA"/>
            </a:solidFill>
            <a:prstDash val="solid"/>
          </a:ln>
        </p:spPr>
      </p:sp>
      <p:sp>
        <p:nvSpPr>
          <p:cNvPr id="26" name="Text 24"/>
          <p:cNvSpPr/>
          <p:nvPr/>
        </p:nvSpPr>
        <p:spPr>
          <a:xfrm>
            <a:off x="777240" y="4992624"/>
            <a:ext cx="2926080" cy="566928"/>
          </a:xfrm>
          <a:prstGeom prst="rect">
            <a:avLst/>
          </a:prstGeom>
          <a:noFill/>
          <a:ln/>
        </p:spPr>
        <p:txBody>
          <a:bodyPr wrap="square" lIns="0" tIns="0" rIns="0" bIns="0" rtlCol="0" anchor="ctr"/>
          <a:lstStyle/>
          <a:p>
            <a:pPr algn="l" indent="0" marL="0">
              <a:buNone/>
            </a:pPr>
            <a:r>
              <a:rPr lang="en-US" sz="1250" b="1" dirty="0">
                <a:solidFill>
                  <a:srgbClr val="13253B"/>
                </a:solidFill>
                <a:latin typeface="Calibri" pitchFamily="34" charset="0"/>
                <a:ea typeface="Calibri" pitchFamily="34" charset="-122"/>
                <a:cs typeface="Calibri" pitchFamily="34" charset="-120"/>
              </a:rPr>
              <a:t>÷ sum (2.028 + 1 = 3.028)</a:t>
            </a:r>
            <a:endParaRPr lang="en-US" sz="1250" dirty="0"/>
          </a:p>
        </p:txBody>
      </p:sp>
      <p:sp>
        <p:nvSpPr>
          <p:cNvPr id="27" name="Shape 25"/>
          <p:cNvSpPr/>
          <p:nvPr/>
        </p:nvSpPr>
        <p:spPr>
          <a:xfrm>
            <a:off x="3840480" y="4992624"/>
            <a:ext cx="3840480" cy="566928"/>
          </a:xfrm>
          <a:prstGeom prst="rect">
            <a:avLst/>
          </a:prstGeom>
          <a:solidFill>
            <a:srgbClr val="DCEBF0"/>
          </a:solidFill>
          <a:ln w="9525">
            <a:solidFill>
              <a:srgbClr val="DCE4EA"/>
            </a:solidFill>
            <a:prstDash val="solid"/>
          </a:ln>
        </p:spPr>
      </p:sp>
      <p:sp>
        <p:nvSpPr>
          <p:cNvPr id="28" name="Text 26"/>
          <p:cNvSpPr/>
          <p:nvPr/>
        </p:nvSpPr>
        <p:spPr>
          <a:xfrm>
            <a:off x="3977640" y="4992624"/>
            <a:ext cx="3566160" cy="566928"/>
          </a:xfrm>
          <a:prstGeom prst="rect">
            <a:avLst/>
          </a:prstGeom>
          <a:noFill/>
          <a:ln/>
        </p:spPr>
        <p:txBody>
          <a:bodyPr wrap="square" lIns="0" tIns="0" rIns="0" bIns="0" rtlCol="0" anchor="ctr"/>
          <a:lstStyle/>
          <a:p>
            <a:pPr algn="ctr" indent="0" marL="0">
              <a:buNone/>
            </a:pPr>
            <a:r>
              <a:rPr lang="en-US" sz="1250" b="1" dirty="0">
                <a:solidFill>
                  <a:srgbClr val="13253B"/>
                </a:solidFill>
                <a:latin typeface="Courier New" pitchFamily="34" charset="0"/>
                <a:ea typeface="Courier New" pitchFamily="34" charset="-122"/>
                <a:cs typeface="Courier New" pitchFamily="34" charset="-120"/>
              </a:rPr>
              <a:t>0.670</a:t>
            </a:r>
            <a:endParaRPr lang="en-US" sz="1250" dirty="0"/>
          </a:p>
        </p:txBody>
      </p:sp>
      <p:sp>
        <p:nvSpPr>
          <p:cNvPr id="29" name="Shape 27"/>
          <p:cNvSpPr/>
          <p:nvPr/>
        </p:nvSpPr>
        <p:spPr>
          <a:xfrm>
            <a:off x="7680960" y="4992624"/>
            <a:ext cx="3840480" cy="566928"/>
          </a:xfrm>
          <a:prstGeom prst="rect">
            <a:avLst/>
          </a:prstGeom>
          <a:solidFill>
            <a:srgbClr val="DCEBF0"/>
          </a:solidFill>
          <a:ln w="9525">
            <a:solidFill>
              <a:srgbClr val="DCE4EA"/>
            </a:solidFill>
            <a:prstDash val="solid"/>
          </a:ln>
        </p:spPr>
      </p:sp>
      <p:sp>
        <p:nvSpPr>
          <p:cNvPr id="30" name="Text 28"/>
          <p:cNvSpPr/>
          <p:nvPr/>
        </p:nvSpPr>
        <p:spPr>
          <a:xfrm>
            <a:off x="7818120" y="4992624"/>
            <a:ext cx="3566160" cy="566928"/>
          </a:xfrm>
          <a:prstGeom prst="rect">
            <a:avLst/>
          </a:prstGeom>
          <a:noFill/>
          <a:ln/>
        </p:spPr>
        <p:txBody>
          <a:bodyPr wrap="square" lIns="0" tIns="0" rIns="0" bIns="0" rtlCol="0" anchor="ctr"/>
          <a:lstStyle/>
          <a:p>
            <a:pPr algn="ctr" indent="0" marL="0">
              <a:buNone/>
            </a:pPr>
            <a:r>
              <a:rPr lang="en-US" sz="1250" b="1" dirty="0">
                <a:solidFill>
                  <a:srgbClr val="13253B"/>
                </a:solidFill>
                <a:latin typeface="Courier New" pitchFamily="34" charset="0"/>
                <a:ea typeface="Courier New" pitchFamily="34" charset="-122"/>
                <a:cs typeface="Courier New" pitchFamily="34" charset="-120"/>
              </a:rPr>
              <a:t>0.330</a:t>
            </a:r>
            <a:endParaRPr lang="en-US" sz="1250" dirty="0"/>
          </a:p>
        </p:txBody>
      </p:sp>
      <p:sp>
        <p:nvSpPr>
          <p:cNvPr id="31" name="Shape 29"/>
          <p:cNvSpPr/>
          <p:nvPr/>
        </p:nvSpPr>
        <p:spPr>
          <a:xfrm>
            <a:off x="640080" y="5833872"/>
            <a:ext cx="10881360" cy="1005840"/>
          </a:xfrm>
          <a:prstGeom prst="roundRect">
            <a:avLst>
              <a:gd name="adj" fmla="val 7273"/>
            </a:avLst>
          </a:prstGeom>
          <a:solidFill>
            <a:srgbClr val="E8983A"/>
          </a:solidFill>
          <a:ln/>
        </p:spPr>
      </p:sp>
      <p:sp>
        <p:nvSpPr>
          <p:cNvPr id="32" name="Text 30"/>
          <p:cNvSpPr/>
          <p:nvPr/>
        </p:nvSpPr>
        <p:spPr>
          <a:xfrm>
            <a:off x="868680" y="5833872"/>
            <a:ext cx="10424160" cy="1005840"/>
          </a:xfrm>
          <a:prstGeom prst="rect">
            <a:avLst/>
          </a:prstGeom>
          <a:noFill/>
          <a:ln/>
        </p:spPr>
        <p:txBody>
          <a:bodyPr wrap="square" lIns="0" tIns="0" rIns="0" bIns="0" rtlCol="0" anchor="ctr"/>
          <a:lstStyle/>
          <a:p>
            <a:pPr indent="0" marL="0">
              <a:lnSpc>
                <a:spcPct val="120000"/>
              </a:lnSpc>
              <a:buNone/>
            </a:pPr>
            <a:r>
              <a:rPr lang="en-US" sz="1400" b="1" dirty="0">
                <a:solidFill>
                  <a:srgbClr val="0B1F3A"/>
                </a:solidFill>
                <a:latin typeface="Calibri" pitchFamily="34" charset="0"/>
                <a:ea typeface="Calibri" pitchFamily="34" charset="-122"/>
                <a:cs typeface="Calibri" pitchFamily="34" charset="-120"/>
              </a:rPr>
              <a:t>Result: </a:t>
            </a:r>
            <a:pPr indent="0" marL="0">
              <a:lnSpc>
                <a:spcPct val="120000"/>
              </a:lnSpc>
              <a:buNone/>
            </a:pPr>
            <a:r>
              <a:rPr lang="en-US" sz="1400" dirty="0">
                <a:solidFill>
                  <a:srgbClr val="0B1F3A"/>
                </a:solidFill>
                <a:latin typeface="Calibri" pitchFamily="34" charset="0"/>
                <a:ea typeface="Calibri" pitchFamily="34" charset="-122"/>
                <a:cs typeface="Calibri" pitchFamily="34" charset="-120"/>
              </a:rPr>
              <a:t>the attention weights are 67% on “animal” and 33% on “street” — confirming what intuition already told us in the earlier example.</a:t>
            </a:r>
            <a:endParaRPr lang="en-US" sz="1400" dirty="0"/>
          </a:p>
        </p:txBody>
      </p:sp>
      <p:sp>
        <p:nvSpPr>
          <p:cNvPr id="33" name="Text 31"/>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640080" y="502920"/>
            <a:ext cx="45720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MATHEMATICAL CORE — PART 6 · PUTTING IT TOGETHER</a:t>
            </a:r>
            <a:endParaRPr lang="en-US" sz="1200" dirty="0"/>
          </a:p>
        </p:txBody>
      </p:sp>
      <p:sp>
        <p:nvSpPr>
          <p:cNvPr id="3" name="Text 1"/>
          <p:cNvSpPr/>
          <p:nvPr/>
        </p:nvSpPr>
        <p:spPr>
          <a:xfrm>
            <a:off x="640080" y="777240"/>
            <a:ext cx="8229600" cy="731520"/>
          </a:xfrm>
          <a:prstGeom prst="rect">
            <a:avLst/>
          </a:prstGeom>
          <a:noFill/>
          <a:ln/>
        </p:spPr>
        <p:txBody>
          <a:bodyPr wrap="square" lIns="0" tIns="0" rIns="0" bIns="0" rtlCol="0" anchor="ctr"/>
          <a:lstStyle/>
          <a:p>
            <a:pPr indent="0" marL="0">
              <a:buNone/>
            </a:pPr>
            <a:r>
              <a:rPr lang="en-US" sz="3200" b="1" dirty="0">
                <a:solidFill>
                  <a:srgbClr val="13253B"/>
                </a:solidFill>
                <a:latin typeface="Cambria" pitchFamily="34" charset="0"/>
                <a:ea typeface="Cambria" pitchFamily="34" charset="-122"/>
                <a:cs typeface="Cambria" pitchFamily="34" charset="-120"/>
              </a:rPr>
              <a:t>The Weighted Sum with V</a:t>
            </a:r>
            <a:endParaRPr lang="en-US" sz="3200" dirty="0"/>
          </a:p>
        </p:txBody>
      </p:sp>
      <p:sp>
        <p:nvSpPr>
          <p:cNvPr id="4" name="Text 2"/>
          <p:cNvSpPr/>
          <p:nvPr/>
        </p:nvSpPr>
        <p:spPr>
          <a:xfrm>
            <a:off x="640080" y="1417320"/>
            <a:ext cx="10881360" cy="548640"/>
          </a:xfrm>
          <a:prstGeom prst="rect">
            <a:avLst/>
          </a:prstGeom>
          <a:noFill/>
          <a:ln/>
        </p:spPr>
        <p:txBody>
          <a:bodyPr wrap="square" lIns="0" tIns="0" rIns="0" bIns="0" rtlCol="0" anchor="ctr"/>
          <a:lstStyle/>
          <a:p>
            <a:pPr indent="0" marL="0">
              <a:lnSpc>
                <a:spcPct val="120000"/>
              </a:lnSpc>
              <a:buNone/>
            </a:pPr>
            <a:r>
              <a:rPr lang="en-US" sz="1350" dirty="0">
                <a:solidFill>
                  <a:srgbClr val="5B7185"/>
                </a:solidFill>
                <a:latin typeface="Calibri" pitchFamily="34" charset="0"/>
                <a:ea typeface="Calibri" pitchFamily="34" charset="-122"/>
                <a:cs typeface="Calibri" pitchFamily="34" charset="-120"/>
              </a:rPr>
              <a:t>The attention weights tell us how much of each token's value to blend in. Multiply each weight by its value vector and add them up.</a:t>
            </a:r>
            <a:endParaRPr lang="en-US" sz="1350" dirty="0"/>
          </a:p>
        </p:txBody>
      </p:sp>
      <p:sp>
        <p:nvSpPr>
          <p:cNvPr id="5" name="Shape 3"/>
          <p:cNvSpPr/>
          <p:nvPr/>
        </p:nvSpPr>
        <p:spPr>
          <a:xfrm>
            <a:off x="640080" y="2148840"/>
            <a:ext cx="3502152" cy="777240"/>
          </a:xfrm>
          <a:prstGeom prst="roundRect">
            <a:avLst>
              <a:gd name="adj" fmla="val 9412"/>
            </a:avLst>
          </a:prstGeom>
          <a:solidFill>
            <a:srgbClr val="EDF3F6"/>
          </a:solidFill>
          <a:ln/>
        </p:spPr>
      </p:sp>
      <p:sp>
        <p:nvSpPr>
          <p:cNvPr id="6" name="Text 4"/>
          <p:cNvSpPr/>
          <p:nvPr/>
        </p:nvSpPr>
        <p:spPr>
          <a:xfrm>
            <a:off x="822960" y="2148840"/>
            <a:ext cx="3136392" cy="777240"/>
          </a:xfrm>
          <a:prstGeom prst="rect">
            <a:avLst/>
          </a:prstGeom>
          <a:noFill/>
          <a:ln/>
        </p:spPr>
        <p:txBody>
          <a:bodyPr wrap="square" lIns="0" tIns="0" rIns="0" bIns="0" rtlCol="0" anchor="ctr"/>
          <a:lstStyle/>
          <a:p>
            <a:pPr indent="0" marL="0">
              <a:buNone/>
            </a:pPr>
            <a:r>
              <a:rPr lang="en-US" sz="1500" b="1" dirty="0">
                <a:solidFill>
                  <a:srgbClr val="13253B"/>
                </a:solidFill>
                <a:latin typeface="Calibri" pitchFamily="34" charset="0"/>
                <a:ea typeface="Calibri" pitchFamily="34" charset="-122"/>
                <a:cs typeface="Calibri" pitchFamily="34" charset="-120"/>
              </a:rPr>
              <a:t>v(animal)  =  </a:t>
            </a:r>
            <a:pPr indent="0" marL="0">
              <a:buNone/>
            </a:pPr>
            <a:r>
              <a:rPr lang="en-US" sz="1500" b="1" dirty="0">
                <a:solidFill>
                  <a:srgbClr val="E8983A"/>
                </a:solidFill>
                <a:latin typeface="Courier New" pitchFamily="34" charset="0"/>
                <a:ea typeface="Courier New" pitchFamily="34" charset="-122"/>
                <a:cs typeface="Courier New" pitchFamily="34" charset="-120"/>
              </a:rPr>
              <a:t>[ 2, 0 ]</a:t>
            </a:r>
            <a:endParaRPr lang="en-US" sz="1500" dirty="0"/>
          </a:p>
        </p:txBody>
      </p:sp>
      <p:sp>
        <p:nvSpPr>
          <p:cNvPr id="7" name="Shape 5"/>
          <p:cNvSpPr/>
          <p:nvPr/>
        </p:nvSpPr>
        <p:spPr>
          <a:xfrm>
            <a:off x="4325112" y="2148840"/>
            <a:ext cx="3502152" cy="777240"/>
          </a:xfrm>
          <a:prstGeom prst="roundRect">
            <a:avLst>
              <a:gd name="adj" fmla="val 9412"/>
            </a:avLst>
          </a:prstGeom>
          <a:solidFill>
            <a:srgbClr val="EDF3F6"/>
          </a:solidFill>
          <a:ln/>
        </p:spPr>
      </p:sp>
      <p:sp>
        <p:nvSpPr>
          <p:cNvPr id="8" name="Text 6"/>
          <p:cNvSpPr/>
          <p:nvPr/>
        </p:nvSpPr>
        <p:spPr>
          <a:xfrm>
            <a:off x="4507992" y="2148840"/>
            <a:ext cx="3136392" cy="777240"/>
          </a:xfrm>
          <a:prstGeom prst="rect">
            <a:avLst/>
          </a:prstGeom>
          <a:noFill/>
          <a:ln/>
        </p:spPr>
        <p:txBody>
          <a:bodyPr wrap="square" lIns="0" tIns="0" rIns="0" bIns="0" rtlCol="0" anchor="ctr"/>
          <a:lstStyle/>
          <a:p>
            <a:pPr indent="0" marL="0">
              <a:buNone/>
            </a:pPr>
            <a:r>
              <a:rPr lang="en-US" sz="1500" b="1" dirty="0">
                <a:solidFill>
                  <a:srgbClr val="13253B"/>
                </a:solidFill>
                <a:latin typeface="Calibri" pitchFamily="34" charset="0"/>
                <a:ea typeface="Calibri" pitchFamily="34" charset="-122"/>
                <a:cs typeface="Calibri" pitchFamily="34" charset="-120"/>
              </a:rPr>
              <a:t>v(street)  =  </a:t>
            </a:r>
            <a:pPr indent="0" marL="0">
              <a:buNone/>
            </a:pPr>
            <a:r>
              <a:rPr lang="en-US" sz="1500" b="1" dirty="0">
                <a:solidFill>
                  <a:srgbClr val="E8983A"/>
                </a:solidFill>
                <a:latin typeface="Courier New" pitchFamily="34" charset="0"/>
                <a:ea typeface="Courier New" pitchFamily="34" charset="-122"/>
                <a:cs typeface="Courier New" pitchFamily="34" charset="-120"/>
              </a:rPr>
              <a:t>[ 0, 2 ]</a:t>
            </a:r>
            <a:endParaRPr lang="en-US" sz="1500" dirty="0"/>
          </a:p>
        </p:txBody>
      </p:sp>
      <p:sp>
        <p:nvSpPr>
          <p:cNvPr id="9" name="Shape 7"/>
          <p:cNvSpPr/>
          <p:nvPr/>
        </p:nvSpPr>
        <p:spPr>
          <a:xfrm>
            <a:off x="640080" y="3108960"/>
            <a:ext cx="10881360" cy="1005840"/>
          </a:xfrm>
          <a:prstGeom prst="roundRect">
            <a:avLst>
              <a:gd name="adj" fmla="val 7273"/>
            </a:avLst>
          </a:prstGeom>
          <a:solidFill>
            <a:srgbClr val="0B1F3A"/>
          </a:solidFill>
          <a:ln/>
        </p:spPr>
      </p:sp>
      <p:sp>
        <p:nvSpPr>
          <p:cNvPr id="10" name="Text 8"/>
          <p:cNvSpPr/>
          <p:nvPr/>
        </p:nvSpPr>
        <p:spPr>
          <a:xfrm>
            <a:off x="822960" y="3108960"/>
            <a:ext cx="10515600" cy="1005840"/>
          </a:xfrm>
          <a:prstGeom prst="rect">
            <a:avLst/>
          </a:prstGeom>
          <a:no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output(it) = 0.670 × [2, 0]  +  0.330 × [0, 2]</a:t>
            </a:r>
            <a:endParaRPr lang="en-US" sz="1800" dirty="0"/>
          </a:p>
        </p:txBody>
      </p:sp>
      <p:sp>
        <p:nvSpPr>
          <p:cNvPr id="11" name="Shape 9"/>
          <p:cNvSpPr/>
          <p:nvPr/>
        </p:nvSpPr>
        <p:spPr>
          <a:xfrm>
            <a:off x="640080" y="4297680"/>
            <a:ext cx="10881360" cy="1005840"/>
          </a:xfrm>
          <a:prstGeom prst="roundRect">
            <a:avLst>
              <a:gd name="adj" fmla="val 7273"/>
            </a:avLst>
          </a:prstGeom>
          <a:solidFill>
            <a:srgbClr val="E8983A"/>
          </a:solidFill>
          <a:ln/>
        </p:spPr>
      </p:sp>
      <p:sp>
        <p:nvSpPr>
          <p:cNvPr id="12" name="Text 10"/>
          <p:cNvSpPr/>
          <p:nvPr/>
        </p:nvSpPr>
        <p:spPr>
          <a:xfrm>
            <a:off x="822960" y="4297680"/>
            <a:ext cx="10515600" cy="1005840"/>
          </a:xfrm>
          <a:prstGeom prst="rect">
            <a:avLst/>
          </a:prstGeom>
          <a:noFill/>
          <a:ln/>
        </p:spPr>
        <p:txBody>
          <a:bodyPr wrap="square" lIns="0" tIns="0" rIns="0" bIns="0" rtlCol="0" anchor="ctr"/>
          <a:lstStyle/>
          <a:p>
            <a:pPr algn="ctr" indent="0" marL="0">
              <a:buNone/>
            </a:pPr>
            <a:r>
              <a:rPr lang="en-US" sz="2200" b="1" dirty="0">
                <a:solidFill>
                  <a:srgbClr val="0B1F3A"/>
                </a:solidFill>
                <a:latin typeface="Courier New" pitchFamily="34" charset="0"/>
                <a:ea typeface="Courier New" pitchFamily="34" charset="-122"/>
                <a:cs typeface="Courier New" pitchFamily="34" charset="-120"/>
              </a:rPr>
              <a:t>output(it) = [1.34, 0.66]</a:t>
            </a:r>
            <a:endParaRPr lang="en-US" sz="2200" dirty="0"/>
          </a:p>
        </p:txBody>
      </p:sp>
      <p:sp>
        <p:nvSpPr>
          <p:cNvPr id="13" name="Text 11"/>
          <p:cNvSpPr/>
          <p:nvPr/>
        </p:nvSpPr>
        <p:spPr>
          <a:xfrm>
            <a:off x="640080" y="5486400"/>
            <a:ext cx="10881360" cy="777240"/>
          </a:xfrm>
          <a:prstGeom prst="rect">
            <a:avLst/>
          </a:prstGeom>
          <a:noFill/>
          <a:ln/>
        </p:spPr>
        <p:txBody>
          <a:bodyPr wrap="square" lIns="0" tIns="0" rIns="0" bIns="0" rtlCol="0" anchor="ctr"/>
          <a:lstStyle/>
          <a:p>
            <a:pPr indent="0" marL="0">
              <a:lnSpc>
                <a:spcPct val="125000"/>
              </a:lnSpc>
              <a:buNone/>
            </a:pPr>
            <a:r>
              <a:rPr lang="en-US" sz="1250" dirty="0">
                <a:solidFill>
                  <a:srgbClr val="5B7185"/>
                </a:solidFill>
                <a:latin typeface="Calibri" pitchFamily="34" charset="0"/>
                <a:ea typeface="Calibri" pitchFamily="34" charset="-122"/>
                <a:cs typeface="Calibri" pitchFamily="34" charset="-120"/>
              </a:rPr>
              <a:t>This new vector is “it,” re-expressed in context </a:t>
            </a:r>
            <a:pPr indent="0" marL="0">
              <a:lnSpc>
                <a:spcPct val="125000"/>
              </a:lnSpc>
              <a:buNone/>
            </a:pPr>
            <a:r>
              <a:rPr lang="en-US" sz="1250" dirty="0">
                <a:solidFill>
                  <a:srgbClr val="5B7185"/>
                </a:solidFill>
                <a:latin typeface="Calibri" pitchFamily="34" charset="0"/>
                <a:ea typeface="Calibri" pitchFamily="34" charset="-122"/>
                <a:cs typeface="Calibri" pitchFamily="34" charset="-120"/>
              </a:rPr>
              <a:t>— pulled 67% of the way toward “animal” and 33% toward “street,” exactly reflecting the attention weights. </a:t>
            </a:r>
            <a:pPr indent="0" marL="0">
              <a:lnSpc>
                <a:spcPct val="125000"/>
              </a:lnSpc>
              <a:buNone/>
            </a:pPr>
            <a:r>
              <a:rPr lang="en-US" sz="1250" dirty="0">
                <a:solidFill>
                  <a:srgbClr val="5B7185"/>
                </a:solidFill>
                <a:latin typeface="Calibri" pitchFamily="34" charset="0"/>
                <a:ea typeface="Calibri" pitchFamily="34" charset="-122"/>
                <a:cs typeface="Calibri" pitchFamily="34" charset="-120"/>
              </a:rPr>
              <a:t>Every token in the sequence gets this treatment simultaneously, which is why the whole operation is written compactly as:</a:t>
            </a:r>
            <a:endParaRPr lang="en-US" sz="1250" dirty="0"/>
          </a:p>
        </p:txBody>
      </p:sp>
      <p:sp>
        <p:nvSpPr>
          <p:cNvPr id="14" name="Text 12"/>
          <p:cNvSpPr/>
          <p:nvPr/>
        </p:nvSpPr>
        <p:spPr>
          <a:xfrm>
            <a:off x="640080" y="6263640"/>
            <a:ext cx="10881360" cy="365760"/>
          </a:xfrm>
          <a:prstGeom prst="rect">
            <a:avLst/>
          </a:prstGeom>
          <a:noFill/>
          <a:ln/>
        </p:spPr>
        <p:txBody>
          <a:bodyPr wrap="square" lIns="0" tIns="0" rIns="0" bIns="0" rtlCol="0" anchor="ctr"/>
          <a:lstStyle/>
          <a:p>
            <a:pPr algn="ctr" indent="0" marL="0">
              <a:buNone/>
            </a:pPr>
            <a:r>
              <a:rPr lang="en-US" sz="1500" b="1" dirty="0">
                <a:solidFill>
                  <a:srgbClr val="1C7293"/>
                </a:solidFill>
                <a:latin typeface="Courier New" pitchFamily="34" charset="0"/>
                <a:ea typeface="Courier New" pitchFamily="34" charset="-122"/>
                <a:cs typeface="Courier New" pitchFamily="34" charset="-120"/>
              </a:rPr>
              <a:t>Attention(Q, K, V) = softmax( QKᵀ / √d_k ) V</a:t>
            </a:r>
            <a:endParaRPr lang="en-US" sz="1500" dirty="0"/>
          </a:p>
        </p:txBody>
      </p:sp>
      <p:sp>
        <p:nvSpPr>
          <p:cNvPr id="15" name="Text 13"/>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640080" y="502920"/>
            <a:ext cx="45720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ONE ATTENTION HEAD ISN’T ENOUGH</a:t>
            </a:r>
            <a:endParaRPr lang="en-US" sz="1200" dirty="0"/>
          </a:p>
        </p:txBody>
      </p:sp>
      <p:sp>
        <p:nvSpPr>
          <p:cNvPr id="3" name="Text 1"/>
          <p:cNvSpPr/>
          <p:nvPr/>
        </p:nvSpPr>
        <p:spPr>
          <a:xfrm>
            <a:off x="640080" y="777240"/>
            <a:ext cx="8229600" cy="731520"/>
          </a:xfrm>
          <a:prstGeom prst="rect">
            <a:avLst/>
          </a:prstGeom>
          <a:noFill/>
          <a:ln/>
        </p:spPr>
        <p:txBody>
          <a:bodyPr wrap="square" lIns="0" tIns="0" rIns="0" bIns="0" rtlCol="0" anchor="ctr"/>
          <a:lstStyle/>
          <a:p>
            <a:pPr indent="0" marL="0">
              <a:buNone/>
            </a:pPr>
            <a:r>
              <a:rPr lang="en-US" sz="3200" b="1" dirty="0">
                <a:solidFill>
                  <a:srgbClr val="13253B"/>
                </a:solidFill>
                <a:latin typeface="Cambria" pitchFamily="34" charset="0"/>
                <a:ea typeface="Cambria" pitchFamily="34" charset="-122"/>
                <a:cs typeface="Cambria" pitchFamily="34" charset="-120"/>
              </a:rPr>
              <a:t>Multi-Head Attention</a:t>
            </a:r>
            <a:endParaRPr lang="en-US" sz="3200" dirty="0"/>
          </a:p>
        </p:txBody>
      </p:sp>
      <p:sp>
        <p:nvSpPr>
          <p:cNvPr id="4" name="Text 2"/>
          <p:cNvSpPr/>
          <p:nvPr/>
        </p:nvSpPr>
        <p:spPr>
          <a:xfrm>
            <a:off x="640080" y="1417320"/>
            <a:ext cx="10881360" cy="777240"/>
          </a:xfrm>
          <a:prstGeom prst="rect">
            <a:avLst/>
          </a:prstGeom>
          <a:noFill/>
          <a:ln/>
        </p:spPr>
        <p:txBody>
          <a:bodyPr wrap="square" lIns="0" tIns="0" rIns="0" bIns="0" rtlCol="0" anchor="ctr"/>
          <a:lstStyle/>
          <a:p>
            <a:pPr indent="0" marL="0">
              <a:lnSpc>
                <a:spcPct val="120000"/>
              </a:lnSpc>
              <a:buNone/>
            </a:pPr>
            <a:r>
              <a:rPr lang="en-US" sz="1300" dirty="0">
                <a:solidFill>
                  <a:srgbClr val="5B7185"/>
                </a:solidFill>
                <a:latin typeface="Calibri" pitchFamily="34" charset="0"/>
                <a:ea typeface="Calibri" pitchFamily="34" charset="-122"/>
                <a:cs typeface="Calibri" pitchFamily="34" charset="-120"/>
              </a:rPr>
              <a:t>Think of a single attention head as one flashlight illuminating part of a sentence. A sentence has many relationships to track at once — subject-verb, adjective-noun, long-range dependencies — so the model runs several flashlights in parallel, each on its own learned subspace.</a:t>
            </a:r>
            <a:endParaRPr lang="en-US" sz="1300" dirty="0"/>
          </a:p>
        </p:txBody>
      </p:sp>
      <p:sp>
        <p:nvSpPr>
          <p:cNvPr id="5" name="Shape 3"/>
          <p:cNvSpPr/>
          <p:nvPr/>
        </p:nvSpPr>
        <p:spPr>
          <a:xfrm>
            <a:off x="640080" y="2331720"/>
            <a:ext cx="3749040" cy="3794760"/>
          </a:xfrm>
          <a:prstGeom prst="roundRect">
            <a:avLst>
              <a:gd name="adj" fmla="val 1951"/>
            </a:avLst>
          </a:prstGeom>
          <a:solidFill>
            <a:srgbClr val="FFFFFF"/>
          </a:solidFill>
          <a:ln w="12700">
            <a:solidFill>
              <a:srgbClr val="DCE4EA"/>
            </a:solidFill>
            <a:prstDash val="solid"/>
          </a:ln>
          <a:effectLst>
            <a:outerShdw sx="100000" sy="100000" kx="0" ky="0" algn="bl" rotWithShape="0" blurRad="127000" dist="38100" dir="5400000">
              <a:srgbClr val="1B2A3D">
                <a:alpha val="18000"/>
              </a:srgbClr>
            </a:outerShdw>
          </a:effectLst>
        </p:spPr>
      </p:sp>
      <p:pic>
        <p:nvPicPr>
          <p:cNvPr id="6" name="Image 0" descr="/home/claude/work/build/crops/t1_flashlight.png">    </p:cNvPr>
          <p:cNvPicPr>
            <a:picLocks noChangeAspect="1"/>
          </p:cNvPicPr>
          <p:nvPr/>
        </p:nvPicPr>
        <p:blipFill>
          <a:blip r:embed="rId1"/>
          <a:stretch>
            <a:fillRect/>
          </a:stretch>
        </p:blipFill>
        <p:spPr>
          <a:xfrm>
            <a:off x="1112419" y="2606040"/>
            <a:ext cx="2804361" cy="2880360"/>
          </a:xfrm>
          <a:prstGeom prst="rect">
            <a:avLst/>
          </a:prstGeom>
        </p:spPr>
      </p:pic>
      <p:sp>
        <p:nvSpPr>
          <p:cNvPr id="7" name="Text 4"/>
          <p:cNvSpPr/>
          <p:nvPr/>
        </p:nvSpPr>
        <p:spPr>
          <a:xfrm>
            <a:off x="914400" y="5577840"/>
            <a:ext cx="3200400" cy="457200"/>
          </a:xfrm>
          <a:prstGeom prst="rect">
            <a:avLst/>
          </a:prstGeom>
          <a:noFill/>
          <a:ln/>
        </p:spPr>
        <p:txBody>
          <a:bodyPr wrap="square" lIns="0" tIns="0" rIns="0" bIns="0" rtlCol="0" anchor="ctr"/>
          <a:lstStyle/>
          <a:p>
            <a:pPr indent="0" marL="0">
              <a:buNone/>
            </a:pPr>
            <a:r>
              <a:rPr lang="en-US" sz="1100" i="1" dirty="0">
                <a:solidFill>
                  <a:srgbClr val="5B7185"/>
                </a:solidFill>
                <a:latin typeface="Calibri" pitchFamily="34" charset="0"/>
                <a:ea typeface="Calibri" pitchFamily="34" charset="-122"/>
                <a:cs typeface="Calibri" pitchFamily="34" charset="-120"/>
              </a:rPr>
              <a:t>The embedding is split evenly across heads</a:t>
            </a:r>
            <a:endParaRPr lang="en-US" sz="1100" dirty="0"/>
          </a:p>
        </p:txBody>
      </p:sp>
      <p:sp>
        <p:nvSpPr>
          <p:cNvPr id="8" name="Shape 5"/>
          <p:cNvSpPr/>
          <p:nvPr/>
        </p:nvSpPr>
        <p:spPr>
          <a:xfrm>
            <a:off x="4617720" y="2331720"/>
            <a:ext cx="4160520" cy="3794760"/>
          </a:xfrm>
          <a:prstGeom prst="roundRect">
            <a:avLst>
              <a:gd name="adj" fmla="val 1928"/>
            </a:avLst>
          </a:prstGeom>
          <a:solidFill>
            <a:srgbClr val="FFFFFF"/>
          </a:solidFill>
          <a:ln w="12700">
            <a:solidFill>
              <a:srgbClr val="DCE4EA"/>
            </a:solidFill>
            <a:prstDash val="solid"/>
          </a:ln>
          <a:effectLst>
            <a:outerShdw sx="100000" sy="100000" kx="0" ky="0" algn="bl" rotWithShape="0" blurRad="127000" dist="38100" dir="5400000">
              <a:srgbClr val="1B2A3D">
                <a:alpha val="18000"/>
              </a:srgbClr>
            </a:outerShdw>
          </a:effectLst>
        </p:spPr>
      </p:sp>
      <p:pic>
        <p:nvPicPr>
          <p:cNvPr id="9" name="Image 1" descr="/home/claude/work/build/crops/t2_multihead.png">    </p:cNvPr>
          <p:cNvPicPr>
            <a:picLocks noChangeAspect="1"/>
          </p:cNvPicPr>
          <p:nvPr/>
        </p:nvPicPr>
        <p:blipFill>
          <a:blip r:embed="rId2"/>
          <a:stretch>
            <a:fillRect/>
          </a:stretch>
        </p:blipFill>
        <p:spPr>
          <a:xfrm>
            <a:off x="4892040" y="2764671"/>
            <a:ext cx="3611880" cy="2563097"/>
          </a:xfrm>
          <a:prstGeom prst="rect">
            <a:avLst/>
          </a:prstGeom>
        </p:spPr>
      </p:pic>
      <p:sp>
        <p:nvSpPr>
          <p:cNvPr id="10" name="Text 6"/>
          <p:cNvSpPr/>
          <p:nvPr/>
        </p:nvSpPr>
        <p:spPr>
          <a:xfrm>
            <a:off x="4892040" y="5577840"/>
            <a:ext cx="3611880" cy="457200"/>
          </a:xfrm>
          <a:prstGeom prst="rect">
            <a:avLst/>
          </a:prstGeom>
          <a:noFill/>
          <a:ln/>
        </p:spPr>
        <p:txBody>
          <a:bodyPr wrap="square" lIns="0" tIns="0" rIns="0" bIns="0" rtlCol="0" anchor="ctr"/>
          <a:lstStyle/>
          <a:p>
            <a:pPr indent="0" marL="0">
              <a:buNone/>
            </a:pPr>
            <a:r>
              <a:rPr lang="en-US" sz="1100" i="1" dirty="0">
                <a:solidFill>
                  <a:srgbClr val="5B7185"/>
                </a:solidFill>
                <a:latin typeface="Calibri" pitchFamily="34" charset="0"/>
                <a:ea typeface="Calibri" pitchFamily="34" charset="-122"/>
                <a:cs typeface="Calibri" pitchFamily="34" charset="-120"/>
              </a:rPr>
              <a:t>Each head attends in parallel, then results are concatenated</a:t>
            </a:r>
            <a:endParaRPr lang="en-US" sz="1100" dirty="0"/>
          </a:p>
        </p:txBody>
      </p:sp>
      <p:sp>
        <p:nvSpPr>
          <p:cNvPr id="11" name="Shape 7"/>
          <p:cNvSpPr/>
          <p:nvPr/>
        </p:nvSpPr>
        <p:spPr>
          <a:xfrm>
            <a:off x="9052560" y="2331720"/>
            <a:ext cx="2514600" cy="3794760"/>
          </a:xfrm>
          <a:prstGeom prst="roundRect">
            <a:avLst>
              <a:gd name="adj" fmla="val 2909"/>
            </a:avLst>
          </a:prstGeom>
          <a:solidFill>
            <a:srgbClr val="0B1F3A"/>
          </a:solidFill>
          <a:ln/>
        </p:spPr>
      </p:sp>
      <p:sp>
        <p:nvSpPr>
          <p:cNvPr id="12" name="Text 8"/>
          <p:cNvSpPr/>
          <p:nvPr/>
        </p:nvSpPr>
        <p:spPr>
          <a:xfrm>
            <a:off x="9235440" y="2606040"/>
            <a:ext cx="2148840" cy="640080"/>
          </a:xfrm>
          <a:prstGeom prst="rect">
            <a:avLst/>
          </a:prstGeom>
          <a:noFill/>
          <a:ln/>
        </p:spPr>
        <p:txBody>
          <a:bodyPr wrap="square" lIns="0" tIns="0" rIns="0" bIns="0" rtlCol="0" anchor="ctr"/>
          <a:lstStyle/>
          <a:p>
            <a:pPr indent="0" marL="0">
              <a:buNone/>
            </a:pPr>
            <a:r>
              <a:rPr lang="en-US" sz="3800" b="1" dirty="0">
                <a:solidFill>
                  <a:srgbClr val="E8983A"/>
                </a:solidFill>
                <a:latin typeface="Cambria" pitchFamily="34" charset="0"/>
                <a:ea typeface="Cambria" pitchFamily="34" charset="-122"/>
                <a:cs typeface="Cambria" pitchFamily="34" charset="-120"/>
              </a:rPr>
              <a:t>8</a:t>
            </a:r>
            <a:endParaRPr lang="en-US" sz="3800" dirty="0"/>
          </a:p>
        </p:txBody>
      </p:sp>
      <p:sp>
        <p:nvSpPr>
          <p:cNvPr id="13" name="Text 9"/>
          <p:cNvSpPr/>
          <p:nvPr/>
        </p:nvSpPr>
        <p:spPr>
          <a:xfrm>
            <a:off x="9235440" y="3246120"/>
            <a:ext cx="2148840" cy="548640"/>
          </a:xfrm>
          <a:prstGeom prst="rect">
            <a:avLst/>
          </a:prstGeom>
          <a:noFill/>
          <a:ln/>
        </p:spPr>
        <p:txBody>
          <a:bodyPr wrap="square" lIns="0" tIns="0" rIns="0" bIns="0" rtlCol="0" anchor="ctr"/>
          <a:lstStyle/>
          <a:p>
            <a:pPr indent="0" marL="0">
              <a:buNone/>
            </a:pPr>
            <a:r>
              <a:rPr lang="en-US" sz="1100" dirty="0">
                <a:solidFill>
                  <a:srgbClr val="CFE3EE"/>
                </a:solidFill>
                <a:latin typeface="Calibri" pitchFamily="34" charset="0"/>
                <a:ea typeface="Calibri" pitchFamily="34" charset="-122"/>
                <a:cs typeface="Calibri" pitchFamily="34" charset="-120"/>
              </a:rPr>
              <a:t>heads in the original Transformer</a:t>
            </a:r>
            <a:endParaRPr lang="en-US" sz="1100" dirty="0"/>
          </a:p>
        </p:txBody>
      </p:sp>
      <p:sp>
        <p:nvSpPr>
          <p:cNvPr id="14" name="Text 10"/>
          <p:cNvSpPr/>
          <p:nvPr/>
        </p:nvSpPr>
        <p:spPr>
          <a:xfrm>
            <a:off x="9235440" y="4069080"/>
            <a:ext cx="2148840" cy="640080"/>
          </a:xfrm>
          <a:prstGeom prst="rect">
            <a:avLst/>
          </a:prstGeom>
          <a:noFill/>
          <a:ln/>
        </p:spPr>
        <p:txBody>
          <a:bodyPr wrap="square" lIns="0" tIns="0" rIns="0" bIns="0" rtlCol="0" anchor="ctr"/>
          <a:lstStyle/>
          <a:p>
            <a:pPr indent="0" marL="0">
              <a:buNone/>
            </a:pPr>
            <a:r>
              <a:rPr lang="en-US" sz="3800" b="1" dirty="0">
                <a:solidFill>
                  <a:srgbClr val="E8983A"/>
                </a:solidFill>
                <a:latin typeface="Cambria" pitchFamily="34" charset="0"/>
                <a:ea typeface="Cambria" pitchFamily="34" charset="-122"/>
                <a:cs typeface="Cambria" pitchFamily="34" charset="-120"/>
              </a:rPr>
              <a:t>64</a:t>
            </a:r>
            <a:endParaRPr lang="en-US" sz="3800" dirty="0"/>
          </a:p>
        </p:txBody>
      </p:sp>
      <p:sp>
        <p:nvSpPr>
          <p:cNvPr id="15" name="Text 11"/>
          <p:cNvSpPr/>
          <p:nvPr/>
        </p:nvSpPr>
        <p:spPr>
          <a:xfrm>
            <a:off x="9235440" y="4709160"/>
            <a:ext cx="2148840" cy="548640"/>
          </a:xfrm>
          <a:prstGeom prst="rect">
            <a:avLst/>
          </a:prstGeom>
          <a:noFill/>
          <a:ln/>
        </p:spPr>
        <p:txBody>
          <a:bodyPr wrap="square" lIns="0" tIns="0" rIns="0" bIns="0" rtlCol="0" anchor="ctr"/>
          <a:lstStyle/>
          <a:p>
            <a:pPr indent="0" marL="0">
              <a:buNone/>
            </a:pPr>
            <a:r>
              <a:rPr lang="en-US" sz="1100" dirty="0">
                <a:solidFill>
                  <a:srgbClr val="CFE3EE"/>
                </a:solidFill>
                <a:latin typeface="Calibri" pitchFamily="34" charset="0"/>
                <a:ea typeface="Calibri" pitchFamily="34" charset="-122"/>
                <a:cs typeface="Calibri" pitchFamily="34" charset="-120"/>
              </a:rPr>
              <a:t>dimensions per head (512 ÷ 8)</a:t>
            </a:r>
            <a:endParaRPr lang="en-US" sz="1100" dirty="0"/>
          </a:p>
        </p:txBody>
      </p:sp>
      <p:sp>
        <p:nvSpPr>
          <p:cNvPr id="16" name="Text 12"/>
          <p:cNvSpPr/>
          <p:nvPr/>
        </p:nvSpPr>
        <p:spPr>
          <a:xfrm>
            <a:off x="9235440" y="5394960"/>
            <a:ext cx="2148840" cy="640080"/>
          </a:xfrm>
          <a:prstGeom prst="rect">
            <a:avLst/>
          </a:prstGeom>
          <a:noFill/>
          <a:ln/>
        </p:spPr>
        <p:txBody>
          <a:bodyPr wrap="square" lIns="0" tIns="0" rIns="0" bIns="0" rtlCol="0" anchor="ctr"/>
          <a:lstStyle/>
          <a:p>
            <a:pPr indent="0" marL="0">
              <a:buNone/>
            </a:pPr>
            <a:r>
              <a:rPr lang="en-US" sz="1000" i="1" dirty="0">
                <a:solidFill>
                  <a:srgbClr val="CFE3EE"/>
                </a:solidFill>
                <a:latin typeface="Calibri" pitchFamily="34" charset="0"/>
                <a:ea typeface="Calibri" pitchFamily="34" charset="-122"/>
                <a:cs typeface="Calibri" pitchFamily="34" charset="-120"/>
              </a:rPr>
              <a:t>Outputs are concatenated and projected back to 512-d.</a:t>
            </a:r>
            <a:endParaRPr lang="en-US" sz="1000" dirty="0"/>
          </a:p>
        </p:txBody>
      </p:sp>
      <p:sp>
        <p:nvSpPr>
          <p:cNvPr id="17" name="Text 13"/>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640080" y="502920"/>
            <a:ext cx="45720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PUTTING IT TOGETHER</a:t>
            </a:r>
            <a:endParaRPr lang="en-US" sz="1200" dirty="0"/>
          </a:p>
        </p:txBody>
      </p:sp>
      <p:sp>
        <p:nvSpPr>
          <p:cNvPr id="3" name="Text 1"/>
          <p:cNvSpPr/>
          <p:nvPr/>
        </p:nvSpPr>
        <p:spPr>
          <a:xfrm>
            <a:off x="640080" y="777240"/>
            <a:ext cx="8229600" cy="731520"/>
          </a:xfrm>
          <a:prstGeom prst="rect">
            <a:avLst/>
          </a:prstGeom>
          <a:noFill/>
          <a:ln/>
        </p:spPr>
        <p:txBody>
          <a:bodyPr wrap="square" lIns="0" tIns="0" rIns="0" bIns="0" rtlCol="0" anchor="ctr"/>
          <a:lstStyle/>
          <a:p>
            <a:pPr indent="0" marL="0">
              <a:buNone/>
            </a:pPr>
            <a:r>
              <a:rPr lang="en-US" sz="3200" b="1" dirty="0">
                <a:solidFill>
                  <a:srgbClr val="13253B"/>
                </a:solidFill>
                <a:latin typeface="Cambria" pitchFamily="34" charset="0"/>
                <a:ea typeface="Cambria" pitchFamily="34" charset="-122"/>
                <a:cs typeface="Cambria" pitchFamily="34" charset="-120"/>
              </a:rPr>
              <a:t>Inside One Encoder Layer</a:t>
            </a:r>
            <a:endParaRPr lang="en-US" sz="3200" dirty="0"/>
          </a:p>
        </p:txBody>
      </p:sp>
      <p:sp>
        <p:nvSpPr>
          <p:cNvPr id="4" name="Shape 2"/>
          <p:cNvSpPr/>
          <p:nvPr/>
        </p:nvSpPr>
        <p:spPr>
          <a:xfrm>
            <a:off x="640080" y="1554480"/>
            <a:ext cx="4297680" cy="4663440"/>
          </a:xfrm>
          <a:prstGeom prst="roundRect">
            <a:avLst>
              <a:gd name="adj" fmla="val 1702"/>
            </a:avLst>
          </a:prstGeom>
          <a:solidFill>
            <a:srgbClr val="FFFFFF"/>
          </a:solidFill>
          <a:ln w="12700">
            <a:solidFill>
              <a:srgbClr val="DCE4EA"/>
            </a:solidFill>
            <a:prstDash val="solid"/>
          </a:ln>
          <a:effectLst>
            <a:outerShdw sx="100000" sy="100000" kx="0" ky="0" algn="bl" rotWithShape="0" blurRad="127000" dist="38100" dir="5400000">
              <a:srgbClr val="1B2A3D">
                <a:alpha val="18000"/>
              </a:srgbClr>
            </a:outerShdw>
          </a:effectLst>
        </p:spPr>
      </p:sp>
      <p:pic>
        <p:nvPicPr>
          <p:cNvPr id="5" name="Image 0" descr="/home/claude/work/build/crops/t3_encoder_structure.png">    </p:cNvPr>
          <p:cNvPicPr>
            <a:picLocks noChangeAspect="1"/>
          </p:cNvPicPr>
          <p:nvPr/>
        </p:nvPicPr>
        <p:blipFill>
          <a:blip r:embed="rId1"/>
          <a:stretch>
            <a:fillRect/>
          </a:stretch>
        </p:blipFill>
        <p:spPr>
          <a:xfrm>
            <a:off x="1147156" y="1828800"/>
            <a:ext cx="3283527" cy="4114800"/>
          </a:xfrm>
          <a:prstGeom prst="rect">
            <a:avLst/>
          </a:prstGeom>
        </p:spPr>
      </p:pic>
      <p:sp>
        <p:nvSpPr>
          <p:cNvPr id="6" name="Shape 3"/>
          <p:cNvSpPr/>
          <p:nvPr/>
        </p:nvSpPr>
        <p:spPr>
          <a:xfrm>
            <a:off x="5257800" y="1600200"/>
            <a:ext cx="6309360" cy="1024128"/>
          </a:xfrm>
          <a:prstGeom prst="roundRect">
            <a:avLst>
              <a:gd name="adj" fmla="val 7143"/>
            </a:avLst>
          </a:prstGeom>
          <a:solidFill>
            <a:srgbClr val="EDF3F6"/>
          </a:solidFill>
          <a:ln/>
        </p:spPr>
      </p:sp>
      <p:sp>
        <p:nvSpPr>
          <p:cNvPr id="7" name="Text 4"/>
          <p:cNvSpPr/>
          <p:nvPr/>
        </p:nvSpPr>
        <p:spPr>
          <a:xfrm>
            <a:off x="5486400" y="1691640"/>
            <a:ext cx="5852160" cy="292608"/>
          </a:xfrm>
          <a:prstGeom prst="rect">
            <a:avLst/>
          </a:prstGeom>
          <a:noFill/>
          <a:ln/>
        </p:spPr>
        <p:txBody>
          <a:bodyPr wrap="square" lIns="0" tIns="0" rIns="0" bIns="0" rtlCol="0" anchor="ctr"/>
          <a:lstStyle/>
          <a:p>
            <a:pPr indent="0" marL="0">
              <a:buNone/>
            </a:pPr>
            <a:r>
              <a:rPr lang="en-US" sz="1350" b="1" dirty="0">
                <a:solidFill>
                  <a:srgbClr val="1C7293"/>
                </a:solidFill>
                <a:latin typeface="Calibri" pitchFamily="34" charset="0"/>
                <a:ea typeface="Calibri" pitchFamily="34" charset="-122"/>
                <a:cs typeface="Calibri" pitchFamily="34" charset="-120"/>
              </a:rPr>
              <a:t>Multi-head self-attention</a:t>
            </a:r>
            <a:endParaRPr lang="en-US" sz="1350" dirty="0"/>
          </a:p>
        </p:txBody>
      </p:sp>
      <p:sp>
        <p:nvSpPr>
          <p:cNvPr id="8" name="Text 5"/>
          <p:cNvSpPr/>
          <p:nvPr/>
        </p:nvSpPr>
        <p:spPr>
          <a:xfrm>
            <a:off x="5486400" y="2002536"/>
            <a:ext cx="5852160" cy="548640"/>
          </a:xfrm>
          <a:prstGeom prst="rect">
            <a:avLst/>
          </a:prstGeom>
          <a:noFill/>
          <a:ln/>
        </p:spPr>
        <p:txBody>
          <a:bodyPr wrap="square" lIns="0" tIns="0" rIns="0" bIns="0" rtlCol="0" anchor="ctr"/>
          <a:lstStyle/>
          <a:p>
            <a:pPr indent="0" marL="0">
              <a:lnSpc>
                <a:spcPct val="112000"/>
              </a:lnSpc>
              <a:buNone/>
            </a:pPr>
            <a:r>
              <a:rPr lang="en-US" sz="1100" dirty="0">
                <a:solidFill>
                  <a:srgbClr val="5B7185"/>
                </a:solidFill>
                <a:latin typeface="Calibri" pitchFamily="34" charset="0"/>
                <a:ea typeface="Calibri" pitchFamily="34" charset="-122"/>
                <a:cs typeface="Calibri" pitchFamily="34" charset="-120"/>
              </a:rPr>
              <a:t>Every token attends to every other token in the input, building context-aware representations.</a:t>
            </a:r>
            <a:endParaRPr lang="en-US" sz="1100" dirty="0"/>
          </a:p>
        </p:txBody>
      </p:sp>
      <p:sp>
        <p:nvSpPr>
          <p:cNvPr id="9" name="Shape 6"/>
          <p:cNvSpPr/>
          <p:nvPr/>
        </p:nvSpPr>
        <p:spPr>
          <a:xfrm>
            <a:off x="5257800" y="2761488"/>
            <a:ext cx="6309360" cy="1024128"/>
          </a:xfrm>
          <a:prstGeom prst="roundRect">
            <a:avLst>
              <a:gd name="adj" fmla="val 7143"/>
            </a:avLst>
          </a:prstGeom>
          <a:solidFill>
            <a:srgbClr val="EDF3F6"/>
          </a:solidFill>
          <a:ln/>
        </p:spPr>
      </p:sp>
      <p:sp>
        <p:nvSpPr>
          <p:cNvPr id="10" name="Text 7"/>
          <p:cNvSpPr/>
          <p:nvPr/>
        </p:nvSpPr>
        <p:spPr>
          <a:xfrm>
            <a:off x="5486400" y="2852928"/>
            <a:ext cx="5852160" cy="292608"/>
          </a:xfrm>
          <a:prstGeom prst="rect">
            <a:avLst/>
          </a:prstGeom>
          <a:noFill/>
          <a:ln/>
        </p:spPr>
        <p:txBody>
          <a:bodyPr wrap="square" lIns="0" tIns="0" rIns="0" bIns="0" rtlCol="0" anchor="ctr"/>
          <a:lstStyle/>
          <a:p>
            <a:pPr indent="0" marL="0">
              <a:buNone/>
            </a:pPr>
            <a:r>
              <a:rPr lang="en-US" sz="1350" b="1" dirty="0">
                <a:solidFill>
                  <a:srgbClr val="1C7293"/>
                </a:solidFill>
                <a:latin typeface="Calibri" pitchFamily="34" charset="0"/>
                <a:ea typeface="Calibri" pitchFamily="34" charset="-122"/>
                <a:cs typeface="Calibri" pitchFamily="34" charset="-120"/>
              </a:rPr>
              <a:t>Add &amp; Norm</a:t>
            </a:r>
            <a:endParaRPr lang="en-US" sz="1350" dirty="0"/>
          </a:p>
        </p:txBody>
      </p:sp>
      <p:sp>
        <p:nvSpPr>
          <p:cNvPr id="11" name="Text 8"/>
          <p:cNvSpPr/>
          <p:nvPr/>
        </p:nvSpPr>
        <p:spPr>
          <a:xfrm>
            <a:off x="5486400" y="3163824"/>
            <a:ext cx="5852160" cy="548640"/>
          </a:xfrm>
          <a:prstGeom prst="rect">
            <a:avLst/>
          </a:prstGeom>
          <a:noFill/>
          <a:ln/>
        </p:spPr>
        <p:txBody>
          <a:bodyPr wrap="square" lIns="0" tIns="0" rIns="0" bIns="0" rtlCol="0" anchor="ctr"/>
          <a:lstStyle/>
          <a:p>
            <a:pPr indent="0" marL="0">
              <a:lnSpc>
                <a:spcPct val="112000"/>
              </a:lnSpc>
              <a:buNone/>
            </a:pPr>
            <a:r>
              <a:rPr lang="en-US" sz="1100" dirty="0">
                <a:solidFill>
                  <a:srgbClr val="5B7185"/>
                </a:solidFill>
                <a:latin typeface="Calibri" pitchFamily="34" charset="0"/>
                <a:ea typeface="Calibri" pitchFamily="34" charset="-122"/>
                <a:cs typeface="Calibri" pitchFamily="34" charset="-120"/>
              </a:rPr>
              <a:t>A residual connection plus layer normalization stabilizes training and keeps gradients healthy through deep stacks.</a:t>
            </a:r>
            <a:endParaRPr lang="en-US" sz="1100" dirty="0"/>
          </a:p>
        </p:txBody>
      </p:sp>
      <p:sp>
        <p:nvSpPr>
          <p:cNvPr id="12" name="Shape 9"/>
          <p:cNvSpPr/>
          <p:nvPr/>
        </p:nvSpPr>
        <p:spPr>
          <a:xfrm>
            <a:off x="5257800" y="3922776"/>
            <a:ext cx="6309360" cy="1024128"/>
          </a:xfrm>
          <a:prstGeom prst="roundRect">
            <a:avLst>
              <a:gd name="adj" fmla="val 7143"/>
            </a:avLst>
          </a:prstGeom>
          <a:solidFill>
            <a:srgbClr val="EDF3F6"/>
          </a:solidFill>
          <a:ln/>
        </p:spPr>
      </p:sp>
      <p:sp>
        <p:nvSpPr>
          <p:cNvPr id="13" name="Text 10"/>
          <p:cNvSpPr/>
          <p:nvPr/>
        </p:nvSpPr>
        <p:spPr>
          <a:xfrm>
            <a:off x="5486400" y="4014216"/>
            <a:ext cx="5852160" cy="292608"/>
          </a:xfrm>
          <a:prstGeom prst="rect">
            <a:avLst/>
          </a:prstGeom>
          <a:noFill/>
          <a:ln/>
        </p:spPr>
        <p:txBody>
          <a:bodyPr wrap="square" lIns="0" tIns="0" rIns="0" bIns="0" rtlCol="0" anchor="ctr"/>
          <a:lstStyle/>
          <a:p>
            <a:pPr indent="0" marL="0">
              <a:buNone/>
            </a:pPr>
            <a:r>
              <a:rPr lang="en-US" sz="1350" b="1" dirty="0">
                <a:solidFill>
                  <a:srgbClr val="1C7293"/>
                </a:solidFill>
                <a:latin typeface="Calibri" pitchFamily="34" charset="0"/>
                <a:ea typeface="Calibri" pitchFamily="34" charset="-122"/>
                <a:cs typeface="Calibri" pitchFamily="34" charset="-120"/>
              </a:rPr>
              <a:t>Feed-forward network</a:t>
            </a:r>
            <a:endParaRPr lang="en-US" sz="1350" dirty="0"/>
          </a:p>
        </p:txBody>
      </p:sp>
      <p:sp>
        <p:nvSpPr>
          <p:cNvPr id="14" name="Text 11"/>
          <p:cNvSpPr/>
          <p:nvPr/>
        </p:nvSpPr>
        <p:spPr>
          <a:xfrm>
            <a:off x="5486400" y="4325112"/>
            <a:ext cx="5852160" cy="548640"/>
          </a:xfrm>
          <a:prstGeom prst="rect">
            <a:avLst/>
          </a:prstGeom>
          <a:noFill/>
          <a:ln/>
        </p:spPr>
        <p:txBody>
          <a:bodyPr wrap="square" lIns="0" tIns="0" rIns="0" bIns="0" rtlCol="0" anchor="ctr"/>
          <a:lstStyle/>
          <a:p>
            <a:pPr indent="0" marL="0">
              <a:lnSpc>
                <a:spcPct val="112000"/>
              </a:lnSpc>
              <a:buNone/>
            </a:pPr>
            <a:r>
              <a:rPr lang="en-US" sz="1100" dirty="0">
                <a:solidFill>
                  <a:srgbClr val="5B7185"/>
                </a:solidFill>
                <a:latin typeface="Calibri" pitchFamily="34" charset="0"/>
                <a:ea typeface="Calibri" pitchFamily="34" charset="-122"/>
                <a:cs typeface="Calibri" pitchFamily="34" charset="-120"/>
              </a:rPr>
              <a:t>Two linear layers with a ReLU in between, applied identically to every position for further refinement.</a:t>
            </a:r>
            <a:endParaRPr lang="en-US" sz="1100" dirty="0"/>
          </a:p>
        </p:txBody>
      </p:sp>
      <p:sp>
        <p:nvSpPr>
          <p:cNvPr id="15" name="Shape 12"/>
          <p:cNvSpPr/>
          <p:nvPr/>
        </p:nvSpPr>
        <p:spPr>
          <a:xfrm>
            <a:off x="5257800" y="5084064"/>
            <a:ext cx="6309360" cy="1024128"/>
          </a:xfrm>
          <a:prstGeom prst="roundRect">
            <a:avLst>
              <a:gd name="adj" fmla="val 7143"/>
            </a:avLst>
          </a:prstGeom>
          <a:solidFill>
            <a:srgbClr val="EDF3F6"/>
          </a:solidFill>
          <a:ln/>
        </p:spPr>
      </p:sp>
      <p:sp>
        <p:nvSpPr>
          <p:cNvPr id="16" name="Text 13"/>
          <p:cNvSpPr/>
          <p:nvPr/>
        </p:nvSpPr>
        <p:spPr>
          <a:xfrm>
            <a:off x="5486400" y="5175504"/>
            <a:ext cx="5852160" cy="292608"/>
          </a:xfrm>
          <a:prstGeom prst="rect">
            <a:avLst/>
          </a:prstGeom>
          <a:noFill/>
          <a:ln/>
        </p:spPr>
        <p:txBody>
          <a:bodyPr wrap="square" lIns="0" tIns="0" rIns="0" bIns="0" rtlCol="0" anchor="ctr"/>
          <a:lstStyle/>
          <a:p>
            <a:pPr indent="0" marL="0">
              <a:buNone/>
            </a:pPr>
            <a:r>
              <a:rPr lang="en-US" sz="1350" b="1" dirty="0">
                <a:solidFill>
                  <a:srgbClr val="1C7293"/>
                </a:solidFill>
                <a:latin typeface="Calibri" pitchFamily="34" charset="0"/>
                <a:ea typeface="Calibri" pitchFamily="34" charset="-122"/>
                <a:cs typeface="Calibri" pitchFamily="34" charset="-120"/>
              </a:rPr>
              <a:t>Add &amp; Norm (again)</a:t>
            </a:r>
            <a:endParaRPr lang="en-US" sz="1350" dirty="0"/>
          </a:p>
        </p:txBody>
      </p:sp>
      <p:sp>
        <p:nvSpPr>
          <p:cNvPr id="17" name="Text 14"/>
          <p:cNvSpPr/>
          <p:nvPr/>
        </p:nvSpPr>
        <p:spPr>
          <a:xfrm>
            <a:off x="5486400" y="5486400"/>
            <a:ext cx="5852160" cy="548640"/>
          </a:xfrm>
          <a:prstGeom prst="rect">
            <a:avLst/>
          </a:prstGeom>
          <a:noFill/>
          <a:ln/>
        </p:spPr>
        <p:txBody>
          <a:bodyPr wrap="square" lIns="0" tIns="0" rIns="0" bIns="0" rtlCol="0" anchor="ctr"/>
          <a:lstStyle/>
          <a:p>
            <a:pPr indent="0" marL="0">
              <a:lnSpc>
                <a:spcPct val="112000"/>
              </a:lnSpc>
              <a:buNone/>
            </a:pPr>
            <a:r>
              <a:rPr lang="en-US" sz="1100" dirty="0">
                <a:solidFill>
                  <a:srgbClr val="5B7185"/>
                </a:solidFill>
                <a:latin typeface="Calibri" pitchFamily="34" charset="0"/>
                <a:ea typeface="Calibri" pitchFamily="34" charset="-122"/>
                <a:cs typeface="Calibri" pitchFamily="34" charset="-120"/>
              </a:rPr>
              <a:t>A second residual + normalization step wraps up the layer before it's stacked N times.</a:t>
            </a:r>
            <a:endParaRPr lang="en-US" sz="1100" dirty="0"/>
          </a:p>
        </p:txBody>
      </p:sp>
      <p:sp>
        <p:nvSpPr>
          <p:cNvPr id="18" name="Text 15"/>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640080" y="502920"/>
            <a:ext cx="45720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GENERATING THE OUTPUT</a:t>
            </a:r>
            <a:endParaRPr lang="en-US" sz="1200" dirty="0"/>
          </a:p>
        </p:txBody>
      </p:sp>
      <p:sp>
        <p:nvSpPr>
          <p:cNvPr id="3" name="Text 1"/>
          <p:cNvSpPr/>
          <p:nvPr/>
        </p:nvSpPr>
        <p:spPr>
          <a:xfrm>
            <a:off x="640080" y="777240"/>
            <a:ext cx="9144000" cy="731520"/>
          </a:xfrm>
          <a:prstGeom prst="rect">
            <a:avLst/>
          </a:prstGeom>
          <a:noFill/>
          <a:ln/>
        </p:spPr>
        <p:txBody>
          <a:bodyPr wrap="square" lIns="0" tIns="0" rIns="0" bIns="0" rtlCol="0" anchor="ctr"/>
          <a:lstStyle/>
          <a:p>
            <a:pPr indent="0" marL="0">
              <a:buNone/>
            </a:pPr>
            <a:r>
              <a:rPr lang="en-US" sz="3000" b="1" dirty="0">
                <a:solidFill>
                  <a:srgbClr val="13253B"/>
                </a:solidFill>
                <a:latin typeface="Cambria" pitchFamily="34" charset="0"/>
                <a:ea typeface="Cambria" pitchFamily="34" charset="-122"/>
                <a:cs typeface="Cambria" pitchFamily="34" charset="-120"/>
              </a:rPr>
              <a:t>The Decoder &amp; Masked Attention</a:t>
            </a:r>
            <a:endParaRPr lang="en-US" sz="3000" dirty="0"/>
          </a:p>
        </p:txBody>
      </p:sp>
      <p:sp>
        <p:nvSpPr>
          <p:cNvPr id="4" name="Shape 2"/>
          <p:cNvSpPr/>
          <p:nvPr/>
        </p:nvSpPr>
        <p:spPr>
          <a:xfrm>
            <a:off x="640080" y="1554480"/>
            <a:ext cx="3429000" cy="4663440"/>
          </a:xfrm>
          <a:prstGeom prst="roundRect">
            <a:avLst>
              <a:gd name="adj" fmla="val 2133"/>
            </a:avLst>
          </a:prstGeom>
          <a:solidFill>
            <a:srgbClr val="FFFFFF"/>
          </a:solidFill>
          <a:ln w="12700">
            <a:solidFill>
              <a:srgbClr val="DCE4EA"/>
            </a:solidFill>
            <a:prstDash val="solid"/>
          </a:ln>
          <a:effectLst>
            <a:outerShdw sx="100000" sy="100000" kx="0" ky="0" algn="bl" rotWithShape="0" blurRad="127000" dist="38100" dir="5400000">
              <a:srgbClr val="1B2A3D">
                <a:alpha val="18000"/>
              </a:srgbClr>
            </a:outerShdw>
          </a:effectLst>
        </p:spPr>
      </p:sp>
      <p:pic>
        <p:nvPicPr>
          <p:cNvPr id="5" name="Image 0" descr="/home/claude/work/build/crops/t3_decoder_structure.png">    </p:cNvPr>
          <p:cNvPicPr>
            <a:picLocks noChangeAspect="1"/>
          </p:cNvPicPr>
          <p:nvPr/>
        </p:nvPicPr>
        <p:blipFill>
          <a:blip r:embed="rId1"/>
          <a:stretch>
            <a:fillRect/>
          </a:stretch>
        </p:blipFill>
        <p:spPr>
          <a:xfrm>
            <a:off x="1319281" y="1783080"/>
            <a:ext cx="2070598" cy="4206240"/>
          </a:xfrm>
          <a:prstGeom prst="rect">
            <a:avLst/>
          </a:prstGeom>
        </p:spPr>
      </p:pic>
      <p:sp>
        <p:nvSpPr>
          <p:cNvPr id="6" name="Text 3"/>
          <p:cNvSpPr/>
          <p:nvPr/>
        </p:nvSpPr>
        <p:spPr>
          <a:xfrm>
            <a:off x="4343400" y="1600200"/>
            <a:ext cx="7223760" cy="777240"/>
          </a:xfrm>
          <a:prstGeom prst="rect">
            <a:avLst/>
          </a:prstGeom>
          <a:noFill/>
          <a:ln/>
        </p:spPr>
        <p:txBody>
          <a:bodyPr wrap="square" lIns="0" tIns="0" rIns="0" bIns="0" rtlCol="0" anchor="ctr"/>
          <a:lstStyle/>
          <a:p>
            <a:pPr indent="0" marL="0">
              <a:lnSpc>
                <a:spcPct val="120000"/>
              </a:lnSpc>
              <a:buNone/>
            </a:pPr>
            <a:r>
              <a:rPr lang="en-US" sz="1350" dirty="0">
                <a:solidFill>
                  <a:srgbClr val="5B7185"/>
                </a:solidFill>
                <a:latin typeface="Calibri" pitchFamily="34" charset="0"/>
                <a:ea typeface="Calibri" pitchFamily="34" charset="-122"/>
                <a:cs typeface="Calibri" pitchFamily="34" charset="-120"/>
              </a:rPr>
              <a:t>The decoder mirrors the encoder but adds a masked self-attention layer: it prevents each position from attending to tokens that come after it.</a:t>
            </a:r>
            <a:endParaRPr lang="en-US" sz="1350" dirty="0"/>
          </a:p>
        </p:txBody>
      </p:sp>
      <p:sp>
        <p:nvSpPr>
          <p:cNvPr id="7" name="Shape 4"/>
          <p:cNvSpPr/>
          <p:nvPr/>
        </p:nvSpPr>
        <p:spPr>
          <a:xfrm>
            <a:off x="4343400" y="2514600"/>
            <a:ext cx="7223760" cy="2788920"/>
          </a:xfrm>
          <a:prstGeom prst="roundRect">
            <a:avLst>
              <a:gd name="adj" fmla="val 2623"/>
            </a:avLst>
          </a:prstGeom>
          <a:solidFill>
            <a:srgbClr val="FFFFFF"/>
          </a:solidFill>
          <a:ln w="12700">
            <a:solidFill>
              <a:srgbClr val="DCE4EA"/>
            </a:solidFill>
            <a:prstDash val="solid"/>
          </a:ln>
          <a:effectLst>
            <a:outerShdw sx="100000" sy="100000" kx="0" ky="0" algn="bl" rotWithShape="0" blurRad="127000" dist="38100" dir="5400000">
              <a:srgbClr val="1B2A3D">
                <a:alpha val="18000"/>
              </a:srgbClr>
            </a:outerShdw>
          </a:effectLst>
        </p:spPr>
      </p:sp>
      <p:pic>
        <p:nvPicPr>
          <p:cNvPr id="8" name="Image 1" descr="/home/claude/work/build/crops/t3_maskedscores.png">    </p:cNvPr>
          <p:cNvPicPr>
            <a:picLocks noChangeAspect="1"/>
          </p:cNvPicPr>
          <p:nvPr/>
        </p:nvPicPr>
        <p:blipFill>
          <a:blip r:embed="rId2"/>
          <a:stretch>
            <a:fillRect/>
          </a:stretch>
        </p:blipFill>
        <p:spPr>
          <a:xfrm>
            <a:off x="5104660" y="2834640"/>
            <a:ext cx="5701240" cy="1737360"/>
          </a:xfrm>
          <a:prstGeom prst="rect">
            <a:avLst/>
          </a:prstGeom>
        </p:spPr>
      </p:pic>
      <p:sp>
        <p:nvSpPr>
          <p:cNvPr id="9" name="Text 5"/>
          <p:cNvSpPr/>
          <p:nvPr/>
        </p:nvSpPr>
        <p:spPr>
          <a:xfrm>
            <a:off x="4709160" y="4526280"/>
            <a:ext cx="6492240" cy="685800"/>
          </a:xfrm>
          <a:prstGeom prst="rect">
            <a:avLst/>
          </a:prstGeom>
          <a:noFill/>
          <a:ln/>
        </p:spPr>
        <p:txBody>
          <a:bodyPr wrap="square" lIns="0" tIns="0" rIns="0" bIns="0" rtlCol="0" anchor="ctr"/>
          <a:lstStyle/>
          <a:p>
            <a:pPr indent="0" marL="0">
              <a:lnSpc>
                <a:spcPct val="115000"/>
              </a:lnSpc>
              <a:buNone/>
            </a:pPr>
            <a:r>
              <a:rPr lang="en-US" sz="1150" i="1" dirty="0">
                <a:solidFill>
                  <a:srgbClr val="5B7185"/>
                </a:solidFill>
                <a:latin typeface="Calibri" pitchFamily="34" charset="0"/>
                <a:ea typeface="Calibri" pitchFamily="34" charset="-122"/>
                <a:cs typeface="Calibri" pitchFamily="34" charset="-120"/>
              </a:rPr>
              <a:t>Scaled scores + a look-ahead mask (–∞ for future positions) = masked scores. After softmax, the –∞ entries become zero — the word simply can't see the future.</a:t>
            </a:r>
            <a:endParaRPr lang="en-US" sz="1150" dirty="0"/>
          </a:p>
        </p:txBody>
      </p:sp>
      <p:sp>
        <p:nvSpPr>
          <p:cNvPr id="10" name="Shape 6"/>
          <p:cNvSpPr/>
          <p:nvPr/>
        </p:nvSpPr>
        <p:spPr>
          <a:xfrm>
            <a:off x="4343400" y="5486400"/>
            <a:ext cx="7223760" cy="777240"/>
          </a:xfrm>
          <a:prstGeom prst="roundRect">
            <a:avLst>
              <a:gd name="adj" fmla="val 9412"/>
            </a:avLst>
          </a:prstGeom>
          <a:solidFill>
            <a:srgbClr val="0B1F3A"/>
          </a:solidFill>
          <a:ln/>
        </p:spPr>
      </p:sp>
      <p:sp>
        <p:nvSpPr>
          <p:cNvPr id="11" name="Text 7"/>
          <p:cNvSpPr/>
          <p:nvPr/>
        </p:nvSpPr>
        <p:spPr>
          <a:xfrm>
            <a:off x="4526280" y="5486400"/>
            <a:ext cx="6858000" cy="777240"/>
          </a:xfrm>
          <a:prstGeom prst="rect">
            <a:avLst/>
          </a:prstGeom>
          <a:noFill/>
          <a:ln/>
        </p:spPr>
        <p:txBody>
          <a:bodyPr wrap="square" lIns="0" tIns="0" rIns="0" bIns="0" rtlCol="0" anchor="ctr"/>
          <a:lstStyle/>
          <a:p>
            <a:pPr indent="0" marL="0">
              <a:lnSpc>
                <a:spcPct val="115000"/>
              </a:lnSpc>
              <a:buNone/>
            </a:pPr>
            <a:r>
              <a:rPr lang="en-US" sz="1150" b="1" dirty="0">
                <a:solidFill>
                  <a:srgbClr val="E8983A"/>
                </a:solidFill>
                <a:latin typeface="Calibri" pitchFamily="34" charset="0"/>
                <a:ea typeface="Calibri" pitchFamily="34" charset="-122"/>
                <a:cs typeface="Calibri" pitchFamily="34" charset="-120"/>
              </a:rPr>
              <a:t>Autoregressive: </a:t>
            </a:r>
            <a:pPr indent="0" marL="0">
              <a:lnSpc>
                <a:spcPct val="115000"/>
              </a:lnSpc>
              <a:buNone/>
            </a:pPr>
            <a:r>
              <a:rPr lang="en-US" sz="1150" dirty="0">
                <a:solidFill>
                  <a:srgbClr val="CFE3EE"/>
                </a:solidFill>
                <a:latin typeface="Calibri" pitchFamily="34" charset="0"/>
                <a:ea typeface="Calibri" pitchFamily="34" charset="-122"/>
                <a:cs typeface="Calibri" pitchFamily="34" charset="-120"/>
              </a:rPr>
              <a:t>the decoder generates one token at a time, feeding each output back in as input for the next step — until it produces an end-of-sequence token.</a:t>
            </a:r>
            <a:endParaRPr lang="en-US" sz="1150" dirty="0"/>
          </a:p>
        </p:txBody>
      </p:sp>
      <p:sp>
        <p:nvSpPr>
          <p:cNvPr id="12" name="Text 8"/>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640080" y="502920"/>
            <a:ext cx="45720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CONNECTING ENCODER AND DECODER</a:t>
            </a:r>
            <a:endParaRPr lang="en-US" sz="1200" dirty="0"/>
          </a:p>
        </p:txBody>
      </p:sp>
      <p:sp>
        <p:nvSpPr>
          <p:cNvPr id="3" name="Text 1"/>
          <p:cNvSpPr/>
          <p:nvPr/>
        </p:nvSpPr>
        <p:spPr>
          <a:xfrm>
            <a:off x="640080" y="777240"/>
            <a:ext cx="7315200" cy="731520"/>
          </a:xfrm>
          <a:prstGeom prst="rect">
            <a:avLst/>
          </a:prstGeom>
          <a:noFill/>
          <a:ln/>
        </p:spPr>
        <p:txBody>
          <a:bodyPr wrap="square" lIns="0" tIns="0" rIns="0" bIns="0" rtlCol="0" anchor="ctr"/>
          <a:lstStyle/>
          <a:p>
            <a:pPr indent="0" marL="0">
              <a:buNone/>
            </a:pPr>
            <a:r>
              <a:rPr lang="en-US" sz="3200" b="1" dirty="0">
                <a:solidFill>
                  <a:srgbClr val="13253B"/>
                </a:solidFill>
                <a:latin typeface="Cambria" pitchFamily="34" charset="0"/>
                <a:ea typeface="Cambria" pitchFamily="34" charset="-122"/>
                <a:cs typeface="Cambria" pitchFamily="34" charset="-120"/>
              </a:rPr>
              <a:t>Cross-Attention</a:t>
            </a:r>
            <a:endParaRPr lang="en-US" sz="3200" dirty="0"/>
          </a:p>
        </p:txBody>
      </p:sp>
      <p:sp>
        <p:nvSpPr>
          <p:cNvPr id="4" name="Text 2"/>
          <p:cNvSpPr/>
          <p:nvPr/>
        </p:nvSpPr>
        <p:spPr>
          <a:xfrm>
            <a:off x="640080" y="1417320"/>
            <a:ext cx="5394960" cy="1554480"/>
          </a:xfrm>
          <a:prstGeom prst="rect">
            <a:avLst/>
          </a:prstGeom>
          <a:noFill/>
          <a:ln/>
        </p:spPr>
        <p:txBody>
          <a:bodyPr wrap="square" lIns="0" tIns="0" rIns="0" bIns="0" rtlCol="0" anchor="ctr"/>
          <a:lstStyle/>
          <a:p>
            <a:pPr indent="0" marL="0">
              <a:lnSpc>
                <a:spcPct val="125000"/>
              </a:lnSpc>
              <a:buNone/>
            </a:pPr>
            <a:r>
              <a:rPr lang="en-US" sz="1350" dirty="0">
                <a:solidFill>
                  <a:srgbClr val="5B7185"/>
                </a:solidFill>
                <a:latin typeface="Calibri" pitchFamily="34" charset="0"/>
                <a:ea typeface="Calibri" pitchFamily="34" charset="-122"/>
                <a:cs typeface="Calibri" pitchFamily="34" charset="-120"/>
              </a:rPr>
              <a:t>Once the decoder has started generating, it still needs the original input. In the decoder's second attention layer, queries come from the decoder while keys and values come from the encoder's output — so every output position can look at the entire input sequence.</a:t>
            </a:r>
            <a:endParaRPr lang="en-US" sz="1350" dirty="0"/>
          </a:p>
        </p:txBody>
      </p:sp>
      <p:sp>
        <p:nvSpPr>
          <p:cNvPr id="5" name="Shape 3"/>
          <p:cNvSpPr/>
          <p:nvPr/>
        </p:nvSpPr>
        <p:spPr>
          <a:xfrm>
            <a:off x="640080" y="3200400"/>
            <a:ext cx="5394960" cy="868680"/>
          </a:xfrm>
          <a:prstGeom prst="roundRect">
            <a:avLst>
              <a:gd name="adj" fmla="val 8421"/>
            </a:avLst>
          </a:prstGeom>
          <a:solidFill>
            <a:srgbClr val="0B1F3A"/>
          </a:solidFill>
          <a:ln/>
        </p:spPr>
      </p:sp>
      <p:sp>
        <p:nvSpPr>
          <p:cNvPr id="6" name="Text 4"/>
          <p:cNvSpPr/>
          <p:nvPr/>
        </p:nvSpPr>
        <p:spPr>
          <a:xfrm>
            <a:off x="868680" y="3291840"/>
            <a:ext cx="4937760" cy="292608"/>
          </a:xfrm>
          <a:prstGeom prst="rect">
            <a:avLst/>
          </a:prstGeom>
          <a:noFill/>
          <a:ln/>
        </p:spPr>
        <p:txBody>
          <a:bodyPr wrap="square" lIns="0" tIns="0" rIns="0" bIns="0" rtlCol="0" anchor="ctr"/>
          <a:lstStyle/>
          <a:p>
            <a:pPr indent="0" marL="0">
              <a:buNone/>
            </a:pPr>
            <a:r>
              <a:rPr lang="en-US" sz="1400" b="1" dirty="0">
                <a:solidFill>
                  <a:srgbClr val="E8983A"/>
                </a:solidFill>
                <a:latin typeface="Calibri" pitchFamily="34" charset="0"/>
                <a:ea typeface="Calibri" pitchFamily="34" charset="-122"/>
                <a:cs typeface="Calibri" pitchFamily="34" charset="-120"/>
              </a:rPr>
              <a:t>Queries</a:t>
            </a:r>
            <a:endParaRPr lang="en-US" sz="1400" dirty="0"/>
          </a:p>
        </p:txBody>
      </p:sp>
      <p:sp>
        <p:nvSpPr>
          <p:cNvPr id="7" name="Text 5"/>
          <p:cNvSpPr/>
          <p:nvPr/>
        </p:nvSpPr>
        <p:spPr>
          <a:xfrm>
            <a:off x="868680" y="3602736"/>
            <a:ext cx="4937760" cy="365760"/>
          </a:xfrm>
          <a:prstGeom prst="rect">
            <a:avLst/>
          </a:prstGeom>
          <a:noFill/>
          <a:ln/>
        </p:spPr>
        <p:txBody>
          <a:bodyPr wrap="square" lIns="0" tIns="0" rIns="0" bIns="0" rtlCol="0" anchor="ctr"/>
          <a:lstStyle/>
          <a:p>
            <a:pPr indent="0" marL="0">
              <a:buNone/>
            </a:pPr>
            <a:r>
              <a:rPr lang="en-US" sz="1150" dirty="0">
                <a:solidFill>
                  <a:srgbClr val="CFE3EE"/>
                </a:solidFill>
                <a:latin typeface="Calibri" pitchFamily="34" charset="0"/>
                <a:ea typeface="Calibri" pitchFamily="34" charset="-122"/>
                <a:cs typeface="Calibri" pitchFamily="34" charset="-120"/>
              </a:rPr>
              <a:t>from the decoder — “what I need to generate”</a:t>
            </a:r>
            <a:endParaRPr lang="en-US" sz="1150" dirty="0"/>
          </a:p>
        </p:txBody>
      </p:sp>
      <p:sp>
        <p:nvSpPr>
          <p:cNvPr id="8" name="Shape 6"/>
          <p:cNvSpPr/>
          <p:nvPr/>
        </p:nvSpPr>
        <p:spPr>
          <a:xfrm>
            <a:off x="640080" y="4206240"/>
            <a:ext cx="5394960" cy="868680"/>
          </a:xfrm>
          <a:prstGeom prst="roundRect">
            <a:avLst>
              <a:gd name="adj" fmla="val 8421"/>
            </a:avLst>
          </a:prstGeom>
          <a:solidFill>
            <a:srgbClr val="0B1F3A"/>
          </a:solidFill>
          <a:ln/>
        </p:spPr>
      </p:sp>
      <p:sp>
        <p:nvSpPr>
          <p:cNvPr id="9" name="Text 7"/>
          <p:cNvSpPr/>
          <p:nvPr/>
        </p:nvSpPr>
        <p:spPr>
          <a:xfrm>
            <a:off x="868680" y="4297680"/>
            <a:ext cx="4937760" cy="292608"/>
          </a:xfrm>
          <a:prstGeom prst="rect">
            <a:avLst/>
          </a:prstGeom>
          <a:noFill/>
          <a:ln/>
        </p:spPr>
        <p:txBody>
          <a:bodyPr wrap="square" lIns="0" tIns="0" rIns="0" bIns="0" rtlCol="0" anchor="ctr"/>
          <a:lstStyle/>
          <a:p>
            <a:pPr indent="0" marL="0">
              <a:buNone/>
            </a:pPr>
            <a:r>
              <a:rPr lang="en-US" sz="1400" b="1" dirty="0">
                <a:solidFill>
                  <a:srgbClr val="E8983A"/>
                </a:solidFill>
                <a:latin typeface="Calibri" pitchFamily="34" charset="0"/>
                <a:ea typeface="Calibri" pitchFamily="34" charset="-122"/>
                <a:cs typeface="Calibri" pitchFamily="34" charset="-120"/>
              </a:rPr>
              <a:t>Keys &amp; Values</a:t>
            </a:r>
            <a:endParaRPr lang="en-US" sz="1400" dirty="0"/>
          </a:p>
        </p:txBody>
      </p:sp>
      <p:sp>
        <p:nvSpPr>
          <p:cNvPr id="10" name="Text 8"/>
          <p:cNvSpPr/>
          <p:nvPr/>
        </p:nvSpPr>
        <p:spPr>
          <a:xfrm>
            <a:off x="868680" y="4608576"/>
            <a:ext cx="4937760" cy="365760"/>
          </a:xfrm>
          <a:prstGeom prst="rect">
            <a:avLst/>
          </a:prstGeom>
          <a:noFill/>
          <a:ln/>
        </p:spPr>
        <p:txBody>
          <a:bodyPr wrap="square" lIns="0" tIns="0" rIns="0" bIns="0" rtlCol="0" anchor="ctr"/>
          <a:lstStyle/>
          <a:p>
            <a:pPr indent="0" marL="0">
              <a:buNone/>
            </a:pPr>
            <a:r>
              <a:rPr lang="en-US" sz="1150" dirty="0">
                <a:solidFill>
                  <a:srgbClr val="CFE3EE"/>
                </a:solidFill>
                <a:latin typeface="Calibri" pitchFamily="34" charset="0"/>
                <a:ea typeface="Calibri" pitchFamily="34" charset="-122"/>
                <a:cs typeface="Calibri" pitchFamily="34" charset="-120"/>
              </a:rPr>
              <a:t>from the encoder — “what the input provides”</a:t>
            </a:r>
            <a:endParaRPr lang="en-US" sz="1150" dirty="0"/>
          </a:p>
        </p:txBody>
      </p:sp>
      <p:sp>
        <p:nvSpPr>
          <p:cNvPr id="11" name="Text 9"/>
          <p:cNvSpPr/>
          <p:nvPr/>
        </p:nvSpPr>
        <p:spPr>
          <a:xfrm>
            <a:off x="640080" y="5303520"/>
            <a:ext cx="5394960" cy="640080"/>
          </a:xfrm>
          <a:prstGeom prst="rect">
            <a:avLst/>
          </a:prstGeom>
          <a:noFill/>
          <a:ln/>
        </p:spPr>
        <p:txBody>
          <a:bodyPr wrap="square" lIns="0" tIns="0" rIns="0" bIns="0" rtlCol="0" anchor="ctr"/>
          <a:lstStyle/>
          <a:p>
            <a:pPr indent="0" marL="0">
              <a:lnSpc>
                <a:spcPct val="120000"/>
              </a:lnSpc>
              <a:buNone/>
            </a:pPr>
            <a:r>
              <a:rPr lang="en-US" sz="1150" i="1" dirty="0">
                <a:solidFill>
                  <a:srgbClr val="5B7185"/>
                </a:solidFill>
                <a:latin typeface="Calibri" pitchFamily="34" charset="0"/>
                <a:ea typeface="Calibri" pitchFamily="34" charset="-122"/>
                <a:cs typeface="Calibri" pitchFamily="34" charset="-120"/>
              </a:rPr>
              <a:t>Unlike self-attention, cross-attention links two different sequences — letting information flow from source to target.</a:t>
            </a:r>
            <a:endParaRPr lang="en-US" sz="1150" dirty="0"/>
          </a:p>
        </p:txBody>
      </p:sp>
      <p:sp>
        <p:nvSpPr>
          <p:cNvPr id="12" name="Shape 10"/>
          <p:cNvSpPr/>
          <p:nvPr/>
        </p:nvSpPr>
        <p:spPr>
          <a:xfrm>
            <a:off x="6446520" y="1417320"/>
            <a:ext cx="5120640" cy="5029200"/>
          </a:xfrm>
          <a:prstGeom prst="roundRect">
            <a:avLst>
              <a:gd name="adj" fmla="val 1455"/>
            </a:avLst>
          </a:prstGeom>
          <a:solidFill>
            <a:srgbClr val="FFFFFF"/>
          </a:solidFill>
          <a:ln w="12700">
            <a:solidFill>
              <a:srgbClr val="DCE4EA"/>
            </a:solidFill>
            <a:prstDash val="solid"/>
          </a:ln>
          <a:effectLst>
            <a:outerShdw sx="100000" sy="100000" kx="0" ky="0" algn="bl" rotWithShape="0" blurRad="127000" dist="38100" dir="5400000">
              <a:srgbClr val="1B2A3D">
                <a:alpha val="18000"/>
              </a:srgbClr>
            </a:outerShdw>
          </a:effectLst>
        </p:spPr>
      </p:sp>
      <p:pic>
        <p:nvPicPr>
          <p:cNvPr id="13" name="Image 0" descr="/home/claude/work/build/crops/t2_crossattn_annotated.png">    </p:cNvPr>
          <p:cNvPicPr>
            <a:picLocks noChangeAspect="1"/>
          </p:cNvPicPr>
          <p:nvPr/>
        </p:nvPicPr>
        <p:blipFill>
          <a:blip r:embed="rId1"/>
          <a:stretch>
            <a:fillRect/>
          </a:stretch>
        </p:blipFill>
        <p:spPr>
          <a:xfrm>
            <a:off x="6766560" y="2232281"/>
            <a:ext cx="4480560" cy="3399279"/>
          </a:xfrm>
          <a:prstGeom prst="rect">
            <a:avLst/>
          </a:prstGeom>
        </p:spPr>
      </p:pic>
      <p:sp>
        <p:nvSpPr>
          <p:cNvPr id="14" name="Text 11"/>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822960" y="502920"/>
            <a:ext cx="4572000" cy="320040"/>
          </a:xfrm>
          <a:prstGeom prst="rect">
            <a:avLst/>
          </a:prstGeom>
          <a:noFill/>
          <a:ln/>
        </p:spPr>
        <p:txBody>
          <a:bodyPr wrap="square" lIns="0" tIns="0" rIns="0" bIns="0" rtlCol="0" anchor="ctr"/>
          <a:lstStyle/>
          <a:p>
            <a:pPr indent="0" marL="0">
              <a:buNone/>
            </a:pPr>
            <a:r>
              <a:rPr lang="en-US" sz="1200" b="1" spc="200" kern="0" dirty="0">
                <a:solidFill>
                  <a:srgbClr val="CFE3EE"/>
                </a:solidFill>
                <a:latin typeface="Calibri" pitchFamily="34" charset="0"/>
                <a:ea typeface="Calibri" pitchFamily="34" charset="-122"/>
                <a:cs typeface="Calibri" pitchFamily="34" charset="-120"/>
              </a:rPr>
              <a:t>ALL THE PIECES TOGETHER</a:t>
            </a:r>
            <a:endParaRPr lang="en-US" sz="1200" dirty="0"/>
          </a:p>
        </p:txBody>
      </p:sp>
      <p:sp>
        <p:nvSpPr>
          <p:cNvPr id="3" name="Text 1"/>
          <p:cNvSpPr/>
          <p:nvPr/>
        </p:nvSpPr>
        <p:spPr>
          <a:xfrm>
            <a:off x="822960" y="777240"/>
            <a:ext cx="82296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Complete Transformer</a:t>
            </a:r>
            <a:endParaRPr lang="en-US" sz="3400" dirty="0"/>
          </a:p>
        </p:txBody>
      </p:sp>
      <p:sp>
        <p:nvSpPr>
          <p:cNvPr id="4" name="Shape 2"/>
          <p:cNvSpPr/>
          <p:nvPr/>
        </p:nvSpPr>
        <p:spPr>
          <a:xfrm>
            <a:off x="822960" y="1600200"/>
            <a:ext cx="5029200" cy="4846320"/>
          </a:xfrm>
          <a:prstGeom prst="roundRect">
            <a:avLst>
              <a:gd name="adj" fmla="val 1887"/>
            </a:avLst>
          </a:prstGeom>
          <a:solidFill>
            <a:srgbClr val="FFFFFF"/>
          </a:solidFill>
          <a:ln/>
        </p:spPr>
      </p:sp>
      <p:pic>
        <p:nvPicPr>
          <p:cNvPr id="5" name="Image 0" descr="/home/claude/work/build/crops/t3_fullarch.png">    </p:cNvPr>
          <p:cNvPicPr>
            <a:picLocks noChangeAspect="1"/>
          </p:cNvPicPr>
          <p:nvPr/>
        </p:nvPicPr>
        <p:blipFill>
          <a:blip r:embed="rId1"/>
          <a:stretch>
            <a:fillRect/>
          </a:stretch>
        </p:blipFill>
        <p:spPr>
          <a:xfrm>
            <a:off x="1250426" y="1828800"/>
            <a:ext cx="4174268" cy="4389120"/>
          </a:xfrm>
          <a:prstGeom prst="rect">
            <a:avLst/>
          </a:prstGeom>
        </p:spPr>
      </p:pic>
      <p:sp>
        <p:nvSpPr>
          <p:cNvPr id="6" name="Shape 3"/>
          <p:cNvSpPr/>
          <p:nvPr/>
        </p:nvSpPr>
        <p:spPr>
          <a:xfrm>
            <a:off x="6172200" y="1691640"/>
            <a:ext cx="5212080" cy="1371600"/>
          </a:xfrm>
          <a:prstGeom prst="roundRect">
            <a:avLst>
              <a:gd name="adj" fmla="val 5333"/>
            </a:avLst>
          </a:prstGeom>
          <a:solidFill>
            <a:srgbClr val="13294B"/>
          </a:solidFill>
          <a:ln w="12700">
            <a:solidFill>
              <a:srgbClr val="24446F"/>
            </a:solidFill>
            <a:prstDash val="solid"/>
          </a:ln>
        </p:spPr>
      </p:sp>
      <p:sp>
        <p:nvSpPr>
          <p:cNvPr id="7" name="Text 4"/>
          <p:cNvSpPr/>
          <p:nvPr/>
        </p:nvSpPr>
        <p:spPr>
          <a:xfrm>
            <a:off x="6400800" y="1828800"/>
            <a:ext cx="4754880" cy="320040"/>
          </a:xfrm>
          <a:prstGeom prst="rect">
            <a:avLst/>
          </a:prstGeom>
          <a:noFill/>
          <a:ln/>
        </p:spPr>
        <p:txBody>
          <a:bodyPr wrap="square" lIns="0" tIns="0" rIns="0" bIns="0" rtlCol="0" anchor="ctr"/>
          <a:lstStyle/>
          <a:p>
            <a:pPr indent="0" marL="0">
              <a:buNone/>
            </a:pPr>
            <a:r>
              <a:rPr lang="en-US" sz="1500" b="1" dirty="0">
                <a:solidFill>
                  <a:srgbClr val="E8983A"/>
                </a:solidFill>
                <a:latin typeface="Calibri" pitchFamily="34" charset="0"/>
                <a:ea typeface="Calibri" pitchFamily="34" charset="-122"/>
                <a:cs typeface="Calibri" pitchFamily="34" charset="-120"/>
              </a:rPr>
              <a:t>Encoder (left)</a:t>
            </a:r>
            <a:endParaRPr lang="en-US" sz="1500" dirty="0"/>
          </a:p>
        </p:txBody>
      </p:sp>
      <p:sp>
        <p:nvSpPr>
          <p:cNvPr id="8" name="Text 5"/>
          <p:cNvSpPr/>
          <p:nvPr/>
        </p:nvSpPr>
        <p:spPr>
          <a:xfrm>
            <a:off x="6400800" y="2194560"/>
            <a:ext cx="4754880" cy="777240"/>
          </a:xfrm>
          <a:prstGeom prst="rect">
            <a:avLst/>
          </a:prstGeom>
          <a:noFill/>
          <a:ln/>
        </p:spPr>
        <p:txBody>
          <a:bodyPr wrap="square" lIns="0" tIns="0" rIns="0" bIns="0" rtlCol="0" anchor="ctr"/>
          <a:lstStyle/>
          <a:p>
            <a:pPr indent="0" marL="0">
              <a:lnSpc>
                <a:spcPct val="120000"/>
              </a:lnSpc>
              <a:buNone/>
            </a:pPr>
            <a:r>
              <a:rPr lang="en-US" sz="1200" dirty="0">
                <a:solidFill>
                  <a:srgbClr val="CFE3EE"/>
                </a:solidFill>
                <a:latin typeface="Calibri" pitchFamily="34" charset="0"/>
                <a:ea typeface="Calibri" pitchFamily="34" charset="-122"/>
                <a:cs typeface="Calibri" pitchFamily="34" charset="-120"/>
              </a:rPr>
              <a:t>N stacked layers of self-attention + feed-forward, turning input tokens into contextual representations.</a:t>
            </a:r>
            <a:endParaRPr lang="en-US" sz="1200" dirty="0"/>
          </a:p>
        </p:txBody>
      </p:sp>
      <p:sp>
        <p:nvSpPr>
          <p:cNvPr id="9" name="Shape 6"/>
          <p:cNvSpPr/>
          <p:nvPr/>
        </p:nvSpPr>
        <p:spPr>
          <a:xfrm>
            <a:off x="6172200" y="3264408"/>
            <a:ext cx="5212080" cy="1371600"/>
          </a:xfrm>
          <a:prstGeom prst="roundRect">
            <a:avLst>
              <a:gd name="adj" fmla="val 5333"/>
            </a:avLst>
          </a:prstGeom>
          <a:solidFill>
            <a:srgbClr val="13294B"/>
          </a:solidFill>
          <a:ln w="12700">
            <a:solidFill>
              <a:srgbClr val="24446F"/>
            </a:solidFill>
            <a:prstDash val="solid"/>
          </a:ln>
        </p:spPr>
      </p:sp>
      <p:sp>
        <p:nvSpPr>
          <p:cNvPr id="10" name="Text 7"/>
          <p:cNvSpPr/>
          <p:nvPr/>
        </p:nvSpPr>
        <p:spPr>
          <a:xfrm>
            <a:off x="6400800" y="3401568"/>
            <a:ext cx="4754880" cy="320040"/>
          </a:xfrm>
          <a:prstGeom prst="rect">
            <a:avLst/>
          </a:prstGeom>
          <a:noFill/>
          <a:ln/>
        </p:spPr>
        <p:txBody>
          <a:bodyPr wrap="square" lIns="0" tIns="0" rIns="0" bIns="0" rtlCol="0" anchor="ctr"/>
          <a:lstStyle/>
          <a:p>
            <a:pPr indent="0" marL="0">
              <a:buNone/>
            </a:pPr>
            <a:r>
              <a:rPr lang="en-US" sz="1500" b="1" dirty="0">
                <a:solidFill>
                  <a:srgbClr val="E8983A"/>
                </a:solidFill>
                <a:latin typeface="Calibri" pitchFamily="34" charset="0"/>
                <a:ea typeface="Calibri" pitchFamily="34" charset="-122"/>
                <a:cs typeface="Calibri" pitchFamily="34" charset="-120"/>
              </a:rPr>
              <a:t>Decoder (right)</a:t>
            </a:r>
            <a:endParaRPr lang="en-US" sz="1500" dirty="0"/>
          </a:p>
        </p:txBody>
      </p:sp>
      <p:sp>
        <p:nvSpPr>
          <p:cNvPr id="11" name="Text 8"/>
          <p:cNvSpPr/>
          <p:nvPr/>
        </p:nvSpPr>
        <p:spPr>
          <a:xfrm>
            <a:off x="6400800" y="3767328"/>
            <a:ext cx="4754880" cy="777240"/>
          </a:xfrm>
          <a:prstGeom prst="rect">
            <a:avLst/>
          </a:prstGeom>
          <a:noFill/>
          <a:ln/>
        </p:spPr>
        <p:txBody>
          <a:bodyPr wrap="square" lIns="0" tIns="0" rIns="0" bIns="0" rtlCol="0" anchor="ctr"/>
          <a:lstStyle/>
          <a:p>
            <a:pPr indent="0" marL="0">
              <a:lnSpc>
                <a:spcPct val="120000"/>
              </a:lnSpc>
              <a:buNone/>
            </a:pPr>
            <a:r>
              <a:rPr lang="en-US" sz="1200" dirty="0">
                <a:solidFill>
                  <a:srgbClr val="CFE3EE"/>
                </a:solidFill>
                <a:latin typeface="Calibri" pitchFamily="34" charset="0"/>
                <a:ea typeface="Calibri" pitchFamily="34" charset="-122"/>
                <a:cs typeface="Calibri" pitchFamily="34" charset="-120"/>
              </a:rPr>
              <a:t>N stacked layers with an extra masked self-attention and cross-attention step, generating output tokens one at a time.</a:t>
            </a:r>
            <a:endParaRPr lang="en-US" sz="1200" dirty="0"/>
          </a:p>
        </p:txBody>
      </p:sp>
      <p:sp>
        <p:nvSpPr>
          <p:cNvPr id="12" name="Shape 9"/>
          <p:cNvSpPr/>
          <p:nvPr/>
        </p:nvSpPr>
        <p:spPr>
          <a:xfrm>
            <a:off x="6172200" y="4837176"/>
            <a:ext cx="5212080" cy="1371600"/>
          </a:xfrm>
          <a:prstGeom prst="roundRect">
            <a:avLst>
              <a:gd name="adj" fmla="val 5333"/>
            </a:avLst>
          </a:prstGeom>
          <a:solidFill>
            <a:srgbClr val="13294B"/>
          </a:solidFill>
          <a:ln w="12700">
            <a:solidFill>
              <a:srgbClr val="24446F"/>
            </a:solidFill>
            <a:prstDash val="solid"/>
          </a:ln>
        </p:spPr>
      </p:sp>
      <p:sp>
        <p:nvSpPr>
          <p:cNvPr id="13" name="Text 10"/>
          <p:cNvSpPr/>
          <p:nvPr/>
        </p:nvSpPr>
        <p:spPr>
          <a:xfrm>
            <a:off x="6400800" y="4974336"/>
            <a:ext cx="4754880" cy="320040"/>
          </a:xfrm>
          <a:prstGeom prst="rect">
            <a:avLst/>
          </a:prstGeom>
          <a:noFill/>
          <a:ln/>
        </p:spPr>
        <p:txBody>
          <a:bodyPr wrap="square" lIns="0" tIns="0" rIns="0" bIns="0" rtlCol="0" anchor="ctr"/>
          <a:lstStyle/>
          <a:p>
            <a:pPr indent="0" marL="0">
              <a:buNone/>
            </a:pPr>
            <a:r>
              <a:rPr lang="en-US" sz="1500" b="1" dirty="0">
                <a:solidFill>
                  <a:srgbClr val="E8983A"/>
                </a:solidFill>
                <a:latin typeface="Calibri" pitchFamily="34" charset="0"/>
                <a:ea typeface="Calibri" pitchFamily="34" charset="-122"/>
                <a:cs typeface="Calibri" pitchFamily="34" charset="-120"/>
              </a:rPr>
              <a:t>Linear + Softmax</a:t>
            </a:r>
            <a:endParaRPr lang="en-US" sz="1500" dirty="0"/>
          </a:p>
        </p:txBody>
      </p:sp>
      <p:sp>
        <p:nvSpPr>
          <p:cNvPr id="14" name="Text 11"/>
          <p:cNvSpPr/>
          <p:nvPr/>
        </p:nvSpPr>
        <p:spPr>
          <a:xfrm>
            <a:off x="6400800" y="5340096"/>
            <a:ext cx="4754880" cy="777240"/>
          </a:xfrm>
          <a:prstGeom prst="rect">
            <a:avLst/>
          </a:prstGeom>
          <a:noFill/>
          <a:ln/>
        </p:spPr>
        <p:txBody>
          <a:bodyPr wrap="square" lIns="0" tIns="0" rIns="0" bIns="0" rtlCol="0" anchor="ctr"/>
          <a:lstStyle/>
          <a:p>
            <a:pPr indent="0" marL="0">
              <a:lnSpc>
                <a:spcPct val="120000"/>
              </a:lnSpc>
              <a:buNone/>
            </a:pPr>
            <a:r>
              <a:rPr lang="en-US" sz="1200" dirty="0">
                <a:solidFill>
                  <a:srgbClr val="CFE3EE"/>
                </a:solidFill>
                <a:latin typeface="Calibri" pitchFamily="34" charset="0"/>
                <a:ea typeface="Calibri" pitchFamily="34" charset="-122"/>
                <a:cs typeface="Calibri" pitchFamily="34" charset="-120"/>
              </a:rPr>
              <a:t>A final classifier over the vocabulary turns the decoder's output into next-token probabilities.</a:t>
            </a:r>
            <a:endParaRPr lang="en-US" sz="1200" dirty="0"/>
          </a:p>
        </p:txBody>
      </p:sp>
      <p:sp>
        <p:nvSpPr>
          <p:cNvPr id="15" name="Text 12"/>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6E8AA6"/>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640080" y="502920"/>
            <a:ext cx="45720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FROM PAPER TO PRODUCTION</a:t>
            </a:r>
            <a:endParaRPr lang="en-US" sz="1200" dirty="0"/>
          </a:p>
        </p:txBody>
      </p:sp>
      <p:sp>
        <p:nvSpPr>
          <p:cNvPr id="3" name="Text 1"/>
          <p:cNvSpPr/>
          <p:nvPr/>
        </p:nvSpPr>
        <p:spPr>
          <a:xfrm>
            <a:off x="640080" y="777240"/>
            <a:ext cx="9144000" cy="731520"/>
          </a:xfrm>
          <a:prstGeom prst="rect">
            <a:avLst/>
          </a:prstGeom>
          <a:noFill/>
          <a:ln/>
        </p:spPr>
        <p:txBody>
          <a:bodyPr wrap="square" lIns="0" tIns="0" rIns="0" bIns="0" rtlCol="0" anchor="ctr"/>
          <a:lstStyle/>
          <a:p>
            <a:pPr indent="0" marL="0">
              <a:buNone/>
            </a:pPr>
            <a:r>
              <a:rPr lang="en-US" sz="3200" b="1" dirty="0">
                <a:solidFill>
                  <a:srgbClr val="13253B"/>
                </a:solidFill>
                <a:latin typeface="Cambria" pitchFamily="34" charset="0"/>
                <a:ea typeface="Cambria" pitchFamily="34" charset="-122"/>
                <a:cs typeface="Cambria" pitchFamily="34" charset="-120"/>
              </a:rPr>
              <a:t>One Architecture, Three Shapes</a:t>
            </a:r>
            <a:endParaRPr lang="en-US" sz="3200" dirty="0"/>
          </a:p>
        </p:txBody>
      </p:sp>
      <p:sp>
        <p:nvSpPr>
          <p:cNvPr id="4" name="Shape 2"/>
          <p:cNvSpPr/>
          <p:nvPr/>
        </p:nvSpPr>
        <p:spPr>
          <a:xfrm>
            <a:off x="640080" y="1554480"/>
            <a:ext cx="6720840" cy="4343400"/>
          </a:xfrm>
          <a:prstGeom prst="roundRect">
            <a:avLst>
              <a:gd name="adj" fmla="val 1684"/>
            </a:avLst>
          </a:prstGeom>
          <a:solidFill>
            <a:srgbClr val="FFFFFF"/>
          </a:solidFill>
          <a:ln w="12700">
            <a:solidFill>
              <a:srgbClr val="DCE4EA"/>
            </a:solidFill>
            <a:prstDash val="solid"/>
          </a:ln>
          <a:effectLst>
            <a:outerShdw sx="100000" sy="100000" kx="0" ky="0" algn="bl" rotWithShape="0" blurRad="127000" dist="38100" dir="5400000">
              <a:srgbClr val="1B2A3D">
                <a:alpha val="18000"/>
              </a:srgbClr>
            </a:outerShdw>
          </a:effectLst>
        </p:spPr>
      </p:sp>
      <p:pic>
        <p:nvPicPr>
          <p:cNvPr id="5" name="Image 0" descr="/home/claude/work/build/crops/t2_comparison.png">    </p:cNvPr>
          <p:cNvPicPr>
            <a:picLocks noChangeAspect="1"/>
          </p:cNvPicPr>
          <p:nvPr/>
        </p:nvPicPr>
        <p:blipFill>
          <a:blip r:embed="rId1"/>
          <a:stretch>
            <a:fillRect/>
          </a:stretch>
        </p:blipFill>
        <p:spPr>
          <a:xfrm>
            <a:off x="1005840" y="1942527"/>
            <a:ext cx="5989320" cy="3567307"/>
          </a:xfrm>
          <a:prstGeom prst="rect">
            <a:avLst/>
          </a:prstGeom>
        </p:spPr>
      </p:pic>
      <p:sp>
        <p:nvSpPr>
          <p:cNvPr id="6" name="Shape 3"/>
          <p:cNvSpPr/>
          <p:nvPr/>
        </p:nvSpPr>
        <p:spPr>
          <a:xfrm>
            <a:off x="7635240" y="1600200"/>
            <a:ext cx="3931920" cy="1298448"/>
          </a:xfrm>
          <a:prstGeom prst="roundRect">
            <a:avLst>
              <a:gd name="adj" fmla="val 5634"/>
            </a:avLst>
          </a:prstGeom>
          <a:solidFill>
            <a:srgbClr val="EDF3F6"/>
          </a:solidFill>
          <a:ln/>
        </p:spPr>
      </p:sp>
      <p:sp>
        <p:nvSpPr>
          <p:cNvPr id="7" name="Text 4"/>
          <p:cNvSpPr/>
          <p:nvPr/>
        </p:nvSpPr>
        <p:spPr>
          <a:xfrm>
            <a:off x="7863840" y="1719072"/>
            <a:ext cx="3520440" cy="320040"/>
          </a:xfrm>
          <a:prstGeom prst="rect">
            <a:avLst/>
          </a:prstGeom>
          <a:noFill/>
          <a:ln/>
        </p:spPr>
        <p:txBody>
          <a:bodyPr wrap="square" lIns="0" tIns="0" rIns="0" bIns="0" rtlCol="0" anchor="ctr"/>
          <a:lstStyle/>
          <a:p>
            <a:pPr indent="0" marL="0">
              <a:buNone/>
            </a:pPr>
            <a:r>
              <a:rPr lang="en-US" sz="1350" b="1" dirty="0">
                <a:solidFill>
                  <a:srgbClr val="1C7293"/>
                </a:solidFill>
                <a:latin typeface="Calibri" pitchFamily="34" charset="0"/>
                <a:ea typeface="Calibri" pitchFamily="34" charset="-122"/>
                <a:cs typeface="Calibri" pitchFamily="34" charset="-120"/>
              </a:rPr>
              <a:t>BERT — encoder-only</a:t>
            </a:r>
            <a:endParaRPr lang="en-US" sz="1350" dirty="0"/>
          </a:p>
        </p:txBody>
      </p:sp>
      <p:sp>
        <p:nvSpPr>
          <p:cNvPr id="8" name="Text 5"/>
          <p:cNvSpPr/>
          <p:nvPr/>
        </p:nvSpPr>
        <p:spPr>
          <a:xfrm>
            <a:off x="7863840" y="2057400"/>
            <a:ext cx="3520440" cy="777240"/>
          </a:xfrm>
          <a:prstGeom prst="rect">
            <a:avLst/>
          </a:prstGeom>
          <a:noFill/>
          <a:ln/>
        </p:spPr>
        <p:txBody>
          <a:bodyPr wrap="square" lIns="0" tIns="0" rIns="0" bIns="0" rtlCol="0" anchor="ctr"/>
          <a:lstStyle/>
          <a:p>
            <a:pPr indent="0" marL="0">
              <a:lnSpc>
                <a:spcPct val="115000"/>
              </a:lnSpc>
              <a:buNone/>
            </a:pPr>
            <a:r>
              <a:rPr lang="en-US" sz="1080" dirty="0">
                <a:solidFill>
                  <a:srgbClr val="5B7185"/>
                </a:solidFill>
                <a:latin typeface="Calibri" pitchFamily="34" charset="0"/>
                <a:ea typeface="Calibri" pitchFamily="34" charset="-122"/>
                <a:cs typeface="Calibri" pitchFamily="34" charset="-120"/>
              </a:rPr>
              <a:t>Bidirectional self-attention builds rich contextual representations for classification and understanding tasks.</a:t>
            </a:r>
            <a:endParaRPr lang="en-US" sz="1080" dirty="0"/>
          </a:p>
        </p:txBody>
      </p:sp>
      <p:sp>
        <p:nvSpPr>
          <p:cNvPr id="9" name="Shape 6"/>
          <p:cNvSpPr/>
          <p:nvPr/>
        </p:nvSpPr>
        <p:spPr>
          <a:xfrm>
            <a:off x="7635240" y="3063240"/>
            <a:ext cx="3931920" cy="1298448"/>
          </a:xfrm>
          <a:prstGeom prst="roundRect">
            <a:avLst>
              <a:gd name="adj" fmla="val 5634"/>
            </a:avLst>
          </a:prstGeom>
          <a:solidFill>
            <a:srgbClr val="EDF3F6"/>
          </a:solidFill>
          <a:ln/>
        </p:spPr>
      </p:sp>
      <p:sp>
        <p:nvSpPr>
          <p:cNvPr id="10" name="Text 7"/>
          <p:cNvSpPr/>
          <p:nvPr/>
        </p:nvSpPr>
        <p:spPr>
          <a:xfrm>
            <a:off x="7863840" y="3182112"/>
            <a:ext cx="3520440" cy="320040"/>
          </a:xfrm>
          <a:prstGeom prst="rect">
            <a:avLst/>
          </a:prstGeom>
          <a:noFill/>
          <a:ln/>
        </p:spPr>
        <p:txBody>
          <a:bodyPr wrap="square" lIns="0" tIns="0" rIns="0" bIns="0" rtlCol="0" anchor="ctr"/>
          <a:lstStyle/>
          <a:p>
            <a:pPr indent="0" marL="0">
              <a:buNone/>
            </a:pPr>
            <a:r>
              <a:rPr lang="en-US" sz="1350" b="1" dirty="0">
                <a:solidFill>
                  <a:srgbClr val="1C7293"/>
                </a:solidFill>
                <a:latin typeface="Calibri" pitchFamily="34" charset="0"/>
                <a:ea typeface="Calibri" pitchFamily="34" charset="-122"/>
                <a:cs typeface="Calibri" pitchFamily="34" charset="-120"/>
              </a:rPr>
              <a:t>GPT — decoder-only</a:t>
            </a:r>
            <a:endParaRPr lang="en-US" sz="1350" dirty="0"/>
          </a:p>
        </p:txBody>
      </p:sp>
      <p:sp>
        <p:nvSpPr>
          <p:cNvPr id="11" name="Text 8"/>
          <p:cNvSpPr/>
          <p:nvPr/>
        </p:nvSpPr>
        <p:spPr>
          <a:xfrm>
            <a:off x="7863840" y="3520440"/>
            <a:ext cx="3520440" cy="777240"/>
          </a:xfrm>
          <a:prstGeom prst="rect">
            <a:avLst/>
          </a:prstGeom>
          <a:noFill/>
          <a:ln/>
        </p:spPr>
        <p:txBody>
          <a:bodyPr wrap="square" lIns="0" tIns="0" rIns="0" bIns="0" rtlCol="0" anchor="ctr"/>
          <a:lstStyle/>
          <a:p>
            <a:pPr indent="0" marL="0">
              <a:lnSpc>
                <a:spcPct val="115000"/>
              </a:lnSpc>
              <a:buNone/>
            </a:pPr>
            <a:r>
              <a:rPr lang="en-US" sz="1080" dirty="0">
                <a:solidFill>
                  <a:srgbClr val="5B7185"/>
                </a:solidFill>
                <a:latin typeface="Calibri" pitchFamily="34" charset="0"/>
                <a:ea typeface="Calibri" pitchFamily="34" charset="-122"/>
                <a:cs typeface="Calibri" pitchFamily="34" charset="-120"/>
              </a:rPr>
              <a:t>Masked self-attention in a decoder-only design achieves remarkable text generation capabilities.</a:t>
            </a:r>
            <a:endParaRPr lang="en-US" sz="1080" dirty="0"/>
          </a:p>
        </p:txBody>
      </p:sp>
      <p:sp>
        <p:nvSpPr>
          <p:cNvPr id="12" name="Shape 9"/>
          <p:cNvSpPr/>
          <p:nvPr/>
        </p:nvSpPr>
        <p:spPr>
          <a:xfrm>
            <a:off x="7635240" y="4526280"/>
            <a:ext cx="3931920" cy="1298448"/>
          </a:xfrm>
          <a:prstGeom prst="roundRect">
            <a:avLst>
              <a:gd name="adj" fmla="val 5634"/>
            </a:avLst>
          </a:prstGeom>
          <a:solidFill>
            <a:srgbClr val="EDF3F6"/>
          </a:solidFill>
          <a:ln/>
        </p:spPr>
      </p:sp>
      <p:sp>
        <p:nvSpPr>
          <p:cNvPr id="13" name="Text 10"/>
          <p:cNvSpPr/>
          <p:nvPr/>
        </p:nvSpPr>
        <p:spPr>
          <a:xfrm>
            <a:off x="7863840" y="4645152"/>
            <a:ext cx="3520440" cy="320040"/>
          </a:xfrm>
          <a:prstGeom prst="rect">
            <a:avLst/>
          </a:prstGeom>
          <a:noFill/>
          <a:ln/>
        </p:spPr>
        <p:txBody>
          <a:bodyPr wrap="square" lIns="0" tIns="0" rIns="0" bIns="0" rtlCol="0" anchor="ctr"/>
          <a:lstStyle/>
          <a:p>
            <a:pPr indent="0" marL="0">
              <a:buNone/>
            </a:pPr>
            <a:r>
              <a:rPr lang="en-US" sz="1350" b="1" dirty="0">
                <a:solidFill>
                  <a:srgbClr val="1C7293"/>
                </a:solidFill>
                <a:latin typeface="Calibri" pitchFamily="34" charset="0"/>
                <a:ea typeface="Calibri" pitchFamily="34" charset="-122"/>
                <a:cs typeface="Calibri" pitchFamily="34" charset="-120"/>
              </a:rPr>
              <a:t>T5 — full encoder-decoder</a:t>
            </a:r>
            <a:endParaRPr lang="en-US" sz="1350" dirty="0"/>
          </a:p>
        </p:txBody>
      </p:sp>
      <p:sp>
        <p:nvSpPr>
          <p:cNvPr id="14" name="Text 11"/>
          <p:cNvSpPr/>
          <p:nvPr/>
        </p:nvSpPr>
        <p:spPr>
          <a:xfrm>
            <a:off x="7863840" y="4983480"/>
            <a:ext cx="3520440" cy="777240"/>
          </a:xfrm>
          <a:prstGeom prst="rect">
            <a:avLst/>
          </a:prstGeom>
          <a:noFill/>
          <a:ln/>
        </p:spPr>
        <p:txBody>
          <a:bodyPr wrap="square" lIns="0" tIns="0" rIns="0" bIns="0" rtlCol="0" anchor="ctr"/>
          <a:lstStyle/>
          <a:p>
            <a:pPr indent="0" marL="0">
              <a:lnSpc>
                <a:spcPct val="115000"/>
              </a:lnSpc>
              <a:buNone/>
            </a:pPr>
            <a:r>
              <a:rPr lang="en-US" sz="1080" dirty="0">
                <a:solidFill>
                  <a:srgbClr val="5B7185"/>
                </a:solidFill>
                <a:latin typeface="Calibri" pitchFamily="34" charset="0"/>
                <a:ea typeface="Calibri" pitchFamily="34" charset="-122"/>
                <a:cs typeface="Calibri" pitchFamily="34" charset="-120"/>
              </a:rPr>
              <a:t>Treats every NLP task as text-to-text, using the complete original architecture.</a:t>
            </a:r>
            <a:endParaRPr lang="en-US" sz="1080" dirty="0"/>
          </a:p>
        </p:txBody>
      </p:sp>
      <p:sp>
        <p:nvSpPr>
          <p:cNvPr id="15" name="Text 12"/>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640080" y="502920"/>
            <a:ext cx="45720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BEYOND TEXT</a:t>
            </a:r>
            <a:endParaRPr lang="en-US" sz="1200" dirty="0"/>
          </a:p>
        </p:txBody>
      </p:sp>
      <p:sp>
        <p:nvSpPr>
          <p:cNvPr id="3" name="Text 1"/>
          <p:cNvSpPr/>
          <p:nvPr/>
        </p:nvSpPr>
        <p:spPr>
          <a:xfrm>
            <a:off x="640080" y="777240"/>
            <a:ext cx="7315200" cy="731520"/>
          </a:xfrm>
          <a:prstGeom prst="rect">
            <a:avLst/>
          </a:prstGeom>
          <a:noFill/>
          <a:ln/>
        </p:spPr>
        <p:txBody>
          <a:bodyPr wrap="square" lIns="0" tIns="0" rIns="0" bIns="0" rtlCol="0" anchor="ctr"/>
          <a:lstStyle/>
          <a:p>
            <a:pPr indent="0" marL="0">
              <a:buNone/>
            </a:pPr>
            <a:r>
              <a:rPr lang="en-US" sz="3200" b="1" dirty="0">
                <a:solidFill>
                  <a:srgbClr val="13253B"/>
                </a:solidFill>
                <a:latin typeface="Cambria" pitchFamily="34" charset="0"/>
                <a:ea typeface="Cambria" pitchFamily="34" charset="-122"/>
                <a:cs typeface="Cambria" pitchFamily="34" charset="-120"/>
              </a:rPr>
              <a:t>Vision Transformers</a:t>
            </a:r>
            <a:endParaRPr lang="en-US" sz="3200" dirty="0"/>
          </a:p>
        </p:txBody>
      </p:sp>
      <p:sp>
        <p:nvSpPr>
          <p:cNvPr id="4" name="Text 2"/>
          <p:cNvSpPr/>
          <p:nvPr/>
        </p:nvSpPr>
        <p:spPr>
          <a:xfrm>
            <a:off x="640080" y="1417320"/>
            <a:ext cx="10881360" cy="777240"/>
          </a:xfrm>
          <a:prstGeom prst="rect">
            <a:avLst/>
          </a:prstGeom>
          <a:noFill/>
          <a:ln/>
        </p:spPr>
        <p:txBody>
          <a:bodyPr wrap="square" lIns="0" tIns="0" rIns="0" bIns="0" rtlCol="0" anchor="ctr"/>
          <a:lstStyle/>
          <a:p>
            <a:pPr indent="0" marL="0">
              <a:lnSpc>
                <a:spcPct val="120000"/>
              </a:lnSpc>
              <a:buNone/>
            </a:pPr>
            <a:r>
              <a:rPr lang="en-US" sz="1350" dirty="0">
                <a:solidFill>
                  <a:srgbClr val="5B7185"/>
                </a:solidFill>
                <a:latin typeface="Calibri" pitchFamily="34" charset="0"/>
                <a:ea typeface="Calibri" pitchFamily="34" charset="-122"/>
                <a:cs typeface="Calibri" pitchFamily="34" charset="-120"/>
              </a:rPr>
              <a:t>The same self-attention mechanism that reads sentences can read images. ViT treats an image as a sequence of patches instead of a grid of pixels, and processes that sequence with an ordinary Transformer encoder.</a:t>
            </a:r>
            <a:endParaRPr lang="en-US" sz="1350" dirty="0"/>
          </a:p>
        </p:txBody>
      </p:sp>
      <p:sp>
        <p:nvSpPr>
          <p:cNvPr id="5" name="Shape 3"/>
          <p:cNvSpPr/>
          <p:nvPr/>
        </p:nvSpPr>
        <p:spPr>
          <a:xfrm>
            <a:off x="640080" y="2331720"/>
            <a:ext cx="7315200" cy="3840480"/>
          </a:xfrm>
          <a:prstGeom prst="roundRect">
            <a:avLst>
              <a:gd name="adj" fmla="val 1905"/>
            </a:avLst>
          </a:prstGeom>
          <a:solidFill>
            <a:srgbClr val="FFFFFF"/>
          </a:solidFill>
          <a:ln w="12700">
            <a:solidFill>
              <a:srgbClr val="DCE4EA"/>
            </a:solidFill>
            <a:prstDash val="solid"/>
          </a:ln>
          <a:effectLst>
            <a:outerShdw sx="100000" sy="100000" kx="0" ky="0" algn="bl" rotWithShape="0" blurRad="127000" dist="38100" dir="5400000">
              <a:srgbClr val="1B2A3D">
                <a:alpha val="18000"/>
              </a:srgbClr>
            </a:outerShdw>
          </a:effectLst>
        </p:spPr>
      </p:sp>
      <p:pic>
        <p:nvPicPr>
          <p:cNvPr id="6" name="Image 0" descr="/home/claude/work/build/crops/t2_vit.png">    </p:cNvPr>
          <p:cNvPicPr>
            <a:picLocks noChangeAspect="1"/>
          </p:cNvPicPr>
          <p:nvPr/>
        </p:nvPicPr>
        <p:blipFill>
          <a:blip r:embed="rId1"/>
          <a:stretch>
            <a:fillRect/>
          </a:stretch>
        </p:blipFill>
        <p:spPr>
          <a:xfrm>
            <a:off x="1341979" y="2697480"/>
            <a:ext cx="5911403" cy="3108960"/>
          </a:xfrm>
          <a:prstGeom prst="rect">
            <a:avLst/>
          </a:prstGeom>
        </p:spPr>
      </p:pic>
      <p:sp>
        <p:nvSpPr>
          <p:cNvPr id="7" name="Shape 4"/>
          <p:cNvSpPr/>
          <p:nvPr/>
        </p:nvSpPr>
        <p:spPr>
          <a:xfrm>
            <a:off x="8229600" y="2423160"/>
            <a:ext cx="3337560" cy="1097280"/>
          </a:xfrm>
          <a:prstGeom prst="roundRect">
            <a:avLst>
              <a:gd name="adj" fmla="val 6667"/>
            </a:avLst>
          </a:prstGeom>
          <a:solidFill>
            <a:srgbClr val="0B1F3A"/>
          </a:solidFill>
          <a:ln/>
        </p:spPr>
      </p:sp>
      <p:sp>
        <p:nvSpPr>
          <p:cNvPr id="8" name="Text 5"/>
          <p:cNvSpPr/>
          <p:nvPr/>
        </p:nvSpPr>
        <p:spPr>
          <a:xfrm>
            <a:off x="8458200" y="2532888"/>
            <a:ext cx="2926080" cy="365760"/>
          </a:xfrm>
          <a:prstGeom prst="rect">
            <a:avLst/>
          </a:prstGeom>
          <a:noFill/>
          <a:ln/>
        </p:spPr>
        <p:txBody>
          <a:bodyPr wrap="square" lIns="0" tIns="0" rIns="0" bIns="0" rtlCol="0" anchor="ctr"/>
          <a:lstStyle/>
          <a:p>
            <a:pPr indent="0" marL="0">
              <a:buNone/>
            </a:pPr>
            <a:r>
              <a:rPr lang="en-US" sz="1700" b="1" dirty="0">
                <a:solidFill>
                  <a:srgbClr val="E8983A"/>
                </a:solidFill>
                <a:latin typeface="Cambria" pitchFamily="34" charset="0"/>
                <a:ea typeface="Cambria" pitchFamily="34" charset="-122"/>
                <a:cs typeface="Cambria" pitchFamily="34" charset="-120"/>
              </a:rPr>
              <a:t>16×16</a:t>
            </a:r>
            <a:endParaRPr lang="en-US" sz="1700" dirty="0"/>
          </a:p>
        </p:txBody>
      </p:sp>
      <p:sp>
        <p:nvSpPr>
          <p:cNvPr id="9" name="Text 6"/>
          <p:cNvSpPr/>
          <p:nvPr/>
        </p:nvSpPr>
        <p:spPr>
          <a:xfrm>
            <a:off x="8458200" y="2926080"/>
            <a:ext cx="2926080" cy="502920"/>
          </a:xfrm>
          <a:prstGeom prst="rect">
            <a:avLst/>
          </a:prstGeom>
          <a:noFill/>
          <a:ln/>
        </p:spPr>
        <p:txBody>
          <a:bodyPr wrap="square" lIns="0" tIns="0" rIns="0" bIns="0" rtlCol="0" anchor="ctr"/>
          <a:lstStyle/>
          <a:p>
            <a:pPr indent="0" marL="0">
              <a:lnSpc>
                <a:spcPct val="110000"/>
              </a:lnSpc>
              <a:buNone/>
            </a:pPr>
            <a:r>
              <a:rPr lang="en-US" sz="1030" dirty="0">
                <a:solidFill>
                  <a:srgbClr val="CFE3EE"/>
                </a:solidFill>
                <a:latin typeface="Calibri" pitchFamily="34" charset="0"/>
                <a:ea typeface="Calibri" pitchFamily="34" charset="-122"/>
                <a:cs typeface="Calibri" pitchFamily="34" charset="-120"/>
              </a:rPr>
              <a:t>typical fixed patch size an image is split into</a:t>
            </a:r>
            <a:endParaRPr lang="en-US" sz="1030" dirty="0"/>
          </a:p>
        </p:txBody>
      </p:sp>
      <p:sp>
        <p:nvSpPr>
          <p:cNvPr id="10" name="Shape 7"/>
          <p:cNvSpPr/>
          <p:nvPr/>
        </p:nvSpPr>
        <p:spPr>
          <a:xfrm>
            <a:off x="8229600" y="3657600"/>
            <a:ext cx="3337560" cy="1097280"/>
          </a:xfrm>
          <a:prstGeom prst="roundRect">
            <a:avLst>
              <a:gd name="adj" fmla="val 6667"/>
            </a:avLst>
          </a:prstGeom>
          <a:solidFill>
            <a:srgbClr val="0B1F3A"/>
          </a:solidFill>
          <a:ln/>
        </p:spPr>
      </p:sp>
      <p:sp>
        <p:nvSpPr>
          <p:cNvPr id="11" name="Text 8"/>
          <p:cNvSpPr/>
          <p:nvPr/>
        </p:nvSpPr>
        <p:spPr>
          <a:xfrm>
            <a:off x="8458200" y="3767328"/>
            <a:ext cx="2926080" cy="365760"/>
          </a:xfrm>
          <a:prstGeom prst="rect">
            <a:avLst/>
          </a:prstGeom>
          <a:noFill/>
          <a:ln/>
        </p:spPr>
        <p:txBody>
          <a:bodyPr wrap="square" lIns="0" tIns="0" rIns="0" bIns="0" rtlCol="0" anchor="ctr"/>
          <a:lstStyle/>
          <a:p>
            <a:pPr indent="0" marL="0">
              <a:buNone/>
            </a:pPr>
            <a:r>
              <a:rPr lang="en-US" sz="1700" b="1" dirty="0">
                <a:solidFill>
                  <a:srgbClr val="E8983A"/>
                </a:solidFill>
                <a:latin typeface="Cambria" pitchFamily="34" charset="0"/>
                <a:ea typeface="Cambria" pitchFamily="34" charset="-122"/>
                <a:cs typeface="Cambria" pitchFamily="34" charset="-120"/>
              </a:rPr>
              <a:t>Medical imaging</a:t>
            </a:r>
            <a:endParaRPr lang="en-US" sz="1700" dirty="0"/>
          </a:p>
        </p:txBody>
      </p:sp>
      <p:sp>
        <p:nvSpPr>
          <p:cNvPr id="12" name="Text 9"/>
          <p:cNvSpPr/>
          <p:nvPr/>
        </p:nvSpPr>
        <p:spPr>
          <a:xfrm>
            <a:off x="8458200" y="4160520"/>
            <a:ext cx="2926080" cy="502920"/>
          </a:xfrm>
          <a:prstGeom prst="rect">
            <a:avLst/>
          </a:prstGeom>
          <a:noFill/>
          <a:ln/>
        </p:spPr>
        <p:txBody>
          <a:bodyPr wrap="square" lIns="0" tIns="0" rIns="0" bIns="0" rtlCol="0" anchor="ctr"/>
          <a:lstStyle/>
          <a:p>
            <a:pPr indent="0" marL="0">
              <a:lnSpc>
                <a:spcPct val="110000"/>
              </a:lnSpc>
              <a:buNone/>
            </a:pPr>
            <a:r>
              <a:rPr lang="en-US" sz="1030" dirty="0">
                <a:solidFill>
                  <a:srgbClr val="CFE3EE"/>
                </a:solidFill>
                <a:latin typeface="Calibri" pitchFamily="34" charset="0"/>
                <a:ea typeface="Calibri" pitchFamily="34" charset="-122"/>
                <a:cs typeface="Calibri" pitchFamily="34" charset="-120"/>
              </a:rPr>
              <a:t>correlating subtle anomalies across regions of a scan</a:t>
            </a:r>
            <a:endParaRPr lang="en-US" sz="1030" dirty="0"/>
          </a:p>
        </p:txBody>
      </p:sp>
      <p:sp>
        <p:nvSpPr>
          <p:cNvPr id="13" name="Shape 10"/>
          <p:cNvSpPr/>
          <p:nvPr/>
        </p:nvSpPr>
        <p:spPr>
          <a:xfrm>
            <a:off x="8229600" y="4892040"/>
            <a:ext cx="3337560" cy="1097280"/>
          </a:xfrm>
          <a:prstGeom prst="roundRect">
            <a:avLst>
              <a:gd name="adj" fmla="val 6667"/>
            </a:avLst>
          </a:prstGeom>
          <a:solidFill>
            <a:srgbClr val="0B1F3A"/>
          </a:solidFill>
          <a:ln/>
        </p:spPr>
      </p:sp>
      <p:sp>
        <p:nvSpPr>
          <p:cNvPr id="14" name="Text 11"/>
          <p:cNvSpPr/>
          <p:nvPr/>
        </p:nvSpPr>
        <p:spPr>
          <a:xfrm>
            <a:off x="8458200" y="5001768"/>
            <a:ext cx="2926080" cy="365760"/>
          </a:xfrm>
          <a:prstGeom prst="rect">
            <a:avLst/>
          </a:prstGeom>
          <a:noFill/>
          <a:ln/>
        </p:spPr>
        <p:txBody>
          <a:bodyPr wrap="square" lIns="0" tIns="0" rIns="0" bIns="0" rtlCol="0" anchor="ctr"/>
          <a:lstStyle/>
          <a:p>
            <a:pPr indent="0" marL="0">
              <a:buNone/>
            </a:pPr>
            <a:r>
              <a:rPr lang="en-US" sz="1700" b="1" dirty="0">
                <a:solidFill>
                  <a:srgbClr val="E8983A"/>
                </a:solidFill>
                <a:latin typeface="Cambria" pitchFamily="34" charset="0"/>
                <a:ea typeface="Cambria" pitchFamily="34" charset="-122"/>
                <a:cs typeface="Cambria" pitchFamily="34" charset="-120"/>
              </a:rPr>
              <a:t>Satellite imagery</a:t>
            </a:r>
            <a:endParaRPr lang="en-US" sz="1700" dirty="0"/>
          </a:p>
        </p:txBody>
      </p:sp>
      <p:sp>
        <p:nvSpPr>
          <p:cNvPr id="15" name="Text 12"/>
          <p:cNvSpPr/>
          <p:nvPr/>
        </p:nvSpPr>
        <p:spPr>
          <a:xfrm>
            <a:off x="8458200" y="5394960"/>
            <a:ext cx="2926080" cy="502920"/>
          </a:xfrm>
          <a:prstGeom prst="rect">
            <a:avLst/>
          </a:prstGeom>
          <a:noFill/>
          <a:ln/>
        </p:spPr>
        <p:txBody>
          <a:bodyPr wrap="square" lIns="0" tIns="0" rIns="0" bIns="0" rtlCol="0" anchor="ctr"/>
          <a:lstStyle/>
          <a:p>
            <a:pPr indent="0" marL="0">
              <a:lnSpc>
                <a:spcPct val="110000"/>
              </a:lnSpc>
              <a:buNone/>
            </a:pPr>
            <a:r>
              <a:rPr lang="en-US" sz="1030" dirty="0">
                <a:solidFill>
                  <a:srgbClr val="CFE3EE"/>
                </a:solidFill>
                <a:latin typeface="Calibri" pitchFamily="34" charset="0"/>
                <a:ea typeface="Calibri" pitchFamily="34" charset="-122"/>
                <a:cs typeface="Calibri" pitchFamily="34" charset="-120"/>
              </a:rPr>
              <a:t>connecting distant features like deforestation to their causes</a:t>
            </a:r>
            <a:endParaRPr lang="en-US" sz="1030" dirty="0"/>
          </a:p>
        </p:txBody>
      </p:sp>
      <p:sp>
        <p:nvSpPr>
          <p:cNvPr id="16" name="Text 13"/>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640080" y="502920"/>
            <a:ext cx="45720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SEEING IT WORK</a:t>
            </a:r>
            <a:endParaRPr lang="en-US" sz="1200" dirty="0"/>
          </a:p>
        </p:txBody>
      </p:sp>
      <p:sp>
        <p:nvSpPr>
          <p:cNvPr id="3" name="Text 1"/>
          <p:cNvSpPr/>
          <p:nvPr/>
        </p:nvSpPr>
        <p:spPr>
          <a:xfrm>
            <a:off x="640080" y="777240"/>
            <a:ext cx="8229600" cy="731520"/>
          </a:xfrm>
          <a:prstGeom prst="rect">
            <a:avLst/>
          </a:prstGeom>
          <a:noFill/>
          <a:ln/>
        </p:spPr>
        <p:txBody>
          <a:bodyPr wrap="square" lIns="0" tIns="0" rIns="0" bIns="0" rtlCol="0" anchor="ctr"/>
          <a:lstStyle/>
          <a:p>
            <a:pPr indent="0" marL="0">
              <a:buNone/>
            </a:pPr>
            <a:r>
              <a:rPr lang="en-US" sz="3200" b="1" dirty="0">
                <a:solidFill>
                  <a:srgbClr val="13253B"/>
                </a:solidFill>
                <a:latin typeface="Cambria" pitchFamily="34" charset="0"/>
                <a:ea typeface="Cambria" pitchFamily="34" charset="-122"/>
                <a:cs typeface="Cambria" pitchFamily="34" charset="-120"/>
              </a:rPr>
              <a:t>Attention, Visualized</a:t>
            </a:r>
            <a:endParaRPr lang="en-US" sz="3200" dirty="0"/>
          </a:p>
        </p:txBody>
      </p:sp>
      <p:sp>
        <p:nvSpPr>
          <p:cNvPr id="4" name="Text 2"/>
          <p:cNvSpPr/>
          <p:nvPr/>
        </p:nvSpPr>
        <p:spPr>
          <a:xfrm>
            <a:off x="640080" y="1417320"/>
            <a:ext cx="10881360" cy="640080"/>
          </a:xfrm>
          <a:prstGeom prst="rect">
            <a:avLst/>
          </a:prstGeom>
          <a:noFill/>
          <a:ln/>
        </p:spPr>
        <p:txBody>
          <a:bodyPr wrap="square" lIns="0" tIns="0" rIns="0" bIns="0" rtlCol="0" anchor="ctr"/>
          <a:lstStyle/>
          <a:p>
            <a:pPr indent="0" marL="0">
              <a:lnSpc>
                <a:spcPct val="120000"/>
              </a:lnSpc>
              <a:buNone/>
            </a:pPr>
            <a:r>
              <a:rPr lang="en-US" sz="1350" dirty="0">
                <a:solidFill>
                  <a:srgbClr val="5B7185"/>
                </a:solidFill>
                <a:latin typeface="Calibri" pitchFamily="34" charset="0"/>
                <a:ea typeface="Calibri" pitchFamily="34" charset="-122"/>
                <a:cs typeface="Calibri" pitchFamily="34" charset="-120"/>
              </a:rPr>
              <a:t>Tools like BertViz make attention weights visible — line thickness shows how strongly one token attends to another, across every layer and head.</a:t>
            </a:r>
            <a:endParaRPr lang="en-US" sz="1350" dirty="0"/>
          </a:p>
        </p:txBody>
      </p:sp>
      <p:sp>
        <p:nvSpPr>
          <p:cNvPr id="5" name="Shape 3"/>
          <p:cNvSpPr/>
          <p:nvPr/>
        </p:nvSpPr>
        <p:spPr>
          <a:xfrm>
            <a:off x="640080" y="2240280"/>
            <a:ext cx="5349240" cy="3886200"/>
          </a:xfrm>
          <a:prstGeom prst="roundRect">
            <a:avLst>
              <a:gd name="adj" fmla="val 1882"/>
            </a:avLst>
          </a:prstGeom>
          <a:solidFill>
            <a:srgbClr val="FFFFFF"/>
          </a:solidFill>
          <a:ln w="12700">
            <a:solidFill>
              <a:srgbClr val="DCE4EA"/>
            </a:solidFill>
            <a:prstDash val="solid"/>
          </a:ln>
          <a:effectLst>
            <a:outerShdw sx="100000" sy="100000" kx="0" ky="0" algn="bl" rotWithShape="0" blurRad="127000" dist="38100" dir="5400000">
              <a:srgbClr val="1B2A3D">
                <a:alpha val="18000"/>
              </a:srgbClr>
            </a:outerShdw>
          </a:effectLst>
        </p:spPr>
      </p:sp>
      <p:pic>
        <p:nvPicPr>
          <p:cNvPr id="6" name="Image 0" descr="/home/claude/work/build/crops/t2_attnviz.png">    </p:cNvPr>
          <p:cNvPicPr>
            <a:picLocks noChangeAspect="1"/>
          </p:cNvPicPr>
          <p:nvPr/>
        </p:nvPicPr>
        <p:blipFill>
          <a:blip r:embed="rId1"/>
          <a:stretch>
            <a:fillRect/>
          </a:stretch>
        </p:blipFill>
        <p:spPr>
          <a:xfrm>
            <a:off x="1334676" y="2560320"/>
            <a:ext cx="3960047" cy="2971800"/>
          </a:xfrm>
          <a:prstGeom prst="rect">
            <a:avLst/>
          </a:prstGeom>
        </p:spPr>
      </p:pic>
      <p:sp>
        <p:nvSpPr>
          <p:cNvPr id="7" name="Text 4"/>
          <p:cNvSpPr/>
          <p:nvPr/>
        </p:nvSpPr>
        <p:spPr>
          <a:xfrm>
            <a:off x="960120" y="5532120"/>
            <a:ext cx="4709160" cy="502920"/>
          </a:xfrm>
          <a:prstGeom prst="rect">
            <a:avLst/>
          </a:prstGeom>
          <a:noFill/>
          <a:ln/>
        </p:spPr>
        <p:txBody>
          <a:bodyPr wrap="square" lIns="0" tIns="0" rIns="0" bIns="0" rtlCol="0" anchor="ctr"/>
          <a:lstStyle/>
          <a:p>
            <a:pPr indent="0" marL="0">
              <a:buNone/>
            </a:pPr>
            <a:r>
              <a:rPr lang="en-US" sz="1150" i="1" dirty="0">
                <a:solidFill>
                  <a:srgbClr val="5B7185"/>
                </a:solidFill>
                <a:latin typeface="Calibri" pitchFamily="34" charset="0"/>
                <a:ea typeface="Calibri" pitchFamily="34" charset="-122"/>
                <a:cs typeface="Calibri" pitchFamily="34" charset="-120"/>
              </a:rPr>
              <a:t>“The animal didn’t cross the street because it was too tired” — attention correctly links “it” to “animal.”</a:t>
            </a:r>
            <a:endParaRPr lang="en-US" sz="1150" dirty="0"/>
          </a:p>
        </p:txBody>
      </p:sp>
      <p:sp>
        <p:nvSpPr>
          <p:cNvPr id="8" name="Shape 5"/>
          <p:cNvSpPr/>
          <p:nvPr/>
        </p:nvSpPr>
        <p:spPr>
          <a:xfrm>
            <a:off x="6199632" y="2240280"/>
            <a:ext cx="5349240" cy="3886200"/>
          </a:xfrm>
          <a:prstGeom prst="roundRect">
            <a:avLst>
              <a:gd name="adj" fmla="val 1882"/>
            </a:avLst>
          </a:prstGeom>
          <a:solidFill>
            <a:srgbClr val="FFFFFF"/>
          </a:solidFill>
          <a:ln w="12700">
            <a:solidFill>
              <a:srgbClr val="DCE4EA"/>
            </a:solidFill>
            <a:prstDash val="solid"/>
          </a:ln>
          <a:effectLst>
            <a:outerShdw sx="100000" sy="100000" kx="0" ky="0" algn="bl" rotWithShape="0" blurRad="127000" dist="38100" dir="5400000">
              <a:srgbClr val="1B2A3D">
                <a:alpha val="18000"/>
              </a:srgbClr>
            </a:outerShdw>
          </a:effectLst>
        </p:spPr>
      </p:sp>
      <p:pic>
        <p:nvPicPr>
          <p:cNvPr id="9" name="Image 1" descr="/home/claude/work/build/crops/t1_bertviz.png">    </p:cNvPr>
          <p:cNvPicPr>
            <a:picLocks noChangeAspect="1"/>
          </p:cNvPicPr>
          <p:nvPr/>
        </p:nvPicPr>
        <p:blipFill>
          <a:blip r:embed="rId2"/>
          <a:stretch>
            <a:fillRect/>
          </a:stretch>
        </p:blipFill>
        <p:spPr>
          <a:xfrm>
            <a:off x="7111476" y="2560320"/>
            <a:ext cx="3525552" cy="2971800"/>
          </a:xfrm>
          <a:prstGeom prst="rect">
            <a:avLst/>
          </a:prstGeom>
        </p:spPr>
      </p:pic>
      <p:sp>
        <p:nvSpPr>
          <p:cNvPr id="10" name="Text 6"/>
          <p:cNvSpPr/>
          <p:nvPr/>
        </p:nvSpPr>
        <p:spPr>
          <a:xfrm>
            <a:off x="6519672" y="5532120"/>
            <a:ext cx="4709160" cy="502920"/>
          </a:xfrm>
          <a:prstGeom prst="rect">
            <a:avLst/>
          </a:prstGeom>
          <a:noFill/>
          <a:ln/>
        </p:spPr>
        <p:txBody>
          <a:bodyPr wrap="square" lIns="0" tIns="0" rIns="0" bIns="0" rtlCol="0" anchor="ctr"/>
          <a:lstStyle/>
          <a:p>
            <a:pPr indent="0" marL="0">
              <a:buNone/>
            </a:pPr>
            <a:r>
              <a:rPr lang="en-US" sz="1150" i="1" dirty="0">
                <a:solidFill>
                  <a:srgbClr val="5B7185"/>
                </a:solidFill>
                <a:latin typeface="Calibri" pitchFamily="34" charset="0"/>
                <a:ea typeface="Calibri" pitchFamily="34" charset="-122"/>
                <a:cs typeface="Calibri" pitchFamily="34" charset="-120"/>
              </a:rPr>
              <a:t>BertViz on BERT: 12 colors for 12 heads — “fox” attends most strongly to nearby, semantically related tokens.</a:t>
            </a:r>
            <a:endParaRPr lang="en-US" sz="1150" dirty="0"/>
          </a:p>
        </p:txBody>
      </p:sp>
      <p:sp>
        <p:nvSpPr>
          <p:cNvPr id="11" name="Text 7"/>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9AAAB8"/>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640080" y="502920"/>
            <a:ext cx="4572000" cy="320040"/>
          </a:xfrm>
          <a:prstGeom prst="rect">
            <a:avLst/>
          </a:prstGeom>
          <a:noFill/>
          <a:ln/>
        </p:spPr>
        <p:txBody>
          <a:bodyPr wrap="square" lIns="0" tIns="0" rIns="0" bIns="0" rtlCol="0" anchor="ctr"/>
          <a:lstStyle/>
          <a:p>
            <a:pPr indent="0" marL="0">
              <a:buNone/>
            </a:pPr>
            <a:r>
              <a:rPr lang="en-US" sz="1200" b="1" spc="200" kern="0" dirty="0">
                <a:solidFill>
                  <a:srgbClr val="CFE3EE"/>
                </a:solidFill>
                <a:latin typeface="Calibri" pitchFamily="34" charset="0"/>
                <a:ea typeface="Calibri" pitchFamily="34" charset="-122"/>
                <a:cs typeface="Calibri" pitchFamily="34" charset="-120"/>
              </a:rPr>
              <a:t>SCALING TO BILLIONS OF PARAMETERS</a:t>
            </a:r>
            <a:endParaRPr lang="en-US" sz="1200" dirty="0"/>
          </a:p>
        </p:txBody>
      </p:sp>
      <p:sp>
        <p:nvSpPr>
          <p:cNvPr id="3" name="Text 1"/>
          <p:cNvSpPr/>
          <p:nvPr/>
        </p:nvSpPr>
        <p:spPr>
          <a:xfrm>
            <a:off x="640080" y="777240"/>
            <a:ext cx="82296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Making Attention Faster</a:t>
            </a:r>
            <a:endParaRPr lang="en-US" sz="3200" dirty="0"/>
          </a:p>
        </p:txBody>
      </p:sp>
      <p:sp>
        <p:nvSpPr>
          <p:cNvPr id="4" name="Text 2"/>
          <p:cNvSpPr/>
          <p:nvPr/>
        </p:nvSpPr>
        <p:spPr>
          <a:xfrm>
            <a:off x="640080" y="1417320"/>
            <a:ext cx="10881360" cy="594360"/>
          </a:xfrm>
          <a:prstGeom prst="rect">
            <a:avLst/>
          </a:prstGeom>
          <a:noFill/>
          <a:ln/>
        </p:spPr>
        <p:txBody>
          <a:bodyPr wrap="square" lIns="0" tIns="0" rIns="0" bIns="0" rtlCol="0" anchor="ctr"/>
          <a:lstStyle/>
          <a:p>
            <a:pPr indent="0" marL="0">
              <a:lnSpc>
                <a:spcPct val="120000"/>
              </a:lnSpc>
              <a:buNone/>
            </a:pPr>
            <a:r>
              <a:rPr lang="en-US" sz="1350" dirty="0">
                <a:solidFill>
                  <a:srgbClr val="CFE3EE"/>
                </a:solidFill>
                <a:latin typeface="Calibri" pitchFamily="34" charset="0"/>
                <a:ea typeface="Calibri" pitchFamily="34" charset="-122"/>
                <a:cs typeface="Calibri" pitchFamily="34" charset="-120"/>
              </a:rPr>
              <a:t>Standard attention cost scales quadratically with sequence length. As context windows stretch into the hundreds of thousands of tokens, efficiency becomes the frontier.</a:t>
            </a:r>
            <a:endParaRPr lang="en-US" sz="1350" dirty="0"/>
          </a:p>
        </p:txBody>
      </p:sp>
      <p:sp>
        <p:nvSpPr>
          <p:cNvPr id="5" name="Shape 3"/>
          <p:cNvSpPr/>
          <p:nvPr/>
        </p:nvSpPr>
        <p:spPr>
          <a:xfrm>
            <a:off x="640080" y="2286000"/>
            <a:ext cx="5303520" cy="1920240"/>
          </a:xfrm>
          <a:prstGeom prst="roundRect">
            <a:avLst>
              <a:gd name="adj" fmla="val 3810"/>
            </a:avLst>
          </a:prstGeom>
          <a:solidFill>
            <a:srgbClr val="13294B"/>
          </a:solidFill>
          <a:ln w="12700">
            <a:solidFill>
              <a:srgbClr val="24446F"/>
            </a:solidFill>
            <a:prstDash val="solid"/>
          </a:ln>
        </p:spPr>
      </p:sp>
      <p:sp>
        <p:nvSpPr>
          <p:cNvPr id="6" name="Text 4"/>
          <p:cNvSpPr/>
          <p:nvPr/>
        </p:nvSpPr>
        <p:spPr>
          <a:xfrm>
            <a:off x="914400" y="2487168"/>
            <a:ext cx="4754880" cy="365760"/>
          </a:xfrm>
          <a:prstGeom prst="rect">
            <a:avLst/>
          </a:prstGeom>
          <a:noFill/>
          <a:ln/>
        </p:spPr>
        <p:txBody>
          <a:bodyPr wrap="square" lIns="0" tIns="0" rIns="0" bIns="0" rtlCol="0" anchor="ctr"/>
          <a:lstStyle/>
          <a:p>
            <a:pPr indent="0" marL="0">
              <a:buNone/>
            </a:pPr>
            <a:r>
              <a:rPr lang="en-US" sz="1500" b="1" dirty="0">
                <a:solidFill>
                  <a:srgbClr val="E8983A"/>
                </a:solidFill>
                <a:latin typeface="Calibri" pitchFamily="34" charset="0"/>
                <a:ea typeface="Calibri" pitchFamily="34" charset="-122"/>
                <a:cs typeface="Calibri" pitchFamily="34" charset="-120"/>
              </a:rPr>
              <a:t>Grouped-Query Attention</a:t>
            </a:r>
            <a:endParaRPr lang="en-US" sz="1500" dirty="0"/>
          </a:p>
        </p:txBody>
      </p:sp>
      <p:sp>
        <p:nvSpPr>
          <p:cNvPr id="7" name="Text 5"/>
          <p:cNvSpPr/>
          <p:nvPr/>
        </p:nvSpPr>
        <p:spPr>
          <a:xfrm>
            <a:off x="914400" y="2907792"/>
            <a:ext cx="4754880" cy="1188720"/>
          </a:xfrm>
          <a:prstGeom prst="rect">
            <a:avLst/>
          </a:prstGeom>
          <a:noFill/>
          <a:ln/>
        </p:spPr>
        <p:txBody>
          <a:bodyPr wrap="square" lIns="0" tIns="0" rIns="0" bIns="0" rtlCol="0" anchor="ctr"/>
          <a:lstStyle/>
          <a:p>
            <a:pPr indent="0" marL="0">
              <a:lnSpc>
                <a:spcPct val="120000"/>
              </a:lnSpc>
              <a:buNone/>
            </a:pPr>
            <a:r>
              <a:rPr lang="en-US" sz="1200" dirty="0">
                <a:solidFill>
                  <a:srgbClr val="CFE3EE"/>
                </a:solidFill>
                <a:latin typeface="Calibri" pitchFamily="34" charset="0"/>
                <a:ea typeface="Calibri" pitchFamily="34" charset="-122"/>
                <a:cs typeface="Calibri" pitchFamily="34" charset="-120"/>
              </a:rPr>
              <a:t>Query heads share key-value pairs in groups, cutting KV-cache size with near-full-attention quality — used in Mistral 3.</a:t>
            </a:r>
            <a:endParaRPr lang="en-US" sz="1200" dirty="0"/>
          </a:p>
        </p:txBody>
      </p:sp>
      <p:sp>
        <p:nvSpPr>
          <p:cNvPr id="8" name="Shape 6"/>
          <p:cNvSpPr/>
          <p:nvPr/>
        </p:nvSpPr>
        <p:spPr>
          <a:xfrm>
            <a:off x="6217920" y="2286000"/>
            <a:ext cx="5303520" cy="1920240"/>
          </a:xfrm>
          <a:prstGeom prst="roundRect">
            <a:avLst>
              <a:gd name="adj" fmla="val 3810"/>
            </a:avLst>
          </a:prstGeom>
          <a:solidFill>
            <a:srgbClr val="13294B"/>
          </a:solidFill>
          <a:ln w="12700">
            <a:solidFill>
              <a:srgbClr val="24446F"/>
            </a:solidFill>
            <a:prstDash val="solid"/>
          </a:ln>
        </p:spPr>
      </p:sp>
      <p:sp>
        <p:nvSpPr>
          <p:cNvPr id="9" name="Text 7"/>
          <p:cNvSpPr/>
          <p:nvPr/>
        </p:nvSpPr>
        <p:spPr>
          <a:xfrm>
            <a:off x="6492240" y="2487168"/>
            <a:ext cx="4754880" cy="365760"/>
          </a:xfrm>
          <a:prstGeom prst="rect">
            <a:avLst/>
          </a:prstGeom>
          <a:noFill/>
          <a:ln/>
        </p:spPr>
        <p:txBody>
          <a:bodyPr wrap="square" lIns="0" tIns="0" rIns="0" bIns="0" rtlCol="0" anchor="ctr"/>
          <a:lstStyle/>
          <a:p>
            <a:pPr indent="0" marL="0">
              <a:buNone/>
            </a:pPr>
            <a:r>
              <a:rPr lang="en-US" sz="1500" b="1" dirty="0">
                <a:solidFill>
                  <a:srgbClr val="E8983A"/>
                </a:solidFill>
                <a:latin typeface="Calibri" pitchFamily="34" charset="0"/>
                <a:ea typeface="Calibri" pitchFamily="34" charset="-122"/>
                <a:cs typeface="Calibri" pitchFamily="34" charset="-120"/>
              </a:rPr>
              <a:t>RoPE &amp; ALiBi</a:t>
            </a:r>
            <a:endParaRPr lang="en-US" sz="1500" dirty="0"/>
          </a:p>
        </p:txBody>
      </p:sp>
      <p:sp>
        <p:nvSpPr>
          <p:cNvPr id="10" name="Text 8"/>
          <p:cNvSpPr/>
          <p:nvPr/>
        </p:nvSpPr>
        <p:spPr>
          <a:xfrm>
            <a:off x="6492240" y="2907792"/>
            <a:ext cx="4754880" cy="1188720"/>
          </a:xfrm>
          <a:prstGeom prst="rect">
            <a:avLst/>
          </a:prstGeom>
          <a:noFill/>
          <a:ln/>
        </p:spPr>
        <p:txBody>
          <a:bodyPr wrap="square" lIns="0" tIns="0" rIns="0" bIns="0" rtlCol="0" anchor="ctr"/>
          <a:lstStyle/>
          <a:p>
            <a:pPr indent="0" marL="0">
              <a:lnSpc>
                <a:spcPct val="120000"/>
              </a:lnSpc>
              <a:buNone/>
            </a:pPr>
            <a:r>
              <a:rPr lang="en-US" sz="1200" dirty="0">
                <a:solidFill>
                  <a:srgbClr val="CFE3EE"/>
                </a:solidFill>
                <a:latin typeface="Calibri" pitchFamily="34" charset="0"/>
                <a:ea typeface="Calibri" pitchFamily="34" charset="-122"/>
                <a:cs typeface="Calibri" pitchFamily="34" charset="-120"/>
              </a:rPr>
              <a:t>Rotary embeddings and linear position biases replace sinusoidal encoding, extrapolating far beyond the training length.</a:t>
            </a:r>
            <a:endParaRPr lang="en-US" sz="1200" dirty="0"/>
          </a:p>
        </p:txBody>
      </p:sp>
      <p:sp>
        <p:nvSpPr>
          <p:cNvPr id="11" name="Shape 9"/>
          <p:cNvSpPr/>
          <p:nvPr/>
        </p:nvSpPr>
        <p:spPr>
          <a:xfrm>
            <a:off x="640080" y="4434840"/>
            <a:ext cx="5303520" cy="1920240"/>
          </a:xfrm>
          <a:prstGeom prst="roundRect">
            <a:avLst>
              <a:gd name="adj" fmla="val 3810"/>
            </a:avLst>
          </a:prstGeom>
          <a:solidFill>
            <a:srgbClr val="13294B"/>
          </a:solidFill>
          <a:ln w="12700">
            <a:solidFill>
              <a:srgbClr val="24446F"/>
            </a:solidFill>
            <a:prstDash val="solid"/>
          </a:ln>
        </p:spPr>
      </p:sp>
      <p:sp>
        <p:nvSpPr>
          <p:cNvPr id="12" name="Text 10"/>
          <p:cNvSpPr/>
          <p:nvPr/>
        </p:nvSpPr>
        <p:spPr>
          <a:xfrm>
            <a:off x="914400" y="4636008"/>
            <a:ext cx="4754880" cy="365760"/>
          </a:xfrm>
          <a:prstGeom prst="rect">
            <a:avLst/>
          </a:prstGeom>
          <a:noFill/>
          <a:ln/>
        </p:spPr>
        <p:txBody>
          <a:bodyPr wrap="square" lIns="0" tIns="0" rIns="0" bIns="0" rtlCol="0" anchor="ctr"/>
          <a:lstStyle/>
          <a:p>
            <a:pPr indent="0" marL="0">
              <a:buNone/>
            </a:pPr>
            <a:r>
              <a:rPr lang="en-US" sz="1500" b="1" dirty="0">
                <a:solidFill>
                  <a:srgbClr val="E8983A"/>
                </a:solidFill>
                <a:latin typeface="Calibri" pitchFamily="34" charset="0"/>
                <a:ea typeface="Calibri" pitchFamily="34" charset="-122"/>
                <a:cs typeface="Calibri" pitchFamily="34" charset="-120"/>
              </a:rPr>
              <a:t>Flash Attention</a:t>
            </a:r>
            <a:endParaRPr lang="en-US" sz="1500" dirty="0"/>
          </a:p>
        </p:txBody>
      </p:sp>
      <p:sp>
        <p:nvSpPr>
          <p:cNvPr id="13" name="Text 11"/>
          <p:cNvSpPr/>
          <p:nvPr/>
        </p:nvSpPr>
        <p:spPr>
          <a:xfrm>
            <a:off x="914400" y="5056632"/>
            <a:ext cx="4754880" cy="1188720"/>
          </a:xfrm>
          <a:prstGeom prst="rect">
            <a:avLst/>
          </a:prstGeom>
          <a:noFill/>
          <a:ln/>
        </p:spPr>
        <p:txBody>
          <a:bodyPr wrap="square" lIns="0" tIns="0" rIns="0" bIns="0" rtlCol="0" anchor="ctr"/>
          <a:lstStyle/>
          <a:p>
            <a:pPr indent="0" marL="0">
              <a:lnSpc>
                <a:spcPct val="120000"/>
              </a:lnSpc>
              <a:buNone/>
            </a:pPr>
            <a:r>
              <a:rPr lang="en-US" sz="1200" dirty="0">
                <a:solidFill>
                  <a:srgbClr val="CFE3EE"/>
                </a:solidFill>
                <a:latin typeface="Calibri" pitchFamily="34" charset="0"/>
                <a:ea typeface="Calibri" pitchFamily="34" charset="-122"/>
                <a:cs typeface="Calibri" pitchFamily="34" charset="-120"/>
              </a:rPr>
              <a:t>Reorganizes GPU memory access to minimize data movement, achieving 2–3× speedups with no quality loss.</a:t>
            </a:r>
            <a:endParaRPr lang="en-US" sz="1200" dirty="0"/>
          </a:p>
        </p:txBody>
      </p:sp>
      <p:sp>
        <p:nvSpPr>
          <p:cNvPr id="14" name="Shape 12"/>
          <p:cNvSpPr/>
          <p:nvPr/>
        </p:nvSpPr>
        <p:spPr>
          <a:xfrm>
            <a:off x="6217920" y="4434840"/>
            <a:ext cx="5303520" cy="1920240"/>
          </a:xfrm>
          <a:prstGeom prst="roundRect">
            <a:avLst>
              <a:gd name="adj" fmla="val 3810"/>
            </a:avLst>
          </a:prstGeom>
          <a:solidFill>
            <a:srgbClr val="13294B"/>
          </a:solidFill>
          <a:ln w="12700">
            <a:solidFill>
              <a:srgbClr val="24446F"/>
            </a:solidFill>
            <a:prstDash val="solid"/>
          </a:ln>
        </p:spPr>
      </p:sp>
      <p:sp>
        <p:nvSpPr>
          <p:cNvPr id="15" name="Text 13"/>
          <p:cNvSpPr/>
          <p:nvPr/>
        </p:nvSpPr>
        <p:spPr>
          <a:xfrm>
            <a:off x="6492240" y="4636008"/>
            <a:ext cx="4754880" cy="365760"/>
          </a:xfrm>
          <a:prstGeom prst="rect">
            <a:avLst/>
          </a:prstGeom>
          <a:noFill/>
          <a:ln/>
        </p:spPr>
        <p:txBody>
          <a:bodyPr wrap="square" lIns="0" tIns="0" rIns="0" bIns="0" rtlCol="0" anchor="ctr"/>
          <a:lstStyle/>
          <a:p>
            <a:pPr indent="0" marL="0">
              <a:buNone/>
            </a:pPr>
            <a:r>
              <a:rPr lang="en-US" sz="1500" b="1" dirty="0">
                <a:solidFill>
                  <a:srgbClr val="E8983A"/>
                </a:solidFill>
                <a:latin typeface="Calibri" pitchFamily="34" charset="0"/>
                <a:ea typeface="Calibri" pitchFamily="34" charset="-122"/>
                <a:cs typeface="Calibri" pitchFamily="34" charset="-120"/>
              </a:rPr>
              <a:t>Hybrid state-space models</a:t>
            </a:r>
            <a:endParaRPr lang="en-US" sz="1500" dirty="0"/>
          </a:p>
        </p:txBody>
      </p:sp>
      <p:sp>
        <p:nvSpPr>
          <p:cNvPr id="16" name="Text 14"/>
          <p:cNvSpPr/>
          <p:nvPr/>
        </p:nvSpPr>
        <p:spPr>
          <a:xfrm>
            <a:off x="6492240" y="5056632"/>
            <a:ext cx="4754880" cy="1188720"/>
          </a:xfrm>
          <a:prstGeom prst="rect">
            <a:avLst/>
          </a:prstGeom>
          <a:noFill/>
          <a:ln/>
        </p:spPr>
        <p:txBody>
          <a:bodyPr wrap="square" lIns="0" tIns="0" rIns="0" bIns="0" rtlCol="0" anchor="ctr"/>
          <a:lstStyle/>
          <a:p>
            <a:pPr indent="0" marL="0">
              <a:lnSpc>
                <a:spcPct val="120000"/>
              </a:lnSpc>
              <a:buNone/>
            </a:pPr>
            <a:r>
              <a:rPr lang="en-US" sz="1200" dirty="0">
                <a:solidFill>
                  <a:srgbClr val="CFE3EE"/>
                </a:solidFill>
                <a:latin typeface="Calibri" pitchFamily="34" charset="0"/>
                <a:ea typeface="Calibri" pitchFamily="34" charset="-122"/>
                <a:cs typeface="Calibri" pitchFamily="34" charset="-120"/>
              </a:rPr>
              <a:t>Systems like S4 and Hyena model long-range dependencies with linear rather than quadratic complexity.</a:t>
            </a:r>
            <a:endParaRPr lang="en-US" sz="1200" dirty="0"/>
          </a:p>
        </p:txBody>
      </p:sp>
      <p:sp>
        <p:nvSpPr>
          <p:cNvPr id="17" name="Text 15"/>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6E8AA6"/>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1828800" y="4206240"/>
            <a:ext cx="4754880" cy="4754880"/>
          </a:xfrm>
          <a:prstGeom prst="ellipse">
            <a:avLst/>
          </a:prstGeom>
          <a:solidFill>
            <a:srgbClr val="13294B"/>
          </a:solidFill>
          <a:ln/>
        </p:spPr>
      </p:sp>
      <p:sp>
        <p:nvSpPr>
          <p:cNvPr id="3" name="Text 1"/>
          <p:cNvSpPr/>
          <p:nvPr/>
        </p:nvSpPr>
        <p:spPr>
          <a:xfrm>
            <a:off x="822960" y="640080"/>
            <a:ext cx="4572000" cy="320040"/>
          </a:xfrm>
          <a:prstGeom prst="rect">
            <a:avLst/>
          </a:prstGeom>
          <a:noFill/>
          <a:ln/>
        </p:spPr>
        <p:txBody>
          <a:bodyPr wrap="square" lIns="0" tIns="0" rIns="0" bIns="0" rtlCol="0" anchor="ctr"/>
          <a:lstStyle/>
          <a:p>
            <a:pPr indent="0" marL="0">
              <a:buNone/>
            </a:pPr>
            <a:r>
              <a:rPr lang="en-US" sz="1200" b="1" spc="200" kern="0" dirty="0">
                <a:solidFill>
                  <a:srgbClr val="CFE3EE"/>
                </a:solidFill>
                <a:latin typeface="Calibri" pitchFamily="34" charset="0"/>
                <a:ea typeface="Calibri" pitchFamily="34" charset="-122"/>
                <a:cs typeface="Calibri" pitchFamily="34" charset="-120"/>
              </a:rPr>
              <a:t>KEY TAKEAWAYS</a:t>
            </a:r>
            <a:endParaRPr lang="en-US" sz="1200" dirty="0"/>
          </a:p>
        </p:txBody>
      </p:sp>
      <p:sp>
        <p:nvSpPr>
          <p:cNvPr id="4" name="Text 2"/>
          <p:cNvSpPr/>
          <p:nvPr/>
        </p:nvSpPr>
        <p:spPr>
          <a:xfrm>
            <a:off x="822960" y="960120"/>
            <a:ext cx="960120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Attention Changed Everything</a:t>
            </a:r>
            <a:endParaRPr lang="en-US" sz="3800" dirty="0"/>
          </a:p>
        </p:txBody>
      </p:sp>
      <p:sp>
        <p:nvSpPr>
          <p:cNvPr id="5" name="Shape 3"/>
          <p:cNvSpPr/>
          <p:nvPr/>
        </p:nvSpPr>
        <p:spPr>
          <a:xfrm>
            <a:off x="822960" y="2176272"/>
            <a:ext cx="146304" cy="146304"/>
          </a:xfrm>
          <a:prstGeom prst="ellipse">
            <a:avLst/>
          </a:prstGeom>
          <a:solidFill>
            <a:srgbClr val="E8983A"/>
          </a:solidFill>
          <a:ln/>
        </p:spPr>
      </p:sp>
      <p:sp>
        <p:nvSpPr>
          <p:cNvPr id="6" name="Text 4"/>
          <p:cNvSpPr/>
          <p:nvPr/>
        </p:nvSpPr>
        <p:spPr>
          <a:xfrm>
            <a:off x="1188720" y="1993392"/>
            <a:ext cx="9692640" cy="777240"/>
          </a:xfrm>
          <a:prstGeom prst="rect">
            <a:avLst/>
          </a:prstGeom>
          <a:noFill/>
          <a:ln/>
        </p:spPr>
        <p:txBody>
          <a:bodyPr wrap="square" lIns="0" tIns="0" rIns="0" bIns="0" rtlCol="0" anchor="ctr"/>
          <a:lstStyle/>
          <a:p>
            <a:pPr indent="0" marL="0">
              <a:lnSpc>
                <a:spcPct val="125000"/>
              </a:lnSpc>
              <a:buNone/>
            </a:pPr>
            <a:r>
              <a:rPr lang="en-US" sz="1500" dirty="0">
                <a:solidFill>
                  <a:srgbClr val="CFE3EE"/>
                </a:solidFill>
                <a:latin typeface="Calibri" pitchFamily="34" charset="0"/>
                <a:ea typeface="Calibri" pitchFamily="34" charset="-122"/>
                <a:cs typeface="Calibri" pitchFamily="34" charset="-120"/>
              </a:rPr>
              <a:t>Self-attention lets every token look at every other token, in parallel, regardless of distance — solving the long-range dependency problem that limited RNNs.</a:t>
            </a:r>
            <a:endParaRPr lang="en-US" sz="1500" dirty="0"/>
          </a:p>
        </p:txBody>
      </p:sp>
      <p:sp>
        <p:nvSpPr>
          <p:cNvPr id="7" name="Shape 5"/>
          <p:cNvSpPr/>
          <p:nvPr/>
        </p:nvSpPr>
        <p:spPr>
          <a:xfrm>
            <a:off x="822960" y="3227832"/>
            <a:ext cx="146304" cy="146304"/>
          </a:xfrm>
          <a:prstGeom prst="ellipse">
            <a:avLst/>
          </a:prstGeom>
          <a:solidFill>
            <a:srgbClr val="E8983A"/>
          </a:solidFill>
          <a:ln/>
        </p:spPr>
      </p:sp>
      <p:sp>
        <p:nvSpPr>
          <p:cNvPr id="8" name="Text 6"/>
          <p:cNvSpPr/>
          <p:nvPr/>
        </p:nvSpPr>
        <p:spPr>
          <a:xfrm>
            <a:off x="1188720" y="3044952"/>
            <a:ext cx="9692640" cy="777240"/>
          </a:xfrm>
          <a:prstGeom prst="rect">
            <a:avLst/>
          </a:prstGeom>
          <a:noFill/>
          <a:ln/>
        </p:spPr>
        <p:txBody>
          <a:bodyPr wrap="square" lIns="0" tIns="0" rIns="0" bIns="0" rtlCol="0" anchor="ctr"/>
          <a:lstStyle/>
          <a:p>
            <a:pPr indent="0" marL="0">
              <a:lnSpc>
                <a:spcPct val="125000"/>
              </a:lnSpc>
              <a:buNone/>
            </a:pPr>
            <a:r>
              <a:rPr lang="en-US" sz="1500" dirty="0">
                <a:solidFill>
                  <a:srgbClr val="CFE3EE"/>
                </a:solidFill>
                <a:latin typeface="Calibri" pitchFamily="34" charset="0"/>
                <a:ea typeface="Calibri" pitchFamily="34" charset="-122"/>
                <a:cs typeface="Calibri" pitchFamily="34" charset="-120"/>
              </a:rPr>
              <a:t>Multi-head attention runs several of these lookups at once, each learning a different kind of relationship between words.</a:t>
            </a:r>
            <a:endParaRPr lang="en-US" sz="1500" dirty="0"/>
          </a:p>
        </p:txBody>
      </p:sp>
      <p:sp>
        <p:nvSpPr>
          <p:cNvPr id="9" name="Shape 7"/>
          <p:cNvSpPr/>
          <p:nvPr/>
        </p:nvSpPr>
        <p:spPr>
          <a:xfrm>
            <a:off x="822960" y="4279392"/>
            <a:ext cx="146304" cy="146304"/>
          </a:xfrm>
          <a:prstGeom prst="ellipse">
            <a:avLst/>
          </a:prstGeom>
          <a:solidFill>
            <a:srgbClr val="E8983A"/>
          </a:solidFill>
          <a:ln/>
        </p:spPr>
      </p:sp>
      <p:sp>
        <p:nvSpPr>
          <p:cNvPr id="10" name="Text 8"/>
          <p:cNvSpPr/>
          <p:nvPr/>
        </p:nvSpPr>
        <p:spPr>
          <a:xfrm>
            <a:off x="1188720" y="4096512"/>
            <a:ext cx="9692640" cy="777240"/>
          </a:xfrm>
          <a:prstGeom prst="rect">
            <a:avLst/>
          </a:prstGeom>
          <a:noFill/>
          <a:ln/>
        </p:spPr>
        <p:txBody>
          <a:bodyPr wrap="square" lIns="0" tIns="0" rIns="0" bIns="0" rtlCol="0" anchor="ctr"/>
          <a:lstStyle/>
          <a:p>
            <a:pPr indent="0" marL="0">
              <a:lnSpc>
                <a:spcPct val="125000"/>
              </a:lnSpc>
              <a:buNone/>
            </a:pPr>
            <a:r>
              <a:rPr lang="en-US" sz="1500" dirty="0">
                <a:solidFill>
                  <a:srgbClr val="CFE3EE"/>
                </a:solidFill>
                <a:latin typeface="Calibri" pitchFamily="34" charset="0"/>
                <a:ea typeface="Calibri" pitchFamily="34" charset="-122"/>
                <a:cs typeface="Calibri" pitchFamily="34" charset="-120"/>
              </a:rPr>
              <a:t>The encoder-decoder stack, residual connections, and layer normalization combine into a design that scales to billions of parameters — and to images, speech, and multimodal systems alike.</a:t>
            </a:r>
            <a:endParaRPr lang="en-US" sz="1500" dirty="0"/>
          </a:p>
        </p:txBody>
      </p:sp>
      <p:sp>
        <p:nvSpPr>
          <p:cNvPr id="11" name="Shape 9"/>
          <p:cNvSpPr/>
          <p:nvPr/>
        </p:nvSpPr>
        <p:spPr>
          <a:xfrm>
            <a:off x="822960" y="5623560"/>
            <a:ext cx="10515600" cy="0"/>
          </a:xfrm>
          <a:prstGeom prst="line">
            <a:avLst/>
          </a:prstGeom>
          <a:noFill/>
          <a:ln w="12700">
            <a:solidFill>
              <a:srgbClr val="24446F"/>
            </a:solidFill>
            <a:prstDash val="solid"/>
          </a:ln>
        </p:spPr>
      </p:sp>
      <p:sp>
        <p:nvSpPr>
          <p:cNvPr id="12" name="Text 10"/>
          <p:cNvSpPr/>
          <p:nvPr/>
        </p:nvSpPr>
        <p:spPr>
          <a:xfrm>
            <a:off x="822960" y="5806440"/>
            <a:ext cx="10515600" cy="457200"/>
          </a:xfrm>
          <a:prstGeom prst="rect">
            <a:avLst/>
          </a:prstGeom>
          <a:noFill/>
          <a:ln/>
        </p:spPr>
        <p:txBody>
          <a:bodyPr wrap="square" lIns="0" tIns="0" rIns="0" bIns="0" rtlCol="0" anchor="ctr"/>
          <a:lstStyle/>
          <a:p>
            <a:pPr indent="0" marL="0">
              <a:buNone/>
            </a:pPr>
            <a:r>
              <a:rPr lang="en-US" sz="1050" i="1" dirty="0">
                <a:solidFill>
                  <a:srgbClr val="6E8AA6"/>
                </a:solidFill>
                <a:latin typeface="Calibri" pitchFamily="34" charset="0"/>
                <a:ea typeface="Calibri" pitchFamily="34" charset="-122"/>
                <a:cs typeface="Calibri" pitchFamily="34" charset="-120"/>
              </a:rPr>
              <a:t>Sources: “How Transformers Work” — DataCamp · “Self-Attention Explained” — DataCamp · “Understanding Multi-Head Attention in Transformers” — DataCamp</a:t>
            </a:r>
            <a:endParaRPr lang="en-US" sz="1050" dirty="0"/>
          </a:p>
        </p:txBody>
      </p:sp>
      <p:sp>
        <p:nvSpPr>
          <p:cNvPr id="13" name="Text 11"/>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6E8AA6"/>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2026-08-04T04:22:45Z</dcterms:created>
  <dcterms:modified xsi:type="dcterms:W3CDTF">2026-08-04T04:22:45Z</dcterms:modified>
</cp:coreProperties>
</file>