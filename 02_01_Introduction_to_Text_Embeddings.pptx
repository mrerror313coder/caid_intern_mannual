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11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1.5</c:v>
                </c:pt>
                <c:pt idx="2">
                  <c:v>2.6</c:v>
                </c:pt>
                <c:pt idx="3">
                  <c:v>1.4</c:v>
                </c:pt>
                <c:pt idx="4">
                  <c:v>2.2000000000000002</c:v>
                </c:pt>
                <c:pt idx="5">
                  <c:v>5</c:v>
                </c:pt>
                <c:pt idx="6">
                  <c:v>5.4</c:v>
                </c:pt>
                <c:pt idx="7">
                  <c:v>6.6</c:v>
                </c:pt>
                <c:pt idx="8">
                  <c:v>6.2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4.5999999999999996</c:v>
                </c:pt>
                <c:pt idx="1">
                  <c:v>3.4</c:v>
                </c:pt>
                <c:pt idx="2">
                  <c:v>1.7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9F6-4030-BCEF-35E295B6E0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Airlines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11"/>
            <c:spPr>
              <a:solidFill>
                <a:srgbClr val="21295C"/>
              </a:solidFill>
              <a:ln w="9525" cap="flat">
                <a:solidFill>
                  <a:srgbClr val="21295C"/>
                </a:solidFill>
                <a:prstDash val="solid"/>
                <a:round/>
              </a:ln>
              <a:effectLst/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1.5</c:v>
                </c:pt>
                <c:pt idx="2">
                  <c:v>2.6</c:v>
                </c:pt>
                <c:pt idx="3">
                  <c:v>1.4</c:v>
                </c:pt>
                <c:pt idx="4">
                  <c:v>2.2000000000000002</c:v>
                </c:pt>
                <c:pt idx="5">
                  <c:v>5</c:v>
                </c:pt>
                <c:pt idx="6">
                  <c:v>5.4</c:v>
                </c:pt>
                <c:pt idx="7">
                  <c:v>6.6</c:v>
                </c:pt>
                <c:pt idx="8">
                  <c:v>6.2</c:v>
                </c:pt>
              </c:numCache>
            </c:numRef>
          </c:xVal>
          <c:yVal>
            <c:numRef>
              <c:f>Sheet1!$C$2:$C$10</c:f>
              <c:numCache>
                <c:formatCode>General</c:formatCode>
                <c:ptCount val="9"/>
                <c:pt idx="3">
                  <c:v>6</c:v>
                </c:pt>
                <c:pt idx="4">
                  <c:v>5.0999999999999996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9F6-4030-BCEF-35E295B6E04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Ground Transportation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11"/>
            <c:spPr>
              <a:solidFill>
                <a:srgbClr val="D98E4A"/>
              </a:solidFill>
              <a:ln w="9525" cap="flat">
                <a:solidFill>
                  <a:srgbClr val="D98E4A"/>
                </a:solidFill>
                <a:prstDash val="solid"/>
                <a:round/>
              </a:ln>
              <a:effectLst/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1.5</c:v>
                </c:pt>
                <c:pt idx="2">
                  <c:v>2.6</c:v>
                </c:pt>
                <c:pt idx="3">
                  <c:v>1.4</c:v>
                </c:pt>
                <c:pt idx="4">
                  <c:v>2.2000000000000002</c:v>
                </c:pt>
                <c:pt idx="5">
                  <c:v>5</c:v>
                </c:pt>
                <c:pt idx="6">
                  <c:v>5.4</c:v>
                </c:pt>
                <c:pt idx="7">
                  <c:v>6.6</c:v>
                </c:pt>
                <c:pt idx="8">
                  <c:v>6.2</c:v>
                </c:pt>
              </c:numCache>
            </c:numRef>
          </c:xVal>
          <c:yVal>
            <c:numRef>
              <c:f>Sheet1!$D$2:$D$10</c:f>
              <c:numCache>
                <c:formatCode>General</c:formatCode>
                <c:ptCount val="9"/>
                <c:pt idx="5">
                  <c:v>5.6</c:v>
                </c:pt>
                <c:pt idx="6">
                  <c:v>4.4000000000000004</c:v>
                </c:pt>
                <c:pt idx="7">
                  <c:v>3</c:v>
                </c:pt>
                <c:pt idx="8">
                  <c:v>3.6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9F6-4030-BCEF-35E295B6E0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4554"/>
        <c:crosses val="autoZero"/>
        <c:crossBetween val="midCat"/>
      </c:valAx>
      <c:spPr>
        <a:solidFill>
          <a:srgbClr val="FFFFFF"/>
        </a:solidFill>
        <a:ln w="12700" cap="flat">
          <a:solidFill>
            <a:srgbClr val="D6E0E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6100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365760"/>
            <a:ext cx="2377440" cy="237744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81360" y="1188720"/>
            <a:ext cx="1463040" cy="146304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326880" y="1554480"/>
            <a:ext cx="914400" cy="914400"/>
          </a:xfrm>
          <a:prstGeom prst="ellipse">
            <a:avLst/>
          </a:prstGeom>
          <a:solidFill>
            <a:srgbClr val="9FC5D9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F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Embeddings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9F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guide to the intuition behind text embeddings, the problems they solve, and how they can be customized through fine-tuning.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989320"/>
            <a:ext cx="5029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an LLM Can Give You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large language model for text and you get more back than words — you can also ask it for a numeric fingerprint of meaning.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554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2130552"/>
            <a:ext cx="502920" cy="274320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337560" y="1920240"/>
            <a:ext cx="2286000" cy="6858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37560" y="1920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52160" y="2130552"/>
            <a:ext cx="502920" cy="274320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0" y="1874520"/>
            <a:ext cx="47548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0" y="2075688"/>
            <a:ext cx="2743200" cy="0"/>
          </a:xfrm>
          <a:prstGeom prst="line">
            <a:avLst/>
          </a:prstGeom>
          <a:noFill/>
          <a:ln w="38100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0" y="2258568"/>
            <a:ext cx="3931920" cy="0"/>
          </a:xfrm>
          <a:prstGeom prst="line">
            <a:avLst/>
          </a:prstGeom>
          <a:noFill/>
          <a:ln w="38100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858000" y="2441448"/>
            <a:ext cx="2011680" cy="0"/>
          </a:xfrm>
          <a:prstGeom prst="line">
            <a:avLst/>
          </a:prstGeom>
          <a:noFill/>
          <a:ln w="38100">
            <a:solidFill>
              <a:srgbClr val="C3C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" y="3246120"/>
            <a:ext cx="1554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  <a:effectLst>
            <a:outerShdw blurRad="76200" dist="25400" dir="5400000" algn="bl" rotWithShape="0">
              <a:srgbClr val="9AA7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2461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606040" y="3502152"/>
            <a:ext cx="502920" cy="274320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337560" y="3291840"/>
            <a:ext cx="2286000" cy="6858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37560" y="3291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Representation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852160" y="3502152"/>
            <a:ext cx="502920" cy="274320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83680" y="3291840"/>
            <a:ext cx="694944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3291840"/>
            <a:ext cx="69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33488" y="3291840"/>
            <a:ext cx="694944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33488" y="3291840"/>
            <a:ext cx="69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83296" y="3291840"/>
            <a:ext cx="694944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83296" y="3291840"/>
            <a:ext cx="69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33104" y="3291840"/>
            <a:ext cx="694944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833104" y="3291840"/>
            <a:ext cx="69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582912" y="3291840"/>
            <a:ext cx="694944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582912" y="3291840"/>
            <a:ext cx="69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332720" y="3291840"/>
            <a:ext cx="694944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332720" y="3291840"/>
            <a:ext cx="69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2960" y="461772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51560" y="48006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
</a:t>
            </a: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new text — an essay, code, or marketing copy.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943600" y="46177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172200" y="48006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Representation
</a:t>
            </a: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embeddings — numbers that capture what the text means.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Text Embeddings Unlock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turn unstructured text into a structured, comparable form — words, sentences, or whole documents alike. That structure quietly powers products people use every day.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  <a:effectLst>
            <a:outerShdw blurRad="63500" dist="19050" dir="5400000" algn="bl" rotWithShape="0">
              <a:srgbClr val="9AA7B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⌕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9535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2644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queries to results by meaning, not just keywords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205740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  <a:effectLst>
            <a:outerShdw blurRad="63500" dist="19050" dir="5400000" algn="bl" rotWithShape="0">
              <a:srgbClr val="9AA7B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22860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29535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0" y="32644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Surfacing items related to what a shopper is browsing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205740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  <a:effectLst>
            <a:outerShdw blurRad="63500" dist="19050" dir="5400000" algn="bl" rotWithShape="0">
              <a:srgbClr val="9AA7B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75320" y="22860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753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5320" y="29535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75320" y="32644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 posts that resemble known harmful content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  <a:effectLst>
            <a:outerShdw blurRad="63500" dist="19050" dir="5400000" algn="bl" rotWithShape="0">
              <a:srgbClr val="9AA7B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8680" y="43434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8680" y="50109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68680" y="53218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emails that read like known spam patterns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411480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  <a:effectLst>
            <a:outerShdw blurRad="63500" dist="19050" dir="5400000" algn="bl" rotWithShape="0">
              <a:srgbClr val="9AA7B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0" y="43434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72000" y="50109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Agents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0" y="53218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 question to the closest matching answer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4114800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  <a:effectLst>
            <a:outerShdw blurRad="63500" dist="19050" dir="5400000" algn="bl" rotWithShape="0">
              <a:srgbClr val="9AA7B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75320" y="43434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7532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275320" y="50109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&amp; Classification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75320" y="53218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documents by topic 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Queries to Embeddings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a sample of airline travel inquiries, embedded with Cohere's Embed endpoint.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QUERIES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359152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22860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"show me boston ground transportation"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2953512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288036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ground transportation is available in boston"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3547872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347472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"which airlines fly between boston and pittsburgh"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4142232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40690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"of all airlines, which has the most arrivals in atlanta"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" y="4736592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466344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"show me round trip first class tickets, ny to miami"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5330952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52578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"i'd like the lowest fare from denver to pittsburgh"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1691640"/>
            <a:ext cx="5532120" cy="1920240"/>
          </a:xfrm>
          <a:prstGeom prst="roundRect">
            <a:avLst>
              <a:gd name="adj" fmla="val 381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0936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co.embed()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0936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FC5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texts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of queries above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0936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FC5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embed-v4.0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09360" y="3154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FC5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input_type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search_document / search_query / classification / clustering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595360" y="3657600"/>
            <a:ext cx="365760" cy="365760"/>
          </a:xfrm>
          <a:prstGeom prst="down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35040" y="4160520"/>
            <a:ext cx="55321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63640" y="4315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4572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1,536</a:t>
            </a: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numbers per query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6263640" y="5488806"/>
            <a:ext cx="235458" cy="45479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517386" y="5700562"/>
            <a:ext cx="235458" cy="24303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771132" y="5329989"/>
            <a:ext cx="235458" cy="613611"/>
          </a:xfrm>
          <a:prstGeom prst="rect">
            <a:avLst/>
          </a:prstGeom>
          <a:solidFill>
            <a:srgbClr val="9FC5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024878" y="5647623"/>
            <a:ext cx="235458" cy="295977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278624" y="5409398"/>
            <a:ext cx="235458" cy="53420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532370" y="5753501"/>
            <a:ext cx="235458" cy="190099"/>
          </a:xfrm>
          <a:prstGeom prst="rect">
            <a:avLst/>
          </a:prstGeom>
          <a:solidFill>
            <a:srgbClr val="9FC5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786116" y="5541745"/>
            <a:ext cx="235458" cy="401855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039862" y="5303520"/>
            <a:ext cx="235458" cy="640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293608" y="5621154"/>
            <a:ext cx="235458" cy="322446"/>
          </a:xfrm>
          <a:prstGeom prst="rect">
            <a:avLst/>
          </a:prstGeom>
          <a:solidFill>
            <a:srgbClr val="9FC5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547354" y="5435867"/>
            <a:ext cx="235458" cy="507733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801100" y="5727032"/>
            <a:ext cx="235458" cy="21656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054846" y="5382928"/>
            <a:ext cx="235458" cy="560672"/>
          </a:xfrm>
          <a:prstGeom prst="rect">
            <a:avLst/>
          </a:prstGeom>
          <a:solidFill>
            <a:srgbClr val="9FC5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308592" y="5568215"/>
            <a:ext cx="235458" cy="375385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562338" y="5779971"/>
            <a:ext cx="235458" cy="163629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816084" y="5356459"/>
            <a:ext cx="235458" cy="587141"/>
          </a:xfrm>
          <a:prstGeom prst="rect">
            <a:avLst/>
          </a:prstGeom>
          <a:solidFill>
            <a:srgbClr val="9FC5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0069830" y="5674093"/>
            <a:ext cx="235458" cy="269507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0323576" y="5462337"/>
            <a:ext cx="235458" cy="481263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0577322" y="5594684"/>
            <a:ext cx="235458" cy="348916"/>
          </a:xfrm>
          <a:prstGeom prst="rect">
            <a:avLst/>
          </a:prstGeom>
          <a:solidFill>
            <a:srgbClr val="9FC5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0831068" y="5515276"/>
            <a:ext cx="235458" cy="42832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1084814" y="5647623"/>
            <a:ext cx="235458" cy="295977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 Meaning, Similar Pattern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Compressing each embedding to 10 dimensions (via PCA) and plotting the values as a heatmap makes the pattern visible: queries about the same thing shade almost identically.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queries about ground transportation in Boston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 boston ground transportation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17520" y="2468880"/>
            <a:ext cx="260604" cy="365760"/>
          </a:xfrm>
          <a:prstGeom prst="rect">
            <a:avLst/>
          </a:prstGeom>
          <a:solidFill>
            <a:srgbClr val="9FC5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96412" y="2468880"/>
            <a:ext cx="260604" cy="365760"/>
          </a:xfrm>
          <a:prstGeom prst="rect">
            <a:avLst/>
          </a:prstGeom>
          <a:solidFill>
            <a:srgbClr val="9FC5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75304" y="2468880"/>
            <a:ext cx="260604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54196" y="2468880"/>
            <a:ext cx="260604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33088" y="2468880"/>
            <a:ext cx="260604" cy="365760"/>
          </a:xfrm>
          <a:prstGeom prst="rect">
            <a:avLst/>
          </a:prstGeom>
          <a:solidFill>
            <a:srgbClr val="9FC5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11980" y="2468880"/>
            <a:ext cx="260604" cy="365760"/>
          </a:xfrm>
          <a:prstGeom prst="rect">
            <a:avLst/>
          </a:prstGeom>
          <a:solidFill>
            <a:srgbClr val="9FC5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90872" y="2468880"/>
            <a:ext cx="260604" cy="365760"/>
          </a:xfrm>
          <a:prstGeom prst="rect">
            <a:avLst/>
          </a:prstGeom>
          <a:solidFill>
            <a:srgbClr val="9FC5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969764" y="2468880"/>
            <a:ext cx="260604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48656" y="2468880"/>
            <a:ext cx="260604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527548" y="2468880"/>
            <a:ext cx="260604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ground transportation at boston airport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017520" y="3017520"/>
            <a:ext cx="260604" cy="365760"/>
          </a:xfrm>
          <a:prstGeom prst="rect">
            <a:avLst/>
          </a:prstGeom>
          <a:solidFill>
            <a:srgbClr val="9FC5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96412" y="3017520"/>
            <a:ext cx="260604" cy="365760"/>
          </a:xfrm>
          <a:prstGeom prst="rect">
            <a:avLst/>
          </a:prstGeom>
          <a:solidFill>
            <a:srgbClr val="9FC5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575304" y="3017520"/>
            <a:ext cx="260604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54196" y="3017520"/>
            <a:ext cx="260604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33088" y="3017520"/>
            <a:ext cx="260604" cy="365760"/>
          </a:xfrm>
          <a:prstGeom prst="rect">
            <a:avLst/>
          </a:prstGeom>
          <a:solidFill>
            <a:srgbClr val="9FC5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11980" y="3017520"/>
            <a:ext cx="260604" cy="365760"/>
          </a:xfrm>
          <a:prstGeom prst="rect">
            <a:avLst/>
          </a:prstGeom>
          <a:solidFill>
            <a:srgbClr val="9FC5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90872" y="3017520"/>
            <a:ext cx="260604" cy="365760"/>
          </a:xfrm>
          <a:prstGeom prst="rect">
            <a:avLst/>
          </a:prstGeom>
          <a:solidFill>
            <a:srgbClr val="9FC5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969764" y="3017520"/>
            <a:ext cx="260604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248656" y="3017520"/>
            <a:ext cx="260604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527548" y="3017520"/>
            <a:ext cx="260604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8680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ground transportation is available in boston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17520" y="3566160"/>
            <a:ext cx="260604" cy="365760"/>
          </a:xfrm>
          <a:prstGeom prst="rect">
            <a:avLst/>
          </a:prstGeom>
          <a:solidFill>
            <a:srgbClr val="9FC5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96412" y="3566160"/>
            <a:ext cx="260604" cy="365760"/>
          </a:xfrm>
          <a:prstGeom prst="rect">
            <a:avLst/>
          </a:prstGeom>
          <a:solidFill>
            <a:srgbClr val="9FC5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575304" y="3566160"/>
            <a:ext cx="260604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854196" y="3566160"/>
            <a:ext cx="260604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133088" y="3566160"/>
            <a:ext cx="260604" cy="365760"/>
          </a:xfrm>
          <a:prstGeom prst="rect">
            <a:avLst/>
          </a:prstGeom>
          <a:solidFill>
            <a:srgbClr val="9FC5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411980" y="3566160"/>
            <a:ext cx="260604" cy="365760"/>
          </a:xfrm>
          <a:prstGeom prst="rect">
            <a:avLst/>
          </a:prstGeom>
          <a:solidFill>
            <a:srgbClr val="9FC5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90872" y="3566160"/>
            <a:ext cx="260604" cy="365760"/>
          </a:xfrm>
          <a:prstGeom prst="rect">
            <a:avLst/>
          </a:prstGeom>
          <a:solidFill>
            <a:srgbClr val="9FC5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969764" y="3566160"/>
            <a:ext cx="260604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248656" y="3566160"/>
            <a:ext cx="260604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527548" y="3566160"/>
            <a:ext cx="260604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172200" y="18745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00800" y="2011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queries about airline information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0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 that fly between toronto and denver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549640" y="2587752"/>
            <a:ext cx="260604" cy="365760"/>
          </a:xfrm>
          <a:prstGeom prst="rect">
            <a:avLst/>
          </a:prstGeom>
          <a:solidFill>
            <a:srgbClr val="9FC5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828532" y="2587752"/>
            <a:ext cx="260604" cy="365760"/>
          </a:xfrm>
          <a:prstGeom prst="rect">
            <a:avLst/>
          </a:prstGeom>
          <a:solidFill>
            <a:srgbClr val="9FC5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107424" y="2587752"/>
            <a:ext cx="260604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386316" y="2587752"/>
            <a:ext cx="260604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665208" y="2587752"/>
            <a:ext cx="260604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944100" y="2587752"/>
            <a:ext cx="260604" cy="365760"/>
          </a:xfrm>
          <a:prstGeom prst="rect">
            <a:avLst/>
          </a:prstGeom>
          <a:solidFill>
            <a:srgbClr val="9FC5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0222992" y="2587752"/>
            <a:ext cx="260604" cy="365760"/>
          </a:xfrm>
          <a:prstGeom prst="rect">
            <a:avLst/>
          </a:prstGeom>
          <a:solidFill>
            <a:srgbClr val="9FC5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0501884" y="2587752"/>
            <a:ext cx="260604" cy="365760"/>
          </a:xfrm>
          <a:prstGeom prst="rect">
            <a:avLst/>
          </a:prstGeom>
          <a:solidFill>
            <a:srgbClr val="9FC5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0780776" y="2587752"/>
            <a:ext cx="260604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1059668" y="2587752"/>
            <a:ext cx="260604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400800" y="3108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airline has the most arrivals in atlanta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549640" y="3182112"/>
            <a:ext cx="260604" cy="365760"/>
          </a:xfrm>
          <a:prstGeom prst="rect">
            <a:avLst/>
          </a:prstGeom>
          <a:solidFill>
            <a:srgbClr val="9FC5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828532" y="3182112"/>
            <a:ext cx="260604" cy="365760"/>
          </a:xfrm>
          <a:prstGeom prst="rect">
            <a:avLst/>
          </a:prstGeom>
          <a:solidFill>
            <a:srgbClr val="9FC5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9107424" y="3182112"/>
            <a:ext cx="260604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9386316" y="3182112"/>
            <a:ext cx="260604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9665208" y="3182112"/>
            <a:ext cx="260604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9944100" y="3182112"/>
            <a:ext cx="260604" cy="365760"/>
          </a:xfrm>
          <a:prstGeom prst="rect">
            <a:avLst/>
          </a:prstGeom>
          <a:solidFill>
            <a:srgbClr val="9FC5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0222992" y="3182112"/>
            <a:ext cx="260604" cy="365760"/>
          </a:xfrm>
          <a:prstGeom prst="rect">
            <a:avLst/>
          </a:prstGeom>
          <a:solidFill>
            <a:srgbClr val="9FC5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0501884" y="3182112"/>
            <a:ext cx="260604" cy="365760"/>
          </a:xfrm>
          <a:prstGeom prst="rect">
            <a:avLst/>
          </a:prstGeom>
          <a:solidFill>
            <a:srgbClr val="9FC5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0780776" y="3182112"/>
            <a:ext cx="260604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1059668" y="3182112"/>
            <a:ext cx="260604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40080" y="44348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is one dimension of the compressed embedding — darker means a larger value.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640080" y="4983480"/>
            <a:ext cx="10927080" cy="1234440"/>
          </a:xfrm>
          <a:prstGeom prst="roundRect">
            <a:avLst>
              <a:gd name="adj" fmla="val 592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914400" y="5166360"/>
            <a:ext cx="10378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r>
              <a:rPr lang="en-US" sz="1350" dirty="0">
                <a:solidFill>
                  <a:srgbClr val="9F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captures context and meaning, then encodes it as numbers. Each dimension — a “feature” — reflects a characteristic of the text as the model understands it.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Meaning in Two Dimensions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Compressing embeddings further, down to 2 dimensions, and plotting them shows the same story spatially: queries with related meaning land near each other.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828800"/>
          <a:ext cx="74066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92024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549640" y="2121408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851392" y="20391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549640" y="245059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me round trip tickets from new york to miami”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321040" y="333756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549640" y="3538728"/>
            <a:ext cx="201168" cy="201168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851392" y="345643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549640" y="386791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airlines fly between toronto and denver”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321040" y="47548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549640" y="4956048"/>
            <a:ext cx="201168" cy="201168"/>
          </a:xfrm>
          <a:prstGeom prst="ellipse">
            <a:avLst/>
          </a:prstGeom>
          <a:solidFill>
            <a:srgbClr val="D98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851392" y="48737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Transportation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549640" y="528523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ground transportation is available in boston”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029200" cy="1691640"/>
          </a:xfrm>
          <a:prstGeom prst="roundRect">
            <a:avLst>
              <a:gd name="adj" fmla="val 4324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8308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from unstructured text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783080" y="231343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turn words, sentences, or documents into comparable sets of numbers.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029200" cy="1691640"/>
          </a:xfrm>
          <a:prstGeom prst="roundRect">
            <a:avLst>
              <a:gd name="adj" fmla="val 4324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92240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7804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determines distance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178040" y="231343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with similar meaning produces embeddings that sit close together.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5029200" cy="1691640"/>
          </a:xfrm>
          <a:prstGeom prst="roundRect">
            <a:avLst>
              <a:gd name="adj" fmla="val 4324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97280" y="3931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83080" y="3886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real applications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783080" y="427939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recommendations, moderation, spam filtering, and support agents all lean on this.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3657600"/>
            <a:ext cx="5029200" cy="1691640"/>
          </a:xfrm>
          <a:prstGeom prst="roundRect">
            <a:avLst>
              <a:gd name="adj" fmla="val 4324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92240" y="3931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78040" y="3886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178040" y="427939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can be further tuned to a domain through fine-tuning.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" y="5989320"/>
            <a:ext cx="10515600" cy="0"/>
          </a:xfrm>
          <a:prstGeom prst="line">
            <a:avLst/>
          </a:prstGeom>
          <a:noFill/>
          <a:ln w="9525">
            <a:solidFill>
              <a:srgbClr val="1C729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599</Words>
  <Application>Microsoft Office PowerPoint</Application>
  <PresentationFormat>Widescreen</PresentationFormat>
  <Paragraphs>91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2</cp:revision>
  <dcterms:created xsi:type="dcterms:W3CDTF">2026-08-22T17:51:31Z</dcterms:created>
  <dcterms:modified xsi:type="dcterms:W3CDTF">2026-08-24T08:19:56Z</dcterms:modified>
</cp:coreProperties>
</file>