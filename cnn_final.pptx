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9" autoAdjust="0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4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Asad Riaz" userId="3b76c0e42d4ebc1f" providerId="LiveId" clId="{2DB4D45C-5BE0-4168-9D3E-42F6CBFCEF10}"/>
    <pc:docChg chg="modSld">
      <pc:chgData name="Muhammad Asad Riaz" userId="3b76c0e42d4ebc1f" providerId="LiveId" clId="{2DB4D45C-5BE0-4168-9D3E-42F6CBFCEF10}" dt="2026-07-29T09:40:56.145" v="32" actId="403"/>
      <pc:docMkLst>
        <pc:docMk/>
      </pc:docMkLst>
      <pc:sldChg chg="modSp mod">
        <pc:chgData name="Muhammad Asad Riaz" userId="3b76c0e42d4ebc1f" providerId="LiveId" clId="{2DB4D45C-5BE0-4168-9D3E-42F6CBFCEF10}" dt="2026-07-29T09:40:56.145" v="32" actId="403"/>
        <pc:sldMkLst>
          <pc:docMk/>
          <pc:sldMk cId="0" sldId="256"/>
        </pc:sldMkLst>
        <pc:spChg chg="mod">
          <ac:chgData name="Muhammad Asad Riaz" userId="3b76c0e42d4ebc1f" providerId="LiveId" clId="{2DB4D45C-5BE0-4168-9D3E-42F6CBFCEF10}" dt="2026-07-29T09:40:56.145" v="32" actId="403"/>
          <ac:spMkLst>
            <pc:docMk/>
            <pc:sldMk cId="0" sldId="256"/>
            <ac:spMk id="62" creationId="{00000000-0000-0000-0000-000000000000}"/>
          </ac:spMkLst>
        </pc:spChg>
        <pc:spChg chg="mod">
          <ac:chgData name="Muhammad Asad Riaz" userId="3b76c0e42d4ebc1f" providerId="LiveId" clId="{2DB4D45C-5BE0-4168-9D3E-42F6CBFCEF10}" dt="2026-07-29T09:40:43.349" v="30" actId="403"/>
          <ac:spMkLst>
            <pc:docMk/>
            <pc:sldMk cId="0" sldId="256"/>
            <ac:spMk id="63" creationId="{00000000-0000-0000-0000-000000000000}"/>
          </ac:spMkLst>
        </pc:spChg>
      </pc:sldChg>
      <pc:sldChg chg="addSp modSp mod">
        <pc:chgData name="Muhammad Asad Riaz" userId="3b76c0e42d4ebc1f" providerId="LiveId" clId="{2DB4D45C-5BE0-4168-9D3E-42F6CBFCEF10}" dt="2026-07-29T09:40:26.813" v="29" actId="1076"/>
        <pc:sldMkLst>
          <pc:docMk/>
          <pc:sldMk cId="0" sldId="268"/>
        </pc:sldMkLst>
        <pc:spChg chg="mod">
          <ac:chgData name="Muhammad Asad Riaz" userId="3b76c0e42d4ebc1f" providerId="LiveId" clId="{2DB4D45C-5BE0-4168-9D3E-42F6CBFCEF10}" dt="2026-07-29T09:40:20.197" v="28" actId="403"/>
          <ac:spMkLst>
            <pc:docMk/>
            <pc:sldMk cId="0" sldId="268"/>
            <ac:spMk id="3" creationId="{00000000-0000-0000-0000-000000000000}"/>
          </ac:spMkLst>
        </pc:spChg>
        <pc:spChg chg="add mod">
          <ac:chgData name="Muhammad Asad Riaz" userId="3b76c0e42d4ebc1f" providerId="LiveId" clId="{2DB4D45C-5BE0-4168-9D3E-42F6CBFCEF10}" dt="2026-07-29T09:40:26.813" v="29" actId="1076"/>
          <ac:spMkLst>
            <pc:docMk/>
            <pc:sldMk cId="0" sldId="268"/>
            <ac:spMk id="14" creationId="{3B8B31D1-7912-A2FA-1E1E-0377F03E0E05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6213E"/>
                </a:solidFill>
                <a:latin typeface="Calibri"/>
              </a:defRPr>
            </a:pPr>
            <a:r>
              <a:rPr lang="en-US" sz="1300" b="1" i="0" u="none" strike="noStrike">
                <a:solidFill>
                  <a:srgbClr val="16213E"/>
                </a:solidFill>
                <a:latin typeface="Calibri"/>
              </a:rPr>
              <a:t>Loss vs. epoch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ln w="28575" cap="flat">
              <a:solidFill>
                <a:srgbClr val="5B7FB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Sheet1!$A$2:$A$30</c:f>
              <c:strCache>
                <c:ptCount val="2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0.71699999999999997</c:v>
                </c:pt>
                <c:pt idx="1">
                  <c:v>0.66539999999999999</c:v>
                </c:pt>
                <c:pt idx="2">
                  <c:v>0.64959999999999996</c:v>
                </c:pt>
                <c:pt idx="3">
                  <c:v>0.63429999999999997</c:v>
                </c:pt>
                <c:pt idx="4">
                  <c:v>0.61699999999999999</c:v>
                </c:pt>
                <c:pt idx="5">
                  <c:v>0.60160000000000002</c:v>
                </c:pt>
                <c:pt idx="6">
                  <c:v>0.58850000000000002</c:v>
                </c:pt>
                <c:pt idx="7">
                  <c:v>0.57699999999999996</c:v>
                </c:pt>
                <c:pt idx="8">
                  <c:v>0.56979999999999997</c:v>
                </c:pt>
                <c:pt idx="9">
                  <c:v>0.56189999999999996</c:v>
                </c:pt>
                <c:pt idx="10">
                  <c:v>0.54239999999999999</c:v>
                </c:pt>
                <c:pt idx="11">
                  <c:v>0.53400000000000003</c:v>
                </c:pt>
                <c:pt idx="12">
                  <c:v>0.53169999999999995</c:v>
                </c:pt>
                <c:pt idx="13">
                  <c:v>0.52239999999999998</c:v>
                </c:pt>
                <c:pt idx="14">
                  <c:v>0.51329999999999998</c:v>
                </c:pt>
                <c:pt idx="15">
                  <c:v>0.51319999999999999</c:v>
                </c:pt>
                <c:pt idx="16">
                  <c:v>0.51019999999999999</c:v>
                </c:pt>
                <c:pt idx="17">
                  <c:v>0.50580000000000003</c:v>
                </c:pt>
                <c:pt idx="18">
                  <c:v>0.498</c:v>
                </c:pt>
                <c:pt idx="19">
                  <c:v>0.49390000000000001</c:v>
                </c:pt>
                <c:pt idx="20">
                  <c:v>0.48830000000000001</c:v>
                </c:pt>
                <c:pt idx="21">
                  <c:v>0.48659999999999998</c:v>
                </c:pt>
                <c:pt idx="22">
                  <c:v>0.47970000000000002</c:v>
                </c:pt>
                <c:pt idx="23">
                  <c:v>0.48110000000000003</c:v>
                </c:pt>
                <c:pt idx="24">
                  <c:v>0.4642</c:v>
                </c:pt>
                <c:pt idx="25">
                  <c:v>0.4698</c:v>
                </c:pt>
                <c:pt idx="26">
                  <c:v>0.46160000000000001</c:v>
                </c:pt>
                <c:pt idx="27">
                  <c:v>0.4556</c:v>
                </c:pt>
                <c:pt idx="28">
                  <c:v>0.44700000000000001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13-4BA0-879F-ADEA30DB37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loss</c:v>
                </c:pt>
              </c:strCache>
            </c:strRef>
          </c:tx>
          <c:spPr>
            <a:ln w="28575" cap="flat">
              <a:solidFill>
                <a:srgbClr val="C9992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Sheet1!$A$2:$A$30</c:f>
              <c:strCache>
                <c:ptCount val="2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0.66290000000000004</c:v>
                </c:pt>
                <c:pt idx="1">
                  <c:v>0.64800000000000002</c:v>
                </c:pt>
                <c:pt idx="2">
                  <c:v>0.62980000000000003</c:v>
                </c:pt>
                <c:pt idx="3">
                  <c:v>0.60919999999999996</c:v>
                </c:pt>
                <c:pt idx="4">
                  <c:v>0.57769999999999999</c:v>
                </c:pt>
                <c:pt idx="5">
                  <c:v>0.55069999999999997</c:v>
                </c:pt>
                <c:pt idx="6">
                  <c:v>0.55420000000000003</c:v>
                </c:pt>
                <c:pt idx="7">
                  <c:v>0.51939999999999997</c:v>
                </c:pt>
                <c:pt idx="8">
                  <c:v>0.52159999999999995</c:v>
                </c:pt>
                <c:pt idx="9">
                  <c:v>0.51470000000000005</c:v>
                </c:pt>
                <c:pt idx="10">
                  <c:v>0.48570000000000002</c:v>
                </c:pt>
                <c:pt idx="11">
                  <c:v>0.49009999999999998</c:v>
                </c:pt>
                <c:pt idx="12">
                  <c:v>0.50209999999999999</c:v>
                </c:pt>
                <c:pt idx="13">
                  <c:v>0.46910000000000002</c:v>
                </c:pt>
                <c:pt idx="14">
                  <c:v>0.46689999999999998</c:v>
                </c:pt>
                <c:pt idx="15">
                  <c:v>0.45889999999999997</c:v>
                </c:pt>
                <c:pt idx="16">
                  <c:v>0.4572</c:v>
                </c:pt>
                <c:pt idx="17">
                  <c:v>0.45860000000000001</c:v>
                </c:pt>
                <c:pt idx="18">
                  <c:v>0.43790000000000001</c:v>
                </c:pt>
                <c:pt idx="19">
                  <c:v>0.42009999999999997</c:v>
                </c:pt>
                <c:pt idx="20">
                  <c:v>0.44550000000000001</c:v>
                </c:pt>
                <c:pt idx="21">
                  <c:v>0.40529999999999999</c:v>
                </c:pt>
                <c:pt idx="22">
                  <c:v>0.43209999999999998</c:v>
                </c:pt>
                <c:pt idx="23">
                  <c:v>0.42599999999999999</c:v>
                </c:pt>
                <c:pt idx="24">
                  <c:v>0.38900000000000001</c:v>
                </c:pt>
                <c:pt idx="25">
                  <c:v>0.38729999999999998</c:v>
                </c:pt>
                <c:pt idx="26">
                  <c:v>0.39929999999999999</c:v>
                </c:pt>
                <c:pt idx="27">
                  <c:v>0.36870000000000003</c:v>
                </c:pt>
                <c:pt idx="28">
                  <c:v>0.3856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713-4BA0-879F-ADEA30DB37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7DCE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5"/>
        <c:noMultiLvlLbl val="1"/>
      </c:catAx>
      <c:valAx>
        <c:axId val="2094734552"/>
        <c:scaling>
          <c:orientation val="minMax"/>
          <c:max val="0.75"/>
          <c:min val="0.3"/>
        </c:scaling>
        <c:delete val="0"/>
        <c:axPos val="l"/>
        <c:majorGridlines>
          <c:spPr>
            <a:ln w="9525" cap="flat">
              <a:solidFill>
                <a:srgbClr val="D7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47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6213E"/>
                </a:solidFill>
                <a:latin typeface="Calibri"/>
              </a:defRPr>
            </a:pPr>
            <a:r>
              <a:rPr lang="en-US" sz="1300" b="1" i="0" u="none" strike="noStrike">
                <a:solidFill>
                  <a:srgbClr val="16213E"/>
                </a:solidFill>
                <a:latin typeface="Calibri"/>
              </a:rPr>
              <a:t>Accuracy vs. epoch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</c:v>
                </c:pt>
              </c:strCache>
            </c:strRef>
          </c:tx>
          <c:spPr>
            <a:ln w="28575" cap="flat">
              <a:solidFill>
                <a:srgbClr val="5B7FB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Sheet1!$A$2:$A$30</c:f>
              <c:strCache>
                <c:ptCount val="2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0.56940000000000002</c:v>
                </c:pt>
                <c:pt idx="1">
                  <c:v>0.59260000000000002</c:v>
                </c:pt>
                <c:pt idx="2">
                  <c:v>0.61699999999999999</c:v>
                </c:pt>
                <c:pt idx="3">
                  <c:v>0.63109999999999999</c:v>
                </c:pt>
                <c:pt idx="4">
                  <c:v>0.6512</c:v>
                </c:pt>
                <c:pt idx="5">
                  <c:v>0.66510000000000002</c:v>
                </c:pt>
                <c:pt idx="6">
                  <c:v>0.67510000000000003</c:v>
                </c:pt>
                <c:pt idx="7">
                  <c:v>0.68710000000000004</c:v>
                </c:pt>
                <c:pt idx="8">
                  <c:v>0.69730000000000003</c:v>
                </c:pt>
                <c:pt idx="9">
                  <c:v>0.70140000000000002</c:v>
                </c:pt>
                <c:pt idx="10">
                  <c:v>0.7248</c:v>
                </c:pt>
                <c:pt idx="11">
                  <c:v>0.72419999999999995</c:v>
                </c:pt>
                <c:pt idx="12">
                  <c:v>0.71909999999999996</c:v>
                </c:pt>
                <c:pt idx="13">
                  <c:v>0.73199999999999998</c:v>
                </c:pt>
                <c:pt idx="14">
                  <c:v>0.73609999999999998</c:v>
                </c:pt>
                <c:pt idx="15">
                  <c:v>0.74490000000000001</c:v>
                </c:pt>
                <c:pt idx="16">
                  <c:v>0.73580000000000001</c:v>
                </c:pt>
                <c:pt idx="17">
                  <c:v>0.74970000000000003</c:v>
                </c:pt>
                <c:pt idx="18">
                  <c:v>0.75490000000000002</c:v>
                </c:pt>
                <c:pt idx="19">
                  <c:v>0.75490000000000002</c:v>
                </c:pt>
                <c:pt idx="20">
                  <c:v>0.75729999999999997</c:v>
                </c:pt>
                <c:pt idx="21">
                  <c:v>0.76270000000000004</c:v>
                </c:pt>
                <c:pt idx="22">
                  <c:v>0.76780000000000004</c:v>
                </c:pt>
                <c:pt idx="23">
                  <c:v>0.76690000000000003</c:v>
                </c:pt>
                <c:pt idx="24">
                  <c:v>0.7722</c:v>
                </c:pt>
                <c:pt idx="25">
                  <c:v>0.77429999999999999</c:v>
                </c:pt>
                <c:pt idx="26">
                  <c:v>0.77439999999999998</c:v>
                </c:pt>
                <c:pt idx="27">
                  <c:v>0.78600000000000003</c:v>
                </c:pt>
                <c:pt idx="28">
                  <c:v>0.77969999999999995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AEE-4A59-8A39-88AB15EABC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acc</c:v>
                </c:pt>
              </c:strCache>
            </c:strRef>
          </c:tx>
          <c:spPr>
            <a:ln w="28575" cap="flat">
              <a:solidFill>
                <a:srgbClr val="C9992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Sheet1!$A$2:$A$30</c:f>
              <c:strCache>
                <c:ptCount val="2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0.60750000000000004</c:v>
                </c:pt>
                <c:pt idx="1">
                  <c:v>0.61399999999999999</c:v>
                </c:pt>
                <c:pt idx="2">
                  <c:v>0.64849999999999997</c:v>
                </c:pt>
                <c:pt idx="3">
                  <c:v>0.64780000000000004</c:v>
                </c:pt>
                <c:pt idx="4">
                  <c:v>0.69359999999999999</c:v>
                </c:pt>
                <c:pt idx="5">
                  <c:v>0.71020000000000005</c:v>
                </c:pt>
                <c:pt idx="6">
                  <c:v>0.69899999999999995</c:v>
                </c:pt>
                <c:pt idx="7">
                  <c:v>0.73619999999999997</c:v>
                </c:pt>
                <c:pt idx="8">
                  <c:v>0.74199999999999999</c:v>
                </c:pt>
                <c:pt idx="9">
                  <c:v>0.73280000000000001</c:v>
                </c:pt>
                <c:pt idx="10">
                  <c:v>0.75590000000000002</c:v>
                </c:pt>
                <c:pt idx="11">
                  <c:v>0.75170000000000003</c:v>
                </c:pt>
                <c:pt idx="12">
                  <c:v>0.74399999999999999</c:v>
                </c:pt>
                <c:pt idx="13">
                  <c:v>0.7702</c:v>
                </c:pt>
                <c:pt idx="14">
                  <c:v>0.77010000000000001</c:v>
                </c:pt>
                <c:pt idx="15">
                  <c:v>0.77470000000000006</c:v>
                </c:pt>
                <c:pt idx="16">
                  <c:v>0.78049999999999997</c:v>
                </c:pt>
                <c:pt idx="17">
                  <c:v>0.77880000000000005</c:v>
                </c:pt>
                <c:pt idx="18">
                  <c:v>0.78649999999999998</c:v>
                </c:pt>
                <c:pt idx="19">
                  <c:v>0.79690000000000005</c:v>
                </c:pt>
                <c:pt idx="20">
                  <c:v>0.78410000000000002</c:v>
                </c:pt>
                <c:pt idx="21">
                  <c:v>0.80359999999999998</c:v>
                </c:pt>
                <c:pt idx="22">
                  <c:v>0.78480000000000005</c:v>
                </c:pt>
                <c:pt idx="23">
                  <c:v>0.79200000000000004</c:v>
                </c:pt>
                <c:pt idx="24">
                  <c:v>0.81279999999999997</c:v>
                </c:pt>
                <c:pt idx="25">
                  <c:v>0.8165</c:v>
                </c:pt>
                <c:pt idx="26">
                  <c:v>0.82789999999999997</c:v>
                </c:pt>
                <c:pt idx="27">
                  <c:v>0.82430000000000003</c:v>
                </c:pt>
                <c:pt idx="28">
                  <c:v>0.82369999999999999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AEE-4A59-8A39-88AB15EABC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7DCE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5"/>
        <c:noMultiLvlLbl val="1"/>
      </c:catAx>
      <c:valAx>
        <c:axId val="2094734552"/>
        <c:scaling>
          <c:orientation val="minMax"/>
          <c:max val="0.85"/>
          <c:min val="0.55000000000000004"/>
        </c:scaling>
        <c:delete val="0"/>
        <c:axPos val="l"/>
        <c:majorGridlines>
          <c:spPr>
            <a:ln w="9525" cap="flat">
              <a:solidFill>
                <a:srgbClr val="D7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47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0530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54864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47888" y="54864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31936" y="54864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015984" y="54864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400032" y="54864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784080" y="54864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168128" y="54864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552176" y="54864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936224" y="54864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320272" y="54864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863840" y="932688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47888" y="932688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631936" y="932688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015984" y="932688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400032" y="932688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784080" y="932688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168128" y="932688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552176" y="932688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936224" y="932688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320272" y="932688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863840" y="1316736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247888" y="1316736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631936" y="1316736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015984" y="1316736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400032" y="1316736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784080" y="1316736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168128" y="1316736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552176" y="1316736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936224" y="1316736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1320272" y="1316736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863840" y="1700784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247888" y="1700784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631936" y="1700784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015984" y="1700784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400032" y="1700784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784080" y="1700784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0168128" y="1700784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0552176" y="1700784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936224" y="1700784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1320272" y="1700784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863840" y="2084832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247888" y="2084832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631936" y="2084832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015984" y="2084832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400032" y="2084832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784080" y="2084832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0168128" y="2084832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0552176" y="2084832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0936224" y="2084832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1320272" y="2084832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863840" y="246888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8247888" y="246888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8631936" y="246888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9015984" y="246888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9400032" y="246888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9784080" y="246888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0168128" y="246888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0552176" y="246888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0936224" y="246888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1320272" y="2468880"/>
            <a:ext cx="292608" cy="292608"/>
          </a:xfrm>
          <a:prstGeom prst="rect">
            <a:avLst/>
          </a:prstGeom>
          <a:solidFill>
            <a:srgbClr val="17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NETWORKS IN PRACTICE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3" name="Text 61"/>
          <p:cNvSpPr/>
          <p:nvPr/>
        </p:nvSpPr>
        <p:spPr>
          <a:xfrm>
            <a:off x="822960" y="178308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Decoding Facial Expressions</a:t>
            </a:r>
            <a:endParaRPr lang="en-US" sz="4800" dirty="0"/>
          </a:p>
        </p:txBody>
      </p:sp>
      <p:sp>
        <p:nvSpPr>
          <p:cNvPr id="64" name="Text 62"/>
          <p:cNvSpPr/>
          <p:nvPr/>
        </p:nvSpPr>
        <p:spPr>
          <a:xfrm>
            <a:off x="822960" y="2606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Depressive </a:t>
            </a:r>
            <a:r>
              <a:rPr lang="en-US" sz="2200" b="1" dirty="0">
                <a:solidFill>
                  <a:srgbClr val="8B9B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 </a:t>
            </a:r>
            <a:r>
              <a:rPr lang="en-US" sz="2200" b="1" dirty="0">
                <a:solidFill>
                  <a:srgbClr val="5B7F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Neutral</a:t>
            </a:r>
            <a:r>
              <a:rPr lang="en-US" sz="2200" b="1" dirty="0">
                <a:solidFill>
                  <a:srgbClr val="C9D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—  A CNN Case Study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822960" y="32461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convolutional neural networks in general, to the exact architecture trained on this dataset in PyTorch — with real results from a completed training run.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822960" y="3977640"/>
            <a:ext cx="1280160" cy="0"/>
          </a:xfrm>
          <a:prstGeom prst="line">
            <a:avLst/>
          </a:prstGeom>
          <a:noFill/>
          <a:ln w="31750">
            <a:solidFill>
              <a:srgbClr val="C999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822960" y="4206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5B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22960" y="4480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Muhammad Asad Riaz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5166360" y="4206240"/>
            <a:ext cx="0" cy="713232"/>
          </a:xfrm>
          <a:prstGeom prst="line">
            <a:avLst/>
          </a:prstGeom>
          <a:noFill/>
          <a:ln w="12700">
            <a:solidFill>
              <a:srgbClr val="2A3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440680" y="4206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5B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5440680" y="4480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Sir Kamran Younis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822960" y="5166360"/>
            <a:ext cx="9601200" cy="0"/>
          </a:xfrm>
          <a:prstGeom prst="line">
            <a:avLst/>
          </a:prstGeom>
          <a:noFill/>
          <a:ln w="9525">
            <a:solidFill>
              <a:srgbClr val="2A3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4A1B59F-6EF1-D510-5033-05726D92FA6D}"/>
              </a:ext>
            </a:extLst>
          </p:cNvPr>
          <p:cNvSpPr txBox="1"/>
          <p:nvPr/>
        </p:nvSpPr>
        <p:spPr>
          <a:xfrm>
            <a:off x="7966021" y="515511"/>
            <a:ext cx="36468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r-PK" sz="4000" dirty="0">
                <a:solidFill>
                  <a:schemeClr val="bg1"/>
                </a:solidFill>
                <a:latin typeface="Jameel Noori Nastaleeq" panose="02000503000000020004" pitchFamily="2" charset="-78"/>
                <a:cs typeface="+mj-cs"/>
              </a:rPr>
              <a:t>﷽</a:t>
            </a:r>
            <a:endParaRPr lang="en-US" sz="6000" dirty="0">
              <a:solidFill>
                <a:schemeClr val="bg1"/>
              </a:solidFill>
              <a:latin typeface="Jameel Noori Nastaleeq" panose="02000503000000020004" pitchFamily="2" charset="-78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convolutional neural network?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learns to recognize visual patterns by passing an image through repeated layers that extract, compress, and finally classify features.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255014" cy="1097280"/>
          </a:xfrm>
          <a:prstGeom prst="rect">
            <a:avLst/>
          </a:prstGeom>
          <a:solidFill>
            <a:srgbClr val="5B6478"/>
          </a:solidFill>
          <a:ln/>
          <a:effectLst>
            <a:outerShdw blurRad="63500" dist="25400" dir="5400000" algn="bl" rotWithShape="0">
              <a:srgbClr val="9AAFA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85216" y="1874520"/>
            <a:ext cx="118186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03654" y="2423160"/>
            <a:ext cx="146304" cy="0"/>
          </a:xfrm>
          <a:prstGeom prst="line">
            <a:avLst/>
          </a:prstGeom>
          <a:noFill/>
          <a:ln w="22225">
            <a:solidFill>
              <a:srgbClr val="5B7FB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949958" y="1874520"/>
            <a:ext cx="1255014" cy="1097280"/>
          </a:xfrm>
          <a:prstGeom prst="rect">
            <a:avLst/>
          </a:prstGeom>
          <a:solidFill>
            <a:srgbClr val="1F3A6E"/>
          </a:solidFill>
          <a:ln/>
          <a:effectLst>
            <a:outerShdw blurRad="63500" dist="25400" dir="5400000" algn="bl" rotWithShape="0">
              <a:srgbClr val="9AAFA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86534" y="1874520"/>
            <a:ext cx="118186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4972" y="2423160"/>
            <a:ext cx="146304" cy="0"/>
          </a:xfrm>
          <a:prstGeom prst="line">
            <a:avLst/>
          </a:prstGeom>
          <a:noFill/>
          <a:ln w="22225">
            <a:solidFill>
              <a:srgbClr val="5B7FB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51276" y="1874520"/>
            <a:ext cx="1255014" cy="1097280"/>
          </a:xfrm>
          <a:prstGeom prst="rect">
            <a:avLst/>
          </a:prstGeom>
          <a:solidFill>
            <a:srgbClr val="5B7FBF"/>
          </a:solidFill>
          <a:ln/>
          <a:effectLst>
            <a:outerShdw blurRad="63500" dist="25400" dir="5400000" algn="bl" rotWithShape="0">
              <a:srgbClr val="9AAFA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7852" y="1874520"/>
            <a:ext cx="118186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(ReLU)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06290" y="2423160"/>
            <a:ext cx="146304" cy="0"/>
          </a:xfrm>
          <a:prstGeom prst="line">
            <a:avLst/>
          </a:prstGeom>
          <a:noFill/>
          <a:ln w="22225">
            <a:solidFill>
              <a:srgbClr val="5B7FB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2594" y="1874520"/>
            <a:ext cx="1255014" cy="1097280"/>
          </a:xfrm>
          <a:prstGeom prst="rect">
            <a:avLst/>
          </a:prstGeom>
          <a:solidFill>
            <a:srgbClr val="5B7FBF"/>
          </a:solidFill>
          <a:ln/>
          <a:effectLst>
            <a:outerShdw blurRad="63500" dist="25400" dir="5400000" algn="bl" rotWithShape="0">
              <a:srgbClr val="9AAFA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89170" y="1874520"/>
            <a:ext cx="118186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07608" y="2423160"/>
            <a:ext cx="146304" cy="0"/>
          </a:xfrm>
          <a:prstGeom prst="line">
            <a:avLst/>
          </a:prstGeom>
          <a:noFill/>
          <a:ln w="22225">
            <a:solidFill>
              <a:srgbClr val="5B7FB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53912" y="1874520"/>
            <a:ext cx="1255014" cy="1097280"/>
          </a:xfrm>
          <a:prstGeom prst="rect">
            <a:avLst/>
          </a:prstGeom>
          <a:solidFill>
            <a:srgbClr val="EEF1F8"/>
          </a:solidFill>
          <a:ln w="12700">
            <a:solidFill>
              <a:srgbClr val="D7DCE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90488" y="1874520"/>
            <a:ext cx="118186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(repeat)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8926" y="2423160"/>
            <a:ext cx="146304" cy="0"/>
          </a:xfrm>
          <a:prstGeom prst="line">
            <a:avLst/>
          </a:prstGeom>
          <a:noFill/>
          <a:ln w="22225">
            <a:solidFill>
              <a:srgbClr val="5B7FB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555230" y="1874520"/>
            <a:ext cx="1255014" cy="1097280"/>
          </a:xfrm>
          <a:prstGeom prst="rect">
            <a:avLst/>
          </a:prstGeom>
          <a:solidFill>
            <a:srgbClr val="5B7FBF"/>
          </a:solidFill>
          <a:ln/>
          <a:effectLst>
            <a:outerShdw blurRad="63500" dist="25400" dir="5400000" algn="bl" rotWithShape="0">
              <a:srgbClr val="9AAFA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91806" y="1874520"/>
            <a:ext cx="118186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10244" y="2423160"/>
            <a:ext cx="146304" cy="0"/>
          </a:xfrm>
          <a:prstGeom prst="line">
            <a:avLst/>
          </a:prstGeom>
          <a:noFill/>
          <a:ln w="22225">
            <a:solidFill>
              <a:srgbClr val="5B7FB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956548" y="1874520"/>
            <a:ext cx="1255014" cy="1097280"/>
          </a:xfrm>
          <a:prstGeom prst="rect">
            <a:avLst/>
          </a:prstGeom>
          <a:solidFill>
            <a:srgbClr val="1F3A6E"/>
          </a:solidFill>
          <a:ln/>
          <a:effectLst>
            <a:outerShdw blurRad="63500" dist="25400" dir="5400000" algn="bl" rotWithShape="0">
              <a:srgbClr val="9AAFA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993124" y="1874520"/>
            <a:ext cx="118186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211562" y="2423160"/>
            <a:ext cx="146304" cy="0"/>
          </a:xfrm>
          <a:prstGeom prst="line">
            <a:avLst/>
          </a:prstGeom>
          <a:noFill/>
          <a:ln w="22225">
            <a:solidFill>
              <a:srgbClr val="5B7FB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357866" y="1874520"/>
            <a:ext cx="1255014" cy="1097280"/>
          </a:xfrm>
          <a:prstGeom prst="rect">
            <a:avLst/>
          </a:prstGeom>
          <a:solidFill>
            <a:srgbClr val="C9992E"/>
          </a:solidFill>
          <a:ln/>
          <a:effectLst>
            <a:outerShdw blurRad="63500" dist="25400" dir="5400000" algn="bl" rotWithShape="0">
              <a:srgbClr val="9AAFA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394442" y="1874520"/>
            <a:ext cx="118186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337560"/>
            <a:ext cx="2651760" cy="169164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1520" y="35021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3867912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small filters across the image, each learning to detect one visual pattern (an edge, a curve, a texture).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37560" y="3337560"/>
            <a:ext cx="2651760" cy="169164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520440" y="35021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(ReLU)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20440" y="3867912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non-linearity — max(0, x) — so the network can approximate complex, non-linear decision boundaries.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3337560"/>
            <a:ext cx="2651760" cy="169164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09360" y="35021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09360" y="3867912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Downsamples feature maps (e.g. take the max in each 2×2 window), keeping the strongest signal and reducing computation.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915400" y="3337560"/>
            <a:ext cx="2651760" cy="169164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098280" y="35021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098280" y="3867912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Flattens the final feature maps into a vector and combines them into class scores (logits).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well-known CNN architectures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looking at the architecture used for this project, here's where it sits among widely-used CNN designs.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10972800" cy="0"/>
          </a:xfrm>
          <a:prstGeom prst="line">
            <a:avLst/>
          </a:prstGeom>
          <a:noFill/>
          <a:ln w="25400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16152" y="3849624"/>
            <a:ext cx="164592" cy="164592"/>
          </a:xfrm>
          <a:prstGeom prst="line">
            <a:avLst/>
          </a:prstGeom>
          <a:solidFill>
            <a:srgbClr val="1F3A6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98448" y="3611880"/>
            <a:ext cx="0" cy="237744"/>
          </a:xfrm>
          <a:prstGeom prst="line">
            <a:avLst/>
          </a:prstGeom>
          <a:noFill/>
          <a:ln w="12700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4068" y="2377440"/>
            <a:ext cx="1508760" cy="123444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4068" y="245059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7220" y="2706624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LeNet-5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8932" y="2999232"/>
            <a:ext cx="139903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practical CNN — digit recognition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808732" y="3849624"/>
            <a:ext cx="164592" cy="164592"/>
          </a:xfrm>
          <a:prstGeom prst="line">
            <a:avLst/>
          </a:prstGeom>
          <a:solidFill>
            <a:srgbClr val="1F3A6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891028" y="4014216"/>
            <a:ext cx="0" cy="237744"/>
          </a:xfrm>
          <a:prstGeom prst="line">
            <a:avLst/>
          </a:prstGeom>
          <a:noFill/>
          <a:ln w="12700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136648" y="4251960"/>
            <a:ext cx="1508760" cy="123444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136648" y="432511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09800" y="4581144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AlexNet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1512" y="4873752"/>
            <a:ext cx="139903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dropout + GPU training; ImageNet breakthrough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401312" y="3849624"/>
            <a:ext cx="164592" cy="164592"/>
          </a:xfrm>
          <a:prstGeom prst="line">
            <a:avLst/>
          </a:prstGeom>
          <a:solidFill>
            <a:srgbClr val="1F3A6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83608" y="3611880"/>
            <a:ext cx="0" cy="237744"/>
          </a:xfrm>
          <a:prstGeom prst="line">
            <a:avLst/>
          </a:prstGeom>
          <a:noFill/>
          <a:ln w="12700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729228" y="2377440"/>
            <a:ext cx="1508760" cy="123444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29228" y="245059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02380" y="2706624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VGG-16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84092" y="2999232"/>
            <a:ext cx="139903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stacks of small 3×3 convolutions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993892" y="3849624"/>
            <a:ext cx="164592" cy="164592"/>
          </a:xfrm>
          <a:prstGeom prst="line">
            <a:avLst/>
          </a:prstGeom>
          <a:solidFill>
            <a:srgbClr val="1F3A6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76188" y="4014216"/>
            <a:ext cx="0" cy="237744"/>
          </a:xfrm>
          <a:prstGeom prst="line">
            <a:avLst/>
          </a:prstGeom>
          <a:noFill/>
          <a:ln w="12700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321808" y="4251960"/>
            <a:ext cx="1508760" cy="123444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21808" y="432511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4581144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GoogLeNet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76672" y="4873752"/>
            <a:ext cx="139903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 modules; multi-scale filters per layer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586472" y="3849624"/>
            <a:ext cx="164592" cy="164592"/>
          </a:xfrm>
          <a:prstGeom prst="line">
            <a:avLst/>
          </a:prstGeom>
          <a:solidFill>
            <a:srgbClr val="1F3A6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668768" y="3611880"/>
            <a:ext cx="0" cy="237744"/>
          </a:xfrm>
          <a:prstGeom prst="line">
            <a:avLst/>
          </a:prstGeom>
          <a:noFill/>
          <a:ln w="12700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914388" y="2377440"/>
            <a:ext cx="1508760" cy="123444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914388" y="245059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87540" y="2706624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ResNet-50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69252" y="2999232"/>
            <a:ext cx="139903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Residual/skip connections enable very deep nets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9179052" y="3849624"/>
            <a:ext cx="164592" cy="164592"/>
          </a:xfrm>
          <a:prstGeom prst="line">
            <a:avLst/>
          </a:prstGeom>
          <a:solidFill>
            <a:srgbClr val="1F3A6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261348" y="4014216"/>
            <a:ext cx="0" cy="237744"/>
          </a:xfrm>
          <a:prstGeom prst="line">
            <a:avLst/>
          </a:prstGeom>
          <a:noFill/>
          <a:ln w="12700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506968" y="4251960"/>
            <a:ext cx="1508760" cy="123444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506968" y="432511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580120" y="4581144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MobileNet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561832" y="4873752"/>
            <a:ext cx="139903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Depthwise-separable convs for mobile efficiency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0771632" y="3849624"/>
            <a:ext cx="164592" cy="164592"/>
          </a:xfrm>
          <a:prstGeom prst="line">
            <a:avLst/>
          </a:prstGeom>
          <a:solidFill>
            <a:srgbClr val="C9992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0853928" y="3611880"/>
            <a:ext cx="0" cy="237744"/>
          </a:xfrm>
          <a:prstGeom prst="line">
            <a:avLst/>
          </a:prstGeom>
          <a:noFill/>
          <a:ln w="12700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0099548" y="2377440"/>
            <a:ext cx="1508760" cy="123444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0099548" y="245059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172700" y="2706624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EfficientNet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154412" y="2999232"/>
            <a:ext cx="139903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scaling of depth/width/resolution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PROJECT'S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EmotionCNN — the architecture trained on this dataset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convolutional blocks (Conv → BatchNorm → ReLU → MaxPool) doubling channels while halving spatial size, then a dropout-regularized classifier head.</a:t>
            </a:r>
            <a:endParaRPr lang="en-US" sz="120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776F687C-98E0-A052-FC75-7B9D0F88F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50" y="2419351"/>
            <a:ext cx="11545570" cy="35280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FRAMING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model is — and is not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828800"/>
          </a:xfrm>
          <a:prstGeom prst="rect">
            <a:avLst/>
          </a:prstGeom>
          <a:solidFill>
            <a:srgbClr val="EEF1F8"/>
          </a:solidFill>
          <a:ln w="12700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dataset is a relabeled facial-expression set </a:t>
            </a: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(derived from the classic FER-style emotion images) — it is not clinically-diagnosed depression data.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trained on it learns to recognize an expression pattern the dataset creator labeled “depressive,” not to diagnose depression. Facial expression alone is not a validated clinical marker of depression.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blurRad="76200" dist="25400" dir="5400000" algn="bl" rotWithShape="0">
              <a:srgbClr val="9AAF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4672" y="4041648"/>
            <a:ext cx="384048" cy="384048"/>
          </a:xfrm>
          <a:prstGeom prst="line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4572000"/>
            <a:ext cx="3054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Emotion-image classification demo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" y="5074920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visual expression patterns from a labeled image set.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379476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blurRad="76200" dist="25400" dir="5400000" algn="bl" rotWithShape="0">
              <a:srgbClr val="9AAF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53712" y="4041648"/>
            <a:ext cx="384048" cy="384048"/>
          </a:xfrm>
          <a:prstGeom prst="line">
            <a:avLst/>
          </a:prstGeom>
          <a:solidFill>
            <a:srgbClr val="C999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53712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53712" y="4572000"/>
            <a:ext cx="3054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diagnostic tool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53712" y="5074920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clinical validation; outputs should never be read as a mental-health assessment.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379476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blurRad="76200" dist="25400" dir="5400000" algn="bl" rotWithShape="0">
              <a:srgbClr val="9AAF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302752" y="4041648"/>
            <a:ext cx="384048" cy="384048"/>
          </a:xfrm>
          <a:prstGeom prst="line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02752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02752" y="4572000"/>
            <a:ext cx="3054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in this deck is real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02752" y="5074920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training run, real numbers — reported with this caveat attached.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Two-class facial-expression dataset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properties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194560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gudiyasingh/emotion-dataset-for-mental-health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521208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09397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194560" y="209397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Depressive, Neutral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78024"/>
            <a:ext cx="521208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49631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194560" y="249631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× 48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521208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89864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mode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194560" y="28986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(1 channel)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521208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300984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194560" y="33009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/ JPG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685032"/>
            <a:ext cx="521208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37033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194560" y="3703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/ Test (author-provided)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87368"/>
            <a:ext cx="5212080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410565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194560" y="410565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CC0: Public Domain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5212080" cy="96012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5394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3,229 </a:t>
            </a: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depressive   •   </a:t>
            </a:r>
            <a:r>
              <a:rPr lang="en-US" sz="2000" b="1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3,838 </a:t>
            </a: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77240" y="578815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per split (train, validation, and test each carry this class distribution)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13716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images per class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26480" y="1691640"/>
            <a:ext cx="5486400" cy="434340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0" descr="/home/claude/crops2/sample_grid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548890"/>
            <a:ext cx="5212080" cy="2132076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6263640" y="494233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row: depressive-labeled  ·  Bottom row: neutral-labeled  ·  raw dataset thumbnails, unaugmented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PREPARATION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image to model input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02920" cy="502920"/>
          </a:xfrm>
          <a:prstGeom prst="line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6276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0" y="1627632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1 channel for safety (images are already grayscale).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00100" y="2148840"/>
            <a:ext cx="0" cy="338328"/>
          </a:xfrm>
          <a:prstGeom prst="line">
            <a:avLst/>
          </a:prstGeom>
          <a:noFill/>
          <a:ln w="15875">
            <a:solidFill>
              <a:srgbClr val="D7DCE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502920" cy="502920"/>
          </a:xfrm>
          <a:prstGeom prst="line">
            <a:avLst/>
          </a:prstGeom>
          <a:solidFill>
            <a:srgbClr val="5B7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468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06240" y="246888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× 48 — native size, no upsampling needed.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" y="2990088"/>
            <a:ext cx="0" cy="338328"/>
          </a:xfrm>
          <a:prstGeom prst="line">
            <a:avLst/>
          </a:prstGeom>
          <a:noFill/>
          <a:ln w="15875">
            <a:solidFill>
              <a:srgbClr val="D7DCE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328416"/>
            <a:ext cx="502920" cy="502920"/>
          </a:xfrm>
          <a:prstGeom prst="line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3284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3101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(train only)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06240" y="3310128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horizontal flip (p=0.5) + random rotation (±10°) to curb overfitting.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0100" y="3831336"/>
            <a:ext cx="0" cy="338328"/>
          </a:xfrm>
          <a:prstGeom prst="line">
            <a:avLst/>
          </a:prstGeom>
          <a:noFill/>
          <a:ln w="15875">
            <a:solidFill>
              <a:srgbClr val="D7DCE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4169664"/>
            <a:ext cx="502920" cy="502920"/>
          </a:xfrm>
          <a:prstGeom prst="line">
            <a:avLst/>
          </a:prstGeom>
          <a:solidFill>
            <a:srgbClr val="5B7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169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15137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ToTensor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06240" y="4151376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pixel values from [0, 255] to [0.0, 1.0].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0100" y="4672584"/>
            <a:ext cx="0" cy="338328"/>
          </a:xfrm>
          <a:prstGeom prst="line">
            <a:avLst/>
          </a:prstGeom>
          <a:noFill/>
          <a:ln w="15875">
            <a:solidFill>
              <a:srgbClr val="D7DCE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" y="5010912"/>
            <a:ext cx="502920" cy="502920"/>
          </a:xfrm>
          <a:prstGeom prst="line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5010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499262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06240" y="4992624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Zero-center with dataset mean=0.5057, std=0.2128 — stabilizes gradient-based training.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PROCESS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configuration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41732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647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5877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= 1e-3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66160" cy="141732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26280" y="17647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26280" y="20574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ReduceLROnPlateau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26280" y="25877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0.5, patience 3, on val loss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566160" cy="141732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75320" y="17647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75320" y="20574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CrossEntropyLoss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75320" y="25877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applied internally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3566160" cy="141732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3649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657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77240" y="41879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3200400"/>
            <a:ext cx="3566160" cy="141732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26280" y="33649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26280" y="3657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26280" y="41879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early-stopped on best val loss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46720" y="3200400"/>
            <a:ext cx="3566160" cy="141732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75320" y="33649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75320" y="3657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BatchNorm + Dropout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275320" y="41879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/ 0.3 + light augmentation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257800"/>
            <a:ext cx="11064240" cy="960120"/>
          </a:xfrm>
          <a:prstGeom prst="rect">
            <a:avLst/>
          </a:prstGeom>
          <a:solidFill>
            <a:srgbClr val="0F1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68680" y="539496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manual optimizer step, traced end to end: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0.7423 → backward() → gradients confirmed flowing from fc2 (norm 1.20) all the way back to block1 conv (norm 0.32) → optimizer.step() → loss 0.6395.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PROCESS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run — loss &amp; accuracy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54406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172200" y="1645920"/>
          <a:ext cx="54406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Test-set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0" cy="4434840"/>
          </a:xfrm>
          <a:prstGeom prst="rect">
            <a:avLst/>
          </a:prstGeom>
          <a:solidFill>
            <a:srgbClr val="0F1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82.4%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7,067 held-out test images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                                           Precision        Recall                 F1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37947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37947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37947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17880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417880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417880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417880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56285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456285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68880" y="456285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456285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5074920"/>
            <a:ext cx="2743200" cy="0"/>
          </a:xfrm>
          <a:prstGeom prst="line">
            <a:avLst/>
          </a:prstGeom>
          <a:noFill/>
          <a:ln w="12700">
            <a:solidFill>
              <a:srgbClr val="2A3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52120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8B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checkpoint: epoch 28 · val loss 0.3687 · val acc 82.4%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33322" y="1643743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test set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94896" y="1930399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 rot="16200000">
            <a:off x="5608318" y="3484879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23296" y="2204719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Depressive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60656" y="2204719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75942" y="2570479"/>
            <a:ext cx="1143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Depressive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23296" y="2570479"/>
            <a:ext cx="1682496" cy="1362456"/>
          </a:xfrm>
          <a:prstGeom prst="rect">
            <a:avLst/>
          </a:prstGeom>
          <a:solidFill>
            <a:srgbClr val="1F3A6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23296" y="2570479"/>
            <a:ext cx="1682496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2579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8160656" y="2570479"/>
            <a:ext cx="1682496" cy="1362456"/>
          </a:xfrm>
          <a:prstGeom prst="rect">
            <a:avLst/>
          </a:prstGeom>
          <a:solidFill>
            <a:srgbClr val="EEF1F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160656" y="2570479"/>
            <a:ext cx="1682496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650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217885" y="3987799"/>
            <a:ext cx="1143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23296" y="3987799"/>
            <a:ext cx="1682496" cy="1362456"/>
          </a:xfrm>
          <a:prstGeom prst="rect">
            <a:avLst/>
          </a:prstGeom>
          <a:solidFill>
            <a:srgbClr val="EEF1F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23296" y="3987799"/>
            <a:ext cx="1682496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592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8160656" y="3987799"/>
            <a:ext cx="1682496" cy="1362456"/>
          </a:xfrm>
          <a:prstGeom prst="rect">
            <a:avLst/>
          </a:prstGeom>
          <a:solidFill>
            <a:srgbClr val="1F3A6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160656" y="3987799"/>
            <a:ext cx="1682496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3246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inference on new photos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checkpoint's predict_image() pipeline run on four photos uploaded directly through the notebook's file-upload widget.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06040" cy="434340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2348" y="1965960"/>
            <a:ext cx="1978623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blurRad="76200" dist="25400" dir="5400000" algn="bl" rotWithShape="0">
              <a:srgbClr val="9AAFA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crops2/pred_new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068" y="2011680"/>
            <a:ext cx="1887183" cy="2057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4224528"/>
            <a:ext cx="2386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8368" y="449884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(72.5% confidence)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800" y="4791456"/>
            <a:ext cx="3947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088136" y="4818888"/>
            <a:ext cx="1435608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88136" y="4818888"/>
            <a:ext cx="394792" cy="164592"/>
          </a:xfrm>
          <a:prstGeom prst="rect">
            <a:avLst/>
          </a:prstGeom>
          <a:solidFill>
            <a:srgbClr val="C999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578608" y="4791456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27.5%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85800" y="5084064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1088136" y="5111496"/>
            <a:ext cx="1435608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088136" y="5111496"/>
            <a:ext cx="1040816" cy="164592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578608" y="5084064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72.5%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319272" y="1783080"/>
            <a:ext cx="2606040" cy="434340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632980" y="1965960"/>
            <a:ext cx="1978623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blurRad="76200" dist="25400" dir="5400000" algn="bl" rotWithShape="0">
              <a:srgbClr val="9AAFA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1" descr="/home/claude/crops2/pred_new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8700" y="2011680"/>
            <a:ext cx="1887183" cy="20574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29000" y="4224528"/>
            <a:ext cx="2386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3429000" y="449884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(64.6% confidence)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456431" y="4791456"/>
            <a:ext cx="50820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dep.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858768" y="4818888"/>
            <a:ext cx="1435608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3858768" y="4818888"/>
            <a:ext cx="508205" cy="164592"/>
          </a:xfrm>
          <a:prstGeom prst="rect">
            <a:avLst/>
          </a:prstGeom>
          <a:solidFill>
            <a:srgbClr val="C999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349240" y="4791456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35.4%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3456432" y="5084064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nat.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3858768" y="5111496"/>
            <a:ext cx="1435608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3858768" y="5111496"/>
            <a:ext cx="927403" cy="164592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5349240" y="5084064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64.6%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089904" y="1783080"/>
            <a:ext cx="2606040" cy="434340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29605" y="1965960"/>
            <a:ext cx="212663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blurRad="76200" dist="25400" dir="5400000" algn="bl" rotWithShape="0">
              <a:srgbClr val="9AAFA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3" name="Image 2" descr="/home/claude/crops2/pred_new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5325" y="2011680"/>
            <a:ext cx="2035198" cy="20574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199632" y="4224528"/>
            <a:ext cx="2386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Depressive</a:t>
            </a:r>
            <a:endParaRPr lang="en-US" sz="1350" dirty="0"/>
          </a:p>
        </p:txBody>
      </p:sp>
      <p:sp>
        <p:nvSpPr>
          <p:cNvPr id="35" name="Text 30"/>
          <p:cNvSpPr/>
          <p:nvPr/>
        </p:nvSpPr>
        <p:spPr>
          <a:xfrm>
            <a:off x="6199632" y="449884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(90.3% confidence)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6227064" y="4791456"/>
            <a:ext cx="451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dep.</a:t>
            </a:r>
            <a:endParaRPr lang="en-US" sz="850" dirty="0"/>
          </a:p>
        </p:txBody>
      </p:sp>
      <p:sp>
        <p:nvSpPr>
          <p:cNvPr id="37" name="Shape 32"/>
          <p:cNvSpPr/>
          <p:nvPr/>
        </p:nvSpPr>
        <p:spPr>
          <a:xfrm>
            <a:off x="6629400" y="4818888"/>
            <a:ext cx="1435608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3"/>
          <p:cNvSpPr/>
          <p:nvPr/>
        </p:nvSpPr>
        <p:spPr>
          <a:xfrm>
            <a:off x="6629400" y="4818888"/>
            <a:ext cx="1296354" cy="164592"/>
          </a:xfrm>
          <a:prstGeom prst="rect">
            <a:avLst/>
          </a:prstGeom>
          <a:solidFill>
            <a:srgbClr val="C999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8119872" y="4791456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90.3%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6227064" y="5084064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nat.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6629400" y="5111496"/>
            <a:ext cx="1435608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7"/>
          <p:cNvSpPr/>
          <p:nvPr/>
        </p:nvSpPr>
        <p:spPr>
          <a:xfrm>
            <a:off x="6629400" y="5111496"/>
            <a:ext cx="139254" cy="164592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8119872" y="5084064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9.7%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8860536" y="1783080"/>
            <a:ext cx="2606040" cy="434340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0"/>
          <p:cNvSpPr/>
          <p:nvPr/>
        </p:nvSpPr>
        <p:spPr>
          <a:xfrm>
            <a:off x="9103937" y="1965960"/>
            <a:ext cx="2119237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blurRad="76200" dist="25400" dir="5400000" algn="bl" rotWithShape="0">
              <a:srgbClr val="9AAFA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6" name="Image 3" descr="/home/claude/crops2/pred_new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9657" y="2011680"/>
            <a:ext cx="2027797" cy="205740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8970264" y="4224528"/>
            <a:ext cx="2386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99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Depressive</a:t>
            </a:r>
            <a:endParaRPr lang="en-US" sz="1350" dirty="0"/>
          </a:p>
        </p:txBody>
      </p:sp>
      <p:sp>
        <p:nvSpPr>
          <p:cNvPr id="48" name="Text 42"/>
          <p:cNvSpPr/>
          <p:nvPr/>
        </p:nvSpPr>
        <p:spPr>
          <a:xfrm>
            <a:off x="8970264" y="449884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(89.4% confidence)</a:t>
            </a:r>
            <a:endParaRPr lang="en-US" sz="900" dirty="0"/>
          </a:p>
        </p:txBody>
      </p:sp>
      <p:sp>
        <p:nvSpPr>
          <p:cNvPr id="49" name="Text 43"/>
          <p:cNvSpPr/>
          <p:nvPr/>
        </p:nvSpPr>
        <p:spPr>
          <a:xfrm>
            <a:off x="8997696" y="4791456"/>
            <a:ext cx="4733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dep.</a:t>
            </a:r>
            <a:endParaRPr lang="en-US" sz="850" dirty="0"/>
          </a:p>
        </p:txBody>
      </p:sp>
      <p:sp>
        <p:nvSpPr>
          <p:cNvPr id="50" name="Shape 44"/>
          <p:cNvSpPr/>
          <p:nvPr/>
        </p:nvSpPr>
        <p:spPr>
          <a:xfrm>
            <a:off x="9400032" y="4818888"/>
            <a:ext cx="1435608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5"/>
          <p:cNvSpPr/>
          <p:nvPr/>
        </p:nvSpPr>
        <p:spPr>
          <a:xfrm>
            <a:off x="9400032" y="4818888"/>
            <a:ext cx="1283434" cy="164592"/>
          </a:xfrm>
          <a:prstGeom prst="rect">
            <a:avLst/>
          </a:prstGeom>
          <a:solidFill>
            <a:srgbClr val="C999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/>
          <p:nvPr/>
        </p:nvSpPr>
        <p:spPr>
          <a:xfrm>
            <a:off x="10890504" y="4791456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89.4%</a:t>
            </a:r>
            <a:endParaRPr lang="en-US" sz="850" dirty="0"/>
          </a:p>
        </p:txBody>
      </p:sp>
      <p:sp>
        <p:nvSpPr>
          <p:cNvPr id="53" name="Text 47"/>
          <p:cNvSpPr/>
          <p:nvPr/>
        </p:nvSpPr>
        <p:spPr>
          <a:xfrm>
            <a:off x="8997696" y="5084064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nat.</a:t>
            </a:r>
            <a:endParaRPr lang="en-US" sz="850" dirty="0"/>
          </a:p>
        </p:txBody>
      </p:sp>
      <p:sp>
        <p:nvSpPr>
          <p:cNvPr id="54" name="Shape 48"/>
          <p:cNvSpPr/>
          <p:nvPr/>
        </p:nvSpPr>
        <p:spPr>
          <a:xfrm>
            <a:off x="9400032" y="5111496"/>
            <a:ext cx="1435608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49"/>
          <p:cNvSpPr/>
          <p:nvPr/>
        </p:nvSpPr>
        <p:spPr>
          <a:xfrm>
            <a:off x="9400032" y="5111496"/>
            <a:ext cx="152174" cy="164592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0"/>
          <p:cNvSpPr/>
          <p:nvPr/>
        </p:nvSpPr>
        <p:spPr>
          <a:xfrm>
            <a:off x="10890504" y="5084064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10.6%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110558" y="1546860"/>
            <a:ext cx="6377940" cy="3764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Jazak ALLAH</a:t>
            </a:r>
            <a:endParaRPr lang="en-US" sz="115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3B8B31D1-7912-A2FA-1E1E-0377F03E0E05}"/>
              </a:ext>
            </a:extLst>
          </p:cNvPr>
          <p:cNvSpPr/>
          <p:nvPr/>
        </p:nvSpPr>
        <p:spPr>
          <a:xfrm>
            <a:off x="6662055" y="4795338"/>
            <a:ext cx="5317127" cy="1031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Question.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</TotalTime>
  <Words>886</Words>
  <Application>Microsoft Office PowerPoint</Application>
  <PresentationFormat>Widescreen</PresentationFormat>
  <Paragraphs>205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Jameel Noori Nastaleeq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Asad Riaz</cp:lastModifiedBy>
  <cp:revision>2</cp:revision>
  <dcterms:created xsi:type="dcterms:W3CDTF">2026-07-29T06:16:53Z</dcterms:created>
  <dcterms:modified xsi:type="dcterms:W3CDTF">2026-07-30T04:24:10Z</dcterms:modified>
</cp:coreProperties>
</file>