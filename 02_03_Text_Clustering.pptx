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8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7754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5C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14B8A6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828800" y="4389120"/>
            <a:ext cx="4114800" cy="4114800"/>
          </a:xfrm>
          <a:prstGeom prst="ellipse">
            <a:avLst/>
          </a:prstGeom>
          <a:solidFill>
            <a:srgbClr val="14B8A6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640080"/>
            <a:ext cx="777240" cy="77724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deck3/icon_pack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959" y="814959"/>
            <a:ext cx="427482" cy="4274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22860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 Clustering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640080" y="361188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F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embeddings and K-means to split a dataset into groups of semantically similar sentences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30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sense of a mountain of text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unstructured text data grows, organizations need to understand its contents without reading every document by hand.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E6F7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2468880"/>
            <a:ext cx="685800" cy="685800"/>
          </a:xfrm>
          <a:prstGeom prst="ellipse">
            <a:avLst/>
          </a:prstGeom>
          <a:solidFill>
            <a:srgbClr val="0F5C5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deck3/icon_comp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985" y="2623185"/>
            <a:ext cx="377190" cy="3771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3375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5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 topics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384048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F4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the underlying themes in a collection of documents to explore trends and insights.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43400" y="214884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E6F7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663440" y="2468880"/>
            <a:ext cx="685800" cy="685800"/>
          </a:xfrm>
          <a:prstGeom prst="ellipse">
            <a:avLst/>
          </a:prstGeom>
          <a:solidFill>
            <a:srgbClr val="0F5C5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/home/claude/deck3/icon_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7745" y="2623185"/>
            <a:ext cx="377190" cy="3771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33375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5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 customers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663440" y="384048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F4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customers by preferences and activity, without hand-labeling every record.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38160" y="214884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E6F7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458200" y="2468880"/>
            <a:ext cx="685800" cy="685800"/>
          </a:xfrm>
          <a:prstGeom prst="ellipse">
            <a:avLst/>
          </a:prstGeom>
          <a:solidFill>
            <a:srgbClr val="0F5C5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/home/claude/deck3/icon_pie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2505" y="2623185"/>
            <a:ext cx="377190" cy="3771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58200" y="33375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5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emerging patterns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458200" y="384048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F4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groups similar documents automatically — with little more than the raw data itself.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5C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Clustering: grouping by similarity, not by labels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6035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F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machine learning, clustering groups similar documents together — organizing many documents into a smaller number of clusters, and surfacing patterns without needing labeled data up front.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3017520"/>
            <a:ext cx="2743200" cy="31089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3200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3977640"/>
            <a:ext cx="164592" cy="164592"/>
          </a:xfrm>
          <a:prstGeom prst="ellipse">
            <a:avLst/>
          </a:prstGeom>
          <a:solidFill>
            <a:srgbClr val="5B7A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463040" y="3840480"/>
            <a:ext cx="164592" cy="164592"/>
          </a:xfrm>
          <a:prstGeom prst="ellipse">
            <a:avLst/>
          </a:prstGeom>
          <a:solidFill>
            <a:srgbClr val="5B7A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103120" y="4069080"/>
            <a:ext cx="164592" cy="164592"/>
          </a:xfrm>
          <a:prstGeom prst="ellipse">
            <a:avLst/>
          </a:prstGeom>
          <a:solidFill>
            <a:srgbClr val="5B7A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97280" y="4526280"/>
            <a:ext cx="164592" cy="164592"/>
          </a:xfrm>
          <a:prstGeom prst="ellipse">
            <a:avLst/>
          </a:prstGeom>
          <a:solidFill>
            <a:srgbClr val="5B7A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828800" y="4434840"/>
            <a:ext cx="164592" cy="164592"/>
          </a:xfrm>
          <a:prstGeom prst="ellipse">
            <a:avLst/>
          </a:prstGeom>
          <a:solidFill>
            <a:srgbClr val="5B7A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77240" y="4983480"/>
            <a:ext cx="164592" cy="164592"/>
          </a:xfrm>
          <a:prstGeom prst="ellipse">
            <a:avLst/>
          </a:prstGeom>
          <a:solidFill>
            <a:srgbClr val="5B7A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645920" y="4937760"/>
            <a:ext cx="164592" cy="164592"/>
          </a:xfrm>
          <a:prstGeom prst="ellipse">
            <a:avLst/>
          </a:prstGeom>
          <a:solidFill>
            <a:srgbClr val="5B7A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194560" y="4709160"/>
            <a:ext cx="164592" cy="164592"/>
          </a:xfrm>
          <a:prstGeom prst="ellipse">
            <a:avLst/>
          </a:prstGeom>
          <a:solidFill>
            <a:srgbClr val="5B7A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188720" y="5303520"/>
            <a:ext cx="164592" cy="164592"/>
          </a:xfrm>
          <a:prstGeom prst="ellipse">
            <a:avLst/>
          </a:prstGeom>
          <a:solidFill>
            <a:srgbClr val="5B7A7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0" descr="/home/claude/deck3/icon_arrow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4389120"/>
            <a:ext cx="365760" cy="36576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3931920" y="3017520"/>
            <a:ext cx="2743200" cy="31089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160520" y="3200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297680" y="4023360"/>
            <a:ext cx="182880" cy="182880"/>
          </a:xfrm>
          <a:prstGeom prst="ellipse">
            <a:avLst/>
          </a:prstGeom>
          <a:solidFill>
            <a:srgbClr val="0EA5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846320" y="3931920"/>
            <a:ext cx="182880" cy="182880"/>
          </a:xfrm>
          <a:prstGeom prst="ellipse">
            <a:avLst/>
          </a:prstGeom>
          <a:solidFill>
            <a:srgbClr val="0EA5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480560" y="4389120"/>
            <a:ext cx="182880" cy="182880"/>
          </a:xfrm>
          <a:prstGeom prst="ellipse">
            <a:avLst/>
          </a:prstGeom>
          <a:solidFill>
            <a:srgbClr val="0EA5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937760" y="4343400"/>
            <a:ext cx="182880" cy="182880"/>
          </a:xfrm>
          <a:prstGeom prst="ellipse">
            <a:avLst/>
          </a:prstGeom>
          <a:solidFill>
            <a:srgbClr val="0EA5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5669280" y="4892040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6126480" y="4800600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5852160" y="5257800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6309360" y="5212080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4160520" y="3840480"/>
            <a:ext cx="1051560" cy="868680"/>
          </a:xfrm>
          <a:prstGeom prst="ellipse">
            <a:avLst/>
          </a:prstGeom>
          <a:solidFill>
            <a:srgbClr val="0EA5A0">
              <a:alpha val="15000"/>
            </a:srgbClr>
          </a:solidFill>
          <a:ln w="19050">
            <a:solidFill>
              <a:srgbClr val="0EA5A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5532120" y="4617720"/>
            <a:ext cx="1051560" cy="868680"/>
          </a:xfrm>
          <a:prstGeom prst="ellipse">
            <a:avLst/>
          </a:prstGeom>
          <a:solidFill>
            <a:srgbClr val="F59E0B">
              <a:alpha val="15000"/>
            </a:srgbClr>
          </a:solidFill>
          <a:ln w="19050">
            <a:solidFill>
              <a:srgbClr val="F59E0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7315200" y="30175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labels needed — just the data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7315200" y="352044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F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algorithm discovers the grouping itself, purely from how close the embeddings are to one another.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7315200" y="457200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Fewer, cleaner groups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7315200" y="507492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F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large, unstructured collection becomes a small number of clusters — each one built around a shared topic.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30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1: embed the text for clustering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9 FAQ sentences are embedded again — this time with input_type = "clustering", the setting built for this exact use case.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5120640" cy="3566160"/>
          </a:xfrm>
          <a:prstGeom prst="roundRect">
            <a:avLst>
              <a:gd name="adj" fmla="val 3077"/>
            </a:avLst>
          </a:prstGeom>
          <a:solidFill>
            <a:srgbClr val="0F5C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2514600"/>
            <a:ext cx="685800" cy="68580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deck3/icon_ha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705" y="2668905"/>
            <a:ext cx="377190" cy="3771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3375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FF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input_type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3685032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"clustering"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868680" y="4297680"/>
            <a:ext cx="4480560" cy="13716"/>
          </a:xfrm>
          <a:prstGeom prst="rect">
            <a:avLst/>
          </a:prstGeom>
          <a:solidFill>
            <a:srgbClr val="2E88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68680" y="448056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F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to the Embed endpoint that these vectors will feed a clustering algorithm — tuning them to group by topic rather than for search or classification.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035040" y="2148840"/>
            <a:ext cx="5577840" cy="3566160"/>
          </a:xfrm>
          <a:prstGeom prst="roundRect">
            <a:avLst>
              <a:gd name="adj" fmla="val 3077"/>
            </a:avLst>
          </a:prstGeom>
          <a:solidFill>
            <a:srgbClr val="E6F7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355080" y="24231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FUNCTION, NEW FLAG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355080" y="274320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5C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get_embeddings()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355080" y="324612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F4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reused unchanged from the previous chapters — only the input_type argument changes to match the task at hand.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355080" y="4279392"/>
            <a:ext cx="146304" cy="146304"/>
          </a:xfrm>
          <a:prstGeom prst="ellipse">
            <a:avLst/>
          </a:prstGeom>
          <a:solidFill>
            <a:srgbClr val="B9D9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629400" y="417880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7A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search_document / search_query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355080" y="4736592"/>
            <a:ext cx="146304" cy="146304"/>
          </a:xfrm>
          <a:prstGeom prst="ellipse">
            <a:avLst/>
          </a:prstGeom>
          <a:solidFill>
            <a:srgbClr val="B9D9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629400" y="463600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7A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classification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355080" y="5193792"/>
            <a:ext cx="146304" cy="146304"/>
          </a:xfrm>
          <a:prstGeom prst="ellipse">
            <a:avLst/>
          </a:prstGeom>
          <a:solidFill>
            <a:srgbClr val="0F5C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629400" y="509320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5C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clustering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5C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2: cluster the embeddings with K-means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F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only needs the embeddings and one setting from you: how many clusters to look for. With only 9 sentences in this example, n_clusters is set to 2.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402336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2606040"/>
            <a:ext cx="640080" cy="640080"/>
          </a:xfrm>
          <a:prstGeom prst="ellipse">
            <a:avLst/>
          </a:prstGeom>
          <a:solidFill>
            <a:srgbClr val="0F5C5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deck3/icon_slid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698" y="2750058"/>
            <a:ext cx="352044" cy="3520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3832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7A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n_clusters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370332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0F5C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7200" dirty="0"/>
          </a:p>
        </p:txBody>
      </p:sp>
      <p:sp>
        <p:nvSpPr>
          <p:cNvPr id="9" name="Text 6"/>
          <p:cNvSpPr/>
          <p:nvPr/>
        </p:nvSpPr>
        <p:spPr>
          <a:xfrm>
            <a:off x="868680" y="489204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F4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parameter this example needs beyond the embeddings themselves. Real applications typically use more clusters as datasets grow.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937760" y="2286000"/>
            <a:ext cx="6675120" cy="868680"/>
          </a:xfrm>
          <a:prstGeom prst="roundRect">
            <a:avLst>
              <a:gd name="adj" fmla="val 10526"/>
            </a:avLst>
          </a:prstGeom>
          <a:solidFill>
            <a:srgbClr val="E6F7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166360" y="2519172"/>
            <a:ext cx="402336" cy="402336"/>
          </a:xfrm>
          <a:prstGeom prst="ellipse">
            <a:avLst/>
          </a:prstGeom>
          <a:solidFill>
            <a:srgbClr val="0F5C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166360" y="25191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760720" y="2395728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the embeddings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5760720" y="274320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4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sentence’s clustering-tuned vector, computed in Step 1.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937760" y="3291840"/>
            <a:ext cx="6675120" cy="868680"/>
          </a:xfrm>
          <a:prstGeom prst="roundRect">
            <a:avLst>
              <a:gd name="adj" fmla="val 10526"/>
            </a:avLst>
          </a:prstGeom>
          <a:solidFill>
            <a:srgbClr val="E6F7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166360" y="3525012"/>
            <a:ext cx="402336" cy="402336"/>
          </a:xfrm>
          <a:prstGeom prst="ellipse">
            <a:avLst/>
          </a:prstGeom>
          <a:solidFill>
            <a:srgbClr val="0F5C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166360" y="35250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760720" y="3401568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KMeans(n_clusters=2)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5760720" y="374904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4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looks for the split into 2 groups that best fits the data.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937760" y="4297680"/>
            <a:ext cx="6675120" cy="868680"/>
          </a:xfrm>
          <a:prstGeom prst="roundRect">
            <a:avLst>
              <a:gd name="adj" fmla="val 10526"/>
            </a:avLst>
          </a:prstGeom>
          <a:solidFill>
            <a:srgbClr val="E6F7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5166360" y="4530852"/>
            <a:ext cx="402336" cy="402336"/>
          </a:xfrm>
          <a:prstGeom prst="ellipse">
            <a:avLst/>
          </a:prstGeom>
          <a:solidFill>
            <a:srgbClr val="0F5C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166360" y="45308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760720" y="4407408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5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cluster label per row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5760720" y="475488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4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fit_predict() returns a class (0 or 1) for every sentence.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30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clean clusters emerge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0700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Plotted in 2D, the algorithm’s two groups line up almost exactly with topic: one cluster about airline info, one about ground transportation.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6949440" cy="4114800"/>
          </a:xfrm>
          <a:prstGeom prst="roundRect">
            <a:avLst>
              <a:gd name="adj" fmla="val 1778"/>
            </a:avLst>
          </a:prstGeom>
          <a:solidFill>
            <a:srgbClr val="F7F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417320" y="2011680"/>
            <a:ext cx="0" cy="4114800"/>
          </a:xfrm>
          <a:prstGeom prst="line">
            <a:avLst/>
          </a:prstGeom>
          <a:noFill/>
          <a:ln w="9525">
            <a:solidFill>
              <a:srgbClr val="DCEF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0" y="2011680"/>
            <a:ext cx="0" cy="4114800"/>
          </a:xfrm>
          <a:prstGeom prst="line">
            <a:avLst/>
          </a:prstGeom>
          <a:noFill/>
          <a:ln w="9525">
            <a:solidFill>
              <a:srgbClr val="DCEF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154680" y="2011680"/>
            <a:ext cx="0" cy="4114800"/>
          </a:xfrm>
          <a:prstGeom prst="line">
            <a:avLst/>
          </a:prstGeom>
          <a:noFill/>
          <a:ln w="9525">
            <a:solidFill>
              <a:srgbClr val="DCEF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023360" y="2011680"/>
            <a:ext cx="0" cy="4114800"/>
          </a:xfrm>
          <a:prstGeom prst="line">
            <a:avLst/>
          </a:prstGeom>
          <a:noFill/>
          <a:ln w="9525">
            <a:solidFill>
              <a:srgbClr val="DCEF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892040" y="2011680"/>
            <a:ext cx="0" cy="4114800"/>
          </a:xfrm>
          <a:prstGeom prst="line">
            <a:avLst/>
          </a:prstGeom>
          <a:noFill/>
          <a:ln w="9525">
            <a:solidFill>
              <a:srgbClr val="DCEF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760720" y="2011680"/>
            <a:ext cx="0" cy="4114800"/>
          </a:xfrm>
          <a:prstGeom prst="line">
            <a:avLst/>
          </a:prstGeom>
          <a:noFill/>
          <a:ln w="9525">
            <a:solidFill>
              <a:srgbClr val="DCEF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629400" y="2011680"/>
            <a:ext cx="0" cy="4114800"/>
          </a:xfrm>
          <a:prstGeom prst="line">
            <a:avLst/>
          </a:prstGeom>
          <a:noFill/>
          <a:ln w="9525">
            <a:solidFill>
              <a:srgbClr val="DCEF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6949440" cy="0"/>
          </a:xfrm>
          <a:prstGeom prst="line">
            <a:avLst/>
          </a:prstGeom>
          <a:noFill/>
          <a:ln w="9525">
            <a:solidFill>
              <a:srgbClr val="DCEF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6949440" cy="0"/>
          </a:xfrm>
          <a:prstGeom prst="line">
            <a:avLst/>
          </a:prstGeom>
          <a:noFill/>
          <a:ln w="9525">
            <a:solidFill>
              <a:srgbClr val="DCEF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48640" y="4480560"/>
            <a:ext cx="6949440" cy="0"/>
          </a:xfrm>
          <a:prstGeom prst="line">
            <a:avLst/>
          </a:prstGeom>
          <a:noFill/>
          <a:ln w="9525">
            <a:solidFill>
              <a:srgbClr val="DCEF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8640" y="5303520"/>
            <a:ext cx="6949440" cy="0"/>
          </a:xfrm>
          <a:prstGeom prst="line">
            <a:avLst/>
          </a:prstGeom>
          <a:noFill/>
          <a:ln w="9525">
            <a:solidFill>
              <a:srgbClr val="DCEF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448410" y="3172968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70432" y="4201668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560320" y="2555748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004365" y="5148072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116275" y="4489704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587398" y="5724144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479085" y="2679192"/>
            <a:ext cx="146304" cy="146304"/>
          </a:xfrm>
          <a:prstGeom prst="ellipse">
            <a:avLst/>
          </a:prstGeom>
          <a:solidFill>
            <a:srgbClr val="0EA5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452006" y="3172968"/>
            <a:ext cx="146304" cy="146304"/>
          </a:xfrm>
          <a:prstGeom prst="ellipse">
            <a:avLst/>
          </a:prstGeom>
          <a:solidFill>
            <a:srgbClr val="0EA5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035040" y="3666744"/>
            <a:ext cx="146304" cy="146304"/>
          </a:xfrm>
          <a:prstGeom prst="ellipse">
            <a:avLst/>
          </a:prstGeom>
          <a:solidFill>
            <a:srgbClr val="0EA5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87629" y="2217420"/>
            <a:ext cx="3057754" cy="3909060"/>
          </a:xfrm>
          <a:prstGeom prst="ellipse">
            <a:avLst/>
          </a:prstGeom>
          <a:solidFill>
            <a:srgbClr val="F59E0B">
              <a:alpha val="8000"/>
            </a:srgbClr>
          </a:solidFill>
          <a:ln w="19050">
            <a:solidFill>
              <a:srgbClr val="F59E0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926787" y="2340864"/>
            <a:ext cx="2293315" cy="1728216"/>
          </a:xfrm>
          <a:prstGeom prst="ellipse">
            <a:avLst/>
          </a:prstGeom>
          <a:solidFill>
            <a:srgbClr val="0EA5A0">
              <a:alpha val="8000"/>
            </a:srgbClr>
          </a:solidFill>
          <a:ln w="19050">
            <a:solidFill>
              <a:srgbClr val="0EA5A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31520" y="6263640"/>
            <a:ext cx="146304" cy="146304"/>
          </a:xfrm>
          <a:prstGeom prst="ellipse">
            <a:avLst/>
          </a:prstGeom>
          <a:solidFill>
            <a:srgbClr val="0EA5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60120" y="619963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4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transportation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474720" y="6281928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703320" y="61996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4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 / fare info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863840" y="2103120"/>
            <a:ext cx="685800" cy="685800"/>
          </a:xfrm>
          <a:prstGeom prst="ellipse">
            <a:avLst/>
          </a:prstGeom>
          <a:solidFill>
            <a:srgbClr val="0F5C5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0" descr="/home/claude/deck3/icon_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8145" y="2257425"/>
            <a:ext cx="377190" cy="377190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7863840" y="29260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30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 → cluster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7863840" y="342900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F4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cluster corresponds to a particular topic — with no topic labels ever given to the model.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7863840" y="44348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30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Scales past 9 sentences</a:t>
            </a:r>
            <a:endParaRPr lang="en-US" sz="1800" dirty="0"/>
          </a:p>
        </p:txBody>
      </p:sp>
      <p:sp>
        <p:nvSpPr>
          <p:cNvPr id="36" name="Text 33"/>
          <p:cNvSpPr/>
          <p:nvPr/>
        </p:nvSpPr>
        <p:spPr>
          <a:xfrm>
            <a:off x="7863840" y="493776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F4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approach works on far larger collections — just raise n_clusters to match the number of topics expected.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5C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572000" cy="4572000"/>
          </a:xfrm>
          <a:prstGeom prst="ellipse">
            <a:avLst/>
          </a:prstGeom>
          <a:solidFill>
            <a:srgbClr val="14B8A6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" y="685800"/>
            <a:ext cx="777240" cy="77724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deck3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959" y="860679"/>
            <a:ext cx="427482" cy="42748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18288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 from unstructured text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40080" y="2788920"/>
            <a:ext cx="8961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F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sentences with input_type = "clustering" and grouping them with K-means turns a flat list of text into clusters that each correspond to a real topic — no labels required.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4297680"/>
            <a:ext cx="2569464" cy="45720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0080" y="4297680"/>
            <a:ext cx="2569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embeddings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438144" y="4297680"/>
            <a:ext cx="1161288" cy="45720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438144" y="4297680"/>
            <a:ext cx="1161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828032" y="42976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828032" y="42976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n_clusters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519672" y="4297680"/>
            <a:ext cx="1965960" cy="45720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519672" y="42976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Emergent topics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556</Words>
  <Application>Microsoft Office PowerPoint</Application>
  <PresentationFormat>Widescreen</PresentationFormat>
  <Paragraphs>64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Muhammad Asad Riaz</cp:lastModifiedBy>
  <cp:revision>2</cp:revision>
  <dcterms:created xsi:type="dcterms:W3CDTF">2026-08-22T13:34:19Z</dcterms:created>
  <dcterms:modified xsi:type="dcterms:W3CDTF">2026-08-24T08:21:48Z</dcterms:modified>
</cp:coreProperties>
</file>