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3" d="100"/>
          <a:sy n="73" d="100"/>
        </p:scale>
        <p:origin x="60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43745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A12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463040"/>
            <a:ext cx="5029200" cy="5029200"/>
          </a:xfrm>
          <a:prstGeom prst="ellipse">
            <a:avLst/>
          </a:prstGeom>
          <a:solidFill>
            <a:srgbClr val="3A1B73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607040" y="4206240"/>
            <a:ext cx="3108960" cy="3108960"/>
          </a:xfrm>
          <a:prstGeom prst="ellipse">
            <a:avLst/>
          </a:prstGeom>
          <a:solidFill>
            <a:srgbClr val="FF5F7E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-1097280" y="4846320"/>
            <a:ext cx="3291840" cy="3291840"/>
          </a:xfrm>
          <a:prstGeom prst="ellipse">
            <a:avLst/>
          </a:prstGeom>
          <a:solidFill>
            <a:srgbClr val="3A1B73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1828800"/>
            <a:ext cx="9601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Parameters for</a:t>
            </a:r>
            <a:endParaRPr lang="en-US" sz="4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Controlling Outputs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822960" y="361188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D9C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a Command model variation and tuning temperature to control how random or predictable a response is.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413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You'll Learn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5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levers for shaping what the Chat endpoint returns.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5349240" cy="283464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E2D6FA"/>
            </a:solidFill>
            <a:prstDash val="solid"/>
          </a:ln>
          <a:effectLst>
            <a:outerShdw blurRad="101600" dist="38100" dir="5400000" algn="bl" rotWithShape="0">
              <a:srgbClr val="3A1B73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14400" y="2468880"/>
            <a:ext cx="822960" cy="822960"/>
          </a:xfrm>
          <a:prstGeom prst="ellipse">
            <a:avLst/>
          </a:prstGeom>
          <a:solidFill>
            <a:srgbClr val="2A12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3520440"/>
            <a:ext cx="4617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413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type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4023360"/>
            <a:ext cx="4617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B5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 Command model variation with the model parameter — different variants suit different use cases.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46520" y="2103120"/>
            <a:ext cx="5349240" cy="283464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E2D6FA"/>
            </a:solidFill>
            <a:prstDash val="solid"/>
          </a:ln>
          <a:effectLst>
            <a:outerShdw blurRad="101600" dist="38100" dir="5400000" algn="bl" rotWithShape="0">
              <a:srgbClr val="3A1B73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812280" y="2468880"/>
            <a:ext cx="822960" cy="822960"/>
          </a:xfrm>
          <a:prstGeom prst="ellipse">
            <a:avLst/>
          </a:prstGeom>
          <a:solidFill>
            <a:srgbClr val="2A12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812280" y="24688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812280" y="3520440"/>
            <a:ext cx="4617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413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Randomness (temperature)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812280" y="4023360"/>
            <a:ext cx="4617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B5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how likely the model is to pick unlikely tokens — from safe &amp; predictable to creative &amp; varied.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5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TYPE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413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Choosing a Command Model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5394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B5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Chat endpoint supports several Command model variations. Different models can produce different output profiles, so pick — or experiment with — the one that suits your use case via the model parameter.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880360"/>
            <a:ext cx="5212080" cy="1005840"/>
          </a:xfrm>
          <a:prstGeom prst="roundRect">
            <a:avLst>
              <a:gd name="adj" fmla="val 9091"/>
            </a:avLst>
          </a:prstGeom>
          <a:solidFill>
            <a:srgbClr val="2A12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22960" y="310896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FF5F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3108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554480" y="308152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model="command-a-plus-05-2026"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554480" y="344728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9C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 directly to co.chat() — swap it to try other Command variants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4160520"/>
            <a:ext cx="5212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6B5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Different variants trade off speed, cost, and output quality — worth testing against your own prompts.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355080" y="457200"/>
            <a:ext cx="5349240" cy="5623560"/>
          </a:xfrm>
          <a:prstGeom prst="roundRect">
            <a:avLst>
              <a:gd name="adj" fmla="val 2051"/>
            </a:avLst>
          </a:prstGeom>
          <a:solidFill>
            <a:srgbClr val="1F0F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583680" y="658368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793992" y="658368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004304" y="658368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675120" y="960120"/>
            <a:ext cx="470916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cohere</a:t>
            </a:r>
            <a:endParaRPr lang="en-US" sz="12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 = cohere.ClientV2("COHERE_API_KEY")</a:t>
            </a:r>
            <a:endParaRPr lang="en-US" sz="1250" dirty="0"/>
          </a:p>
          <a:p>
            <a:pPr marL="0" indent="0">
              <a:lnSpc>
                <a:spcPct val="128000"/>
              </a:lnSpc>
              <a:buNone/>
            </a:pPr>
            <a:endParaRPr lang="en-US" sz="12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F5A9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Add the user message</a:t>
            </a:r>
            <a:endParaRPr lang="en-US" sz="12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8BE2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 = "Hello."</a:t>
            </a:r>
            <a:endParaRPr lang="en-US" sz="1250" dirty="0"/>
          </a:p>
          <a:p>
            <a:pPr marL="0" indent="0">
              <a:lnSpc>
                <a:spcPct val="128000"/>
              </a:lnSpc>
              <a:buNone/>
            </a:pPr>
            <a:endParaRPr lang="en-US" sz="12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F5A9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Generate the response</a:t>
            </a:r>
            <a:endParaRPr lang="en-US" sz="12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 = co.chat(</a:t>
            </a:r>
            <a:endParaRPr lang="en-US" sz="12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model="command-a-plus-05-2026",</a:t>
            </a:r>
            <a:endParaRPr lang="en-US" sz="12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messages=[{'role': 'user',</a:t>
            </a:r>
            <a:endParaRPr lang="en-US" sz="12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'content': message}]</a:t>
            </a:r>
            <a:endParaRPr lang="en-US" sz="12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  <a:p>
            <a:pPr marL="0" indent="0">
              <a:lnSpc>
                <a:spcPct val="128000"/>
              </a:lnSpc>
              <a:buNone/>
            </a:pPr>
            <a:endParaRPr lang="en-US" sz="12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print(get_text(response))</a:t>
            </a:r>
            <a:endParaRPr lang="en-US" sz="1250" dirty="0"/>
          </a:p>
          <a:p>
            <a:pPr marL="0" indent="0">
              <a:lnSpc>
                <a:spcPct val="128000"/>
              </a:lnSpc>
              <a:buNone/>
            </a:pPr>
            <a:endParaRPr lang="en-US" sz="12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50" i="1" dirty="0">
                <a:solidFill>
                  <a:srgbClr val="9A8B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Hello! How can I help you today?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5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RANDOMNESS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413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Temperature Works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53312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5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changes how token likelihoods are converted to probabilities before the model picks the next token.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26517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2D6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413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 like to bake ___"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37560" y="2267712"/>
            <a:ext cx="502920" cy="310896"/>
          </a:xfrm>
          <a:prstGeom prst="rightArrow">
            <a:avLst/>
          </a:prstGeom>
          <a:solidFill>
            <a:srgbClr val="FF5F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977640" y="18562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6B5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LIKELIHOOD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977640" y="214884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413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cookies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0" y="2203704"/>
            <a:ext cx="2125980" cy="256032"/>
          </a:xfrm>
          <a:prstGeom prst="roundRect">
            <a:avLst>
              <a:gd name="adj" fmla="val 14286"/>
            </a:avLst>
          </a:prstGeom>
          <a:solidFill>
            <a:srgbClr val="2A12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977640" y="260604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413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0" y="2660904"/>
            <a:ext cx="1170432" cy="256032"/>
          </a:xfrm>
          <a:prstGeom prst="roundRect">
            <a:avLst>
              <a:gd name="adj" fmla="val 14286"/>
            </a:avLst>
          </a:prstGeom>
          <a:solidFill>
            <a:srgbClr val="FF5F7E">
              <a:alpha val="352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977640" y="306324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413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cake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0" y="3118104"/>
            <a:ext cx="818388" cy="256032"/>
          </a:xfrm>
          <a:prstGeom prst="roundRect">
            <a:avLst>
              <a:gd name="adj" fmla="val 14286"/>
            </a:avLst>
          </a:prstGeom>
          <a:solidFill>
            <a:srgbClr val="FF5F7E">
              <a:alpha val="198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977640" y="352044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413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chair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0" y="3575304"/>
            <a:ext cx="466344" cy="256032"/>
          </a:xfrm>
          <a:prstGeom prst="roundRect">
            <a:avLst>
              <a:gd name="adj" fmla="val 14286"/>
            </a:avLst>
          </a:prstGeom>
          <a:solidFill>
            <a:srgbClr val="FF5F7E">
              <a:alpha val="44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48640" y="4114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5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 to probabilities → the model samples the next token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4617720"/>
            <a:ext cx="502920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2D6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77240" y="478231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B5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TEMPERATURE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77240" y="512064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41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cookies is far more likely than chair — output is safe &amp; predictable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852160" y="4617720"/>
            <a:ext cx="5029200" cy="1417320"/>
          </a:xfrm>
          <a:prstGeom prst="roundRect">
            <a:avLst>
              <a:gd name="adj" fmla="val 6452"/>
            </a:avLst>
          </a:prstGeom>
          <a:solidFill>
            <a:srgbClr val="2A12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080760" y="478231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D9C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TEMPERATURE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080760" y="512064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chair is only slightly less likely than cookies — output is varied &amp; creative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5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RANDOMNESS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413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to Tune Randomness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53312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5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ranges 0–1. The default of 0.3 is a good starting point — adjust based on the task.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342900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2D6FA"/>
            </a:solidFill>
            <a:prstDash val="solid"/>
          </a:ln>
          <a:effectLst>
            <a:outerShdw blurRad="101600" dist="38100" dir="5400000" algn="bl" rotWithShape="0">
              <a:srgbClr val="3A1B73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22960" y="246888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2A12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2468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310896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413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type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3566160"/>
            <a:ext cx="2880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5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it for structured tasks with a correct answer (Q&amp;A, summarization, technical text). Raise it for poetry or brainstorming.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51960" y="2194560"/>
            <a:ext cx="342900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2D6FA"/>
            </a:solidFill>
            <a:prstDash val="solid"/>
          </a:ln>
          <a:effectLst>
            <a:outerShdw blurRad="101600" dist="38100" dir="5400000" algn="bl" rotWithShape="0">
              <a:srgbClr val="3A1B73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26280" y="246888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2A12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26280" y="2468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26280" y="310896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413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behavior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26280" y="3566160"/>
            <a:ext cx="2880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5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it if the model loops, repeats itself, or leans on overly generic phrases — it widens the pool of usable words.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955280" y="2194560"/>
            <a:ext cx="342900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2D6FA"/>
            </a:solidFill>
            <a:prstDash val="solid"/>
          </a:ln>
          <a:effectLst>
            <a:outerShdw blurRad="101600" dist="38100" dir="5400000" algn="bl" rotWithShape="0">
              <a:srgbClr val="3A1B73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229600" y="246888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2A12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229600" y="2468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29600" y="310896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413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Style &amp; tone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229600" y="3566160"/>
            <a:ext cx="2880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5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it when output needs a consistent voice — a company blog post or support responses — to avoid unusual word choices.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56692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6B5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DECREASE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784080" y="56692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kern="0" spc="100" dirty="0">
                <a:solidFill>
                  <a:srgbClr val="6B5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5961888"/>
            <a:ext cx="11064240" cy="128016"/>
          </a:xfrm>
          <a:prstGeom prst="roundRect">
            <a:avLst>
              <a:gd name="adj" fmla="val 50000"/>
            </a:avLst>
          </a:prstGeom>
          <a:solidFill>
            <a:srgbClr val="E2D6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48640" y="5961888"/>
            <a:ext cx="3319272" cy="128016"/>
          </a:xfrm>
          <a:prstGeom prst="roundRect">
            <a:avLst>
              <a:gd name="adj" fmla="val 50000"/>
            </a:avLst>
          </a:prstGeom>
          <a:solidFill>
            <a:srgbClr val="2A12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785616" y="5897880"/>
            <a:ext cx="256032" cy="256032"/>
          </a:xfrm>
          <a:prstGeom prst="ellipse">
            <a:avLst/>
          </a:prstGeom>
          <a:solidFill>
            <a:srgbClr val="FF5F7E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319272" y="61722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5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0.3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5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PRACTICE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413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 vs. High Temperature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53312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5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prompt, three generations each — temperature=0 repeats the same answer; temperature=1 produces varied phrasing.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1106424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E2D6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2057400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41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Prompt: "I like learning about the industrial revolution... How can I introduce myself in two words?"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88920"/>
            <a:ext cx="5349240" cy="3429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D6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77240" y="3017520"/>
            <a:ext cx="1554480" cy="365760"/>
          </a:xfrm>
          <a:prstGeom prst="roundRect">
            <a:avLst>
              <a:gd name="adj" fmla="val 15000"/>
            </a:avLst>
          </a:prstGeom>
          <a:solidFill>
            <a:srgbClr val="E2D6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77240" y="30175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A12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temperature = 0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77240" y="3611880"/>
            <a:ext cx="4892040" cy="594360"/>
          </a:xfrm>
          <a:prstGeom prst="roundRect">
            <a:avLst>
              <a:gd name="adj" fmla="val 9231"/>
            </a:avLst>
          </a:prstGeom>
          <a:solidFill>
            <a:srgbClr val="F3EE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14400" y="3611880"/>
            <a:ext cx="365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5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 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80160" y="3611880"/>
            <a:ext cx="4343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41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Enthusiastic Historian.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77240" y="4389120"/>
            <a:ext cx="4892040" cy="594360"/>
          </a:xfrm>
          <a:prstGeom prst="roundRect">
            <a:avLst>
              <a:gd name="adj" fmla="val 9231"/>
            </a:avLst>
          </a:prstGeom>
          <a:solidFill>
            <a:srgbClr val="F3EE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14400" y="4389120"/>
            <a:ext cx="365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5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 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280160" y="4389120"/>
            <a:ext cx="4343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41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Enthusiastic Historian.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77240" y="5166360"/>
            <a:ext cx="4892040" cy="594360"/>
          </a:xfrm>
          <a:prstGeom prst="roundRect">
            <a:avLst>
              <a:gd name="adj" fmla="val 9231"/>
            </a:avLst>
          </a:prstGeom>
          <a:solidFill>
            <a:srgbClr val="F3EE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14400" y="5166360"/>
            <a:ext cx="365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5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3: 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280160" y="5166360"/>
            <a:ext cx="4343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41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Enthusiastic Historian.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77240" y="5852160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5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output every time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63640" y="2788920"/>
            <a:ext cx="5349240" cy="3429000"/>
          </a:xfrm>
          <a:prstGeom prst="roundRect">
            <a:avLst>
              <a:gd name="adj" fmla="val 3200"/>
            </a:avLst>
          </a:prstGeom>
          <a:solidFill>
            <a:srgbClr val="2A12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492240" y="3017520"/>
            <a:ext cx="1554480" cy="365760"/>
          </a:xfrm>
          <a:prstGeom prst="roundRect">
            <a:avLst>
              <a:gd name="adj" fmla="val 15000"/>
            </a:avLst>
          </a:prstGeom>
          <a:solidFill>
            <a:srgbClr val="FF5F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492240" y="30175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temperature = 1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492240" y="3611880"/>
            <a:ext cx="4892040" cy="594360"/>
          </a:xfrm>
          <a:prstGeom prst="roundRect">
            <a:avLst>
              <a:gd name="adj" fmla="val 9231"/>
            </a:avLst>
          </a:prstGeom>
          <a:solidFill>
            <a:srgbClr val="3A1B73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629400" y="3611880"/>
            <a:ext cx="365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C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 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995160" y="3611880"/>
            <a:ext cx="4343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Revolutionary Historian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492240" y="4389120"/>
            <a:ext cx="4892040" cy="594360"/>
          </a:xfrm>
          <a:prstGeom prst="roundRect">
            <a:avLst>
              <a:gd name="adj" fmla="val 9231"/>
            </a:avLst>
          </a:prstGeom>
          <a:solidFill>
            <a:srgbClr val="3A1B73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629400" y="4389120"/>
            <a:ext cx="365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C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 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995160" y="4389120"/>
            <a:ext cx="4343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Enthusiast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492240" y="5166360"/>
            <a:ext cx="4892040" cy="594360"/>
          </a:xfrm>
          <a:prstGeom prst="roundRect">
            <a:avLst>
              <a:gd name="adj" fmla="val 9231"/>
            </a:avLst>
          </a:prstGeom>
          <a:solidFill>
            <a:srgbClr val="3A1B73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629400" y="5166360"/>
            <a:ext cx="365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C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3: 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995160" y="5166360"/>
            <a:ext cx="4343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Enthusiast.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492240" y="5852160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D9C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phrasing each run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A12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4572000" cy="4572000"/>
          </a:xfrm>
          <a:prstGeom prst="ellipse">
            <a:avLst/>
          </a:prstGeom>
          <a:solidFill>
            <a:srgbClr val="3A1B73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875520" y="4023360"/>
            <a:ext cx="3840480" cy="3840480"/>
          </a:xfrm>
          <a:prstGeom prst="ellipse">
            <a:avLst/>
          </a:prstGeom>
          <a:solidFill>
            <a:srgbClr val="FF5F7E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64008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5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005840"/>
            <a:ext cx="91440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can now shape</a:t>
            </a:r>
            <a:endParaRPr lang="en-US" sz="3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model's output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22960" y="260604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D9C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picked a Command model variation with the model parameter, and learned how temperature trades off predictability for creativity.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3639312"/>
            <a:ext cx="201168" cy="201168"/>
          </a:xfrm>
          <a:prstGeom prst="ellipse">
            <a:avLst/>
          </a:prstGeom>
          <a:solidFill>
            <a:srgbClr val="FF5F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188720" y="3538728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 Command variant with model="..."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4142232"/>
            <a:ext cx="201168" cy="201168"/>
          </a:xfrm>
          <a:prstGeom prst="ellipse">
            <a:avLst/>
          </a:prstGeom>
          <a:solidFill>
            <a:srgbClr val="FF5F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188720" y="4041648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temperature (→0) for predictable, structured output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22960" y="4645152"/>
            <a:ext cx="201168" cy="201168"/>
          </a:xfrm>
          <a:prstGeom prst="ellipse">
            <a:avLst/>
          </a:prstGeom>
          <a:solidFill>
            <a:srgbClr val="FF5F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188720" y="4544568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temperature (→1) for creative, varied output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22960" y="5148072"/>
            <a:ext cx="201168" cy="201168"/>
          </a:xfrm>
          <a:prstGeom prst="ellipse">
            <a:avLst/>
          </a:prstGeom>
          <a:solidFill>
            <a:srgbClr val="FF5F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188720" y="5047488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temperature of 0.3 is a solid starting point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584</Words>
  <Application>Microsoft Office PowerPoint</Application>
  <PresentationFormat>Widescreen</PresentationFormat>
  <Paragraphs>98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Muhammad Asad Riaz</cp:lastModifiedBy>
  <cp:revision>2</cp:revision>
  <dcterms:created xsi:type="dcterms:W3CDTF">2026-08-22T17:57:29Z</dcterms:created>
  <dcterms:modified xsi:type="dcterms:W3CDTF">2026-08-24T08:26:13Z</dcterms:modified>
</cp:coreProperties>
</file>