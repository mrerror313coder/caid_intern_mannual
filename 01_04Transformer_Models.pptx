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20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07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C1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49840" y="-640080"/>
            <a:ext cx="3108960" cy="3108960"/>
          </a:xfrm>
          <a:prstGeom prst="ellipse">
            <a:avLst/>
          </a:prstGeom>
          <a:solidFill>
            <a:srgbClr val="3A2A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Transformer Models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How Do They Work?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tour of the architecture behind modern AI language models—from raw text to generated words.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09728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the next word—with 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generate text one word at a time. What sets them apart is that each word they choose is guided by the full context of everything written so far.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66360" cy="3566160"/>
          </a:xfrm>
          <a:prstGeom prst="roundRect">
            <a:avLst>
              <a:gd name="adj" fmla="val 3077"/>
            </a:avLst>
          </a:prstGeom>
          <a:solidFill>
            <a:srgbClr val="F7F5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640080" cy="640080"/>
          </a:xfrm>
          <a:prstGeom prst="ellipse">
            <a:avLst/>
          </a:prstGeom>
          <a:solidFill>
            <a:srgbClr val="6E6B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18" y="28414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Text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373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context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next word from only the last few words. Selecting suggestions repeatedly produces text that drifts without meaning.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66344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4663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how are you feeling this week and your kind wishes..."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72200" y="2331720"/>
            <a:ext cx="5166360" cy="3566160"/>
          </a:xfrm>
          <a:prstGeom prst="roundRect">
            <a:avLst>
              <a:gd name="adj" fmla="val 3077"/>
            </a:avLst>
          </a:prstGeom>
          <a:solidFill>
            <a:srgbClr val="2D1B69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37960" y="269748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284149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Model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3609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full context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37960" y="36118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track of the meaning of the entire passage, so each new word continues the same coherent idea.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537960" y="466344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1C1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720840" y="4663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story." → "Once" → "upon" → "a" → "time" …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stages, one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down into its parts, the transformer architecture is a straightforward concatenation of five stages—each with one clear job.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026310" cy="3108960"/>
          </a:xfrm>
          <a:prstGeom prst="roundRect">
            <a:avLst>
              <a:gd name="adj" fmla="val 4513"/>
            </a:avLst>
          </a:prstGeom>
          <a:solidFill>
            <a:srgbClr val="F7F5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B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96035" y="297180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token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627" y="313639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886200"/>
            <a:ext cx="18434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4617720"/>
            <a:ext cx="175199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known tokens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74950" y="3794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30982" y="2468880"/>
            <a:ext cx="2026310" cy="3108960"/>
          </a:xfrm>
          <a:prstGeom prst="roundRect">
            <a:avLst>
              <a:gd name="adj" fmla="val 4513"/>
            </a:avLst>
          </a:prstGeom>
          <a:solidFill>
            <a:srgbClr val="F7F5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68142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B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478378" y="297180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embed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970" y="313639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22422" y="3886200"/>
            <a:ext cx="18434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968142" y="4617720"/>
            <a:ext cx="175199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tokens into number vectors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857293" y="3794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113325" y="2468880"/>
            <a:ext cx="2026310" cy="3108960"/>
          </a:xfrm>
          <a:prstGeom prst="roundRect">
            <a:avLst>
              <a:gd name="adj" fmla="val 4513"/>
            </a:avLst>
          </a:prstGeom>
          <a:solidFill>
            <a:srgbClr val="F7F5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250485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B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760720" y="297180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os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313639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04765" y="3886200"/>
            <a:ext cx="18434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250485" y="4617720"/>
            <a:ext cx="175199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word order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139635" y="3794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7395667" y="2468880"/>
            <a:ext cx="2026310" cy="3108960"/>
          </a:xfrm>
          <a:prstGeom prst="roundRect">
            <a:avLst>
              <a:gd name="adj" fmla="val 4513"/>
            </a:avLst>
          </a:prstGeom>
          <a:solidFill>
            <a:srgbClr val="2D1B69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7532827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D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043062" y="2971800"/>
            <a:ext cx="731520" cy="73152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654" y="3136392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87107" y="3886200"/>
            <a:ext cx="18434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532827" y="4617720"/>
            <a:ext cx="175199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feedforward, repeated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9421978" y="3794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9678010" y="2468880"/>
            <a:ext cx="2026310" cy="3108960"/>
          </a:xfrm>
          <a:prstGeom prst="roundRect">
            <a:avLst>
              <a:gd name="adj" fmla="val 4513"/>
            </a:avLst>
          </a:prstGeom>
          <a:solidFill>
            <a:srgbClr val="F7F5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9815170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6B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10325405" y="297180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4" descr="softma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9997" y="3136392"/>
            <a:ext cx="402336" cy="40233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769450" y="3886200"/>
            <a:ext cx="18434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9815170" y="4617720"/>
            <a:ext cx="175199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become probabilities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token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basic step. A large library of tokens covers every word, prefix, suffix, and punctuation mark. Tokenization matches each piece of the input text to a known token from that library.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5940" y="288036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F7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sentence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3100" y="347472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DC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310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story."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784600" y="3520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68800" y="34747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68800" y="3474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&lt;Write&gt;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02680" y="34747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02680" y="3474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47660" y="34747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947660" y="3474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&lt;story&gt;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794240" y="3474720"/>
            <a:ext cx="1600200" cy="822960"/>
          </a:xfrm>
          <a:prstGeom prst="roundRect">
            <a:avLst>
              <a:gd name="adj" fmla="val 8889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794240" y="3474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&lt;.&gt;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14400" y="4572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maps to one word, symbol, or punctuation mark from a fixed vocabulary—the building block every later stage operates 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embed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is turned into a long vector of numbers. Similar words get similar vectors; different words get vectors that are far apart.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&lt;Write&gt;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63240" y="2514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520440" y="2514600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20440" y="2514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2.13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74920" y="2514600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74920" y="2514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-0.42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29400" y="2514600"/>
            <a:ext cx="10972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29400" y="2514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26680" y="2514600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726680" y="25146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14400" y="317296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31729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063240" y="317296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520440" y="3172968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520440" y="31729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74920" y="3172968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74920" y="31729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629400" y="3172968"/>
            <a:ext cx="10972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629400" y="317296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726680" y="3172968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726680" y="31729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0.23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14400" y="3831336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14400" y="383133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&lt;story&gt;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063240" y="383133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520440" y="3831336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520440" y="38313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-1.56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074920" y="3831336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74920" y="38313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1.34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629400" y="3831336"/>
            <a:ext cx="10972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629400" y="3831336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7726680" y="3831336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726680" y="383133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914400" y="4489704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914400" y="448970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&lt;.&gt;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3063240" y="448970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3520440" y="4489704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520440" y="448970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1.42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074920" y="4489704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074920" y="448970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-1.32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6629400" y="4489704"/>
            <a:ext cx="10972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629400" y="448970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7726680" y="4489704"/>
            <a:ext cx="1554480" cy="548640"/>
          </a:xfrm>
          <a:prstGeom prst="rect">
            <a:avLst/>
          </a:prstGeom>
          <a:solidFill>
            <a:srgbClr val="F7F5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726680" y="448970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-2.41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914400" y="5468112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in the vocabulary is mapped to the same long list of numbers—turning words into a form the model can compute with.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 Encoding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adding word vectors together loses word order, since addition doesn’t care what order the numbers come in. A predefined positional vector is added to each word’s embedding, so order is preserved.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position: ambiguous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“I’m not sad, I’m happy”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“I’m not happy, I’m sad”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749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words, opposite meaning—but summed vectors would match.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3434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984248" y="450799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194560" y="434340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194560" y="43434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30168" y="450799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840480" y="434340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840480" y="43434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76088" y="450799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0" y="434340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0" y="43434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22008" y="450799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525780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640" y="5257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(1)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194560" y="525780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194560" y="5257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(2)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840480" y="525780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840480" y="5257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 (3)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0" y="525780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486400" y="5257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(4)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5001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position vectors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223760" y="54223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unique, order-aware vectors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Transformer Block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complex part: a large neural network trained to predict the next word, built from many stacked blocks. Each block has two components—attention, then feedforward—and the whole stack is repeated many times.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2743200" y="2606040"/>
            <a:ext cx="2743200" cy="438912"/>
          </a:xfrm>
          <a:prstGeom prst="roundRect">
            <a:avLst>
              <a:gd name="adj" fmla="val 12500"/>
            </a:avLst>
          </a:prstGeom>
          <a:solidFill>
            <a:srgbClr val="4A3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0" y="26060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0" y="3136392"/>
            <a:ext cx="2743200" cy="438912"/>
          </a:xfrm>
          <a:prstGeom prst="roundRect">
            <a:avLst>
              <a:gd name="adj" fmla="val 12500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0" y="313639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31920" y="35570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0" y="2606040"/>
            <a:ext cx="11887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F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0" y="3831336"/>
            <a:ext cx="2743200" cy="438912"/>
          </a:xfrm>
          <a:prstGeom prst="roundRect">
            <a:avLst>
              <a:gd name="adj" fmla="val 12500"/>
            </a:avLst>
          </a:prstGeom>
          <a:solidFill>
            <a:srgbClr val="4A3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200" y="383133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743200" y="4361688"/>
            <a:ext cx="2743200" cy="438912"/>
          </a:xfrm>
          <a:prstGeom prst="roundRect">
            <a:avLst>
              <a:gd name="adj" fmla="val 12500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743200" y="43616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931920" y="478231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0" y="3831336"/>
            <a:ext cx="11887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F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43200" y="5056632"/>
            <a:ext cx="2743200" cy="438912"/>
          </a:xfrm>
          <a:prstGeom prst="roundRect">
            <a:avLst>
              <a:gd name="adj" fmla="val 12500"/>
            </a:avLst>
          </a:prstGeom>
          <a:solidFill>
            <a:srgbClr val="4A38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0" y="505663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2743200" y="5586984"/>
            <a:ext cx="2743200" cy="438912"/>
          </a:xfrm>
          <a:prstGeom prst="roundRect">
            <a:avLst>
              <a:gd name="adj" fmla="val 12500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743200" y="558698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669280" y="5056632"/>
            <a:ext cx="11887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F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743200" y="61173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F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…repeated N times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772400" y="265176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C1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001000" y="2788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001000" y="3108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context by relating each word to the others around it.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772400" y="42062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C1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00100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Feedforward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001000" y="46634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that processes each context-aware vector to help predict the next word.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INGREDIENT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resolves ambiguity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 can mean different things. Attention lets surrounding words move a word’s vector toward the meaning that fits the context.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7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bank of the river.”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“river” pulls “bank” toward its meaning as the land beside a river.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794760"/>
            <a:ext cx="4617720" cy="411480"/>
          </a:xfrm>
          <a:prstGeom prst="roundRect">
            <a:avLst>
              <a:gd name="adj" fmla="val 66667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37947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→ pulled toward river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24231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46520" y="26060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“Money in the bank.”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46520" y="315468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“money” pulls “bank” toward its meaning as a financial institution.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46520" y="3794760"/>
            <a:ext cx="4617720" cy="411480"/>
          </a:xfrm>
          <a:prstGeom prst="roundRect">
            <a:avLst>
              <a:gd name="adj" fmla="val 66667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46520" y="37947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→ pulled toward money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91032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0876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Multi-head attention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508760" y="50292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transformers use several attention “heads” in parallel, each contributing its own view of context—boosting accuracy far beyond a single pass.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soft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Softmax Layer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scores every possible next word. Softmax turns those scores into probabilities that add up to 1—then a word is sampled from that distribution.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7F5FF"/>
          </a:solidFill>
          <a:ln w="12700">
            <a:solidFill>
              <a:srgbClr val="DC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story."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3832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977640" y="24688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977640" y="2468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57784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09360" y="2377440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Aardvark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80960" y="2450592"/>
            <a:ext cx="3200400" cy="310896"/>
          </a:xfrm>
          <a:prstGeom prst="roundRect">
            <a:avLst>
              <a:gd name="adj" fmla="val 14706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680960" y="2450592"/>
            <a:ext cx="109728" cy="310896"/>
          </a:xfrm>
          <a:prstGeom prst="roundRect">
            <a:avLst>
              <a:gd name="adj" fmla="val 41667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927080" y="2377440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309360" y="2944368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1B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80960" y="3017520"/>
            <a:ext cx="3200400" cy="310896"/>
          </a:xfrm>
          <a:prstGeom prst="roundRect">
            <a:avLst>
              <a:gd name="adj" fmla="val 14706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680960" y="301752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927080" y="2944368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309360" y="3511296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Somewhere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680960" y="3584448"/>
            <a:ext cx="3200400" cy="310896"/>
          </a:xfrm>
          <a:prstGeom prst="roundRect">
            <a:avLst>
              <a:gd name="adj" fmla="val 14706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680960" y="3584448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927080" y="3511296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309360" y="4078224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There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680960" y="4151376"/>
            <a:ext cx="3200400" cy="310896"/>
          </a:xfrm>
          <a:prstGeom prst="roundRect">
            <a:avLst>
              <a:gd name="adj" fmla="val 14706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680960" y="4151376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0927080" y="4078224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309360" y="4645152"/>
            <a:ext cx="1280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Zygote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680960" y="4718304"/>
            <a:ext cx="3200400" cy="310896"/>
          </a:xfrm>
          <a:prstGeom prst="roundRect">
            <a:avLst>
              <a:gd name="adj" fmla="val 14706"/>
            </a:avLst>
          </a:prstGeom>
          <a:solidFill>
            <a:srgbClr val="F0ED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680960" y="4718304"/>
            <a:ext cx="109728" cy="310896"/>
          </a:xfrm>
          <a:prstGeom prst="roundRect">
            <a:avLst>
              <a:gd name="adj" fmla="val 41667"/>
            </a:avLst>
          </a:prstGeom>
          <a:solidFill>
            <a:srgbClr val="E4D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927080" y="464515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A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"Once" is sampled—then fed back in as part of the next input, and the whole process repeats.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" y="6572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RAW TRAINING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417320" y="822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Post-Training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 trained on the entire internet doesn’t automatically know how to answer questions—it just mimics whatever tends to follow similar text.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1C11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“What is the capital of Pakistan?”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followed on the internet by another question—not an answer—so the raw model can’t be relied on to respond helpfully.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514600"/>
            <a:ext cx="5166360" cy="1828800"/>
          </a:xfrm>
          <a:prstGeom prst="roundRect">
            <a:avLst>
              <a:gd name="adj" fmla="val 5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46520" y="26974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46520" y="31089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question/answer pairs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352044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transformers weight recent training heavily, a further round on curated Q&amp;A or conversation data teaches the model to actually answer, chat, and follow instructions.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F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post-training approach also shapes transformers into chatbots, writing assistants, and coding tools.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parts, one coherent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7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31620" y="187452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token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20391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788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words into tokens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7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11980" y="187452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embed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572" y="20391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788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tokens into vectors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7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292340" y="187452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osi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932" y="20391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788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 Encoding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9224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word order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89720" y="160020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7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172700" y="187452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7292" y="20391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2788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Block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37260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feedforward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7764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7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531620" y="425196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tten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212" y="441655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5166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31520" y="5623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context to the text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29000" y="397764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7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411980" y="425196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6572" y="4416552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66160" y="5166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Feedforward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611880" y="5623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 the next word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309360" y="397764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F7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7292340" y="4251960"/>
            <a:ext cx="731520" cy="731520"/>
          </a:xfrm>
          <a:prstGeom prst="ellipse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softma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6932" y="4416552"/>
            <a:ext cx="402336" cy="40233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46520" y="51663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492240" y="5623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become probabilities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189720" y="397764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1"/>
          <p:cNvSpPr/>
          <p:nvPr/>
        </p:nvSpPr>
        <p:spPr>
          <a:xfrm>
            <a:off x="9372600" y="425196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at scale, with huge parameter counts, these steps produce remarkably coherent generated text.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982</Words>
  <Application>Microsoft Office PowerPoint</Application>
  <PresentationFormat>Widescreen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3</cp:revision>
  <dcterms:created xsi:type="dcterms:W3CDTF">2026-08-03T06:52:38Z</dcterms:created>
  <dcterms:modified xsi:type="dcterms:W3CDTF">2026-08-03T10:33:56Z</dcterms:modified>
</cp:coreProperties>
</file>