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5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3300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2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3A1B73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FF5F7E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097280" y="4846320"/>
            <a:ext cx="3291840" cy="3291840"/>
          </a:xfrm>
          <a:prstGeom prst="ellipse">
            <a:avLst/>
          </a:prstGeom>
          <a:solidFill>
            <a:srgbClr val="3A1B73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Chatbot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D9C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walkthrough of Cohere's Chat endpoint — custom preambles, streamed responses, and multi-turn state management.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Learn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building blocks for a working chatbot on top of the Chat endpoint.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  <a:effectLst>
            <a:outerShdw blurRad="101600" dist="38100" dir="5400000" algn="bl" rotWithShape="0">
              <a:srgbClr val="3A1B7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&amp; first message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45920" y="2542032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client and send a single user message to get a response back.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  <a:effectLst>
            <a:outerShdw blurRad="101600" dist="38100" dir="5400000" algn="bl" rotWithShape="0">
              <a:srgbClr val="3A1B7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92240" y="2103120"/>
            <a:ext cx="640080" cy="640080"/>
          </a:xfrm>
          <a:prstGeom prst="ellipse">
            <a:avLst/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0" y="208483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system messages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0" y="2542032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preamble to steer tone, persona, and task framing before the user turn.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  <a:effectLst>
            <a:outerShdw blurRad="101600" dist="38100" dir="5400000" algn="bl" rotWithShape="0">
              <a:srgbClr val="3A1B7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4343400"/>
            <a:ext cx="640080" cy="640080"/>
          </a:xfrm>
          <a:prstGeom prst="ellipse">
            <a:avLst/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4343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432511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 responses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45920" y="4782312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tokens as they're generated so the UI feels instant, not delayed.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06908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  <a:effectLst>
            <a:outerShdw blurRad="101600" dist="38100" dir="5400000" algn="bl" rotWithShape="0">
              <a:srgbClr val="3A1B7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92240" y="4343400"/>
            <a:ext cx="640080" cy="640080"/>
          </a:xfrm>
          <a:prstGeom prst="ellipse">
            <a:avLst/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92240" y="4343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0" y="432511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history &amp; state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315200" y="4782312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turns to messages so the model keeps context across the conversation.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Cohere module, create a client, and send the model and user message through the messages parameter.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A1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1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17520" y="3127248"/>
            <a:ext cx="502920" cy="329184"/>
          </a:xfrm>
          <a:prstGeom prst="rightArrow">
            <a:avLst/>
          </a:prstGeom>
          <a:solidFill>
            <a:srgbClr val="FF5F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11880" y="28346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11880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1188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C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text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messages → the Chat endpoint returns a response object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457200"/>
            <a:ext cx="5349240" cy="5623560"/>
          </a:xfrm>
          <a:prstGeom prst="roundRect">
            <a:avLst>
              <a:gd name="adj" fmla="val 2051"/>
            </a:avLst>
          </a:prstGeom>
          <a:solidFill>
            <a:srgbClr val="1F0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83680" y="658368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793992" y="658368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04304" y="658368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75120" y="960120"/>
            <a:ext cx="47091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cohere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 = cohere.ClientV2("COHERE_API_KEY")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5A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= ("I'm joining a new startup"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5A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" called Co1t today...")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co.chat(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E2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model="command-a-plus-05-2026",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messages=[{'role': 'user',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'content': message}]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print(get_text(response))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1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a Custom System Message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message (preamble) steers tone and persona before the conversation starts. It's added with the system role in the messages array.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E8DBFA"/>
          </a:solidFill>
          <a:ln w="12700">
            <a:solidFill>
              <a:srgbClr val="2A1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1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Preamble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044952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2A1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04495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1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0391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94760" y="2880360"/>
            <a:ext cx="457200" cy="320040"/>
          </a:xfrm>
          <a:prstGeom prst="rightArrow">
            <a:avLst/>
          </a:prstGeom>
          <a:solidFill>
            <a:srgbClr val="FF5F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89120" y="2697480"/>
            <a:ext cx="1737360" cy="594360"/>
          </a:xfrm>
          <a:prstGeom prst="roundRect">
            <a:avLst>
              <a:gd name="adj" fmla="val 12308"/>
            </a:avLst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26974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1" y="4160520"/>
            <a:ext cx="5288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41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Guide example
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"Try to speak in rhymes as much as possible. Be professional."
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A1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"Sure, let's get you started, / And to your teammates, be warmly welcomed!"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457200"/>
            <a:ext cx="5349240" cy="5623560"/>
          </a:xfrm>
          <a:prstGeom prst="roundRect">
            <a:avLst>
              <a:gd name="adj" fmla="val 2051"/>
            </a:avLst>
          </a:prstGeom>
          <a:solidFill>
            <a:srgbClr val="1F0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583680" y="658368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93992" y="658368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004304" y="658368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75120" y="960120"/>
            <a:ext cx="47091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system_message = """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5A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Task and Context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an assistant who helps new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 of Co1t with their first week.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5A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Style Guide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to speak in rhymes as much as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possible. Be professional."""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 = [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8BE2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{'role': 'system',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8BE2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'content': system_message},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{'role': 'user', 'content': message}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co.chat(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model="command-a-plus-05-2026",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messages=messages)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 the Chatbot Response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co.chat_stream() to return tokens as they're generated instead of waiting for the full completion — better perceived latency for users.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NON-STREAMED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2057400" cy="256032"/>
          </a:xfrm>
          <a:prstGeom prst="rect">
            <a:avLst/>
          </a:prstGeom>
          <a:solidFill>
            <a:srgbClr val="E2D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4526280"/>
            <a:ext cx="2057400" cy="822960"/>
          </a:xfrm>
          <a:prstGeom prst="rect">
            <a:avLst/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45262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text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at once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0" y="2148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23774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D9C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49040" y="2834640"/>
            <a:ext cx="2057400" cy="292608"/>
          </a:xfrm>
          <a:prstGeom prst="rect">
            <a:avLst/>
          </a:prstGeom>
          <a:solidFill>
            <a:srgbClr val="FF5F7E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49040" y="283464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749040" y="3246120"/>
            <a:ext cx="2057400" cy="292608"/>
          </a:xfrm>
          <a:prstGeom prst="rect">
            <a:avLst/>
          </a:prstGeom>
          <a:solidFill>
            <a:srgbClr val="FF5F7E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49040" y="324612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my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749040" y="3657600"/>
            <a:ext cx="2057400" cy="292608"/>
          </a:xfrm>
          <a:prstGeom prst="rect">
            <a:avLst/>
          </a:prstGeom>
          <a:solidFill>
            <a:srgbClr val="FF5F7E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49040" y="365760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my name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49040" y="4069080"/>
            <a:ext cx="2057400" cy="292608"/>
          </a:xfrm>
          <a:prstGeom prst="rect">
            <a:avLst/>
          </a:prstGeom>
          <a:solidFill>
            <a:srgbClr val="FF5F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749040" y="406908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my name is...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74720" y="48463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render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incrementally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55080" y="2148840"/>
            <a:ext cx="5349240" cy="3566160"/>
          </a:xfrm>
          <a:prstGeom prst="roundRect">
            <a:avLst>
              <a:gd name="adj" fmla="val 3077"/>
            </a:avLst>
          </a:prstGeom>
          <a:solidFill>
            <a:srgbClr val="1F0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75120" y="2468880"/>
            <a:ext cx="4709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co.chat_stream(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model="command-a-plus-05-2026",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messages=[{'role': 'user',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'content': message}]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5A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event in response: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BE2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event.type == "content-delta":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event.delta.message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.content.text,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end="")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Chat History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each assistant response and new user message to messages so the model keeps a "memory" of the conversation across turns.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2120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3232" y="2551176"/>
            <a:ext cx="365760" cy="365760"/>
          </a:xfrm>
          <a:prstGeom prst="ellipse">
            <a:avLst/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2551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247802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34440" y="2743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"Help me write an intro message."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0" y="2423160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3209544"/>
            <a:ext cx="5212080" cy="621792"/>
          </a:xfrm>
          <a:prstGeom prst="roundRect">
            <a:avLst>
              <a:gd name="adj" fmla="val 11765"/>
            </a:avLst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13232" y="3337560"/>
            <a:ext cx="365760" cy="365760"/>
          </a:xfrm>
          <a:prstGeom prst="ellipse">
            <a:avLst/>
          </a:prstGeom>
          <a:solidFill>
            <a:srgbClr val="FF5F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326440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response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34440" y="35295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9C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Appended to messages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0" y="3209544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9C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995928"/>
            <a:ext cx="52120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3232" y="4123944"/>
            <a:ext cx="365760" cy="365760"/>
          </a:xfrm>
          <a:prstGeom prst="ellipse">
            <a:avLst/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3232" y="4123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405079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user message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34440" y="43159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"Make it more upbeat."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0" y="3995928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782312"/>
            <a:ext cx="5212080" cy="621792"/>
          </a:xfrm>
          <a:prstGeom prst="roundRect">
            <a:avLst>
              <a:gd name="adj" fmla="val 11765"/>
            </a:avLst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13232" y="4910328"/>
            <a:ext cx="365760" cy="365760"/>
          </a:xfrm>
          <a:prstGeom prst="ellipse">
            <a:avLst/>
          </a:prstGeom>
          <a:solidFill>
            <a:srgbClr val="FF5F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3232" y="4910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34440" y="483717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re-reads history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234440" y="51023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9C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Refines with full context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54880" y="4782312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9C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5586984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repeat for any number of turns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55080" y="457200"/>
            <a:ext cx="5349240" cy="5623560"/>
          </a:xfrm>
          <a:prstGeom prst="roundRect">
            <a:avLst>
              <a:gd name="adj" fmla="val 2051"/>
            </a:avLst>
          </a:prstGeom>
          <a:solidFill>
            <a:srgbClr val="1F0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583680" y="658368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793992" y="658368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004304" y="658368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675120" y="960120"/>
            <a:ext cx="47091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F5A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Append the previous response</a:t>
            </a:r>
            <a:endParaRPr lang="en-US" sz="10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messages.append({'role': 'assistant',</a:t>
            </a:r>
            <a:endParaRPr lang="en-US" sz="10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'content':</a:t>
            </a:r>
            <a:endParaRPr lang="en-US" sz="10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get_text(response)})</a:t>
            </a:r>
            <a:endParaRPr lang="en-US" sz="1080" dirty="0"/>
          </a:p>
          <a:p>
            <a:pPr marL="0" indent="0">
              <a:lnSpc>
                <a:spcPct val="125000"/>
              </a:lnSpc>
              <a:buNone/>
            </a:pPr>
            <a:endParaRPr lang="en-US" sz="10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F5A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the next user message</a:t>
            </a:r>
            <a:endParaRPr lang="en-US" sz="10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8BE2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= "Make it more upbeat</a:t>
            </a:r>
            <a:endParaRPr lang="en-US" sz="10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8BE2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and conversational."</a:t>
            </a:r>
            <a:endParaRPr lang="en-US" sz="10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messages.append({'role': 'user',</a:t>
            </a:r>
            <a:endParaRPr lang="en-US" sz="10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'content': message})</a:t>
            </a:r>
            <a:endParaRPr lang="en-US" sz="1080" dirty="0"/>
          </a:p>
          <a:p>
            <a:pPr marL="0" indent="0">
              <a:lnSpc>
                <a:spcPct val="125000"/>
              </a:lnSpc>
              <a:buNone/>
            </a:pPr>
            <a:endParaRPr lang="en-US" sz="10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F5A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Generate with full chat history</a:t>
            </a:r>
            <a:endParaRPr lang="en-US" sz="10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co.chat(</a:t>
            </a:r>
            <a:endParaRPr lang="en-US" sz="10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model="command-a-plus-05-2026",</a:t>
            </a:r>
            <a:endParaRPr lang="en-US" sz="10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messages=messages)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12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3A1B73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75520" y="4023360"/>
            <a:ext cx="3840480" cy="3840480"/>
          </a:xfrm>
          <a:prstGeom prst="ellipse">
            <a:avLst/>
          </a:prstGeom>
          <a:solidFill>
            <a:srgbClr val="FF5F7E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6400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5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You've built a chatbot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9C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Chat endpoint, you configured a preamble, streamed responses token-by-token, and maintained multi-turn state — the core of any conversational app.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07792"/>
            <a:ext cx="201168" cy="201168"/>
          </a:xfrm>
          <a:prstGeom prst="ellipse">
            <a:avLst/>
          </a:prstGeom>
          <a:solidFill>
            <a:srgbClr val="FF5F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88720" y="280720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user message and get a response via co.chat()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410712"/>
            <a:ext cx="201168" cy="201168"/>
          </a:xfrm>
          <a:prstGeom prst="ellipse">
            <a:avLst/>
          </a:prstGeom>
          <a:solidFill>
            <a:srgbClr val="FF5F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88720" y="331012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 tone &amp; persona with a system-role preamble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913632"/>
            <a:ext cx="201168" cy="201168"/>
          </a:xfrm>
          <a:prstGeom prst="ellipse">
            <a:avLst/>
          </a:prstGeom>
          <a:solidFill>
            <a:srgbClr val="FF5F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88720" y="381304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tokens with co.chat_stream() for lower perceived latency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416552"/>
            <a:ext cx="201168" cy="201168"/>
          </a:xfrm>
          <a:prstGeom prst="ellipse">
            <a:avLst/>
          </a:prstGeom>
          <a:solidFill>
            <a:srgbClr val="FF5F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88720" y="431596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turns to messages to preserve conversational memory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5120640"/>
            <a:ext cx="5852160" cy="868680"/>
          </a:xfrm>
          <a:prstGeom prst="roundRect">
            <a:avLst>
              <a:gd name="adj" fmla="val 12632"/>
            </a:avLst>
          </a:prstGeom>
          <a:solidFill>
            <a:srgbClr val="3A1B73">
              <a:alpha val="80000"/>
            </a:srgbClr>
          </a:solidFill>
          <a:ln w="12700">
            <a:solidFill>
              <a:srgbClr val="5A3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52578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explore the API reference
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B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parameter and response object details for the Chat endpoint.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744</Words>
  <Application>Microsoft Office PowerPoint</Application>
  <PresentationFormat>Widescreen</PresentationFormat>
  <Paragraphs>142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Asad Riaz</cp:lastModifiedBy>
  <cp:revision>2</cp:revision>
  <dcterms:created xsi:type="dcterms:W3CDTF">2026-08-22T17:52:07Z</dcterms:created>
  <dcterms:modified xsi:type="dcterms:W3CDTF">2026-08-24T08:24:34Z</dcterms:modified>
</cp:coreProperties>
</file>