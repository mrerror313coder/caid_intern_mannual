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E"/>
                </a:solidFill>
                <a:latin typeface="Calibri"/>
              </a:rPr>
              <a:t>Loss vs.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5B7FBF"/>
            </a:solidFill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7FBF"/>
              </a:solidFill>
              <a:ln w="9525" cap="flat">
                <a:solidFill>
                  <a:srgbClr val="5B7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0.717</c:v>
                </c:pt>
                <c:pt idx="1">
                  <c:v>0.6654</c:v>
                </c:pt>
                <c:pt idx="2">
                  <c:v>0.6496</c:v>
                </c:pt>
                <c:pt idx="3">
                  <c:v>0.6343</c:v>
                </c:pt>
                <c:pt idx="4">
                  <c:v>0.617</c:v>
                </c:pt>
                <c:pt idx="5">
                  <c:v>0.6016</c:v>
                </c:pt>
                <c:pt idx="6">
                  <c:v>0.5885</c:v>
                </c:pt>
                <c:pt idx="7">
                  <c:v>0.577</c:v>
                </c:pt>
                <c:pt idx="8">
                  <c:v>0.5698</c:v>
                </c:pt>
                <c:pt idx="9">
                  <c:v>0.5619</c:v>
                </c:pt>
                <c:pt idx="10">
                  <c:v>0.5424</c:v>
                </c:pt>
                <c:pt idx="11">
                  <c:v>0.534</c:v>
                </c:pt>
                <c:pt idx="12">
                  <c:v>0.5317</c:v>
                </c:pt>
                <c:pt idx="13">
                  <c:v>0.5224</c:v>
                </c:pt>
                <c:pt idx="14">
                  <c:v>0.5133</c:v>
                </c:pt>
                <c:pt idx="15">
                  <c:v>0.5132</c:v>
                </c:pt>
                <c:pt idx="16">
                  <c:v>0.5102</c:v>
                </c:pt>
                <c:pt idx="17">
                  <c:v>0.5058</c:v>
                </c:pt>
                <c:pt idx="18">
                  <c:v>0.498</c:v>
                </c:pt>
                <c:pt idx="19">
                  <c:v>0.4939</c:v>
                </c:pt>
                <c:pt idx="20">
                  <c:v>0.4883</c:v>
                </c:pt>
                <c:pt idx="21">
                  <c:v>0.4866</c:v>
                </c:pt>
                <c:pt idx="22">
                  <c:v>0.4797</c:v>
                </c:pt>
                <c:pt idx="23">
                  <c:v>0.4811</c:v>
                </c:pt>
                <c:pt idx="24">
                  <c:v>0.4642</c:v>
                </c:pt>
                <c:pt idx="25">
                  <c:v>0.4698</c:v>
                </c:pt>
                <c:pt idx="26">
                  <c:v>0.4616</c:v>
                </c:pt>
                <c:pt idx="27">
                  <c:v>0.4556</c:v>
                </c:pt>
                <c:pt idx="28">
                  <c:v>0.447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C9992E"/>
            </a:solidFill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92E"/>
              </a:solidFill>
              <a:ln w="9525" cap="flat">
                <a:solidFill>
                  <a:srgbClr val="C999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0.6629</c:v>
                </c:pt>
                <c:pt idx="1">
                  <c:v>0.648</c:v>
                </c:pt>
                <c:pt idx="2">
                  <c:v>0.6298</c:v>
                </c:pt>
                <c:pt idx="3">
                  <c:v>0.6092</c:v>
                </c:pt>
                <c:pt idx="4">
                  <c:v>0.5777</c:v>
                </c:pt>
                <c:pt idx="5">
                  <c:v>0.5507</c:v>
                </c:pt>
                <c:pt idx="6">
                  <c:v>0.5542</c:v>
                </c:pt>
                <c:pt idx="7">
                  <c:v>0.5194</c:v>
                </c:pt>
                <c:pt idx="8">
                  <c:v>0.5216</c:v>
                </c:pt>
                <c:pt idx="9">
                  <c:v>0.5147</c:v>
                </c:pt>
                <c:pt idx="10">
                  <c:v>0.4857</c:v>
                </c:pt>
                <c:pt idx="11">
                  <c:v>0.4901</c:v>
                </c:pt>
                <c:pt idx="12">
                  <c:v>0.5021</c:v>
                </c:pt>
                <c:pt idx="13">
                  <c:v>0.4691</c:v>
                </c:pt>
                <c:pt idx="14">
                  <c:v>0.4669</c:v>
                </c:pt>
                <c:pt idx="15">
                  <c:v>0.4589</c:v>
                </c:pt>
                <c:pt idx="16">
                  <c:v>0.4572</c:v>
                </c:pt>
                <c:pt idx="17">
                  <c:v>0.4586</c:v>
                </c:pt>
                <c:pt idx="18">
                  <c:v>0.4379</c:v>
                </c:pt>
                <c:pt idx="19">
                  <c:v>0.4201</c:v>
                </c:pt>
                <c:pt idx="20">
                  <c:v>0.4455</c:v>
                </c:pt>
                <c:pt idx="21">
                  <c:v>0.4053</c:v>
                </c:pt>
                <c:pt idx="22">
                  <c:v>0.4321</c:v>
                </c:pt>
                <c:pt idx="23">
                  <c:v>0.426</c:v>
                </c:pt>
                <c:pt idx="24">
                  <c:v>0.389</c:v>
                </c:pt>
                <c:pt idx="25">
                  <c:v>0.3873</c:v>
                </c:pt>
                <c:pt idx="26">
                  <c:v>0.3993</c:v>
                </c:pt>
                <c:pt idx="27">
                  <c:v>0.3687</c:v>
                </c:pt>
                <c:pt idx="28">
                  <c:v>0.3856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E"/>
                </a:solidFill>
                <a:latin typeface="Calibri"/>
              </a:rPr>
              <a:t>Accuracy vs.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solidFill>
              <a:srgbClr val="5B7FBF"/>
            </a:solidFill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7FBF"/>
              </a:solidFill>
              <a:ln w="9525" cap="flat">
                <a:solidFill>
                  <a:srgbClr val="5B7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0.5694</c:v>
                </c:pt>
                <c:pt idx="1">
                  <c:v>0.5926</c:v>
                </c:pt>
                <c:pt idx="2">
                  <c:v>0.617</c:v>
                </c:pt>
                <c:pt idx="3">
                  <c:v>0.6311</c:v>
                </c:pt>
                <c:pt idx="4">
                  <c:v>0.6512</c:v>
                </c:pt>
                <c:pt idx="5">
                  <c:v>0.6651</c:v>
                </c:pt>
                <c:pt idx="6">
                  <c:v>0.6751</c:v>
                </c:pt>
                <c:pt idx="7">
                  <c:v>0.6871</c:v>
                </c:pt>
                <c:pt idx="8">
                  <c:v>0.6973</c:v>
                </c:pt>
                <c:pt idx="9">
                  <c:v>0.7014</c:v>
                </c:pt>
                <c:pt idx="10">
                  <c:v>0.7248</c:v>
                </c:pt>
                <c:pt idx="11">
                  <c:v>0.7242</c:v>
                </c:pt>
                <c:pt idx="12">
                  <c:v>0.7191</c:v>
                </c:pt>
                <c:pt idx="13">
                  <c:v>0.732</c:v>
                </c:pt>
                <c:pt idx="14">
                  <c:v>0.7361</c:v>
                </c:pt>
                <c:pt idx="15">
                  <c:v>0.7449</c:v>
                </c:pt>
                <c:pt idx="16">
                  <c:v>0.7358</c:v>
                </c:pt>
                <c:pt idx="17">
                  <c:v>0.7497</c:v>
                </c:pt>
                <c:pt idx="18">
                  <c:v>0.7549</c:v>
                </c:pt>
                <c:pt idx="19">
                  <c:v>0.7549</c:v>
                </c:pt>
                <c:pt idx="20">
                  <c:v>0.7573</c:v>
                </c:pt>
                <c:pt idx="21">
                  <c:v>0.7627</c:v>
                </c:pt>
                <c:pt idx="22">
                  <c:v>0.7678</c:v>
                </c:pt>
                <c:pt idx="23">
                  <c:v>0.7669</c:v>
                </c:pt>
                <c:pt idx="24">
                  <c:v>0.7722</c:v>
                </c:pt>
                <c:pt idx="25">
                  <c:v>0.7743</c:v>
                </c:pt>
                <c:pt idx="26">
                  <c:v>0.7744</c:v>
                </c:pt>
                <c:pt idx="27">
                  <c:v>0.786</c:v>
                </c:pt>
                <c:pt idx="28">
                  <c:v>0.7797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solidFill>
              <a:srgbClr val="C9992E"/>
            </a:solidFill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92E"/>
              </a:solidFill>
              <a:ln w="9525" cap="flat">
                <a:solidFill>
                  <a:srgbClr val="C999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0.6075</c:v>
                </c:pt>
                <c:pt idx="1">
                  <c:v>0.614</c:v>
                </c:pt>
                <c:pt idx="2">
                  <c:v>0.6485</c:v>
                </c:pt>
                <c:pt idx="3">
                  <c:v>0.6478</c:v>
                </c:pt>
                <c:pt idx="4">
                  <c:v>0.6936</c:v>
                </c:pt>
                <c:pt idx="5">
                  <c:v>0.7102</c:v>
                </c:pt>
                <c:pt idx="6">
                  <c:v>0.699</c:v>
                </c:pt>
                <c:pt idx="7">
                  <c:v>0.7362</c:v>
                </c:pt>
                <c:pt idx="8">
                  <c:v>0.742</c:v>
                </c:pt>
                <c:pt idx="9">
                  <c:v>0.7328</c:v>
                </c:pt>
                <c:pt idx="10">
                  <c:v>0.7559</c:v>
                </c:pt>
                <c:pt idx="11">
                  <c:v>0.7517</c:v>
                </c:pt>
                <c:pt idx="12">
                  <c:v>0.744</c:v>
                </c:pt>
                <c:pt idx="13">
                  <c:v>0.7702</c:v>
                </c:pt>
                <c:pt idx="14">
                  <c:v>0.7701</c:v>
                </c:pt>
                <c:pt idx="15">
                  <c:v>0.7747</c:v>
                </c:pt>
                <c:pt idx="16">
                  <c:v>0.7805</c:v>
                </c:pt>
                <c:pt idx="17">
                  <c:v>0.7788</c:v>
                </c:pt>
                <c:pt idx="18">
                  <c:v>0.7865</c:v>
                </c:pt>
                <c:pt idx="19">
                  <c:v>0.7969</c:v>
                </c:pt>
                <c:pt idx="20">
                  <c:v>0.7841</c:v>
                </c:pt>
                <c:pt idx="21">
                  <c:v>0.8036</c:v>
                </c:pt>
                <c:pt idx="22">
                  <c:v>0.7848</c:v>
                </c:pt>
                <c:pt idx="23">
                  <c:v>0.792</c:v>
                </c:pt>
                <c:pt idx="24">
                  <c:v>0.8128</c:v>
                </c:pt>
                <c:pt idx="25">
                  <c:v>0.8165</c:v>
                </c:pt>
                <c:pt idx="26">
                  <c:v>0.8279</c:v>
                </c:pt>
                <c:pt idx="27">
                  <c:v>0.8243</c:v>
                </c:pt>
                <c:pt idx="28">
                  <c:v>0.8237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0.85"/>
          <c:min val="0.55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" name="Shape 1"/>
          <p:cNvSpPr/>
          <p:nvPr/>
        </p:nvSpPr>
        <p:spPr>
          <a:xfrm>
            <a:off x="824788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" name="Shape 2"/>
          <p:cNvSpPr/>
          <p:nvPr/>
        </p:nvSpPr>
        <p:spPr>
          <a:xfrm>
            <a:off x="863193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" name="Shape 3"/>
          <p:cNvSpPr/>
          <p:nvPr/>
        </p:nvSpPr>
        <p:spPr>
          <a:xfrm>
            <a:off x="901598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6" name="Shape 4"/>
          <p:cNvSpPr/>
          <p:nvPr/>
        </p:nvSpPr>
        <p:spPr>
          <a:xfrm>
            <a:off x="940003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8" name="Shape 6"/>
          <p:cNvSpPr/>
          <p:nvPr/>
        </p:nvSpPr>
        <p:spPr>
          <a:xfrm>
            <a:off x="1016812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9" name="Shape 7"/>
          <p:cNvSpPr/>
          <p:nvPr/>
        </p:nvSpPr>
        <p:spPr>
          <a:xfrm>
            <a:off x="1055217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0" name="Shape 8"/>
          <p:cNvSpPr/>
          <p:nvPr/>
        </p:nvSpPr>
        <p:spPr>
          <a:xfrm>
            <a:off x="1093622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1" name="Shape 9"/>
          <p:cNvSpPr/>
          <p:nvPr/>
        </p:nvSpPr>
        <p:spPr>
          <a:xfrm>
            <a:off x="1132027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4788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3193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6" name="Shape 14"/>
          <p:cNvSpPr/>
          <p:nvPr/>
        </p:nvSpPr>
        <p:spPr>
          <a:xfrm>
            <a:off x="940003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812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5217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3622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4788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598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003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7" name="Shape 25"/>
          <p:cNvSpPr/>
          <p:nvPr/>
        </p:nvSpPr>
        <p:spPr>
          <a:xfrm>
            <a:off x="978408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812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5217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3622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2027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3" name="Shape 31"/>
          <p:cNvSpPr/>
          <p:nvPr/>
        </p:nvSpPr>
        <p:spPr>
          <a:xfrm>
            <a:off x="824788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4" name="Shape 32"/>
          <p:cNvSpPr/>
          <p:nvPr/>
        </p:nvSpPr>
        <p:spPr>
          <a:xfrm>
            <a:off x="863193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5" name="Shape 33"/>
          <p:cNvSpPr/>
          <p:nvPr/>
        </p:nvSpPr>
        <p:spPr>
          <a:xfrm>
            <a:off x="901598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6" name="Shape 34"/>
          <p:cNvSpPr/>
          <p:nvPr/>
        </p:nvSpPr>
        <p:spPr>
          <a:xfrm>
            <a:off x="940003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7" name="Shape 35"/>
          <p:cNvSpPr/>
          <p:nvPr/>
        </p:nvSpPr>
        <p:spPr>
          <a:xfrm>
            <a:off x="978408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6812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5217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3622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2027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3" name="Shape 41"/>
          <p:cNvSpPr/>
          <p:nvPr/>
        </p:nvSpPr>
        <p:spPr>
          <a:xfrm>
            <a:off x="824788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4" name="Shape 42"/>
          <p:cNvSpPr/>
          <p:nvPr/>
        </p:nvSpPr>
        <p:spPr>
          <a:xfrm>
            <a:off x="863193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5" name="Shape 43"/>
          <p:cNvSpPr/>
          <p:nvPr/>
        </p:nvSpPr>
        <p:spPr>
          <a:xfrm>
            <a:off x="901598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6" name="Shape 44"/>
          <p:cNvSpPr/>
          <p:nvPr/>
        </p:nvSpPr>
        <p:spPr>
          <a:xfrm>
            <a:off x="940003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7" name="Shape 45"/>
          <p:cNvSpPr/>
          <p:nvPr/>
        </p:nvSpPr>
        <p:spPr>
          <a:xfrm>
            <a:off x="978408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812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5217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3622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2027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2" name="Shape 50"/>
          <p:cNvSpPr/>
          <p:nvPr/>
        </p:nvSpPr>
        <p:spPr>
          <a:xfrm>
            <a:off x="786384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3" name="Shape 51"/>
          <p:cNvSpPr/>
          <p:nvPr/>
        </p:nvSpPr>
        <p:spPr>
          <a:xfrm>
            <a:off x="824788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4" name="Shape 52"/>
          <p:cNvSpPr/>
          <p:nvPr/>
        </p:nvSpPr>
        <p:spPr>
          <a:xfrm>
            <a:off x="863193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5" name="Shape 53"/>
          <p:cNvSpPr/>
          <p:nvPr/>
        </p:nvSpPr>
        <p:spPr>
          <a:xfrm>
            <a:off x="901598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6" name="Shape 54"/>
          <p:cNvSpPr/>
          <p:nvPr/>
        </p:nvSpPr>
        <p:spPr>
          <a:xfrm>
            <a:off x="940003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7" name="Shape 55"/>
          <p:cNvSpPr/>
          <p:nvPr/>
        </p:nvSpPr>
        <p:spPr>
          <a:xfrm>
            <a:off x="978408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6812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55217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93622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2027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</p:sp>
      <p:sp>
        <p:nvSpPr>
          <p:cNvPr id="62" name="Text 60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IN PRACTICE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2960" y="1783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Facial Expressions</a:t>
            </a:r>
            <a:endParaRPr lang="en-US" sz="4600" dirty="0"/>
          </a:p>
        </p:txBody>
      </p:sp>
      <p:sp>
        <p:nvSpPr>
          <p:cNvPr id="64" name="Text 62"/>
          <p:cNvSpPr/>
          <p:nvPr/>
        </p:nvSpPr>
        <p:spPr>
          <a:xfrm>
            <a:off x="82296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Depressive </a:t>
            </a:r>
            <a:pPr indent="0" marL="0">
              <a:buNone/>
            </a:pPr>
            <a:r>
              <a:rPr lang="en-US" sz="2200" b="1" dirty="0">
                <a:solidFill>
                  <a:srgbClr val="8B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</a:t>
            </a:r>
            <a:pPr indent="0" marL="0">
              <a:buNone/>
            </a:pPr>
            <a:r>
              <a:rPr lang="en-US" sz="2200" b="1" dirty="0">
                <a:solidFill>
                  <a:srgbClr val="5B7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pPr indent="0" marL="0">
              <a:buNone/>
            </a:pPr>
            <a:r>
              <a:rPr lang="en-US" sz="2200" b="1" dirty="0">
                <a:solidFill>
                  <a:srgbClr val="C9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A CNN Case Study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822960" y="32461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convolutional neural networks in general, to the exact architecture trained on this dataset in PyTorch — with real results from a completed training run.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1750">
            <a:solidFill>
              <a:srgbClr val="C999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Asad Riaz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166360" y="4206240"/>
            <a:ext cx="0" cy="713232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06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44068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 Kamran Younis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822960" y="5166360"/>
            <a:ext cx="9601200" cy="0"/>
          </a:xfrm>
          <a:prstGeom prst="line">
            <a:avLst/>
          </a:prstGeom>
          <a:noFill/>
          <a:ln w="9525">
            <a:solidFill>
              <a:srgbClr val="2A3F7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gudiyasingh/emotion-dataset-for-mental-health (Kaggle)  ·  Framework: PyTorch  ·  Task: Binary image 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convolutional neural network?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learns to recognize visual patterns by passing an image through repeated layers that extract, compress, and finally classify features.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5B6478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0365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49958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653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497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51276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5B7FBF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785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6290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2594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5B7FBF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9170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53912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90488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8926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55230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5B7FBF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9180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1024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56548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9312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1156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57866" y="1874520"/>
            <a:ext cx="1255014" cy="1097280"/>
          </a:xfrm>
          <a:prstGeom prst="rect">
            <a:avLst>
              <a:gd name="adj" fmla="val 5000"/>
            </a:avLst>
          </a:prstGeom>
          <a:solidFill>
            <a:srgbClr val="C9992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9444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2651760" cy="1691640"/>
          </a:xfrm>
          <a:prstGeom prst="rect">
            <a:avLst>
              <a:gd name="adj" fmla="val 3243"/>
            </a:avLst>
          </a:prstGeom>
          <a:solidFill>
            <a:srgbClr val="EEF1F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small filters across the image, each learning to detect one visual pattern (an edge, a curve, a texture).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337560"/>
            <a:ext cx="2651760" cy="1691640"/>
          </a:xfrm>
          <a:prstGeom prst="rect">
            <a:avLst>
              <a:gd name="adj" fmla="val 3243"/>
            </a:avLst>
          </a:prstGeom>
          <a:solidFill>
            <a:srgbClr val="EE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(ReLU)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non-linearity — max(0, x) — so the network can approximate complex, non-linear decision boundaries.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337560"/>
            <a:ext cx="2651760" cy="1691640"/>
          </a:xfrm>
          <a:prstGeom prst="rect">
            <a:avLst>
              <a:gd name="adj" fmla="val 3243"/>
            </a:avLst>
          </a:prstGeom>
          <a:solidFill>
            <a:srgbClr val="EEF1F8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Downsamples feature maps (e.g. take the max in each 2×2 window), keeping the strongest signal and reducing computation.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15400" y="3337560"/>
            <a:ext cx="2651760" cy="1691640"/>
          </a:xfrm>
          <a:prstGeom prst="rect">
            <a:avLst>
              <a:gd name="adj" fmla="val 3243"/>
            </a:avLst>
          </a:prstGeom>
          <a:solidFill>
            <a:srgbClr val="EEF1F8"/>
          </a:solidFill>
          <a:ln/>
        </p:spPr>
      </p:sp>
      <p:sp>
        <p:nvSpPr>
          <p:cNvPr id="38" name="Text 36"/>
          <p:cNvSpPr/>
          <p:nvPr/>
        </p:nvSpPr>
        <p:spPr>
          <a:xfrm>
            <a:off x="909828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9828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the final feature maps into a vector and combines them into class scores (logits).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these layers lets a CNN build up from simple edges (early layers) to complex, task-specific concepts (deeper layers) — the same idea every architecture on the next slide is built from.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well-known CNN architectures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looking at the architecture used for this project, here's where it sits among widely-used CNN designs.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97280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" y="237744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LeNet-5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practical CNN — digit recognition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0873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102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6648" y="425196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15" name="Text 13"/>
          <p:cNvSpPr/>
          <p:nvPr/>
        </p:nvSpPr>
        <p:spPr>
          <a:xfrm>
            <a:off x="213664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0980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151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 GPU training; ImageNet breakthrough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0131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360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9228" y="237744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372922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238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VGG-16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409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stacks of small 3×3 convolutions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9389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618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425196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27" name="Text 25"/>
          <p:cNvSpPr/>
          <p:nvPr/>
        </p:nvSpPr>
        <p:spPr>
          <a:xfrm>
            <a:off x="532180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modules; multi-scale filters per layer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8647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876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4388" y="237744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33" name="Text 31"/>
          <p:cNvSpPr/>
          <p:nvPr/>
        </p:nvSpPr>
        <p:spPr>
          <a:xfrm>
            <a:off x="691438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754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925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Residual/skip connections enable very deep nets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79052" y="3849624"/>
            <a:ext cx="164592" cy="164592"/>
          </a:xfrm>
          <a:prstGeom prst="oval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134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6968" y="425196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39" name="Text 37"/>
          <p:cNvSpPr/>
          <p:nvPr/>
        </p:nvSpPr>
        <p:spPr>
          <a:xfrm>
            <a:off x="850696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8012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6183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convs for mobile efficiency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771632" y="3849624"/>
            <a:ext cx="164592" cy="164592"/>
          </a:xfrm>
          <a:prstGeom prst="oval">
            <a:avLst/>
          </a:prstGeom>
          <a:solidFill>
            <a:srgbClr val="C999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5392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99548" y="2377440"/>
            <a:ext cx="1508760" cy="1234440"/>
          </a:xfrm>
          <a:prstGeom prst="rect">
            <a:avLst>
              <a:gd name="adj" fmla="val 3704"/>
            </a:avLst>
          </a:prstGeom>
          <a:solidFill>
            <a:srgbClr val="EEF1F8"/>
          </a:solidFill>
          <a:ln/>
        </p:spPr>
      </p:sp>
      <p:sp>
        <p:nvSpPr>
          <p:cNvPr id="45" name="Text 43"/>
          <p:cNvSpPr/>
          <p:nvPr/>
        </p:nvSpPr>
        <p:spPr>
          <a:xfrm>
            <a:off x="1009954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7270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5441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of depth/width/resolution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EmotionCNN (this project) is a small custom 3-block architecture — closest in spirit to the LeNet / early-VGG era of design.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EmotionCNN — the architecture trained on this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convolutional blocks (Conv → BatchNorm → ReLU → MaxPool) doubling channels while halving spatial size, then a dropout-regularized classifier head.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59536" cy="1417320"/>
          </a:xfrm>
          <a:prstGeom prst="rect">
            <a:avLst>
              <a:gd name="adj" fmla="val 6383"/>
            </a:avLst>
          </a:prstGeom>
          <a:solidFill>
            <a:srgbClr val="5B6478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221992"/>
            <a:ext cx="76809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3639312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1×48×48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08176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45336" y="2148840"/>
            <a:ext cx="1161288" cy="1417320"/>
          </a:xfrm>
          <a:prstGeom prst="rect">
            <a:avLst>
              <a:gd name="adj" fmla="val 4724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91056" y="2221992"/>
            <a:ext cx="106984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32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08176" y="363931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→ ReLU → Pool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43784" y="2148840"/>
            <a:ext cx="813816" cy="1417320"/>
          </a:xfrm>
          <a:prstGeom prst="rect">
            <a:avLst>
              <a:gd name="adj" fmla="val 6742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2221992"/>
            <a:ext cx="72237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24×24×32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94760" y="2148840"/>
            <a:ext cx="1161288" cy="1417320"/>
          </a:xfrm>
          <a:prstGeom prst="rect">
            <a:avLst>
              <a:gd name="adj" fmla="val 4724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2221992"/>
            <a:ext cx="106984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64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363931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→ ReLU → Pool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56048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93208" y="2148840"/>
            <a:ext cx="813816" cy="1417320"/>
          </a:xfrm>
          <a:prstGeom prst="rect">
            <a:avLst>
              <a:gd name="adj" fmla="val 6742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221992"/>
            <a:ext cx="72237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12×12×64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07024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44184" y="2148840"/>
            <a:ext cx="1161288" cy="1417320"/>
          </a:xfrm>
          <a:prstGeom prst="rect">
            <a:avLst>
              <a:gd name="adj" fmla="val 4724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9904" y="2221992"/>
            <a:ext cx="106984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128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07024" y="363931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→ ReLU → Pool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05472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42632" y="2148840"/>
            <a:ext cx="813816" cy="1417320"/>
          </a:xfrm>
          <a:prstGeom prst="rect">
            <a:avLst>
              <a:gd name="adj" fmla="val 6742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2221992"/>
            <a:ext cx="72237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6×6×128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93608" y="2148840"/>
            <a:ext cx="813816" cy="1417320"/>
          </a:xfrm>
          <a:prstGeom prst="rect">
            <a:avLst>
              <a:gd name="adj" fmla="val 6742"/>
            </a:avLst>
          </a:prstGeom>
          <a:solidFill>
            <a:srgbClr val="5B7FBF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39328" y="2221992"/>
            <a:ext cx="72237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56448" y="3639312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07424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44584" y="2148840"/>
            <a:ext cx="1335024" cy="1417320"/>
          </a:xfrm>
          <a:prstGeom prst="rect">
            <a:avLst>
              <a:gd name="adj" fmla="val 4110"/>
            </a:avLst>
          </a:prstGeom>
          <a:solidFill>
            <a:srgbClr val="1F3A6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290304" y="2221992"/>
            <a:ext cx="1243584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.4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256, ReLU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.3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79608" y="2857500"/>
            <a:ext cx="137160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716768" y="2148840"/>
            <a:ext cx="905256" cy="1417320"/>
          </a:xfrm>
          <a:prstGeom prst="rect">
            <a:avLst>
              <a:gd name="adj" fmla="val 6061"/>
            </a:avLst>
          </a:prstGeom>
          <a:solidFill>
            <a:srgbClr val="C9992E"/>
          </a:solidFill>
          <a:ln/>
          <a:effectLst>
            <a:outerShdw sx="100000" sy="100000" kx="0" ky="0" algn="bl" rotWithShape="0" blurRad="63500" dist="25400" dir="5400000">
              <a:srgbClr val="9AAFA6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762488" y="2221992"/>
            <a:ext cx="813816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79608" y="3639312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256032" cy="25603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943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97480" y="5989320"/>
            <a:ext cx="256032" cy="25603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0" y="5943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dropout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5989320"/>
            <a:ext cx="256032" cy="256032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5943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95160" y="5989320"/>
            <a:ext cx="256032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5943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Feature-map size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052560" y="5943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1,273,538 trainable parameters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is — and is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828800"/>
          </a:xfrm>
          <a:prstGeom prst="rect">
            <a:avLst>
              <a:gd name="adj" fmla="val 4000"/>
            </a:avLst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a relabeled facial-expression set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(derived from the classic FER-style emotion images) — it is not clinically-diagnosed depression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it learns to recognize an expression pattern the dataset creator labeled “depressive,” not to diagnose depression. Facial expression alone is not a validated clinical marker of depression.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56616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4041648"/>
            <a:ext cx="384048" cy="384048"/>
          </a:xfrm>
          <a:prstGeom prst="oval">
            <a:avLst/>
          </a:prstGeom>
          <a:solidFill>
            <a:srgbClr val="1F3A6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Emotion-image classification demo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visual expression patterns from a labeled image 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794760"/>
            <a:ext cx="356616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4041648"/>
            <a:ext cx="384048" cy="384048"/>
          </a:xfrm>
          <a:prstGeom prst="oval">
            <a:avLst/>
          </a:prstGeom>
          <a:solidFill>
            <a:srgbClr val="C999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5371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validation; outputs should never be read as a mental-health assessment.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794760"/>
            <a:ext cx="356616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4041648"/>
            <a:ext cx="384048" cy="384048"/>
          </a:xfrm>
          <a:prstGeom prst="oval">
            <a:avLst/>
          </a:prstGeom>
          <a:solidFill>
            <a:srgbClr val="1F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0275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 this deck is 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training run, real numbers — reported with this caveat attached.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Two-class facial-expression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properties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gudiyasingh/emotion-dataset-for-mental-health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20939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Depressive, Neutral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963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98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(1 channel)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0098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9456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(author-provided)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056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CC0: Public Domain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5212080" cy="960120"/>
          </a:xfrm>
          <a:prstGeom prst="rect">
            <a:avLst>
              <a:gd name="adj" fmla="val 5714"/>
            </a:avLst>
          </a:prstGeom>
          <a:solidFill>
            <a:srgbClr val="EEF1F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  •   </a:t>
            </a:r>
            <a:pPr indent="0" marL="0">
              <a:buNone/>
            </a:pPr>
            <a:r>
              <a:rPr lang="en-US" sz="20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3,838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7881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split (train, validation, and test each carry this class distribution)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per class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1691640"/>
            <a:ext cx="5486400" cy="4343400"/>
          </a:xfrm>
          <a:prstGeom prst="rect">
            <a:avLst>
              <a:gd name="adj" fmla="val 842"/>
            </a:avLst>
          </a:prstGeom>
          <a:solidFill>
            <a:srgbClr val="16213E"/>
          </a:solidFill>
          <a:ln/>
        </p:spPr>
      </p:sp>
      <p:pic>
        <p:nvPicPr>
          <p:cNvPr id="30" name="Image 0" descr="/home/claude/crops2/sample_gri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148840"/>
            <a:ext cx="5212080" cy="165506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263640" y="39136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depressive-labeled  ·  Bottom row: neutral-labeled  ·  raw dataset thumbnails, unaugmented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63640" y="5349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original FER-style emotion photos, relabeled by the dataset author — not clinically annotated.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image to model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oval">
            <a:avLst/>
          </a:prstGeom>
          <a:solidFill>
            <a:srgbClr val="1F3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276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1 channel for safety (images are already grayscale).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48840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487168"/>
            <a:ext cx="502920" cy="502920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4688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 — native size, no upsampling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2990088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328416"/>
            <a:ext cx="502920" cy="502920"/>
          </a:xfrm>
          <a:prstGeom prst="oval">
            <a:avLst/>
          </a:prstGeom>
          <a:solidFill>
            <a:srgbClr val="1F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31012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(p=0.5) + random rotation (±10°) to curb overfitting.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3831336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169664"/>
            <a:ext cx="502920" cy="502920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513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513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pixel values from [0, 255] to [0.0, 1.0].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" y="4672584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010912"/>
            <a:ext cx="502920" cy="502920"/>
          </a:xfrm>
          <a:prstGeom prst="oval">
            <a:avLst/>
          </a:prstGeom>
          <a:solidFill>
            <a:srgbClr val="1F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9926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499262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 with dataset mean=0.5057, std=0.2128 — stabilizes gradient-based training.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ReduceLROnPlateau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3, on val loss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CrossEntropyLoss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applied internally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early-stopped on best val loss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566160" cy="1417320"/>
          </a:xfrm>
          <a:prstGeom prst="rect">
            <a:avLst>
              <a:gd name="adj" fmla="val 4516"/>
            </a:avLst>
          </a:prstGeom>
          <a:solidFill>
            <a:srgbClr val="EEF1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BatchNorm + Dropout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/ 0.3 + light augmentation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960120"/>
          </a:xfrm>
          <a:prstGeom prst="rect">
            <a:avLst>
              <a:gd name="adj" fmla="val 5714"/>
            </a:avLst>
          </a:prstGeom>
          <a:solidFill>
            <a:srgbClr val="0F1B3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optimizer step, traced end to end: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0.7423 → backward() → gradients confirmed flowing from fc2 (norm 1.20) all the way back to block1 conv (norm 0.32) → optimizer.step() → loss 0.6395.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run — loss &amp; accuracy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40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645920"/>
          <a:ext cx="5440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34840"/>
          </a:xfrm>
          <a:prstGeom prst="rect">
            <a:avLst>
              <a:gd name="adj" fmla="val 2222"/>
            </a:avLst>
          </a:prstGeom>
          <a:solidFill>
            <a:srgbClr val="0F1B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7,067 held-out test 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      Precision        Recall        F1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1788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628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28 · val loss 0.3687 · val acc 82.4%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 rot="16200000">
            <a:off x="3474720" y="3383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48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2468880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2468880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2468880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2579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172200" y="2468880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468880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200400" y="3886200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3886200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3886200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172200" y="3886200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886200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inference on new photos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checkpoint's predict_image() pipeline run on four photos uploaded directly through the notebook's file-upload widget — not from the dataset.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4343400"/>
          </a:xfrm>
          <a:prstGeom prst="rect">
            <a:avLst>
              <a:gd name="adj" fmla="val 2105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62348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30000"/>
              </a:srgbClr>
            </a:outerShdw>
          </a:effectLst>
        </p:spPr>
      </p:sp>
      <p:pic>
        <p:nvPicPr>
          <p:cNvPr id="7" name="Image 0" descr="/home/claude/crops2/pred_new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68" y="2011680"/>
            <a:ext cx="1887183" cy="2057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(72.5% confidence)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479145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88136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88136" y="4818888"/>
            <a:ext cx="394792" cy="164592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13" name="Text 10"/>
          <p:cNvSpPr/>
          <p:nvPr/>
        </p:nvSpPr>
        <p:spPr>
          <a:xfrm>
            <a:off x="2578608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88136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88136" y="5111496"/>
            <a:ext cx="1040816" cy="16459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7" name="Text 14"/>
          <p:cNvSpPr/>
          <p:nvPr/>
        </p:nvSpPr>
        <p:spPr>
          <a:xfrm>
            <a:off x="2578608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19272" y="1783080"/>
            <a:ext cx="2606040" cy="4343400"/>
          </a:xfrm>
          <a:prstGeom prst="rect">
            <a:avLst>
              <a:gd name="adj" fmla="val 2105"/>
            </a:avLst>
          </a:prstGeom>
          <a:solidFill>
            <a:srgbClr val="EEF1F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32980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30000"/>
              </a:srgbClr>
            </a:outerShdw>
          </a:effectLst>
        </p:spPr>
      </p:sp>
      <p:pic>
        <p:nvPicPr>
          <p:cNvPr id="20" name="Image 1" descr="/home/claude/crops2/pred_new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00" y="2011680"/>
            <a:ext cx="1887183" cy="2057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29000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(64.6% confidence)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56432" y="479145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858768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58768" y="4818888"/>
            <a:ext cx="508205" cy="164592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26" name="Text 22"/>
          <p:cNvSpPr/>
          <p:nvPr/>
        </p:nvSpPr>
        <p:spPr>
          <a:xfrm>
            <a:off x="5349240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35.4%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456432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858768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858768" y="5111496"/>
            <a:ext cx="927403" cy="16459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Text 26"/>
          <p:cNvSpPr/>
          <p:nvPr/>
        </p:nvSpPr>
        <p:spPr>
          <a:xfrm>
            <a:off x="5349240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089904" y="1783080"/>
            <a:ext cx="2606040" cy="4343400"/>
          </a:xfrm>
          <a:prstGeom prst="rect">
            <a:avLst>
              <a:gd name="adj" fmla="val 2105"/>
            </a:avLst>
          </a:prstGeom>
          <a:solidFill>
            <a:srgbClr val="EEF1F8"/>
          </a:solidFill>
          <a:ln/>
        </p:spPr>
      </p:sp>
      <p:sp>
        <p:nvSpPr>
          <p:cNvPr id="32" name="Shape 28"/>
          <p:cNvSpPr/>
          <p:nvPr/>
        </p:nvSpPr>
        <p:spPr>
          <a:xfrm>
            <a:off x="6329605" y="1965960"/>
            <a:ext cx="212663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30000"/>
              </a:srgbClr>
            </a:outerShdw>
          </a:effectLst>
        </p:spPr>
      </p:sp>
      <p:pic>
        <p:nvPicPr>
          <p:cNvPr id="33" name="Image 2" descr="/home/claude/crops2/pred_new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325" y="2011680"/>
            <a:ext cx="2035198" cy="2057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99632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199632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(90.3% confidence)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27064" y="479145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629400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29400" y="4818888"/>
            <a:ext cx="1296354" cy="164592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39" name="Text 34"/>
          <p:cNvSpPr/>
          <p:nvPr/>
        </p:nvSpPr>
        <p:spPr>
          <a:xfrm>
            <a:off x="8119872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27064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629400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629400" y="5111496"/>
            <a:ext cx="139254" cy="16459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3" name="Text 38"/>
          <p:cNvSpPr/>
          <p:nvPr/>
        </p:nvSpPr>
        <p:spPr>
          <a:xfrm>
            <a:off x="8119872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8860536" y="1783080"/>
            <a:ext cx="2606040" cy="4343400"/>
          </a:xfrm>
          <a:prstGeom prst="rect">
            <a:avLst>
              <a:gd name="adj" fmla="val 2105"/>
            </a:avLst>
          </a:prstGeom>
          <a:solidFill>
            <a:srgbClr val="EEF1F8"/>
          </a:solidFill>
          <a:ln/>
        </p:spPr>
      </p:sp>
      <p:sp>
        <p:nvSpPr>
          <p:cNvPr id="45" name="Shape 40"/>
          <p:cNvSpPr/>
          <p:nvPr/>
        </p:nvSpPr>
        <p:spPr>
          <a:xfrm>
            <a:off x="9103937" y="1965960"/>
            <a:ext cx="211923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FA6">
                <a:alpha val="30000"/>
              </a:srgbClr>
            </a:outerShdw>
          </a:effectLst>
        </p:spPr>
      </p:sp>
      <p:pic>
        <p:nvPicPr>
          <p:cNvPr id="46" name="Image 3" descr="/home/claude/crops2/pred_new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657" y="2011680"/>
            <a:ext cx="2027797" cy="20574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970264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970264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(89.4% confidence)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8997696" y="479145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9400032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400032" y="4818888"/>
            <a:ext cx="1283434" cy="164592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52" name="Text 46"/>
          <p:cNvSpPr/>
          <p:nvPr/>
        </p:nvSpPr>
        <p:spPr>
          <a:xfrm>
            <a:off x="10890504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8997696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9400032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400032" y="5111496"/>
            <a:ext cx="152174" cy="164592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56" name="Text 50"/>
          <p:cNvSpPr/>
          <p:nvPr/>
        </p:nvSpPr>
        <p:spPr>
          <a:xfrm>
            <a:off x="10890504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 emotion-image classification demo, not a clinical depression assessment — not for interpreting real people's mental health.</a:t>
            </a:r>
            <a:endParaRPr lang="en-US" sz="1050" dirty="0"/>
          </a:p>
        </p:txBody>
      </p:sp>
      <p:sp>
        <p:nvSpPr>
          <p:cNvPr id="58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2926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73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231136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214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Dropout(0.4/0.3) kept the train/val gap small — val accuracy tracked above train accuracy for most of training.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3163824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054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caught the point of diminishing returns; best checkpoint landed at epoch 28 of 30.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096512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augmentation (flip + ±10° rotation) was enough regularization for a ~14k-image dataset — no signs of memorization.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54864" cy="2926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73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would break down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2231136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1214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 accuracy leaves a meaningful error rate — 650 depressive images misclassified as neutral, 592 the other way.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163824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3054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“Depressive” here means an expression pattern the dataset author labeled, not a diagnosis — the model has no access to clinical ground truth.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096512"/>
            <a:ext cx="73152" cy="73152"/>
          </a:xfrm>
          <a:prstGeom prst="oval">
            <a:avLst/>
          </a:prstGeom>
          <a:solidFill>
            <a:srgbClr val="5B7FBF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Train/validation/test splits carry identical class counts (3,229 / 3,838 each) — worth double-checking the split wasn't inadvertently duplicated before trusting val/test as independent.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1691640"/>
            <a:ext cx="0" cy="457200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pipeline, honestly reported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13432"/>
            <a:ext cx="54864" cy="640080"/>
          </a:xfrm>
          <a:prstGeom prst="rect">
            <a:avLst/>
          </a:prstGeom>
          <a:solidFill>
            <a:srgbClr val="5B7FB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2402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 from CNN fundamentals, through well-known architectures, to a from-scratch PyTorch CNN (1.27M params) reaching 82.4% test accuracy on a genuinely held-out 7,067-image test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54864" cy="640080"/>
          </a:xfrm>
          <a:prstGeom prst="rect">
            <a:avLst/>
          </a:prstGeom>
          <a:solidFill>
            <a:srgbClr val="5B7FB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6440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— the curves, the confusion matrix, the metrics, all four live-inference examples — comes from real runs, not placeholders.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61688"/>
            <a:ext cx="54864" cy="640080"/>
          </a:xfrm>
          <a:prstGeom prst="rect">
            <a:avLst/>
          </a:prstGeom>
          <a:solidFill>
            <a:srgbClr val="C9992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288536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expression-image classification, not clinical depression detection — that distinction is reported everywhere in this deck, not just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385816"/>
            <a:ext cx="54864" cy="640080"/>
          </a:xfrm>
          <a:prstGeom prst="rect">
            <a:avLst/>
          </a:prstGeom>
          <a:solidFill>
            <a:srgbClr val="5B7FB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312664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verify the train/val/test split independence, then evaluate on a second facial-expression dataset to check generalization.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Facial Expressions | CNN Case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2026-07-29T06:16:53Z</dcterms:created>
  <dcterms:modified xsi:type="dcterms:W3CDTF">2026-07-29T06:16:53Z</dcterms:modified>
</cp:coreProperties>
</file>