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1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25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507492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73568" y="5230368"/>
            <a:ext cx="46634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73568" y="5370271"/>
            <a:ext cx="38240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73568" y="5510174"/>
            <a:ext cx="29846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98280" y="507492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253728" y="5230368"/>
            <a:ext cx="46634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53728" y="5370271"/>
            <a:ext cx="38240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53728" y="5510174"/>
            <a:ext cx="29846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61320" y="507492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716768" y="5230368"/>
            <a:ext cx="46634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16768" y="5370271"/>
            <a:ext cx="38240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716768" y="5510174"/>
            <a:ext cx="29846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0" y="5463540"/>
            <a:ext cx="32004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212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378440" y="5501640"/>
            <a:ext cx="9144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75720" y="520750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393424" y="5463540"/>
            <a:ext cx="64008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4754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98280" y="4754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84280" y="47548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COMMAND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Prompts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for combining multiple prompts to accomplish a single goal — sequential, parallel, sampling, exploration, and loop.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44805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prompt to a chain of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two chapters treated a prompt as a single unit fulfilling one task. Some tasks need more: breaking the work into multiple prompts that pass results to one another until the goal is complete.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363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Prompts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88820" y="37947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16836" y="3922776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16836" y="4037990"/>
            <a:ext cx="314919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16836" y="4153205"/>
            <a:ext cx="245791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built from layered instructions.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60604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1363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Patterns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46420" y="37947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74436" y="3922776"/>
            <a:ext cx="384048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4436" y="4037990"/>
            <a:ext cx="314919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4436" y="4153205"/>
            <a:ext cx="245791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per task, repeated across use cases.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260604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2834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1363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Prompts (this one)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75320" y="3886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75904" y="3986784"/>
            <a:ext cx="30175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75904" y="4077310"/>
            <a:ext cx="247437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75904" y="4167835"/>
            <a:ext cx="193121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23960" y="38679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0" y="3886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44584" y="3986784"/>
            <a:ext cx="30175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44584" y="4077310"/>
            <a:ext cx="247437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44584" y="4167835"/>
            <a:ext cx="193121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92640" y="38679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12680" y="38862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113264" y="3986784"/>
            <a:ext cx="30175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113264" y="4077310"/>
            <a:ext cx="247437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113264" y="4167835"/>
            <a:ext cx="193121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0" y="475488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prompts combined into one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SEQUENTIAL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a lengthy task into ordered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prompt would need too many instructions at once, the response loses detail. Splitting it into subtasks — each feeding its output to the next — keeps every step focused, and lets you add human checks along the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8076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076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1700" y="3406140"/>
            <a:ext cx="2743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00884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00884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00884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4508" y="3406140"/>
            <a:ext cx="2743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3692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3692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93692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57316" y="3406140"/>
            <a:ext cx="2743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86500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86500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Beats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6500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50124" y="3406140"/>
            <a:ext cx="2743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79308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79308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79308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42932" y="3406140"/>
            <a:ext cx="2743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2116" y="30175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72116" y="30175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72116" y="2724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enters a short story summary. That becomes the prompt to generate a title, then characters, then story beats, then locations — each response folding into the next prompt — until the final dialogue is generated.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PARALLEL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independent subtasks side by side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chains suit dependent subtasks. When steps don't depend on each other, running them in parallel and combining the results afterward is faster.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3182112"/>
            <a:ext cx="356616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3289097"/>
            <a:ext cx="292425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" y="3396082"/>
            <a:ext cx="22823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07592" y="3360420"/>
            <a:ext cx="1286256" cy="675132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8952" y="4096512"/>
            <a:ext cx="356616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8952" y="4203497"/>
            <a:ext cx="292425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" y="4310482"/>
            <a:ext cx="22823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1307592" y="4249522"/>
            <a:ext cx="1286256" cy="25298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" y="5010912"/>
            <a:ext cx="356616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" y="5117897"/>
            <a:ext cx="292425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" y="5224882"/>
            <a:ext cx="22823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307592" y="4422648"/>
            <a:ext cx="1286256" cy="766572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67000" y="391668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5872" y="4035552"/>
            <a:ext cx="356616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85872" y="4142537"/>
            <a:ext cx="292425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85872" y="4249522"/>
            <a:ext cx="22823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29840" y="5552237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4512" y="4213860"/>
            <a:ext cx="731520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84320" y="3994404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96512" y="555223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meal-planning example: generate a recipe for each meal in parallel, then consolidate the ingredients into one shopping list.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19202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PER MEAL, IN PARALLEL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0" y="224028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f'Suggest a simple and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recipe for {meal}. Write in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containing "Ingredients" and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"Instructions"'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3657600"/>
            <a:ext cx="4617720" cy="0"/>
          </a:xfrm>
          <a:prstGeom prst="line">
            <a:avLst/>
          </a:prstGeom>
          <a:noFill/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3840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CONSOLIDATE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416052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f'''Consolidate the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following ingredients into a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shopping list, without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{ingredients}'''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SAMPLING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multiple paths, then vote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logical or mathematical reasoning, raising the temperature encourages creative exploration — but also raises the risk of a wrong answer. Self-consistency samples the same question several times at a higher temperature and takes the majority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3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(ONE PATH)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172968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Janet's ducks lay 16 eggs/day. She eats 3, bakes muffins with 4, sells the rest for $2/egg. How much does she make daily?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4343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3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“She sells the remainder for $2 × (16-4-3) = $26/day.”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51663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a single reasoning path, one chance to go wrong.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012C30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(SAMPLE + VOTE)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1729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sampled 3× at a higher, more diverse temperature: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370332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  (✓✓)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43484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  (✓✓)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5029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→ “The answer is $18.” — correct.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54406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paths cancel out individual mistakes.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Explore, evaluate, and vote at every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complex, multi-step reasoning, break the task into pieces. At each step the model generates several diverse solutions; a separate prompt evaluates and votes for the best one before moving on — the Tree of Thoughts approach (Yao et al.).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37276" y="27889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9032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9836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E8F6F3"/>
          </a:solidFill>
          <a:ln w="1905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37276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14716" y="3703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E8F6F3"/>
          </a:solidFill>
          <a:ln w="1905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8176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59836" y="46177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37276" y="46177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E8F6F3"/>
          </a:solidFill>
          <a:ln w="1905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14716" y="46177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E8F6F3"/>
          </a:solidFill>
          <a:ln w="1905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7320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3717036" y="3291840"/>
            <a:ext cx="2377440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94476" y="3291840"/>
            <a:ext cx="9144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4476" y="3291840"/>
            <a:ext cx="2377440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3717036" y="4206240"/>
            <a:ext cx="2377440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4476" y="4206240"/>
            <a:ext cx="9144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94476" y="4206240"/>
            <a:ext cx="2377440" cy="41148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61004" y="5440680"/>
            <a:ext cx="512064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7036" y="5120640"/>
            <a:ext cx="0" cy="320040"/>
          </a:xfrm>
          <a:prstGeom prst="line">
            <a:avLst/>
          </a:prstGeom>
          <a:noFill/>
          <a:ln w="12700">
            <a:solidFill>
              <a:srgbClr val="C9DED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59836" y="5925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nodes mark the option that wins the vote at each step and carries forward.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a step until it passes a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later step needs to validate an earlier one — for quality, format, or meaning. If the check fails, route the task back and try again.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" y="3172968"/>
            <a:ext cx="46634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3312871"/>
            <a:ext cx="38240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3452774"/>
            <a:ext cx="29846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017520"/>
            <a:ext cx="777240" cy="777240"/>
          </a:xfrm>
          <a:prstGeom prst="roundRect">
            <a:avLst>
              <a:gd name="adj" fmla="val 5882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07208" y="3172968"/>
            <a:ext cx="466344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07208" y="3312871"/>
            <a:ext cx="382402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07208" y="3452774"/>
            <a:ext cx="29846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90472" y="3406140"/>
            <a:ext cx="1115568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86200" y="31866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02152" y="3406140"/>
            <a:ext cx="384048" cy="0"/>
          </a:xfrm>
          <a:prstGeom prst="line">
            <a:avLst/>
          </a:prstGeom>
          <a:noFill/>
          <a:ln w="1905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(YES)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8700" y="3794760"/>
            <a:ext cx="0" cy="502920"/>
          </a:xfrm>
          <a:prstGeom prst="line">
            <a:avLst/>
          </a:prstGeom>
          <a:noFill/>
          <a:ln w="19050">
            <a:solidFill>
              <a:srgbClr val="F3A5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8700" y="4297680"/>
            <a:ext cx="2011680" cy="0"/>
          </a:xfrm>
          <a:prstGeom prst="line">
            <a:avLst/>
          </a:prstGeom>
          <a:noFill/>
          <a:ln w="19050">
            <a:solidFill>
              <a:srgbClr val="F3A5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40380" y="4297680"/>
            <a:ext cx="0" cy="0"/>
          </a:xfrm>
          <a:prstGeom prst="line">
            <a:avLst/>
          </a:prstGeom>
          <a:noFill/>
          <a:ln w="19050">
            <a:solidFill>
              <a:srgbClr val="F3A5A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726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(NO)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rephrasing a rude comment politely, then checking the rephrase still preserves the original meaning — looping back to rephrase again on “NO”.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REPHRASE PROMPT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really don’t have time for this nonsense."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2651760"/>
            <a:ext cx="4617720" cy="0"/>
          </a:xfrm>
          <a:prstGeom prst="line">
            <a:avLst/>
          </a:prstGeom>
          <a:noFill/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1089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we might need to set aside some time to discuss this properly."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3703320"/>
            <a:ext cx="4617720" cy="0"/>
          </a:xfrm>
          <a:prstGeom prst="line">
            <a:avLst/>
          </a:prstGeom>
          <a:noFill/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38404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PROMPT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1605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"Does the rephrase preserve the original meaning? Answer YES or NO."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8006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0" y="4800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finish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only when it's truly necessary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unlocks complex use cases, but every extra prompt in the chain has a cost. Weigh these trade-offs before adding another link.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834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step in the chain adds to the total time from start to finish. For latency-sensitive applications, keep the chain as short as possible.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834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40233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prompts mean more model calls — and more spend. Sampling and exploration patterns multiply this further by design.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reach for chaining when a single prompt genuinely can't do the job — not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turns single prompts into pipelines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opens up real creative room in prompt engineering — sequential, parallel, sampling, exploration, and loop patterns each solve a different shape of problem. It comes with latency and cost trade-offs, but balancing them is what makes production-ready LLM applications possible.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36576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36576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36576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245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422452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42245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links, more control — more cost.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38160" y="361188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only when a single prompt genuinely can't fulfill the task — then keep the chain as short as the goal allows.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950</Words>
  <Application>Microsoft Office PowerPoint</Application>
  <PresentationFormat>Widescreen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2026-08-23T19:13:11Z</dcterms:created>
  <dcterms:modified xsi:type="dcterms:W3CDTF">2026-08-24T13:05:56Z</dcterms:modified>
</cp:coreProperties>
</file>