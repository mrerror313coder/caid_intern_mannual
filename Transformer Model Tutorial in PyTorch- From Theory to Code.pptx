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5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7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Audience: CS students new to Transformers — assume basic PyTorch + linear algebra.
- Arc: intuition first, then math, then PyTorch code — every block rebuilt from scratch.
- Four chapters: Foundations → Building Blocks → Encoder/Decoder → Training.
- Source deck: Arjun Sarkar / DataCamp, anchored to Vaswani et al. NeurIPS 2017.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chapter sets up the “why” before the “how”.
- Next slide walks through LSTM limitations and the parallelism case.
- Then we preview the full encoder-decoder architecture at a glance.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Parallelism is what unlocks GPU scale — weeks to hours.
- Attention solves long-range decay that plagued LSTMs.
- Multi-head attention gives multi-perspective context per layer.
- This shift is what made BERT and GPT possible.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Encoder = representation learner; decoder = autoregressive generator.
- N = 6 layers in the original Vaswani et al. paper.
- Every block we build in the next chapter plugs into this skeleton.
- Cross-attention is the bridge between encoder output and decoder state.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longest chapter of the deck.
- Each primitive gets its own dedicated slide.
- Math is introduced alongside PyTorch code so intuition and implementation arrive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only hard dimension constraint is assert d_model % num_heads == 0 — heads must divide the model width evenly.
- W_o is the learned 'mixer' across heads — it decides how each head's output combines into the final vector.
- d_k controls per-head capacity; smaller heads force specialization, more heads means thinner subspaces each.
- The next slide unpacks the scaled dot-product math used inside every head.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Stress that √d_k is the 'scaled' in scaled dot-product — it prevents softmax saturation.
- Masking is what makes decoder self-attention causal by zeroing future-token logits.
- Softmax is applied over the last dim — i.e. across keys, normalizing each query row.
- This single function is reused for self-, cross-, and masked-attention with only the mask changing.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d_ff is conventionally 4× d_model — the wider hidden layer is where feature mixing happens.
- Position-wise means no cross-token mixing here; that role belongs entirely to attention.
- ReLU is the original activation; modern variants use GELU or SwiGLU for slightly better gradients.
- This is the second of three core building blocks (after multi-head attention, before positional encoding).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div_term = exp(...) is the rewritten 1/10000^(2i/d_model) form for numerical stability.
- register_buffer means pe moves with .to(device) automatically — no manual device juggling.
- Slicing pe[:, :x.size(1)] handles variable-length inputs without re-allocating the table.
- Sinusoidal vs learned is a design choice — BERT uses learned positional embeddings.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Encoder and decoder share the same building blocks but compose them differently.
- The decoder's cross-attention is the key innovation that lets it condition on the source sequence.
- This chapter is the bridge between primitives and the full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Every encoder layer has the SAME structure; only the learned weights differ between layers.
 - The original paper stacks Nx=6 of these layers — depth is what gives the model capacity.
 - Residual + LayerNorm is the pattern that lets you stack deep without gradients vanishing.
 - Dropout is applied to the sub-layer output BEFORE the residual add — not after.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Decoder has 3 LayerNorms (one per sub-layer) vs encoder's 2.
 - Cross-attention is the only place where encoder and decoder interact.
 - The no-peak mask is what makes generation autoregressive — position i cannot see position i+1.
 - Source and target masks are passed separately because they have different shapes.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payoff chapter where everything plugs together.
 - Masking is the trickiest implementation detail — set expectations.
 - The training loop here is intentionally minimal; real projects add LR scheduling, label smoothing, and beam 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nn.ModuleList registers layers so their parameters are tracked by the optimizer.
 - The unsqueeze pattern aligns mask shape with attention scores (batch, num_heads, seq, seq).
 - torch.triu(diagonal=1) zeros the diagonal and below — keeps only the lower triangle.
 - Masks are recomputed every forward because seq_len can vary per batch.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epochs is illustrative — random data won't show real learning.
 - betas=(0.9, 0.98) is the original Vaswani et al. paper setting.
 - Label smoothing and LR warmup are common additions in real training pipelines.
 - val_loss on random data tells you the model runs but not that it learned.
 - In production swap random data for a real parallel corpus (e.g. WMT).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building blocks are reusable beyond seq2seq — ViT uses them for images, audio models for spectrograms.
 - Suggest "The Annotated Transformer" (Harvard NLP) as a complementary line-by-line read.
 - Encourage students to swap random data for a real MT dataset (WMT14, IWSLT) next.
 - This exact skeleton scales to GPT-3-class models with more layers, more data, more compute.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72828" y="774459"/>
            <a:ext cx="4846922" cy="2295194"/>
          </a:xfrm>
          <a:prstGeom prst="rect">
            <a:avLst/>
          </a:prstGeom>
          <a:noFill/>
          <a:ln/>
        </p:spPr>
        <p:txBody>
          <a:bodyPr wrap="square" lIns="0" tIns="0" rIns="0" bIns="0" rtlCol="0" anchor="t"/>
          <a:lstStyle/>
          <a:p>
            <a:pPr marL="0" indent="0" algn="l">
              <a:buNone/>
            </a:pPr>
            <a:r>
              <a:rPr lang="en-US" sz="4800" b="1" kern="0" spc="-63" dirty="0">
                <a:solidFill>
                  <a:srgbClr val="1E3A8A"/>
                </a:solidFill>
                <a:latin typeface="Carlito" pitchFamily="34" charset="0"/>
                <a:ea typeface="Carlito" pitchFamily="34" charset="-122"/>
                <a:cs typeface="Carlito" pitchFamily="34" charset="-120"/>
              </a:rPr>
              <a:t>Transformer Model in PyTorch</a:t>
            </a:r>
            <a:endParaRPr lang="en-US" sz="4800" dirty="0"/>
          </a:p>
        </p:txBody>
      </p:sp>
      <p:sp>
        <p:nvSpPr>
          <p:cNvPr id="4" name="Text 2"/>
          <p:cNvSpPr/>
          <p:nvPr/>
        </p:nvSpPr>
        <p:spPr>
          <a:xfrm>
            <a:off x="581727" y="3221444"/>
            <a:ext cx="4429125" cy="492088"/>
          </a:xfrm>
          <a:prstGeom prst="rect">
            <a:avLst/>
          </a:prstGeom>
          <a:noFill/>
          <a:ln/>
        </p:spPr>
        <p:txBody>
          <a:bodyPr wrap="square" lIns="0" tIns="0" rIns="0" bIns="0" rtlCol="0" anchor="t"/>
          <a:lstStyle/>
          <a:p>
            <a:pPr marL="0" indent="0" algn="l">
              <a:lnSpc>
                <a:spcPts val="1794"/>
              </a:lnSpc>
              <a:buNone/>
            </a:pPr>
            <a:r>
              <a:rPr lang="en-US" sz="1238" dirty="0">
                <a:solidFill>
                  <a:srgbClr val="334155"/>
                </a:solidFill>
                <a:latin typeface="Carlito" pitchFamily="34" charset="0"/>
                <a:ea typeface="Carlito" pitchFamily="34" charset="-122"/>
                <a:cs typeface="Carlito" pitchFamily="34" charset="-120"/>
              </a:rPr>
              <a:t>From Theory to Code — a component-by-component walkthrough of the architecture that rewrote NLP.</a:t>
            </a:r>
            <a:endParaRPr lang="en-US" sz="1238" dirty="0"/>
          </a:p>
        </p:txBody>
      </p:sp>
      <p:sp>
        <p:nvSpPr>
          <p:cNvPr id="5" name="Text 3"/>
          <p:cNvSpPr/>
          <p:nvPr/>
        </p:nvSpPr>
        <p:spPr>
          <a:xfrm>
            <a:off x="514350" y="2362572"/>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pic>
        <p:nvPicPr>
          <p:cNvPr id="16" name="Image 0" descr="/tmp/h2p-fit-1785827682588-4thq2v.png"/>
          <p:cNvPicPr>
            <a:picLocks noChangeAspect="1"/>
          </p:cNvPicPr>
          <p:nvPr/>
        </p:nvPicPr>
        <p:blipFill>
          <a:blip r:embed="rId3"/>
          <a:stretch>
            <a:fillRect/>
          </a:stretch>
        </p:blipFill>
        <p:spPr>
          <a:xfrm>
            <a:off x="5486400" y="0"/>
            <a:ext cx="3657600" cy="5143500"/>
          </a:xfrm>
          <a:prstGeom prst="rect">
            <a:avLst/>
          </a:prstGeom>
        </p:spPr>
      </p:pic>
      <p:pic>
        <p:nvPicPr>
          <p:cNvPr id="17" name="Image 1" descr="preencoded.png"/>
          <p:cNvPicPr>
            <a:picLocks noChangeAspect="1"/>
          </p:cNvPicPr>
          <p:nvPr/>
        </p:nvPicPr>
        <p:blipFill>
          <a:blip r:embed="rId4"/>
          <a:stretch>
            <a:fillRect/>
          </a:stretch>
        </p:blipFill>
        <p:spPr>
          <a:xfrm>
            <a:off x="5486400" y="0"/>
            <a:ext cx="36576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4350" y="1671638"/>
            <a:ext cx="4663440" cy="1472756"/>
          </a:xfrm>
          <a:prstGeom prst="rect">
            <a:avLst/>
          </a:prstGeom>
          <a:noFill/>
          <a:ln/>
        </p:spPr>
        <p:txBody>
          <a:bodyPr wrap="none" lIns="0" tIns="0" rIns="0" bIns="0" rtlCol="0" anchor="t">
            <a:normAutofit/>
          </a:bodyPr>
          <a:lstStyle/>
          <a:p>
            <a:pPr marL="0" indent="0" algn="l">
              <a:lnSpc>
                <a:spcPts val="11138"/>
              </a:lnSpc>
              <a:buNone/>
            </a:pPr>
            <a:r>
              <a:rPr lang="en-US" sz="12375" b="1" kern="0" spc="-495" dirty="0">
                <a:solidFill>
                  <a:srgbClr val="1E3A8A"/>
                </a:solidFill>
                <a:latin typeface="Liberation Sans Narrow" pitchFamily="34" charset="0"/>
                <a:ea typeface="Liberation Sans Narrow" pitchFamily="34" charset="-122"/>
                <a:cs typeface="Liberation Sans Narrow" pitchFamily="34" charset="-120"/>
              </a:rPr>
              <a:t>01</a:t>
            </a:r>
            <a:endParaRPr lang="en-US" sz="12375" dirty="0"/>
          </a:p>
        </p:txBody>
      </p:sp>
      <p:sp>
        <p:nvSpPr>
          <p:cNvPr id="4" name="Text 2"/>
          <p:cNvSpPr/>
          <p:nvPr/>
        </p:nvSpPr>
        <p:spPr>
          <a:xfrm>
            <a:off x="3429000" y="1285875"/>
            <a:ext cx="28575" cy="2571750"/>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5" name="Text 3"/>
          <p:cNvSpPr/>
          <p:nvPr/>
        </p:nvSpPr>
        <p:spPr>
          <a:xfrm>
            <a:off x="3800475" y="1517489"/>
            <a:ext cx="5343525"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CHAPTER ONE</a:t>
            </a:r>
            <a:endParaRPr lang="en-US" sz="800" dirty="0"/>
          </a:p>
        </p:txBody>
      </p:sp>
      <p:sp>
        <p:nvSpPr>
          <p:cNvPr id="6" name="Text 4"/>
          <p:cNvSpPr/>
          <p:nvPr/>
        </p:nvSpPr>
        <p:spPr>
          <a:xfrm>
            <a:off x="3800475" y="1746089"/>
            <a:ext cx="5343525" cy="518368"/>
          </a:xfrm>
          <a:prstGeom prst="rect">
            <a:avLst/>
          </a:prstGeom>
          <a:noFill/>
          <a:ln/>
        </p:spPr>
        <p:txBody>
          <a:bodyPr wrap="none" lIns="0" tIns="0" rIns="0" bIns="0" rtlCol="0" anchor="t"/>
          <a:lstStyle/>
          <a:p>
            <a:pPr marL="0" indent="0" algn="l">
              <a:lnSpc>
                <a:spcPts val="3780"/>
              </a:lnSpc>
              <a:buNone/>
            </a:pPr>
            <a:r>
              <a:rPr lang="en-US" sz="3600" b="1" kern="0" spc="-72" dirty="0">
                <a:solidFill>
                  <a:srgbClr val="1E3A8A"/>
                </a:solidFill>
                <a:latin typeface="Carlito" pitchFamily="34" charset="0"/>
                <a:ea typeface="Carlito" pitchFamily="34" charset="-122"/>
                <a:cs typeface="Carlito" pitchFamily="34" charset="-120"/>
              </a:rPr>
              <a:t>Foundations</a:t>
            </a:r>
            <a:endParaRPr lang="en-US" sz="3600" dirty="0"/>
          </a:p>
        </p:txBody>
      </p:sp>
      <p:sp>
        <p:nvSpPr>
          <p:cNvPr id="7" name="Text 5"/>
          <p:cNvSpPr/>
          <p:nvPr/>
        </p:nvSpPr>
        <p:spPr>
          <a:xfrm>
            <a:off x="3800475" y="2383222"/>
            <a:ext cx="8572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8" name="Text 6"/>
          <p:cNvSpPr/>
          <p:nvPr/>
        </p:nvSpPr>
        <p:spPr>
          <a:xfrm>
            <a:off x="3800475" y="2540384"/>
            <a:ext cx="4286250" cy="492088"/>
          </a:xfrm>
          <a:prstGeom prst="rect">
            <a:avLst/>
          </a:prstGeom>
          <a:noFill/>
          <a:ln/>
        </p:spPr>
        <p:txBody>
          <a:bodyPr wrap="square" lIns="0" tIns="0" rIns="0" bIns="0" rtlCol="0" anchor="t"/>
          <a:lstStyle/>
          <a:p>
            <a:pPr marL="0" indent="0" algn="l">
              <a:lnSpc>
                <a:spcPts val="1794"/>
              </a:lnSpc>
              <a:buNone/>
            </a:pPr>
            <a:r>
              <a:rPr lang="en-US" sz="1238" dirty="0">
                <a:solidFill>
                  <a:srgbClr val="475569"/>
                </a:solidFill>
                <a:latin typeface="Carlito" pitchFamily="34" charset="0"/>
                <a:ea typeface="Carlito" pitchFamily="34" charset="-122"/>
                <a:cs typeface="Carlito" pitchFamily="34" charset="-120"/>
              </a:rPr>
              <a:t>Why attention replaced recurrence — and what we are about to build, block by block, in PyTorch.</a:t>
            </a:r>
            <a:endParaRPr lang="en-US" sz="1238" dirty="0"/>
          </a:p>
        </p:txBody>
      </p:sp>
      <p:sp>
        <p:nvSpPr>
          <p:cNvPr id="9" name="Text 7"/>
          <p:cNvSpPr/>
          <p:nvPr/>
        </p:nvSpPr>
        <p:spPr>
          <a:xfrm>
            <a:off x="3800475" y="3196047"/>
            <a:ext cx="1740225"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LIMITS OF RNNS</a:t>
            </a:r>
            <a:endParaRPr lang="en-US" sz="800" dirty="0"/>
          </a:p>
        </p:txBody>
      </p:sp>
      <p:sp>
        <p:nvSpPr>
          <p:cNvPr id="10" name="Text 8"/>
          <p:cNvSpPr/>
          <p:nvPr/>
        </p:nvSpPr>
        <p:spPr>
          <a:xfrm>
            <a:off x="3800475" y="3356781"/>
            <a:ext cx="1423607"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Sequential bottleneck, long-range decay.</a:t>
            </a:r>
            <a:endParaRPr lang="en-US" sz="800" dirty="0"/>
          </a:p>
        </p:txBody>
      </p:sp>
      <p:sp>
        <p:nvSpPr>
          <p:cNvPr id="11" name="Text 9"/>
          <p:cNvSpPr/>
          <p:nvPr/>
        </p:nvSpPr>
        <p:spPr>
          <a:xfrm>
            <a:off x="5343525" y="3196047"/>
            <a:ext cx="1740225"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SELF-ATTENTION</a:t>
            </a:r>
            <a:endParaRPr lang="en-US" sz="800" dirty="0"/>
          </a:p>
        </p:txBody>
      </p:sp>
      <p:sp>
        <p:nvSpPr>
          <p:cNvPr id="12" name="Text 10"/>
          <p:cNvSpPr/>
          <p:nvPr/>
        </p:nvSpPr>
        <p:spPr>
          <a:xfrm>
            <a:off x="5343525" y="3356781"/>
            <a:ext cx="1423607"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Every token sees every other token directly.</a:t>
            </a:r>
            <a:endParaRPr lang="en-US" sz="800" dirty="0"/>
          </a:p>
        </p:txBody>
      </p:sp>
      <p:sp>
        <p:nvSpPr>
          <p:cNvPr id="13" name="Text 11"/>
          <p:cNvSpPr/>
          <p:nvPr/>
        </p:nvSpPr>
        <p:spPr>
          <a:xfrm>
            <a:off x="6886575" y="3196047"/>
            <a:ext cx="1740225"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Liberation Sans Narrow" pitchFamily="34" charset="0"/>
                <a:ea typeface="Liberation Sans Narrow" pitchFamily="34" charset="-122"/>
                <a:cs typeface="Liberation Sans Narrow" pitchFamily="34" charset="-120"/>
              </a:rPr>
              <a:t>THE 2017 PAPER</a:t>
            </a:r>
            <a:endParaRPr lang="en-US" sz="800" dirty="0"/>
          </a:p>
        </p:txBody>
      </p:sp>
      <p:sp>
        <p:nvSpPr>
          <p:cNvPr id="14" name="Text 12"/>
          <p:cNvSpPr/>
          <p:nvPr/>
        </p:nvSpPr>
        <p:spPr>
          <a:xfrm>
            <a:off x="6886575" y="3356781"/>
            <a:ext cx="1423607"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Vaswani et al., “Attention Is All You Need”.</a:t>
            </a:r>
            <a:endParaRPr lang="en-US" sz="800" dirty="0"/>
          </a:p>
        </p:txBody>
      </p:sp>
      <p:sp>
        <p:nvSpPr>
          <p:cNvPr id="15" name="Text 13"/>
          <p:cNvSpPr/>
          <p:nvPr/>
        </p:nvSpPr>
        <p:spPr>
          <a:xfrm>
            <a:off x="514350" y="4825603"/>
            <a:ext cx="81153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Transformer Model Tutorial · PyTorch · Chapter 1 of 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14325"/>
            <a:ext cx="5863608" cy="158306"/>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MOTIVATION</a:t>
            </a:r>
            <a:endParaRPr lang="en-US" sz="800" dirty="0"/>
          </a:p>
        </p:txBody>
      </p:sp>
      <p:sp>
        <p:nvSpPr>
          <p:cNvPr id="3" name="Text 1"/>
          <p:cNvSpPr/>
          <p:nvPr/>
        </p:nvSpPr>
        <p:spPr>
          <a:xfrm>
            <a:off x="400050" y="500063"/>
            <a:ext cx="4872038" cy="305476"/>
          </a:xfrm>
          <a:prstGeom prst="rect">
            <a:avLst/>
          </a:prstGeom>
          <a:noFill/>
          <a:ln/>
        </p:spPr>
        <p:txBody>
          <a:bodyPr wrap="square" lIns="0" tIns="0" rIns="0" bIns="0" rtlCol="0" anchor="t"/>
          <a:lstStyle/>
          <a:p>
            <a:pPr marL="0" indent="0" algn="l">
              <a:lnSpc>
                <a:spcPts val="2228"/>
              </a:lnSpc>
              <a:buNone/>
            </a:pPr>
            <a:r>
              <a:rPr lang="en-US" sz="2025" b="1" kern="0" spc="-20" dirty="0">
                <a:solidFill>
                  <a:srgbClr val="1E3A8A"/>
                </a:solidFill>
                <a:latin typeface="Carlito" pitchFamily="34" charset="0"/>
                <a:ea typeface="Carlito" pitchFamily="34" charset="-122"/>
                <a:cs typeface="Carlito" pitchFamily="34" charset="-120"/>
              </a:rPr>
              <a:t>Why Transformers Replaced LSTMs</a:t>
            </a:r>
            <a:endParaRPr lang="en-US" sz="2025" dirty="0"/>
          </a:p>
        </p:txBody>
      </p:sp>
      <p:sp>
        <p:nvSpPr>
          <p:cNvPr id="4" name="Text 2"/>
          <p:cNvSpPr/>
          <p:nvPr/>
        </p:nvSpPr>
        <p:spPr>
          <a:xfrm>
            <a:off x="1204726" y="1524967"/>
            <a:ext cx="27615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5" name="Text 3"/>
          <p:cNvSpPr/>
          <p:nvPr/>
        </p:nvSpPr>
        <p:spPr>
          <a:xfrm>
            <a:off x="400050" y="868635"/>
            <a:ext cx="4429125" cy="868327"/>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Before 2017, recurrent networks like LSTMs and GRUs were the default for sequence tasks — translation, summarization, speech. They worked, but they carried two structural debts: tokens had to be processed one at a time, and information had to survive a chain of hidden states. Transformers discard recurrence entirely. Every token attends directly to every other token, so context travels in </a:t>
            </a:r>
            <a:r>
              <a:rPr lang="en-US" sz="800" dirty="0">
                <a:solidFill>
                  <a:srgbClr val="1E3A8A"/>
                </a:solidFill>
                <a:highlight>
                  <a:srgbClr val="F1F5F9"/>
                </a:highlight>
                <a:latin typeface="Liberation Sans Narrow" pitchFamily="34" charset="0"/>
                <a:ea typeface="Liberation Sans Narrow" pitchFamily="34" charset="-122"/>
                <a:cs typeface="Liberation Sans Narrow" pitchFamily="34" charset="-120"/>
              </a:rPr>
              <a:t>O(1)</a:t>
            </a:r>
            <a:r>
              <a:rPr lang="en-US" sz="816" dirty="0">
                <a:solidFill>
                  <a:srgbClr val="334155"/>
                </a:solidFill>
                <a:latin typeface="Carlito" pitchFamily="34" charset="0"/>
                <a:ea typeface="Carlito" pitchFamily="34" charset="-122"/>
                <a:cs typeface="Carlito" pitchFamily="34" charset="-120"/>
              </a:rPr>
              <a:t> hops and the whole sequence is processed in parallel on a GPU.</a:t>
            </a:r>
            <a:endParaRPr lang="en-US" sz="816" dirty="0"/>
          </a:p>
        </p:txBody>
      </p:sp>
      <p:sp>
        <p:nvSpPr>
          <p:cNvPr id="6" name="Text 4"/>
          <p:cNvSpPr/>
          <p:nvPr/>
        </p:nvSpPr>
        <p:spPr>
          <a:xfrm>
            <a:off x="400050" y="1786942"/>
            <a:ext cx="185738" cy="185738"/>
          </a:xfrm>
          <a:prstGeom prst="ellipse">
            <a:avLst/>
          </a:prstGeom>
          <a:solidFill>
            <a:srgbClr val="1E3A8A"/>
          </a:solidFill>
          <a:ln/>
        </p:spPr>
        <p:txBody>
          <a:bodyPr wrap="square" rtlCol="0" anchor="ctr"/>
          <a:lstStyle/>
          <a:p>
            <a:pPr marL="0" indent="0">
              <a:buNone/>
            </a:pPr>
            <a:endParaRPr lang="en-US" dirty="0"/>
          </a:p>
        </p:txBody>
      </p:sp>
      <p:sp>
        <p:nvSpPr>
          <p:cNvPr id="7" name="Text 5"/>
          <p:cNvSpPr/>
          <p:nvPr/>
        </p:nvSpPr>
        <p:spPr>
          <a:xfrm>
            <a:off x="400050" y="1786942"/>
            <a:ext cx="185738" cy="185738"/>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8" name="Text 6"/>
          <p:cNvSpPr/>
          <p:nvPr/>
        </p:nvSpPr>
        <p:spPr>
          <a:xfrm>
            <a:off x="671513" y="1786942"/>
            <a:ext cx="5176810" cy="126159"/>
          </a:xfrm>
          <a:prstGeom prst="rect">
            <a:avLst/>
          </a:prstGeom>
          <a:noFill/>
          <a:ln/>
        </p:spPr>
        <p:txBody>
          <a:bodyPr wrap="none" lIns="0" tIns="0" rIns="0" bIns="0" rtlCol="0" anchor="t">
            <a:normAutofit/>
          </a:bodyPr>
          <a:lstStyle/>
          <a:p>
            <a:pPr marL="0" indent="0" algn="l">
              <a:lnSpc>
                <a:spcPts val="1097"/>
              </a:lnSpc>
              <a:buNone/>
            </a:pPr>
            <a:r>
              <a:rPr lang="en-US" sz="800" b="1" kern="0" spc="59" dirty="0">
                <a:solidFill>
                  <a:srgbClr val="1E3A8A"/>
                </a:solidFill>
                <a:latin typeface="Carlito" pitchFamily="34" charset="0"/>
                <a:ea typeface="Carlito" pitchFamily="34" charset="-122"/>
                <a:cs typeface="Carlito" pitchFamily="34" charset="-120"/>
              </a:rPr>
              <a:t>PARALLELISM</a:t>
            </a:r>
            <a:endParaRPr lang="en-US" sz="800" dirty="0"/>
          </a:p>
        </p:txBody>
      </p:sp>
      <p:sp>
        <p:nvSpPr>
          <p:cNvPr id="9" name="Text 7"/>
          <p:cNvSpPr/>
          <p:nvPr/>
        </p:nvSpPr>
        <p:spPr>
          <a:xfrm>
            <a:off x="671513" y="1940533"/>
            <a:ext cx="4157663" cy="329184"/>
          </a:xfrm>
          <a:prstGeom prst="rect">
            <a:avLst/>
          </a:prstGeom>
          <a:noFill/>
          <a:ln/>
        </p:spPr>
        <p:txBody>
          <a:bodyPr wrap="square" lIns="0" tIns="0" rIns="0" bIns="0" rtlCol="0" anchor="t"/>
          <a:lstStyle/>
          <a:p>
            <a:pPr marL="0" indent="0" algn="l">
              <a:lnSpc>
                <a:spcPts val="1139"/>
              </a:lnSpc>
              <a:buNone/>
            </a:pPr>
            <a:r>
              <a:rPr lang="en-US" sz="800" dirty="0">
                <a:solidFill>
                  <a:srgbClr val="334155"/>
                </a:solidFill>
                <a:latin typeface="Carlito" pitchFamily="34" charset="0"/>
                <a:ea typeface="Carlito" pitchFamily="34" charset="-122"/>
                <a:cs typeface="Carlito" pitchFamily="34" charset="-120"/>
              </a:rPr>
              <a:t>No recurrence means the whole batch processes at once. Training that took weeks now finishes in hours.</a:t>
            </a:r>
            <a:endParaRPr lang="en-US" sz="800" dirty="0"/>
          </a:p>
        </p:txBody>
      </p:sp>
      <p:sp>
        <p:nvSpPr>
          <p:cNvPr id="10" name="Text 8"/>
          <p:cNvSpPr/>
          <p:nvPr/>
        </p:nvSpPr>
        <p:spPr>
          <a:xfrm>
            <a:off x="400050" y="2315580"/>
            <a:ext cx="185738" cy="185738"/>
          </a:xfrm>
          <a:prstGeom prst="ellipse">
            <a:avLst/>
          </a:prstGeom>
          <a:solidFill>
            <a:srgbClr val="1E3A8A"/>
          </a:solidFill>
          <a:ln/>
        </p:spPr>
        <p:txBody>
          <a:bodyPr wrap="square" rtlCol="0" anchor="ctr"/>
          <a:lstStyle/>
          <a:p>
            <a:pPr marL="0" indent="0">
              <a:buNone/>
            </a:pPr>
            <a:endParaRPr lang="en-US" dirty="0"/>
          </a:p>
        </p:txBody>
      </p:sp>
      <p:sp>
        <p:nvSpPr>
          <p:cNvPr id="11" name="Text 9"/>
          <p:cNvSpPr/>
          <p:nvPr/>
        </p:nvSpPr>
        <p:spPr>
          <a:xfrm>
            <a:off x="400050" y="2315580"/>
            <a:ext cx="185738" cy="185738"/>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2" name="Text 10"/>
          <p:cNvSpPr/>
          <p:nvPr/>
        </p:nvSpPr>
        <p:spPr>
          <a:xfrm>
            <a:off x="671513" y="2315580"/>
            <a:ext cx="5176810" cy="126159"/>
          </a:xfrm>
          <a:prstGeom prst="rect">
            <a:avLst/>
          </a:prstGeom>
          <a:noFill/>
          <a:ln/>
        </p:spPr>
        <p:txBody>
          <a:bodyPr wrap="none" lIns="0" tIns="0" rIns="0" bIns="0" rtlCol="0" anchor="t">
            <a:normAutofit/>
          </a:bodyPr>
          <a:lstStyle/>
          <a:p>
            <a:pPr marL="0" indent="0" algn="l">
              <a:lnSpc>
                <a:spcPts val="1097"/>
              </a:lnSpc>
              <a:buNone/>
            </a:pPr>
            <a:r>
              <a:rPr lang="en-US" sz="800" b="1" kern="0" spc="59" dirty="0">
                <a:solidFill>
                  <a:srgbClr val="1E3A8A"/>
                </a:solidFill>
                <a:latin typeface="Carlito" pitchFamily="34" charset="0"/>
                <a:ea typeface="Carlito" pitchFamily="34" charset="-122"/>
                <a:cs typeface="Carlito" pitchFamily="34" charset="-120"/>
              </a:rPr>
              <a:t>LONG-RANGE DEPENDENCY</a:t>
            </a:r>
            <a:endParaRPr lang="en-US" sz="800" dirty="0"/>
          </a:p>
        </p:txBody>
      </p:sp>
      <p:sp>
        <p:nvSpPr>
          <p:cNvPr id="13" name="Text 11"/>
          <p:cNvSpPr/>
          <p:nvPr/>
        </p:nvSpPr>
        <p:spPr>
          <a:xfrm>
            <a:off x="671513" y="2469170"/>
            <a:ext cx="4157663" cy="164592"/>
          </a:xfrm>
          <a:prstGeom prst="rect">
            <a:avLst/>
          </a:prstGeom>
          <a:noFill/>
          <a:ln/>
        </p:spPr>
        <p:txBody>
          <a:bodyPr wrap="square" lIns="0" tIns="0" rIns="0" bIns="0" rtlCol="0" anchor="t"/>
          <a:lstStyle/>
          <a:p>
            <a:pPr marL="0" indent="0" algn="l">
              <a:lnSpc>
                <a:spcPts val="1139"/>
              </a:lnSpc>
              <a:buNone/>
            </a:pPr>
            <a:r>
              <a:rPr lang="en-US" sz="759" dirty="0">
                <a:solidFill>
                  <a:srgbClr val="334155"/>
                </a:solidFill>
                <a:latin typeface="Carlito" pitchFamily="34" charset="0"/>
                <a:ea typeface="Carlito" pitchFamily="34" charset="-122"/>
                <a:cs typeface="Carlito" pitchFamily="34" charset="-120"/>
              </a:rPr>
              <a:t>Attention links any two positions directly, so distant context is not washed out by gradient flow.</a:t>
            </a:r>
            <a:endParaRPr lang="en-US" sz="759" dirty="0"/>
          </a:p>
        </p:txBody>
      </p:sp>
      <p:sp>
        <p:nvSpPr>
          <p:cNvPr id="14" name="Text 12"/>
          <p:cNvSpPr/>
          <p:nvPr/>
        </p:nvSpPr>
        <p:spPr>
          <a:xfrm>
            <a:off x="400050" y="2699556"/>
            <a:ext cx="185738" cy="185738"/>
          </a:xfrm>
          <a:prstGeom prst="ellipse">
            <a:avLst/>
          </a:prstGeom>
          <a:solidFill>
            <a:srgbClr val="1E3A8A"/>
          </a:solidFill>
          <a:ln/>
        </p:spPr>
        <p:txBody>
          <a:bodyPr wrap="square" rtlCol="0" anchor="ctr"/>
          <a:lstStyle/>
          <a:p>
            <a:pPr marL="0" indent="0">
              <a:buNone/>
            </a:pPr>
            <a:endParaRPr lang="en-US" dirty="0"/>
          </a:p>
        </p:txBody>
      </p:sp>
      <p:sp>
        <p:nvSpPr>
          <p:cNvPr id="15" name="Text 13"/>
          <p:cNvSpPr/>
          <p:nvPr/>
        </p:nvSpPr>
        <p:spPr>
          <a:xfrm>
            <a:off x="400050" y="2699556"/>
            <a:ext cx="185738" cy="185738"/>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16" name="Text 14"/>
          <p:cNvSpPr/>
          <p:nvPr/>
        </p:nvSpPr>
        <p:spPr>
          <a:xfrm>
            <a:off x="671513" y="2699556"/>
            <a:ext cx="5176810" cy="126159"/>
          </a:xfrm>
          <a:prstGeom prst="rect">
            <a:avLst/>
          </a:prstGeom>
          <a:noFill/>
          <a:ln/>
        </p:spPr>
        <p:txBody>
          <a:bodyPr wrap="none" lIns="0" tIns="0" rIns="0" bIns="0" rtlCol="0" anchor="t">
            <a:normAutofit/>
          </a:bodyPr>
          <a:lstStyle/>
          <a:p>
            <a:pPr marL="0" indent="0" algn="l">
              <a:lnSpc>
                <a:spcPts val="1097"/>
              </a:lnSpc>
              <a:buNone/>
            </a:pPr>
            <a:r>
              <a:rPr lang="en-US" sz="800" b="1" kern="0" spc="59" dirty="0">
                <a:solidFill>
                  <a:srgbClr val="1E3A8A"/>
                </a:solidFill>
                <a:latin typeface="Carlito" pitchFamily="34" charset="0"/>
                <a:ea typeface="Carlito" pitchFamily="34" charset="-122"/>
                <a:cs typeface="Carlito" pitchFamily="34" charset="-120"/>
              </a:rPr>
              <a:t>EXPRESSIVENESS</a:t>
            </a:r>
            <a:endParaRPr lang="en-US" sz="800" dirty="0"/>
          </a:p>
        </p:txBody>
      </p:sp>
      <p:sp>
        <p:nvSpPr>
          <p:cNvPr id="17" name="Text 15"/>
          <p:cNvSpPr/>
          <p:nvPr/>
        </p:nvSpPr>
        <p:spPr>
          <a:xfrm>
            <a:off x="671513" y="2853147"/>
            <a:ext cx="4157663" cy="329184"/>
          </a:xfrm>
          <a:prstGeom prst="rect">
            <a:avLst/>
          </a:prstGeom>
          <a:noFill/>
          <a:ln/>
        </p:spPr>
        <p:txBody>
          <a:bodyPr wrap="square" lIns="0" tIns="0" rIns="0" bIns="0" rtlCol="0" anchor="t"/>
          <a:lstStyle/>
          <a:p>
            <a:pPr marL="0" indent="0" algn="l">
              <a:lnSpc>
                <a:spcPts val="1139"/>
              </a:lnSpc>
              <a:buNone/>
            </a:pPr>
            <a:r>
              <a:rPr lang="en-US" sz="800" dirty="0">
                <a:solidFill>
                  <a:srgbClr val="334155"/>
                </a:solidFill>
                <a:latin typeface="Carlito" pitchFamily="34" charset="0"/>
                <a:ea typeface="Carlito" pitchFamily="34" charset="-122"/>
                <a:cs typeface="Carlito" pitchFamily="34" charset="-120"/>
              </a:rPr>
              <a:t>Multi-head attention lets the model attend to syntax, semantics, and coreference simultaneously, in different subspaces.</a:t>
            </a:r>
            <a:endParaRPr lang="en-US" sz="800" dirty="0"/>
          </a:p>
        </p:txBody>
      </p:sp>
      <p:sp>
        <p:nvSpPr>
          <p:cNvPr id="18" name="Text 16"/>
          <p:cNvSpPr/>
          <p:nvPr/>
        </p:nvSpPr>
        <p:spPr>
          <a:xfrm>
            <a:off x="5204222" y="317897"/>
            <a:ext cx="3536156" cy="4421981"/>
          </a:xfrm>
          <a:prstGeom prst="roundRect">
            <a:avLst>
              <a:gd name="adj" fmla="val 323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9" name="Text 17"/>
          <p:cNvSpPr/>
          <p:nvPr/>
        </p:nvSpPr>
        <p:spPr>
          <a:xfrm>
            <a:off x="5307806" y="421481"/>
            <a:ext cx="3328988" cy="156520"/>
          </a:xfrm>
          <a:prstGeom prst="rect">
            <a:avLst/>
          </a:prstGeom>
          <a:noFill/>
          <a:ln/>
        </p:spPr>
        <p:txBody>
          <a:bodyPr wrap="none" lIns="0" tIns="0" rIns="0" bIns="0" rtlCol="0" anchor="t">
            <a:normAutofit/>
          </a:bodyPr>
          <a:lstStyle/>
          <a:p>
            <a:pPr marL="0" indent="0" algn="l">
              <a:lnSpc>
                <a:spcPts val="886"/>
              </a:lnSpc>
              <a:buNone/>
            </a:pPr>
            <a:r>
              <a:rPr lang="en-US" sz="800" kern="0" spc="95" dirty="0">
                <a:solidFill>
                  <a:srgbClr val="64748B"/>
                </a:solidFill>
                <a:latin typeface="Courier New" pitchFamily="34" charset="0"/>
                <a:ea typeface="Courier New" pitchFamily="34" charset="-122"/>
                <a:cs typeface="Courier New" pitchFamily="34" charset="-120"/>
              </a:rPr>
              <a:t>LSTM VS TRANSFORMER</a:t>
            </a:r>
            <a:endParaRPr lang="en-US" sz="800" dirty="0"/>
          </a:p>
        </p:txBody>
      </p:sp>
      <p:sp>
        <p:nvSpPr>
          <p:cNvPr id="20" name="Text 18"/>
          <p:cNvSpPr/>
          <p:nvPr/>
        </p:nvSpPr>
        <p:spPr>
          <a:xfrm>
            <a:off x="5307806" y="605433"/>
            <a:ext cx="3328988" cy="896541"/>
          </a:xfrm>
          <a:prstGeom prst="roundRect">
            <a:avLst>
              <a:gd name="adj" fmla="val 10624"/>
            </a:avLst>
          </a:prstGeom>
          <a:solidFill>
            <a:srgbClr val="F8FAFC"/>
          </a:solidFill>
          <a:ln/>
        </p:spPr>
        <p:txBody>
          <a:bodyPr wrap="square" rtlCol="0" anchor="ctr"/>
          <a:lstStyle/>
          <a:p>
            <a:pPr marL="0" indent="0">
              <a:buNone/>
            </a:pPr>
            <a:endParaRPr lang="en-US" dirty="0"/>
          </a:p>
        </p:txBody>
      </p:sp>
      <p:sp>
        <p:nvSpPr>
          <p:cNvPr id="21" name="Shape 19"/>
          <p:cNvSpPr/>
          <p:nvPr/>
        </p:nvSpPr>
        <p:spPr>
          <a:xfrm>
            <a:off x="5307806" y="609005"/>
            <a:ext cx="3328988" cy="0"/>
          </a:xfrm>
          <a:prstGeom prst="line">
            <a:avLst/>
          </a:prstGeom>
          <a:noFill/>
          <a:ln w="7144">
            <a:solidFill>
              <a:srgbClr val="E2E8F0"/>
            </a:solidFill>
            <a:prstDash val="solid"/>
          </a:ln>
        </p:spPr>
        <p:txBody>
          <a:bodyPr/>
          <a:lstStyle/>
          <a:p>
            <a:endParaRPr lang="en-US"/>
          </a:p>
        </p:txBody>
      </p:sp>
      <p:sp>
        <p:nvSpPr>
          <p:cNvPr id="22" name="Shape 20"/>
          <p:cNvSpPr/>
          <p:nvPr/>
        </p:nvSpPr>
        <p:spPr>
          <a:xfrm>
            <a:off x="8633222" y="605433"/>
            <a:ext cx="0" cy="896541"/>
          </a:xfrm>
          <a:prstGeom prst="line">
            <a:avLst/>
          </a:prstGeom>
          <a:noFill/>
          <a:ln w="7144">
            <a:solidFill>
              <a:srgbClr val="E2E8F0"/>
            </a:solidFill>
            <a:prstDash val="solid"/>
          </a:ln>
        </p:spPr>
        <p:txBody>
          <a:bodyPr/>
          <a:lstStyle/>
          <a:p>
            <a:endParaRPr lang="en-US"/>
          </a:p>
        </p:txBody>
      </p:sp>
      <p:sp>
        <p:nvSpPr>
          <p:cNvPr id="23" name="Shape 21"/>
          <p:cNvSpPr/>
          <p:nvPr/>
        </p:nvSpPr>
        <p:spPr>
          <a:xfrm>
            <a:off x="5307806" y="1498402"/>
            <a:ext cx="3328988" cy="0"/>
          </a:xfrm>
          <a:prstGeom prst="line">
            <a:avLst/>
          </a:prstGeom>
          <a:noFill/>
          <a:ln w="7144">
            <a:solidFill>
              <a:srgbClr val="E2E8F0"/>
            </a:solidFill>
            <a:prstDash val="solid"/>
          </a:ln>
        </p:spPr>
        <p:txBody>
          <a:bodyPr/>
          <a:lstStyle/>
          <a:p>
            <a:endParaRPr lang="en-US"/>
          </a:p>
        </p:txBody>
      </p:sp>
      <p:sp>
        <p:nvSpPr>
          <p:cNvPr id="24" name="Shape 22"/>
          <p:cNvSpPr/>
          <p:nvPr/>
        </p:nvSpPr>
        <p:spPr>
          <a:xfrm>
            <a:off x="5322094" y="605433"/>
            <a:ext cx="0" cy="896541"/>
          </a:xfrm>
          <a:prstGeom prst="line">
            <a:avLst/>
          </a:prstGeom>
          <a:noFill/>
          <a:ln w="28575">
            <a:solidFill>
              <a:srgbClr val="FCA5A5"/>
            </a:solidFill>
            <a:prstDash val="solid"/>
          </a:ln>
        </p:spPr>
        <p:txBody>
          <a:bodyPr/>
          <a:lstStyle/>
          <a:p>
            <a:endParaRPr lang="en-US"/>
          </a:p>
        </p:txBody>
      </p:sp>
      <p:sp>
        <p:nvSpPr>
          <p:cNvPr id="25" name="Text 23"/>
          <p:cNvSpPr/>
          <p:nvPr/>
        </p:nvSpPr>
        <p:spPr>
          <a:xfrm>
            <a:off x="5436394" y="698302"/>
            <a:ext cx="3093244" cy="164592"/>
          </a:xfrm>
          <a:prstGeom prst="rect">
            <a:avLst/>
          </a:prstGeom>
          <a:noFill/>
          <a:ln/>
        </p:spPr>
        <p:txBody>
          <a:bodyPr wrap="none" lIns="0" tIns="0" rIns="0" bIns="0" rtlCol="0" anchor="t"/>
          <a:lstStyle/>
          <a:p>
            <a:pPr marL="0" indent="0" algn="l">
              <a:lnSpc>
                <a:spcPts val="1181"/>
              </a:lnSpc>
              <a:buNone/>
            </a:pPr>
            <a:r>
              <a:rPr lang="en-US" sz="800" b="1" dirty="0">
                <a:solidFill>
                  <a:srgbClr val="B91C1C"/>
                </a:solidFill>
                <a:latin typeface="Carlito" pitchFamily="34" charset="0"/>
                <a:ea typeface="Carlito" pitchFamily="34" charset="-122"/>
                <a:cs typeface="Carlito" pitchFamily="34" charset="-120"/>
              </a:rPr>
              <a:t>LSTM / GRU </a:t>
            </a:r>
            <a:r>
              <a:rPr lang="en-US" sz="800" b="1" kern="0" spc="25" dirty="0">
                <a:solidFill>
                  <a:srgbClr val="64748B"/>
                </a:solidFill>
                <a:latin typeface="Liberation Sans Narrow" pitchFamily="34" charset="0"/>
                <a:ea typeface="Liberation Sans Narrow" pitchFamily="34" charset="-122"/>
                <a:cs typeface="Liberation Sans Narrow" pitchFamily="34" charset="-120"/>
              </a:rPr>
              <a:t>(pre-2017)</a:t>
            </a:r>
            <a:endParaRPr lang="en-US" sz="800" dirty="0"/>
          </a:p>
        </p:txBody>
      </p:sp>
      <p:sp>
        <p:nvSpPr>
          <p:cNvPr id="26" name="Text 24"/>
          <p:cNvSpPr/>
          <p:nvPr/>
        </p:nvSpPr>
        <p:spPr>
          <a:xfrm>
            <a:off x="5436394" y="941189"/>
            <a:ext cx="782003" cy="15348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PROCESSING</a:t>
            </a:r>
            <a:endParaRPr lang="en-US" sz="800" dirty="0"/>
          </a:p>
        </p:txBody>
      </p:sp>
      <p:sp>
        <p:nvSpPr>
          <p:cNvPr id="27" name="Text 25"/>
          <p:cNvSpPr/>
          <p:nvPr/>
        </p:nvSpPr>
        <p:spPr>
          <a:xfrm>
            <a:off x="6150769" y="926902"/>
            <a:ext cx="2488597" cy="153619"/>
          </a:xfrm>
          <a:prstGeom prst="rect">
            <a:avLst/>
          </a:prstGeom>
          <a:noFill/>
          <a:ln/>
        </p:spPr>
        <p:txBody>
          <a:bodyPr wrap="square" lIns="0" tIns="0" rIns="0" bIns="0" rtlCol="0" anchor="t"/>
          <a:lstStyle/>
          <a:p>
            <a:pPr marL="0" indent="0" algn="l">
              <a:lnSpc>
                <a:spcPts val="984"/>
              </a:lnSpc>
              <a:buNone/>
            </a:pPr>
            <a:r>
              <a:rPr lang="en-US" sz="800" dirty="0">
                <a:solidFill>
                  <a:srgbClr val="0F172A"/>
                </a:solidFill>
                <a:latin typeface="Carlito" pitchFamily="34" charset="0"/>
                <a:ea typeface="Carlito" pitchFamily="34" charset="-122"/>
                <a:cs typeface="Carlito" pitchFamily="34" charset="-120"/>
              </a:rPr>
              <a:t>Sequential (one token at a time)</a:t>
            </a:r>
            <a:endParaRPr lang="en-US" sz="800" dirty="0"/>
          </a:p>
        </p:txBody>
      </p:sp>
      <p:sp>
        <p:nvSpPr>
          <p:cNvPr id="28" name="Text 26"/>
          <p:cNvSpPr/>
          <p:nvPr/>
        </p:nvSpPr>
        <p:spPr>
          <a:xfrm>
            <a:off x="5421178" y="1109067"/>
            <a:ext cx="812434" cy="15348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PATH LENGTH</a:t>
            </a:r>
            <a:endParaRPr lang="en-US" sz="800" dirty="0"/>
          </a:p>
        </p:txBody>
      </p:sp>
      <p:sp>
        <p:nvSpPr>
          <p:cNvPr id="29" name="Text 27"/>
          <p:cNvSpPr/>
          <p:nvPr/>
        </p:nvSpPr>
        <p:spPr>
          <a:xfrm>
            <a:off x="6150769" y="1094780"/>
            <a:ext cx="2488597" cy="153619"/>
          </a:xfrm>
          <a:prstGeom prst="rect">
            <a:avLst/>
          </a:prstGeom>
          <a:noFill/>
          <a:ln/>
        </p:spPr>
        <p:txBody>
          <a:bodyPr wrap="square" lIns="0" tIns="0" rIns="0" bIns="0" rtlCol="0" anchor="t"/>
          <a:lstStyle/>
          <a:p>
            <a:pPr marL="0" indent="0" algn="l">
              <a:lnSpc>
                <a:spcPts val="984"/>
              </a:lnSpc>
              <a:buNone/>
            </a:pPr>
            <a:r>
              <a:rPr lang="en-US" sz="800" dirty="0">
                <a:solidFill>
                  <a:srgbClr val="0F172A"/>
                </a:solidFill>
                <a:latin typeface="Carlito" pitchFamily="34" charset="0"/>
                <a:ea typeface="Carlito" pitchFamily="34" charset="-122"/>
                <a:cs typeface="Carlito" pitchFamily="34" charset="-120"/>
              </a:rPr>
              <a:t>O(n) between distant tokens</a:t>
            </a:r>
            <a:endParaRPr lang="en-US" sz="800" dirty="0"/>
          </a:p>
        </p:txBody>
      </p:sp>
      <p:sp>
        <p:nvSpPr>
          <p:cNvPr id="30" name="Text 28"/>
          <p:cNvSpPr/>
          <p:nvPr/>
        </p:nvSpPr>
        <p:spPr>
          <a:xfrm>
            <a:off x="5436394" y="1276945"/>
            <a:ext cx="851440" cy="13215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GRADIENT</a:t>
            </a:r>
            <a:endParaRPr lang="en-US" sz="800" dirty="0"/>
          </a:p>
        </p:txBody>
      </p:sp>
      <p:sp>
        <p:nvSpPr>
          <p:cNvPr id="31" name="Text 29"/>
          <p:cNvSpPr/>
          <p:nvPr/>
        </p:nvSpPr>
        <p:spPr>
          <a:xfrm>
            <a:off x="6150769" y="1262658"/>
            <a:ext cx="2378869" cy="146447"/>
          </a:xfrm>
          <a:prstGeom prst="rect">
            <a:avLst/>
          </a:prstGeom>
          <a:noFill/>
          <a:ln/>
        </p:spPr>
        <p:txBody>
          <a:bodyPr wrap="none" lIns="0" tIns="0" rIns="0" bIns="0" rtlCol="0" anchor="t"/>
          <a:lstStyle/>
          <a:p>
            <a:pPr marL="0" indent="0" algn="l">
              <a:lnSpc>
                <a:spcPts val="984"/>
              </a:lnSpc>
              <a:buNone/>
            </a:pPr>
            <a:r>
              <a:rPr lang="en-US" sz="800" dirty="0">
                <a:solidFill>
                  <a:srgbClr val="0F172A"/>
                </a:solidFill>
                <a:latin typeface="Carlito" pitchFamily="34" charset="0"/>
                <a:ea typeface="Carlito" pitchFamily="34" charset="-122"/>
                <a:cs typeface="Carlito" pitchFamily="34" charset="-120"/>
              </a:rPr>
              <a:t>Vanishes over long chains</a:t>
            </a:r>
            <a:endParaRPr lang="en-US" sz="800" dirty="0"/>
          </a:p>
        </p:txBody>
      </p:sp>
      <p:sp>
        <p:nvSpPr>
          <p:cNvPr id="32" name="Text 30"/>
          <p:cNvSpPr/>
          <p:nvPr/>
        </p:nvSpPr>
        <p:spPr>
          <a:xfrm>
            <a:off x="5307806" y="1587698"/>
            <a:ext cx="3328988" cy="896541"/>
          </a:xfrm>
          <a:prstGeom prst="roundRect">
            <a:avLst>
              <a:gd name="adj" fmla="val 10624"/>
            </a:avLst>
          </a:prstGeom>
          <a:solidFill>
            <a:srgbClr val="DBEAFE"/>
          </a:solidFill>
          <a:ln/>
        </p:spPr>
        <p:txBody>
          <a:bodyPr wrap="square" rtlCol="0" anchor="ctr"/>
          <a:lstStyle/>
          <a:p>
            <a:pPr marL="0" indent="0">
              <a:buNone/>
            </a:pPr>
            <a:endParaRPr lang="en-US" dirty="0"/>
          </a:p>
        </p:txBody>
      </p:sp>
      <p:sp>
        <p:nvSpPr>
          <p:cNvPr id="33" name="Shape 31"/>
          <p:cNvSpPr/>
          <p:nvPr/>
        </p:nvSpPr>
        <p:spPr>
          <a:xfrm>
            <a:off x="5307806" y="1591270"/>
            <a:ext cx="3328988" cy="0"/>
          </a:xfrm>
          <a:prstGeom prst="line">
            <a:avLst/>
          </a:prstGeom>
          <a:noFill/>
          <a:ln w="7144">
            <a:solidFill>
              <a:srgbClr val="BFDBFE"/>
            </a:solidFill>
            <a:prstDash val="solid"/>
          </a:ln>
        </p:spPr>
        <p:txBody>
          <a:bodyPr/>
          <a:lstStyle/>
          <a:p>
            <a:endParaRPr lang="en-US"/>
          </a:p>
        </p:txBody>
      </p:sp>
      <p:sp>
        <p:nvSpPr>
          <p:cNvPr id="34" name="Shape 32"/>
          <p:cNvSpPr/>
          <p:nvPr/>
        </p:nvSpPr>
        <p:spPr>
          <a:xfrm>
            <a:off x="8633222" y="1587698"/>
            <a:ext cx="0" cy="896541"/>
          </a:xfrm>
          <a:prstGeom prst="line">
            <a:avLst/>
          </a:prstGeom>
          <a:noFill/>
          <a:ln w="7144">
            <a:solidFill>
              <a:srgbClr val="BFDBFE"/>
            </a:solidFill>
            <a:prstDash val="solid"/>
          </a:ln>
        </p:spPr>
        <p:txBody>
          <a:bodyPr/>
          <a:lstStyle/>
          <a:p>
            <a:endParaRPr lang="en-US"/>
          </a:p>
        </p:txBody>
      </p:sp>
      <p:sp>
        <p:nvSpPr>
          <p:cNvPr id="35" name="Shape 33"/>
          <p:cNvSpPr/>
          <p:nvPr/>
        </p:nvSpPr>
        <p:spPr>
          <a:xfrm>
            <a:off x="5307806" y="2480667"/>
            <a:ext cx="3328988" cy="0"/>
          </a:xfrm>
          <a:prstGeom prst="line">
            <a:avLst/>
          </a:prstGeom>
          <a:noFill/>
          <a:ln w="7144">
            <a:solidFill>
              <a:srgbClr val="BFDBFE"/>
            </a:solidFill>
            <a:prstDash val="solid"/>
          </a:ln>
        </p:spPr>
        <p:txBody>
          <a:bodyPr/>
          <a:lstStyle/>
          <a:p>
            <a:endParaRPr lang="en-US"/>
          </a:p>
        </p:txBody>
      </p:sp>
      <p:sp>
        <p:nvSpPr>
          <p:cNvPr id="36" name="Shape 34"/>
          <p:cNvSpPr/>
          <p:nvPr/>
        </p:nvSpPr>
        <p:spPr>
          <a:xfrm>
            <a:off x="5322094" y="1587698"/>
            <a:ext cx="0" cy="896541"/>
          </a:xfrm>
          <a:prstGeom prst="line">
            <a:avLst/>
          </a:prstGeom>
          <a:noFill/>
          <a:ln w="28575">
            <a:solidFill>
              <a:srgbClr val="F59E0B"/>
            </a:solidFill>
            <a:prstDash val="solid"/>
          </a:ln>
        </p:spPr>
        <p:txBody>
          <a:bodyPr/>
          <a:lstStyle/>
          <a:p>
            <a:endParaRPr lang="en-US"/>
          </a:p>
        </p:txBody>
      </p:sp>
      <p:sp>
        <p:nvSpPr>
          <p:cNvPr id="37" name="Text 35"/>
          <p:cNvSpPr/>
          <p:nvPr/>
        </p:nvSpPr>
        <p:spPr>
          <a:xfrm>
            <a:off x="5436394" y="1680567"/>
            <a:ext cx="3093244" cy="164592"/>
          </a:xfrm>
          <a:prstGeom prst="rect">
            <a:avLst/>
          </a:prstGeom>
          <a:noFill/>
          <a:ln/>
        </p:spPr>
        <p:txBody>
          <a:bodyPr wrap="none" lIns="0" tIns="0" rIns="0" bIns="0" rtlCol="0" anchor="t"/>
          <a:lstStyle/>
          <a:p>
            <a:pPr marL="0" indent="0" algn="l">
              <a:lnSpc>
                <a:spcPts val="1181"/>
              </a:lnSpc>
              <a:buNone/>
            </a:pPr>
            <a:r>
              <a:rPr lang="en-US" sz="800" b="1" dirty="0">
                <a:solidFill>
                  <a:srgbClr val="1E3A8A"/>
                </a:solidFill>
                <a:latin typeface="Carlito" pitchFamily="34" charset="0"/>
                <a:ea typeface="Carlito" pitchFamily="34" charset="-122"/>
                <a:cs typeface="Carlito" pitchFamily="34" charset="-120"/>
              </a:rPr>
              <a:t>Transformer </a:t>
            </a:r>
            <a:r>
              <a:rPr lang="en-US" sz="800" b="1" kern="0" spc="25" dirty="0">
                <a:solidFill>
                  <a:srgbClr val="64748B"/>
                </a:solidFill>
                <a:latin typeface="Liberation Sans Narrow" pitchFamily="34" charset="0"/>
                <a:ea typeface="Liberation Sans Narrow" pitchFamily="34" charset="-122"/>
                <a:cs typeface="Liberation Sans Narrow" pitchFamily="34" charset="-120"/>
              </a:rPr>
              <a:t>(2017–)</a:t>
            </a:r>
            <a:endParaRPr lang="en-US" sz="800" dirty="0"/>
          </a:p>
        </p:txBody>
      </p:sp>
      <p:sp>
        <p:nvSpPr>
          <p:cNvPr id="38" name="Text 36"/>
          <p:cNvSpPr/>
          <p:nvPr/>
        </p:nvSpPr>
        <p:spPr>
          <a:xfrm>
            <a:off x="5436394" y="1923455"/>
            <a:ext cx="782003" cy="15348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PROCESSING</a:t>
            </a:r>
            <a:endParaRPr lang="en-US" sz="800" dirty="0"/>
          </a:p>
        </p:txBody>
      </p:sp>
      <p:sp>
        <p:nvSpPr>
          <p:cNvPr id="39" name="Text 37"/>
          <p:cNvSpPr/>
          <p:nvPr/>
        </p:nvSpPr>
        <p:spPr>
          <a:xfrm>
            <a:off x="6150769" y="1909167"/>
            <a:ext cx="2488597" cy="153619"/>
          </a:xfrm>
          <a:prstGeom prst="rect">
            <a:avLst/>
          </a:prstGeom>
          <a:noFill/>
          <a:ln/>
        </p:spPr>
        <p:txBody>
          <a:bodyPr wrap="square" lIns="0" tIns="0" rIns="0" bIns="0" rtlCol="0" anchor="t"/>
          <a:lstStyle/>
          <a:p>
            <a:pPr marL="0" indent="0" algn="l">
              <a:lnSpc>
                <a:spcPts val="984"/>
              </a:lnSpc>
              <a:buNone/>
            </a:pPr>
            <a:r>
              <a:rPr lang="en-US" sz="800" dirty="0">
                <a:solidFill>
                  <a:srgbClr val="1E3A8A"/>
                </a:solidFill>
                <a:latin typeface="Carlito" pitchFamily="34" charset="0"/>
                <a:ea typeface="Carlito" pitchFamily="34" charset="-122"/>
                <a:cs typeface="Carlito" pitchFamily="34" charset="-120"/>
              </a:rPr>
              <a:t>Parallel across all positions</a:t>
            </a:r>
            <a:endParaRPr lang="en-US" sz="800" dirty="0"/>
          </a:p>
        </p:txBody>
      </p:sp>
      <p:sp>
        <p:nvSpPr>
          <p:cNvPr id="40" name="Text 38"/>
          <p:cNvSpPr/>
          <p:nvPr/>
        </p:nvSpPr>
        <p:spPr>
          <a:xfrm>
            <a:off x="5421178" y="2091333"/>
            <a:ext cx="812434" cy="15348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PATH LENGTH</a:t>
            </a:r>
            <a:endParaRPr lang="en-US" sz="800" dirty="0"/>
          </a:p>
        </p:txBody>
      </p:sp>
      <p:sp>
        <p:nvSpPr>
          <p:cNvPr id="41" name="Text 39"/>
          <p:cNvSpPr/>
          <p:nvPr/>
        </p:nvSpPr>
        <p:spPr>
          <a:xfrm>
            <a:off x="6150769" y="2077045"/>
            <a:ext cx="2488597" cy="153619"/>
          </a:xfrm>
          <a:prstGeom prst="rect">
            <a:avLst/>
          </a:prstGeom>
          <a:noFill/>
          <a:ln/>
        </p:spPr>
        <p:txBody>
          <a:bodyPr wrap="square" lIns="0" tIns="0" rIns="0" bIns="0" rtlCol="0" anchor="t"/>
          <a:lstStyle/>
          <a:p>
            <a:pPr marL="0" indent="0" algn="l">
              <a:lnSpc>
                <a:spcPts val="984"/>
              </a:lnSpc>
              <a:buNone/>
            </a:pPr>
            <a:r>
              <a:rPr lang="en-US" sz="800" dirty="0">
                <a:solidFill>
                  <a:srgbClr val="1E3A8A"/>
                </a:solidFill>
                <a:latin typeface="Liberation Sans Narrow" pitchFamily="34" charset="0"/>
                <a:ea typeface="Liberation Sans Narrow" pitchFamily="34" charset="-122"/>
                <a:cs typeface="Liberation Sans Narrow" pitchFamily="34" charset="-120"/>
              </a:rPr>
              <a:t>O(1) between any two tokens</a:t>
            </a:r>
            <a:endParaRPr lang="en-US" sz="800" dirty="0"/>
          </a:p>
        </p:txBody>
      </p:sp>
      <p:sp>
        <p:nvSpPr>
          <p:cNvPr id="42" name="Text 40"/>
          <p:cNvSpPr/>
          <p:nvPr/>
        </p:nvSpPr>
        <p:spPr>
          <a:xfrm>
            <a:off x="5436394" y="2259211"/>
            <a:ext cx="851440" cy="132159"/>
          </a:xfrm>
          <a:prstGeom prst="rect">
            <a:avLst/>
          </a:prstGeom>
          <a:noFill/>
          <a:ln/>
        </p:spPr>
        <p:txBody>
          <a:bodyPr wrap="none" lIns="0" tIns="0" rIns="0" bIns="0" rtlCol="0" anchor="t"/>
          <a:lstStyle/>
          <a:p>
            <a:pPr marL="0" indent="0" algn="l">
              <a:lnSpc>
                <a:spcPts val="827"/>
              </a:lnSpc>
              <a:buNone/>
            </a:pPr>
            <a:r>
              <a:rPr lang="en-US" sz="800" kern="0" spc="35" dirty="0">
                <a:solidFill>
                  <a:srgbClr val="64748B"/>
                </a:solidFill>
                <a:latin typeface="Courier New" pitchFamily="34" charset="0"/>
                <a:ea typeface="Courier New" pitchFamily="34" charset="-122"/>
                <a:cs typeface="Courier New" pitchFamily="34" charset="-120"/>
              </a:rPr>
              <a:t>CONTEXT</a:t>
            </a:r>
            <a:endParaRPr lang="en-US" sz="800" dirty="0"/>
          </a:p>
        </p:txBody>
      </p:sp>
      <p:sp>
        <p:nvSpPr>
          <p:cNvPr id="43" name="Text 41"/>
          <p:cNvSpPr/>
          <p:nvPr/>
        </p:nvSpPr>
        <p:spPr>
          <a:xfrm>
            <a:off x="6150769" y="2244923"/>
            <a:ext cx="2488597" cy="146447"/>
          </a:xfrm>
          <a:prstGeom prst="rect">
            <a:avLst/>
          </a:prstGeom>
          <a:noFill/>
          <a:ln/>
        </p:spPr>
        <p:txBody>
          <a:bodyPr wrap="square" lIns="0" tIns="0" rIns="0" bIns="0" rtlCol="0" anchor="t"/>
          <a:lstStyle/>
          <a:p>
            <a:pPr marL="0" indent="0" algn="l">
              <a:lnSpc>
                <a:spcPts val="984"/>
              </a:lnSpc>
              <a:buNone/>
            </a:pPr>
            <a:r>
              <a:rPr lang="en-US" sz="800" dirty="0">
                <a:solidFill>
                  <a:srgbClr val="1E3A8A"/>
                </a:solidFill>
                <a:latin typeface="Carlito" pitchFamily="34" charset="0"/>
                <a:ea typeface="Carlito" pitchFamily="34" charset="-122"/>
                <a:cs typeface="Carlito" pitchFamily="34" charset="-120"/>
              </a:rPr>
              <a:t>Global self-attention per layer</a:t>
            </a:r>
            <a:endParaRPr lang="en-US" sz="800" dirty="0"/>
          </a:p>
        </p:txBody>
      </p:sp>
      <p:sp>
        <p:nvSpPr>
          <p:cNvPr id="44" name="Text 42"/>
          <p:cNvSpPr/>
          <p:nvPr/>
        </p:nvSpPr>
        <p:spPr>
          <a:xfrm>
            <a:off x="400050" y="4868466"/>
            <a:ext cx="7144531"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03 · Foundations</a:t>
            </a:r>
            <a:endParaRPr lang="en-US" sz="800" dirty="0"/>
          </a:p>
        </p:txBody>
      </p:sp>
      <p:sp>
        <p:nvSpPr>
          <p:cNvPr id="45" name="Text 43"/>
          <p:cNvSpPr/>
          <p:nvPr/>
        </p:nvSpPr>
        <p:spPr>
          <a:xfrm>
            <a:off x="7558869" y="4868466"/>
            <a:ext cx="1279888"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a:t>
            </a:r>
            <a:endParaRPr lang="en-US" sz="61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3622" y="317897"/>
            <a:ext cx="4021931" cy="4421981"/>
          </a:xfrm>
          <a:prstGeom prst="roundRect">
            <a:avLst>
              <a:gd name="adj" fmla="val 3316"/>
            </a:avLst>
          </a:prstGeom>
          <a:solidFill>
            <a:srgbClr val="FFFFFF"/>
          </a:solidFill>
          <a:ln w="7144">
            <a:solidFill>
              <a:srgbClr val="BFDBFE"/>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 name="Text 1"/>
          <p:cNvSpPr/>
          <p:nvPr/>
        </p:nvSpPr>
        <p:spPr>
          <a:xfrm>
            <a:off x="507206" y="421481"/>
            <a:ext cx="3814763" cy="4025503"/>
          </a:xfrm>
          <a:prstGeom prst="roundRect">
            <a:avLst>
              <a:gd name="adj" fmla="val 2497"/>
            </a:avLst>
          </a:prstGeom>
          <a:solidFill>
            <a:srgbClr val="FFFFFF"/>
          </a:solidFill>
          <a:ln/>
        </p:spPr>
        <p:txBody>
          <a:bodyPr wrap="square" rtlCol="0" anchor="ctr"/>
          <a:lstStyle/>
          <a:p>
            <a:pPr marL="0" indent="0">
              <a:buNone/>
            </a:pPr>
            <a:endParaRPr lang="en-US" dirty="0"/>
          </a:p>
        </p:txBody>
      </p:sp>
      <p:pic>
        <p:nvPicPr>
          <p:cNvPr id="4" name="Image 0" descr="/tmp/h2p-fit-1785827682438-2qjhtz.png"/>
          <p:cNvPicPr>
            <a:picLocks noChangeAspect="1"/>
          </p:cNvPicPr>
          <p:nvPr/>
        </p:nvPicPr>
        <p:blipFill>
          <a:blip r:embed="rId3"/>
          <a:stretch>
            <a:fillRect/>
          </a:stretch>
        </p:blipFill>
        <p:spPr>
          <a:xfrm>
            <a:off x="507206" y="1361331"/>
            <a:ext cx="3814763" cy="2145804"/>
          </a:xfrm>
          <a:prstGeom prst="rect">
            <a:avLst/>
          </a:prstGeom>
        </p:spPr>
      </p:pic>
      <p:sp>
        <p:nvSpPr>
          <p:cNvPr id="5" name="Text 2"/>
          <p:cNvSpPr/>
          <p:nvPr/>
        </p:nvSpPr>
        <p:spPr>
          <a:xfrm>
            <a:off x="507206" y="4518422"/>
            <a:ext cx="3814763" cy="117872"/>
          </a:xfrm>
          <a:prstGeom prst="rect">
            <a:avLst/>
          </a:prstGeom>
          <a:noFill/>
          <a:ln/>
        </p:spPr>
        <p:txBody>
          <a:bodyPr wrap="square" lIns="0" tIns="0" rIns="0" bIns="0" rtlCol="0" anchor="t"/>
          <a:lstStyle/>
          <a:p>
            <a:pPr marL="0" indent="0" algn="ctr">
              <a:lnSpc>
                <a:spcPts val="928"/>
              </a:lnSpc>
              <a:buNone/>
            </a:pPr>
            <a:r>
              <a:rPr lang="en-US" sz="800" kern="0" spc="37" dirty="0">
                <a:solidFill>
                  <a:srgbClr val="64748B"/>
                </a:solidFill>
                <a:latin typeface="Courier New" pitchFamily="34" charset="0"/>
                <a:ea typeface="Courier New" pitchFamily="34" charset="-122"/>
                <a:cs typeface="Courier New" pitchFamily="34" charset="-120"/>
              </a:rPr>
              <a:t>Fig. — Encoder-decoder architecture (source: IBM)</a:t>
            </a:r>
            <a:endParaRPr lang="en-US" sz="800" dirty="0"/>
          </a:p>
        </p:txBody>
      </p:sp>
      <p:sp>
        <p:nvSpPr>
          <p:cNvPr id="6" name="Text 3"/>
          <p:cNvSpPr/>
          <p:nvPr/>
        </p:nvSpPr>
        <p:spPr>
          <a:xfrm>
            <a:off x="4714875" y="314325"/>
            <a:ext cx="4429125"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ARCHITECTURE OVERVIEW</a:t>
            </a:r>
            <a:endParaRPr lang="en-US" sz="800" dirty="0"/>
          </a:p>
        </p:txBody>
      </p:sp>
      <p:sp>
        <p:nvSpPr>
          <p:cNvPr id="7" name="Text 4"/>
          <p:cNvSpPr/>
          <p:nvPr/>
        </p:nvSpPr>
        <p:spPr>
          <a:xfrm>
            <a:off x="4714875" y="485775"/>
            <a:ext cx="4429125" cy="259184"/>
          </a:xfrm>
          <a:prstGeom prst="rect">
            <a:avLst/>
          </a:prstGeom>
          <a:noFill/>
          <a:ln/>
        </p:spPr>
        <p:txBody>
          <a:bodyPr wrap="square" lIns="0" tIns="0" rIns="0" bIns="0" rtlCol="0" anchor="t"/>
          <a:lstStyle/>
          <a:p>
            <a:pPr marL="0" indent="0" algn="l">
              <a:lnSpc>
                <a:spcPts val="1890"/>
              </a:lnSpc>
              <a:buNone/>
            </a:pPr>
            <a:r>
              <a:rPr lang="en-US" sz="1688" b="1" kern="0" spc="-17" dirty="0">
                <a:solidFill>
                  <a:srgbClr val="1E3A8A"/>
                </a:solidFill>
                <a:latin typeface="Carlito" pitchFamily="34" charset="0"/>
                <a:ea typeface="Carlito" pitchFamily="34" charset="-122"/>
                <a:cs typeface="Carlito" pitchFamily="34" charset="-120"/>
              </a:rPr>
              <a:t>The Transformer at a Glance</a:t>
            </a:r>
            <a:endParaRPr lang="en-US" sz="1688" dirty="0"/>
          </a:p>
        </p:txBody>
      </p:sp>
      <p:sp>
        <p:nvSpPr>
          <p:cNvPr id="8" name="Text 5"/>
          <p:cNvSpPr/>
          <p:nvPr/>
        </p:nvSpPr>
        <p:spPr>
          <a:xfrm>
            <a:off x="4714875" y="797198"/>
            <a:ext cx="4029075" cy="670423"/>
          </a:xfrm>
          <a:prstGeom prst="rect">
            <a:avLst/>
          </a:prstGeom>
          <a:noFill/>
          <a:ln/>
        </p:spPr>
        <p:txBody>
          <a:bodyPr wrap="square" lIns="0" tIns="0" rIns="0" bIns="0" rtlCol="0" anchor="t">
            <a:normAutofit/>
          </a:bodyPr>
          <a:lstStyle/>
          <a:p>
            <a:pPr marL="0" indent="0" algn="l">
              <a:lnSpc>
                <a:spcPts val="1177"/>
              </a:lnSpc>
              <a:buNone/>
            </a:pPr>
            <a:r>
              <a:rPr lang="en-US" sz="800" dirty="0">
                <a:solidFill>
                  <a:srgbClr val="334155"/>
                </a:solidFill>
                <a:latin typeface="Carlito" pitchFamily="34" charset="0"/>
                <a:ea typeface="Carlito" pitchFamily="34" charset="-122"/>
                <a:cs typeface="Carlito" pitchFamily="34" charset="-120"/>
              </a:rPr>
              <a:t>The model is an encoder-decoder stack. The encoder turns the source sequence into rich contextualized representations. The decoder generates the target sequence one token at a time, attending both to its own partial output (masked self-attention) and to the encoder output (cross-attention). Each side is a stack of N identical layers — six in the original paper.</a:t>
            </a:r>
            <a:endParaRPr lang="en-US" sz="800" dirty="0"/>
          </a:p>
        </p:txBody>
      </p:sp>
      <p:sp>
        <p:nvSpPr>
          <p:cNvPr id="9" name="Text 6"/>
          <p:cNvSpPr/>
          <p:nvPr/>
        </p:nvSpPr>
        <p:spPr>
          <a:xfrm>
            <a:off x="4718447" y="1498625"/>
            <a:ext cx="1964531" cy="542925"/>
          </a:xfrm>
          <a:prstGeom prst="roundRect">
            <a:avLst>
              <a:gd name="adj" fmla="val 17544"/>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0" name="Text 7"/>
          <p:cNvSpPr/>
          <p:nvPr/>
        </p:nvSpPr>
        <p:spPr>
          <a:xfrm>
            <a:off x="4807744" y="1573634"/>
            <a:ext cx="171450" cy="171450"/>
          </a:xfrm>
          <a:prstGeom prst="ellipse">
            <a:avLst/>
          </a:prstGeom>
          <a:solidFill>
            <a:srgbClr val="1E3A8A"/>
          </a:solidFill>
          <a:ln/>
        </p:spPr>
        <p:txBody>
          <a:bodyPr wrap="square" rtlCol="0" anchor="ctr"/>
          <a:lstStyle/>
          <a:p>
            <a:pPr marL="0" indent="0">
              <a:buNone/>
            </a:pPr>
            <a:endParaRPr lang="en-US" dirty="0"/>
          </a:p>
        </p:txBody>
      </p:sp>
      <p:sp>
        <p:nvSpPr>
          <p:cNvPr id="11" name="Text 8"/>
          <p:cNvSpPr/>
          <p:nvPr/>
        </p:nvSpPr>
        <p:spPr>
          <a:xfrm>
            <a:off x="4807744" y="1573634"/>
            <a:ext cx="171450" cy="171450"/>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2" name="Text 9"/>
          <p:cNvSpPr/>
          <p:nvPr/>
        </p:nvSpPr>
        <p:spPr>
          <a:xfrm>
            <a:off x="5064919" y="1573634"/>
            <a:ext cx="1528763" cy="115443"/>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1E3A8A"/>
                </a:solidFill>
                <a:latin typeface="Carlito" pitchFamily="34" charset="0"/>
                <a:ea typeface="Carlito" pitchFamily="34" charset="-122"/>
                <a:cs typeface="Carlito" pitchFamily="34" charset="-120"/>
              </a:rPr>
              <a:t>EMBEDDINGS</a:t>
            </a:r>
            <a:endParaRPr lang="en-US" sz="800" dirty="0"/>
          </a:p>
        </p:txBody>
      </p:sp>
      <p:sp>
        <p:nvSpPr>
          <p:cNvPr id="13" name="Text 10"/>
          <p:cNvSpPr/>
          <p:nvPr/>
        </p:nvSpPr>
        <p:spPr>
          <a:xfrm>
            <a:off x="5064919" y="1716509"/>
            <a:ext cx="1620202" cy="250031"/>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Token IDs → dense vectors of dimension d_model.</a:t>
            </a:r>
            <a:endParaRPr lang="en-US" sz="800" dirty="0"/>
          </a:p>
        </p:txBody>
      </p:sp>
      <p:sp>
        <p:nvSpPr>
          <p:cNvPr id="14" name="Text 11"/>
          <p:cNvSpPr/>
          <p:nvPr/>
        </p:nvSpPr>
        <p:spPr>
          <a:xfrm>
            <a:off x="6775847" y="1498625"/>
            <a:ext cx="1964531" cy="542925"/>
          </a:xfrm>
          <a:prstGeom prst="roundRect">
            <a:avLst>
              <a:gd name="adj" fmla="val 17544"/>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5" name="Text 12"/>
          <p:cNvSpPr/>
          <p:nvPr/>
        </p:nvSpPr>
        <p:spPr>
          <a:xfrm>
            <a:off x="6865144" y="1573634"/>
            <a:ext cx="171450" cy="171450"/>
          </a:xfrm>
          <a:prstGeom prst="ellipse">
            <a:avLst/>
          </a:prstGeom>
          <a:solidFill>
            <a:srgbClr val="1E3A8A"/>
          </a:solidFill>
          <a:ln/>
        </p:spPr>
        <p:txBody>
          <a:bodyPr wrap="square" rtlCol="0" anchor="ctr"/>
          <a:lstStyle/>
          <a:p>
            <a:pPr marL="0" indent="0">
              <a:buNone/>
            </a:pPr>
            <a:endParaRPr lang="en-US" dirty="0"/>
          </a:p>
        </p:txBody>
      </p:sp>
      <p:sp>
        <p:nvSpPr>
          <p:cNvPr id="16" name="Text 13"/>
          <p:cNvSpPr/>
          <p:nvPr/>
        </p:nvSpPr>
        <p:spPr>
          <a:xfrm>
            <a:off x="6865144" y="1573634"/>
            <a:ext cx="171450" cy="171450"/>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7" name="Text 14"/>
          <p:cNvSpPr/>
          <p:nvPr/>
        </p:nvSpPr>
        <p:spPr>
          <a:xfrm>
            <a:off x="7122319" y="1573634"/>
            <a:ext cx="1528763" cy="115443"/>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1E3A8A"/>
                </a:solidFill>
                <a:latin typeface="Carlito" pitchFamily="34" charset="0"/>
                <a:ea typeface="Carlito" pitchFamily="34" charset="-122"/>
                <a:cs typeface="Carlito" pitchFamily="34" charset="-120"/>
              </a:rPr>
              <a:t>POSITIONAL ENCODING</a:t>
            </a:r>
            <a:endParaRPr lang="en-US" sz="800" dirty="0"/>
          </a:p>
        </p:txBody>
      </p:sp>
      <p:sp>
        <p:nvSpPr>
          <p:cNvPr id="18" name="Text 15"/>
          <p:cNvSpPr/>
          <p:nvPr/>
        </p:nvSpPr>
        <p:spPr>
          <a:xfrm>
            <a:off x="7122319" y="1716509"/>
            <a:ext cx="1620203" cy="250031"/>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Adds sin/cos position signals to embeddings.</a:t>
            </a:r>
            <a:endParaRPr lang="en-US" sz="800" dirty="0"/>
          </a:p>
        </p:txBody>
      </p:sp>
      <p:sp>
        <p:nvSpPr>
          <p:cNvPr id="19" name="Text 16"/>
          <p:cNvSpPr/>
          <p:nvPr/>
        </p:nvSpPr>
        <p:spPr>
          <a:xfrm>
            <a:off x="4718447" y="2120131"/>
            <a:ext cx="1964531" cy="542925"/>
          </a:xfrm>
          <a:prstGeom prst="roundRect">
            <a:avLst>
              <a:gd name="adj" fmla="val 17544"/>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0" name="Text 17"/>
          <p:cNvSpPr/>
          <p:nvPr/>
        </p:nvSpPr>
        <p:spPr>
          <a:xfrm>
            <a:off x="4807744" y="2195140"/>
            <a:ext cx="171450" cy="171450"/>
          </a:xfrm>
          <a:prstGeom prst="ellipse">
            <a:avLst/>
          </a:prstGeom>
          <a:solidFill>
            <a:srgbClr val="1E3A8A"/>
          </a:solidFill>
          <a:ln/>
        </p:spPr>
        <p:txBody>
          <a:bodyPr wrap="square" rtlCol="0" anchor="ctr"/>
          <a:lstStyle/>
          <a:p>
            <a:pPr marL="0" indent="0">
              <a:buNone/>
            </a:pPr>
            <a:endParaRPr lang="en-US" dirty="0"/>
          </a:p>
        </p:txBody>
      </p:sp>
      <p:sp>
        <p:nvSpPr>
          <p:cNvPr id="21" name="Text 18"/>
          <p:cNvSpPr/>
          <p:nvPr/>
        </p:nvSpPr>
        <p:spPr>
          <a:xfrm>
            <a:off x="4807744" y="2195140"/>
            <a:ext cx="171450" cy="171450"/>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2" name="Text 19"/>
          <p:cNvSpPr/>
          <p:nvPr/>
        </p:nvSpPr>
        <p:spPr>
          <a:xfrm>
            <a:off x="5064919" y="2195140"/>
            <a:ext cx="1528763" cy="115443"/>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1E3A8A"/>
                </a:solidFill>
                <a:latin typeface="Carlito" pitchFamily="34" charset="0"/>
                <a:ea typeface="Carlito" pitchFamily="34" charset="-122"/>
                <a:cs typeface="Carlito" pitchFamily="34" charset="-120"/>
              </a:rPr>
              <a:t>ENCODER STACK (NX)</a:t>
            </a:r>
            <a:endParaRPr lang="en-US" sz="800" dirty="0"/>
          </a:p>
        </p:txBody>
      </p:sp>
      <p:sp>
        <p:nvSpPr>
          <p:cNvPr id="23" name="Text 20"/>
          <p:cNvSpPr/>
          <p:nvPr/>
        </p:nvSpPr>
        <p:spPr>
          <a:xfrm>
            <a:off x="5064919" y="2338015"/>
            <a:ext cx="1620202" cy="250031"/>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Self-attention + feed-forward, wrapped in Add &amp; Norm.</a:t>
            </a:r>
            <a:endParaRPr lang="en-US" sz="800" dirty="0"/>
          </a:p>
        </p:txBody>
      </p:sp>
      <p:sp>
        <p:nvSpPr>
          <p:cNvPr id="24" name="Text 21"/>
          <p:cNvSpPr/>
          <p:nvPr/>
        </p:nvSpPr>
        <p:spPr>
          <a:xfrm>
            <a:off x="6775847" y="2120131"/>
            <a:ext cx="1964531" cy="542925"/>
          </a:xfrm>
          <a:prstGeom prst="roundRect">
            <a:avLst>
              <a:gd name="adj" fmla="val 17544"/>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5" name="Text 22"/>
          <p:cNvSpPr/>
          <p:nvPr/>
        </p:nvSpPr>
        <p:spPr>
          <a:xfrm>
            <a:off x="6865144" y="2195140"/>
            <a:ext cx="171450" cy="171450"/>
          </a:xfrm>
          <a:prstGeom prst="ellipse">
            <a:avLst/>
          </a:prstGeom>
          <a:solidFill>
            <a:srgbClr val="1E3A8A"/>
          </a:solidFill>
          <a:ln/>
        </p:spPr>
        <p:txBody>
          <a:bodyPr wrap="square" rtlCol="0" anchor="ctr"/>
          <a:lstStyle/>
          <a:p>
            <a:pPr marL="0" indent="0">
              <a:buNone/>
            </a:pPr>
            <a:endParaRPr lang="en-US" dirty="0"/>
          </a:p>
        </p:txBody>
      </p:sp>
      <p:sp>
        <p:nvSpPr>
          <p:cNvPr id="26" name="Text 23"/>
          <p:cNvSpPr/>
          <p:nvPr/>
        </p:nvSpPr>
        <p:spPr>
          <a:xfrm>
            <a:off x="6865144" y="2195140"/>
            <a:ext cx="171450" cy="171450"/>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7" name="Text 24"/>
          <p:cNvSpPr/>
          <p:nvPr/>
        </p:nvSpPr>
        <p:spPr>
          <a:xfrm>
            <a:off x="7122319" y="2195140"/>
            <a:ext cx="1528763" cy="115443"/>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1E3A8A"/>
                </a:solidFill>
                <a:latin typeface="Carlito" pitchFamily="34" charset="0"/>
                <a:ea typeface="Carlito" pitchFamily="34" charset="-122"/>
                <a:cs typeface="Carlito" pitchFamily="34" charset="-120"/>
              </a:rPr>
              <a:t>DECODER STACK (NX)</a:t>
            </a:r>
            <a:endParaRPr lang="en-US" sz="800" dirty="0"/>
          </a:p>
        </p:txBody>
      </p:sp>
      <p:sp>
        <p:nvSpPr>
          <p:cNvPr id="28" name="Text 25"/>
          <p:cNvSpPr/>
          <p:nvPr/>
        </p:nvSpPr>
        <p:spPr>
          <a:xfrm>
            <a:off x="7122319" y="2338015"/>
            <a:ext cx="1620203" cy="250031"/>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Masked self-attn + cross-attn + feed-forward.</a:t>
            </a:r>
            <a:endParaRPr lang="en-US" sz="800" dirty="0"/>
          </a:p>
        </p:txBody>
      </p:sp>
      <p:sp>
        <p:nvSpPr>
          <p:cNvPr id="29" name="Text 26"/>
          <p:cNvSpPr/>
          <p:nvPr/>
        </p:nvSpPr>
        <p:spPr>
          <a:xfrm>
            <a:off x="4718447" y="2741637"/>
            <a:ext cx="4021931" cy="417909"/>
          </a:xfrm>
          <a:prstGeom prst="roundRect">
            <a:avLst>
              <a:gd name="adj" fmla="val 2279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30" name="Text 27"/>
          <p:cNvSpPr/>
          <p:nvPr/>
        </p:nvSpPr>
        <p:spPr>
          <a:xfrm>
            <a:off x="4807744" y="2816647"/>
            <a:ext cx="171450" cy="171450"/>
          </a:xfrm>
          <a:prstGeom prst="ellipse">
            <a:avLst/>
          </a:prstGeom>
          <a:solidFill>
            <a:srgbClr val="1E3A8A"/>
          </a:solidFill>
          <a:ln/>
        </p:spPr>
        <p:txBody>
          <a:bodyPr wrap="square" rtlCol="0" anchor="ctr"/>
          <a:lstStyle/>
          <a:p>
            <a:pPr marL="0" indent="0">
              <a:buNone/>
            </a:pPr>
            <a:endParaRPr lang="en-US" dirty="0"/>
          </a:p>
        </p:txBody>
      </p:sp>
      <p:sp>
        <p:nvSpPr>
          <p:cNvPr id="31" name="Text 28"/>
          <p:cNvSpPr/>
          <p:nvPr/>
        </p:nvSpPr>
        <p:spPr>
          <a:xfrm>
            <a:off x="4807744" y="2816647"/>
            <a:ext cx="171450" cy="171450"/>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32" name="Text 29"/>
          <p:cNvSpPr/>
          <p:nvPr/>
        </p:nvSpPr>
        <p:spPr>
          <a:xfrm>
            <a:off x="5064919" y="2816647"/>
            <a:ext cx="3586163" cy="115443"/>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1E3A8A"/>
                </a:solidFill>
                <a:latin typeface="Carlito" pitchFamily="34" charset="0"/>
                <a:ea typeface="Carlito" pitchFamily="34" charset="-122"/>
                <a:cs typeface="Carlito" pitchFamily="34" charset="-120"/>
              </a:rPr>
              <a:t>LINEAR + SOFTMAX</a:t>
            </a:r>
            <a:endParaRPr lang="en-US" sz="800" dirty="0"/>
          </a:p>
        </p:txBody>
      </p:sp>
      <p:sp>
        <p:nvSpPr>
          <p:cNvPr id="33" name="Text 30"/>
          <p:cNvSpPr/>
          <p:nvPr/>
        </p:nvSpPr>
        <p:spPr>
          <a:xfrm>
            <a:off x="5064919" y="2959522"/>
            <a:ext cx="3586163" cy="125016"/>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Project decoder output to vocabulary probabilities.</a:t>
            </a:r>
            <a:endParaRPr lang="en-US" sz="800" dirty="0"/>
          </a:p>
        </p:txBody>
      </p:sp>
      <p:sp>
        <p:nvSpPr>
          <p:cNvPr id="34" name="Text 31"/>
          <p:cNvSpPr/>
          <p:nvPr/>
        </p:nvSpPr>
        <p:spPr>
          <a:xfrm>
            <a:off x="4714875" y="3248844"/>
            <a:ext cx="4029075" cy="426393"/>
          </a:xfrm>
          <a:prstGeom prst="roundRect">
            <a:avLst>
              <a:gd name="adj" fmla="val 17871"/>
            </a:avLst>
          </a:prstGeom>
          <a:solidFill>
            <a:srgbClr val="FEF3C7"/>
          </a:solidFill>
          <a:ln/>
        </p:spPr>
        <p:txBody>
          <a:bodyPr wrap="square" rtlCol="0" anchor="ctr"/>
          <a:lstStyle/>
          <a:p>
            <a:pPr marL="0" indent="0">
              <a:buNone/>
            </a:pPr>
            <a:endParaRPr lang="en-US" dirty="0"/>
          </a:p>
        </p:txBody>
      </p:sp>
      <p:sp>
        <p:nvSpPr>
          <p:cNvPr id="35" name="Shape 32"/>
          <p:cNvSpPr/>
          <p:nvPr/>
        </p:nvSpPr>
        <p:spPr>
          <a:xfrm>
            <a:off x="4714875" y="3252415"/>
            <a:ext cx="4029075" cy="0"/>
          </a:xfrm>
          <a:prstGeom prst="line">
            <a:avLst/>
          </a:prstGeom>
          <a:noFill/>
          <a:ln w="7144">
            <a:solidFill>
              <a:srgbClr val="FDE68A"/>
            </a:solidFill>
            <a:prstDash val="solid"/>
          </a:ln>
        </p:spPr>
        <p:txBody>
          <a:bodyPr/>
          <a:lstStyle/>
          <a:p>
            <a:endParaRPr lang="en-US"/>
          </a:p>
        </p:txBody>
      </p:sp>
      <p:sp>
        <p:nvSpPr>
          <p:cNvPr id="36" name="Shape 33"/>
          <p:cNvSpPr/>
          <p:nvPr/>
        </p:nvSpPr>
        <p:spPr>
          <a:xfrm>
            <a:off x="8740378" y="3248844"/>
            <a:ext cx="0" cy="426393"/>
          </a:xfrm>
          <a:prstGeom prst="line">
            <a:avLst/>
          </a:prstGeom>
          <a:noFill/>
          <a:ln w="7144">
            <a:solidFill>
              <a:srgbClr val="FDE68A"/>
            </a:solidFill>
            <a:prstDash val="solid"/>
          </a:ln>
        </p:spPr>
        <p:txBody>
          <a:bodyPr/>
          <a:lstStyle/>
          <a:p>
            <a:endParaRPr lang="en-US"/>
          </a:p>
        </p:txBody>
      </p:sp>
      <p:sp>
        <p:nvSpPr>
          <p:cNvPr id="37" name="Shape 34"/>
          <p:cNvSpPr/>
          <p:nvPr/>
        </p:nvSpPr>
        <p:spPr>
          <a:xfrm>
            <a:off x="4714875" y="3671664"/>
            <a:ext cx="4029075" cy="0"/>
          </a:xfrm>
          <a:prstGeom prst="line">
            <a:avLst/>
          </a:prstGeom>
          <a:noFill/>
          <a:ln w="7144">
            <a:solidFill>
              <a:srgbClr val="FDE68A"/>
            </a:solidFill>
            <a:prstDash val="solid"/>
          </a:ln>
        </p:spPr>
        <p:txBody>
          <a:bodyPr/>
          <a:lstStyle/>
          <a:p>
            <a:endParaRPr lang="en-US"/>
          </a:p>
        </p:txBody>
      </p:sp>
      <p:sp>
        <p:nvSpPr>
          <p:cNvPr id="38" name="Shape 35"/>
          <p:cNvSpPr/>
          <p:nvPr/>
        </p:nvSpPr>
        <p:spPr>
          <a:xfrm>
            <a:off x="4729163" y="3248844"/>
            <a:ext cx="0" cy="426393"/>
          </a:xfrm>
          <a:prstGeom prst="line">
            <a:avLst/>
          </a:prstGeom>
          <a:noFill/>
          <a:ln w="28575">
            <a:solidFill>
              <a:srgbClr val="F59E0B"/>
            </a:solidFill>
            <a:prstDash val="solid"/>
          </a:ln>
        </p:spPr>
        <p:txBody>
          <a:bodyPr/>
          <a:lstStyle/>
          <a:p>
            <a:endParaRPr lang="en-US"/>
          </a:p>
        </p:txBody>
      </p:sp>
      <p:sp>
        <p:nvSpPr>
          <p:cNvPr id="39" name="Text 36"/>
          <p:cNvSpPr/>
          <p:nvPr/>
        </p:nvSpPr>
        <p:spPr>
          <a:xfrm>
            <a:off x="7150894" y="3327425"/>
            <a:ext cx="470036"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40" name="Text 37"/>
          <p:cNvSpPr/>
          <p:nvPr/>
        </p:nvSpPr>
        <p:spPr>
          <a:xfrm>
            <a:off x="4714875" y="3248844"/>
            <a:ext cx="4029075" cy="503799"/>
          </a:xfrm>
          <a:prstGeom prst="rect">
            <a:avLst/>
          </a:prstGeom>
          <a:noFill/>
          <a:ln/>
        </p:spPr>
        <p:txBody>
          <a:bodyPr wrap="square" lIns="100013" tIns="71438" rIns="100013" bIns="71438" rtlCol="0" anchor="t"/>
          <a:lstStyle/>
          <a:p>
            <a:pPr marL="0" indent="0" algn="l">
              <a:lnSpc>
                <a:spcPts val="1060"/>
              </a:lnSpc>
              <a:buNone/>
            </a:pPr>
            <a:r>
              <a:rPr lang="en-US" sz="800" i="1" dirty="0">
                <a:solidFill>
                  <a:srgbClr val="92400E"/>
                </a:solidFill>
                <a:latin typeface="Carlito" pitchFamily="34" charset="0"/>
                <a:ea typeface="Carlito" pitchFamily="34" charset="-122"/>
                <a:cs typeface="Carlito" pitchFamily="34" charset="-120"/>
              </a:rPr>
              <a:t>Build plan — we will implement each block as a PyTorch </a:t>
            </a:r>
            <a:r>
              <a:rPr lang="en-US" sz="800" i="1" dirty="0">
                <a:solidFill>
                  <a:srgbClr val="1E3A8A"/>
                </a:solidFill>
                <a:highlight>
                  <a:srgbClr val="F1F5F9"/>
                </a:highlight>
                <a:latin typeface="Courier New" pitchFamily="34" charset="0"/>
                <a:ea typeface="Courier New" pitchFamily="34" charset="-122"/>
                <a:cs typeface="Courier New" pitchFamily="34" charset="-120"/>
              </a:rPr>
              <a:t>nn.Module</a:t>
            </a:r>
            <a:r>
              <a:rPr lang="en-US" sz="800" i="1" dirty="0">
                <a:solidFill>
                  <a:srgbClr val="92400E"/>
                </a:solidFill>
                <a:latin typeface="Carlito" pitchFamily="34" charset="0"/>
                <a:ea typeface="Carlito" pitchFamily="34" charset="-122"/>
                <a:cs typeface="Carlito" pitchFamily="34" charset="-120"/>
              </a:rPr>
              <a:t>, then compose them into the full Transformer class.</a:t>
            </a:r>
            <a:endParaRPr lang="en-US" sz="800" dirty="0"/>
          </a:p>
        </p:txBody>
      </p:sp>
      <p:sp>
        <p:nvSpPr>
          <p:cNvPr id="41" name="Text 38"/>
          <p:cNvSpPr/>
          <p:nvPr/>
        </p:nvSpPr>
        <p:spPr>
          <a:xfrm>
            <a:off x="400050" y="4868466"/>
            <a:ext cx="7144531"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04 · Foundations</a:t>
            </a:r>
            <a:endParaRPr lang="en-US" sz="800" dirty="0"/>
          </a:p>
        </p:txBody>
      </p:sp>
      <p:sp>
        <p:nvSpPr>
          <p:cNvPr id="42" name="Text 39"/>
          <p:cNvSpPr/>
          <p:nvPr/>
        </p:nvSpPr>
        <p:spPr>
          <a:xfrm>
            <a:off x="7558869" y="4868466"/>
            <a:ext cx="1279888"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a:t>
            </a:r>
            <a:endParaRPr lang="en-US" sz="61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4350" y="1671638"/>
            <a:ext cx="4663440" cy="1472756"/>
          </a:xfrm>
          <a:prstGeom prst="rect">
            <a:avLst/>
          </a:prstGeom>
          <a:noFill/>
          <a:ln/>
        </p:spPr>
        <p:txBody>
          <a:bodyPr wrap="none" lIns="0" tIns="0" rIns="0" bIns="0" rtlCol="0" anchor="t">
            <a:normAutofit/>
          </a:bodyPr>
          <a:lstStyle/>
          <a:p>
            <a:pPr marL="0" indent="0" algn="l">
              <a:lnSpc>
                <a:spcPts val="11138"/>
              </a:lnSpc>
              <a:buNone/>
            </a:pPr>
            <a:r>
              <a:rPr lang="en-US" sz="12375" b="1" kern="0" spc="-495" dirty="0">
                <a:solidFill>
                  <a:srgbClr val="1E3A8A"/>
                </a:solidFill>
                <a:latin typeface="Liberation Sans Narrow" pitchFamily="34" charset="0"/>
                <a:ea typeface="Liberation Sans Narrow" pitchFamily="34" charset="-122"/>
                <a:cs typeface="Liberation Sans Narrow" pitchFamily="34" charset="-120"/>
              </a:rPr>
              <a:t>02</a:t>
            </a:r>
            <a:endParaRPr lang="en-US" sz="12375" dirty="0"/>
          </a:p>
        </p:txBody>
      </p:sp>
      <p:sp>
        <p:nvSpPr>
          <p:cNvPr id="4" name="Text 2"/>
          <p:cNvSpPr/>
          <p:nvPr/>
        </p:nvSpPr>
        <p:spPr>
          <a:xfrm>
            <a:off x="3429000" y="1285875"/>
            <a:ext cx="28575" cy="2571750"/>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5" name="Text 3"/>
          <p:cNvSpPr/>
          <p:nvPr/>
        </p:nvSpPr>
        <p:spPr>
          <a:xfrm>
            <a:off x="3800475" y="1403524"/>
            <a:ext cx="5343525"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CHAPTER TWO</a:t>
            </a:r>
            <a:endParaRPr lang="en-US" sz="800" dirty="0"/>
          </a:p>
        </p:txBody>
      </p:sp>
      <p:sp>
        <p:nvSpPr>
          <p:cNvPr id="6" name="Text 4"/>
          <p:cNvSpPr/>
          <p:nvPr/>
        </p:nvSpPr>
        <p:spPr>
          <a:xfrm>
            <a:off x="3800475" y="1632124"/>
            <a:ext cx="5070634" cy="518368"/>
          </a:xfrm>
          <a:prstGeom prst="rect">
            <a:avLst/>
          </a:prstGeom>
          <a:noFill/>
          <a:ln/>
        </p:spPr>
        <p:txBody>
          <a:bodyPr wrap="none" lIns="0" tIns="0" rIns="0" bIns="0" rtlCol="0" anchor="t"/>
          <a:lstStyle/>
          <a:p>
            <a:pPr marL="0" indent="0" algn="l">
              <a:lnSpc>
                <a:spcPts val="3780"/>
              </a:lnSpc>
              <a:buNone/>
            </a:pPr>
            <a:r>
              <a:rPr lang="en-US" sz="3600" b="1" kern="0" spc="-72" dirty="0">
                <a:solidFill>
                  <a:srgbClr val="1E3A8A"/>
                </a:solidFill>
                <a:latin typeface="Carlito" pitchFamily="34" charset="0"/>
                <a:ea typeface="Carlito" pitchFamily="34" charset="-122"/>
                <a:cs typeface="Carlito" pitchFamily="34" charset="-120"/>
              </a:rPr>
              <a:t>Core Building Blocks</a:t>
            </a:r>
            <a:endParaRPr lang="en-US" sz="3600" dirty="0"/>
          </a:p>
        </p:txBody>
      </p:sp>
      <p:sp>
        <p:nvSpPr>
          <p:cNvPr id="7" name="Text 5"/>
          <p:cNvSpPr/>
          <p:nvPr/>
        </p:nvSpPr>
        <p:spPr>
          <a:xfrm>
            <a:off x="3800475" y="2269257"/>
            <a:ext cx="8572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8" name="Text 6"/>
          <p:cNvSpPr/>
          <p:nvPr/>
        </p:nvSpPr>
        <p:spPr>
          <a:xfrm>
            <a:off x="3800475" y="2426419"/>
            <a:ext cx="4572000" cy="738132"/>
          </a:xfrm>
          <a:prstGeom prst="rect">
            <a:avLst/>
          </a:prstGeom>
          <a:noFill/>
          <a:ln/>
        </p:spPr>
        <p:txBody>
          <a:bodyPr wrap="square" lIns="0" tIns="0" rIns="0" bIns="0" rtlCol="0" anchor="t"/>
          <a:lstStyle/>
          <a:p>
            <a:pPr marL="0" indent="0" algn="l">
              <a:lnSpc>
                <a:spcPts val="1794"/>
              </a:lnSpc>
              <a:buNone/>
            </a:pPr>
            <a:r>
              <a:rPr lang="en-US" sz="1238" dirty="0">
                <a:solidFill>
                  <a:srgbClr val="475569"/>
                </a:solidFill>
                <a:latin typeface="Carlito" pitchFamily="34" charset="0"/>
                <a:ea typeface="Carlito" pitchFamily="34" charset="-122"/>
                <a:cs typeface="Carlito" pitchFamily="34" charset="-120"/>
              </a:rPr>
              <a:t>Three primitives — multi-head attention, position-wise feed-forward, and positional encoding — that every encoder and decoder layer is built from.</a:t>
            </a:r>
            <a:endParaRPr lang="en-US" sz="1238" dirty="0"/>
          </a:p>
        </p:txBody>
      </p:sp>
      <p:sp>
        <p:nvSpPr>
          <p:cNvPr id="9" name="Text 7"/>
          <p:cNvSpPr/>
          <p:nvPr/>
        </p:nvSpPr>
        <p:spPr>
          <a:xfrm>
            <a:off x="3800475" y="3309900"/>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MULTI-HEAD ATTENTION</a:t>
            </a:r>
            <a:endParaRPr lang="en-US" sz="800" dirty="0"/>
          </a:p>
        </p:txBody>
      </p:sp>
      <p:sp>
        <p:nvSpPr>
          <p:cNvPr id="10" name="Text 8"/>
          <p:cNvSpPr/>
          <p:nvPr/>
        </p:nvSpPr>
        <p:spPr>
          <a:xfrm>
            <a:off x="3800475" y="3470635"/>
            <a:ext cx="1553297" cy="159053"/>
          </a:xfrm>
          <a:prstGeom prst="rect">
            <a:avLst/>
          </a:prstGeom>
          <a:noFill/>
          <a:ln/>
        </p:spPr>
        <p:txBody>
          <a:bodyPr wrap="square" lIns="0" tIns="0" rIns="0" bIns="0" rtlCol="0" anchor="t"/>
          <a:lstStyle/>
          <a:p>
            <a:pPr marL="0" indent="0" algn="l">
              <a:lnSpc>
                <a:spcPts val="1060"/>
              </a:lnSpc>
              <a:buNone/>
            </a:pPr>
            <a:r>
              <a:rPr lang="en-US" sz="731" dirty="0">
                <a:solidFill>
                  <a:srgbClr val="334155"/>
                </a:solidFill>
                <a:latin typeface="Carlito" pitchFamily="34" charset="0"/>
                <a:ea typeface="Carlito" pitchFamily="34" charset="-122"/>
                <a:cs typeface="Carlito" pitchFamily="34" charset="-120"/>
              </a:rPr>
              <a:t>Splits Q, K, V into h parallel heads.</a:t>
            </a:r>
            <a:endParaRPr lang="en-US" sz="731" dirty="0"/>
          </a:p>
        </p:txBody>
      </p:sp>
      <p:sp>
        <p:nvSpPr>
          <p:cNvPr id="11" name="Text 9"/>
          <p:cNvSpPr/>
          <p:nvPr/>
        </p:nvSpPr>
        <p:spPr>
          <a:xfrm>
            <a:off x="5438738" y="3309900"/>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POSITION-WISE FFN</a:t>
            </a:r>
            <a:endParaRPr lang="en-US" sz="800" dirty="0"/>
          </a:p>
        </p:txBody>
      </p:sp>
      <p:sp>
        <p:nvSpPr>
          <p:cNvPr id="12" name="Text 10"/>
          <p:cNvSpPr/>
          <p:nvPr/>
        </p:nvSpPr>
        <p:spPr>
          <a:xfrm>
            <a:off x="5438738" y="3470635"/>
            <a:ext cx="1524532"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Two linear layers with a ReLU between.</a:t>
            </a:r>
            <a:endParaRPr lang="en-US" sz="800" dirty="0"/>
          </a:p>
        </p:txBody>
      </p:sp>
      <p:sp>
        <p:nvSpPr>
          <p:cNvPr id="13" name="Text 11"/>
          <p:cNvSpPr/>
          <p:nvPr/>
        </p:nvSpPr>
        <p:spPr>
          <a:xfrm>
            <a:off x="7077001" y="3309900"/>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POSITIONAL ENCODING</a:t>
            </a:r>
            <a:endParaRPr lang="en-US" sz="800" dirty="0"/>
          </a:p>
        </p:txBody>
      </p:sp>
      <p:sp>
        <p:nvSpPr>
          <p:cNvPr id="14" name="Text 12"/>
          <p:cNvSpPr/>
          <p:nvPr/>
        </p:nvSpPr>
        <p:spPr>
          <a:xfrm>
            <a:off x="7077001" y="3470635"/>
            <a:ext cx="1524532"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Sinusoidal signal injected into embeddings.</a:t>
            </a:r>
            <a:endParaRPr lang="en-US" sz="800" dirty="0"/>
          </a:p>
        </p:txBody>
      </p:sp>
      <p:sp>
        <p:nvSpPr>
          <p:cNvPr id="15" name="Text 13"/>
          <p:cNvSpPr/>
          <p:nvPr/>
        </p:nvSpPr>
        <p:spPr>
          <a:xfrm>
            <a:off x="514350" y="4825603"/>
            <a:ext cx="81153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Transformer Model Tutorial · PyTorch · Chapter 2 of 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4369184" cy="164592"/>
          </a:xfrm>
          <a:prstGeom prst="rect">
            <a:avLst/>
          </a:prstGeom>
          <a:noFill/>
          <a:ln/>
        </p:spPr>
        <p:txBody>
          <a:bodyPr wrap="square" lIns="0" tIns="0" rIns="0" bIns="0" rtlCol="0" anchor="t"/>
          <a:lstStyle/>
          <a:p>
            <a:pPr marL="0" indent="0" algn="l">
              <a:lnSpc>
                <a:spcPts val="1013"/>
              </a:lnSpc>
              <a:buNone/>
            </a:pPr>
            <a:r>
              <a:rPr lang="en-US" sz="800" dirty="0">
                <a:solidFill>
                  <a:srgbClr val="64748B"/>
                </a:solidFill>
                <a:latin typeface="Courier New" pitchFamily="34" charset="0"/>
                <a:ea typeface="Courier New" pitchFamily="34" charset="-122"/>
                <a:cs typeface="Courier New" pitchFamily="34" charset="-120"/>
              </a:rPr>
              <a:t>class MultiHeadAttention(nn.Module) — __init__ + forward</a:t>
            </a:r>
            <a:endParaRPr lang="en-US" sz="800" dirty="0"/>
          </a:p>
        </p:txBody>
      </p:sp>
      <p:sp>
        <p:nvSpPr>
          <p:cNvPr id="3" name="Text 1"/>
          <p:cNvSpPr/>
          <p:nvPr/>
        </p:nvSpPr>
        <p:spPr>
          <a:xfrm>
            <a:off x="457200" y="600075"/>
            <a:ext cx="4369184" cy="4029075"/>
          </a:xfrm>
          <a:prstGeom prst="roundRect">
            <a:avLst>
              <a:gd name="adj" fmla="val 2364"/>
            </a:avLst>
          </a:prstGeom>
          <a:solidFill>
            <a:srgbClr val="0F172A"/>
          </a:solidFill>
          <a:ln/>
        </p:spPr>
        <p:txBody>
          <a:bodyPr wrap="square" rtlCol="0" anchor="ctr"/>
          <a:lstStyle/>
          <a:p>
            <a:pPr marL="0" indent="0">
              <a:buNone/>
            </a:pPr>
            <a:endParaRPr lang="en-US" dirty="0"/>
          </a:p>
        </p:txBody>
      </p:sp>
      <p:sp>
        <p:nvSpPr>
          <p:cNvPr id="4" name="Text 2"/>
          <p:cNvSpPr/>
          <p:nvPr/>
        </p:nvSpPr>
        <p:spPr>
          <a:xfrm>
            <a:off x="600075" y="750094"/>
            <a:ext cx="3511376" cy="3160087"/>
          </a:xfrm>
          <a:prstGeom prst="rect">
            <a:avLst/>
          </a:prstGeom>
          <a:noFill/>
          <a:ln/>
        </p:spPr>
        <p:txBody>
          <a:bodyPr wrap="none" lIns="0" tIns="0" rIns="0" bIns="0" rtlCol="0" anchor="t"/>
          <a:lstStyle/>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MultiHeadAttention</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d_model, num_heads):</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assert</a:t>
            </a:r>
            <a:r>
              <a:rPr lang="en-US" sz="800" dirty="0">
                <a:solidFill>
                  <a:srgbClr val="E2E8F0"/>
                </a:solidFill>
                <a:latin typeface="Liberation Mono" pitchFamily="34" charset="0"/>
                <a:ea typeface="Liberation Mono" pitchFamily="34" charset="-122"/>
                <a:cs typeface="Liberation Mono" pitchFamily="34" charset="-120"/>
              </a:rPr>
              <a:t> d_model % num_heads == </a:t>
            </a:r>
            <a:r>
              <a:rPr lang="en-US" sz="800" dirty="0">
                <a:solidFill>
                  <a:srgbClr val="F472B6"/>
                </a:solidFill>
                <a:latin typeface="Liberation Sans Narrow" pitchFamily="34" charset="0"/>
                <a:ea typeface="Liberation Sans Narrow" pitchFamily="34" charset="-122"/>
                <a:cs typeface="Liberation Sans Narrow" pitchFamily="34" charset="-120"/>
              </a:rPr>
              <a:t>0</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.d_model    = d_model</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.num_heads  = num_heads</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.d_k        = d_model // num_heads</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.W_q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d_model)</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.W_k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d_model)</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.W_v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d_model)</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.W_o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d_model)</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Q, K, V, mask=</a:t>
            </a:r>
            <a:r>
              <a:rPr lang="en-US" sz="800" dirty="0">
                <a:solidFill>
                  <a:srgbClr val="F59E0B"/>
                </a:solidFill>
                <a:latin typeface="Liberation Mono" pitchFamily="34" charset="0"/>
                <a:ea typeface="Liberation Mono" pitchFamily="34" charset="-122"/>
                <a:cs typeface="Liberation Mono" pitchFamily="34" charset="-120"/>
              </a:rPr>
              <a:t>None</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Q =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split_heads</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.W_q(Q))</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K =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split_heads</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.W_k(K))</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V =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split_heads</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.W_v(V))</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attn =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scaled_dot_product_attention</a:t>
            </a:r>
            <a:r>
              <a:rPr lang="en-US" sz="800" dirty="0">
                <a:solidFill>
                  <a:srgbClr val="E2E8F0"/>
                </a:solidFill>
                <a:latin typeface="Liberation Mono" pitchFamily="34" charset="0"/>
                <a:ea typeface="Liberation Mono" pitchFamily="34" charset="-122"/>
                <a:cs typeface="Liberation Mono" pitchFamily="34" charset="-120"/>
              </a:rPr>
              <a:t>(Q, K, V, mask)</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.W_o(</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combine_heads</a:t>
            </a:r>
            <a:r>
              <a:rPr lang="en-US" sz="800" dirty="0">
                <a:solidFill>
                  <a:srgbClr val="E2E8F0"/>
                </a:solidFill>
                <a:latin typeface="Liberation Mono" pitchFamily="34" charset="0"/>
                <a:ea typeface="Liberation Mono" pitchFamily="34" charset="-122"/>
                <a:cs typeface="Liberation Mono" pitchFamily="34" charset="-120"/>
              </a:rPr>
              <a:t>(attn))</a:t>
            </a:r>
            <a:endParaRPr lang="en-US" sz="800" dirty="0"/>
          </a:p>
        </p:txBody>
      </p:sp>
      <p:sp>
        <p:nvSpPr>
          <p:cNvPr id="5" name="Text 3"/>
          <p:cNvSpPr/>
          <p:nvPr/>
        </p:nvSpPr>
        <p:spPr>
          <a:xfrm>
            <a:off x="5112134" y="400050"/>
            <a:ext cx="4031866"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BUILDING BLOCK · 01</a:t>
            </a:r>
            <a:endParaRPr lang="en-US" sz="800" dirty="0"/>
          </a:p>
        </p:txBody>
      </p:sp>
      <p:sp>
        <p:nvSpPr>
          <p:cNvPr id="6" name="Text 4"/>
          <p:cNvSpPr/>
          <p:nvPr/>
        </p:nvSpPr>
        <p:spPr>
          <a:xfrm>
            <a:off x="5112134" y="571500"/>
            <a:ext cx="3753399" cy="245370"/>
          </a:xfrm>
          <a:prstGeom prst="rect">
            <a:avLst/>
          </a:prstGeom>
          <a:noFill/>
          <a:ln/>
        </p:spPr>
        <p:txBody>
          <a:bodyPr wrap="none" lIns="0" tIns="0" rIns="0" bIns="0" rtlCol="0" anchor="t">
            <a:normAutofit/>
          </a:bodyPr>
          <a:lstStyle/>
          <a:p>
            <a:pPr marL="0" indent="0" algn="l">
              <a:lnSpc>
                <a:spcPts val="1811"/>
              </a:lnSpc>
              <a:buNone/>
            </a:pPr>
            <a:r>
              <a:rPr lang="en-US" sz="1575" b="1" dirty="0">
                <a:solidFill>
                  <a:srgbClr val="1E3A8A"/>
                </a:solidFill>
                <a:latin typeface="Carlito" pitchFamily="34" charset="0"/>
                <a:ea typeface="Carlito" pitchFamily="34" charset="-122"/>
                <a:cs typeface="Carlito" pitchFamily="34" charset="-120"/>
              </a:rPr>
              <a:t>Multi-Head Attention</a:t>
            </a:r>
            <a:endParaRPr lang="en-US" sz="1575" dirty="0"/>
          </a:p>
        </p:txBody>
      </p:sp>
      <p:sp>
        <p:nvSpPr>
          <p:cNvPr id="7" name="Text 5"/>
          <p:cNvSpPr/>
          <p:nvPr/>
        </p:nvSpPr>
        <p:spPr>
          <a:xfrm>
            <a:off x="5112134" y="844302"/>
            <a:ext cx="3574666" cy="183599"/>
          </a:xfrm>
          <a:prstGeom prst="rect">
            <a:avLst/>
          </a:prstGeom>
          <a:noFill/>
          <a:ln/>
        </p:spPr>
        <p:txBody>
          <a:bodyPr wrap="square" lIns="0" tIns="0" rIns="0" bIns="0" rtlCol="0" anchor="t"/>
          <a:lstStyle/>
          <a:p>
            <a:pPr marL="0" indent="0" algn="l">
              <a:lnSpc>
                <a:spcPts val="1339"/>
              </a:lnSpc>
              <a:buNone/>
            </a:pPr>
            <a:r>
              <a:rPr lang="en-US" sz="956" dirty="0">
                <a:solidFill>
                  <a:srgbClr val="475569"/>
                </a:solidFill>
                <a:latin typeface="Carlito" pitchFamily="34" charset="0"/>
                <a:ea typeface="Carlito" pitchFamily="34" charset="-122"/>
                <a:cs typeface="Carlito" pitchFamily="34" charset="-120"/>
              </a:rPr>
              <a:t>Parallel attention heads learn different relationship patterns.</a:t>
            </a:r>
            <a:endParaRPr lang="en-US" sz="956" dirty="0"/>
          </a:p>
        </p:txBody>
      </p:sp>
      <p:sp>
        <p:nvSpPr>
          <p:cNvPr id="8" name="Text 6"/>
          <p:cNvSpPr/>
          <p:nvPr/>
        </p:nvSpPr>
        <p:spPr>
          <a:xfrm>
            <a:off x="5112134" y="1100026"/>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9" name="Text 7"/>
          <p:cNvSpPr/>
          <p:nvPr/>
        </p:nvSpPr>
        <p:spPr>
          <a:xfrm>
            <a:off x="5112134" y="1250045"/>
            <a:ext cx="200025" cy="200025"/>
          </a:xfrm>
          <a:prstGeom prst="ellipse">
            <a:avLst/>
          </a:prstGeom>
          <a:solidFill>
            <a:srgbClr val="1E3A8A"/>
          </a:solidFill>
          <a:ln/>
        </p:spPr>
        <p:txBody>
          <a:bodyPr wrap="square" rtlCol="0" anchor="ctr"/>
          <a:lstStyle/>
          <a:p>
            <a:pPr marL="0" indent="0">
              <a:buNone/>
            </a:pPr>
            <a:endParaRPr lang="en-US" dirty="0"/>
          </a:p>
        </p:txBody>
      </p:sp>
      <p:sp>
        <p:nvSpPr>
          <p:cNvPr id="10" name="Text 8"/>
          <p:cNvSpPr/>
          <p:nvPr/>
        </p:nvSpPr>
        <p:spPr>
          <a:xfrm>
            <a:off x="5112134" y="1250045"/>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1" name="Text 9"/>
          <p:cNvSpPr/>
          <p:nvPr/>
        </p:nvSpPr>
        <p:spPr>
          <a:xfrm>
            <a:off x="5397884" y="1257188"/>
            <a:ext cx="1246818" cy="133241"/>
          </a:xfrm>
          <a:prstGeom prst="rect">
            <a:avLst/>
          </a:prstGeom>
          <a:noFill/>
          <a:ln/>
        </p:spPr>
        <p:txBody>
          <a:bodyPr wrap="none" lIns="0" tIns="0" rIns="0" bIns="0" rtlCol="0" anchor="t"/>
          <a:lstStyle/>
          <a:p>
            <a:pPr marL="0" indent="0" algn="l">
              <a:lnSpc>
                <a:spcPts val="1181"/>
              </a:lnSpc>
              <a:buNone/>
            </a:pPr>
            <a:r>
              <a:rPr lang="en-US" sz="800" b="1" kern="0" spc="32" dirty="0">
                <a:solidFill>
                  <a:srgbClr val="1E3A8A"/>
                </a:solidFill>
                <a:latin typeface="Carlito" pitchFamily="34" charset="0"/>
                <a:ea typeface="Carlito" pitchFamily="34" charset="-122"/>
                <a:cs typeface="Carlito" pitchFamily="34" charset="-120"/>
              </a:rPr>
              <a:t>LINEAR PROJECTIONS</a:t>
            </a:r>
            <a:endParaRPr lang="en-US" sz="800" dirty="0"/>
          </a:p>
        </p:txBody>
      </p:sp>
      <p:sp>
        <p:nvSpPr>
          <p:cNvPr id="12" name="Text 10"/>
          <p:cNvSpPr/>
          <p:nvPr/>
        </p:nvSpPr>
        <p:spPr>
          <a:xfrm>
            <a:off x="5397884" y="1257188"/>
            <a:ext cx="3074157" cy="462425"/>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W_q, W_k, W_v project the input into three separate spaces: queries (what we want), keys (what we have), values (what we return).</a:t>
            </a:r>
            <a:endParaRPr lang="en-US" sz="800" dirty="0"/>
          </a:p>
        </p:txBody>
      </p:sp>
      <p:sp>
        <p:nvSpPr>
          <p:cNvPr id="13" name="Text 11"/>
          <p:cNvSpPr/>
          <p:nvPr/>
        </p:nvSpPr>
        <p:spPr>
          <a:xfrm>
            <a:off x="5112134" y="1778682"/>
            <a:ext cx="200025" cy="200025"/>
          </a:xfrm>
          <a:prstGeom prst="ellipse">
            <a:avLst/>
          </a:prstGeom>
          <a:solidFill>
            <a:srgbClr val="1E3A8A"/>
          </a:solidFill>
          <a:ln/>
        </p:spPr>
        <p:txBody>
          <a:bodyPr wrap="square" rtlCol="0" anchor="ctr"/>
          <a:lstStyle/>
          <a:p>
            <a:pPr marL="0" indent="0">
              <a:buNone/>
            </a:pPr>
            <a:endParaRPr lang="en-US" dirty="0"/>
          </a:p>
        </p:txBody>
      </p:sp>
      <p:sp>
        <p:nvSpPr>
          <p:cNvPr id="14" name="Text 12"/>
          <p:cNvSpPr/>
          <p:nvPr/>
        </p:nvSpPr>
        <p:spPr>
          <a:xfrm>
            <a:off x="5112134" y="1778682"/>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5" name="Text 13"/>
          <p:cNvSpPr/>
          <p:nvPr/>
        </p:nvSpPr>
        <p:spPr>
          <a:xfrm>
            <a:off x="5397884" y="1785826"/>
            <a:ext cx="946775" cy="133241"/>
          </a:xfrm>
          <a:prstGeom prst="rect">
            <a:avLst/>
          </a:prstGeom>
          <a:noFill/>
          <a:ln/>
        </p:spPr>
        <p:txBody>
          <a:bodyPr wrap="none" lIns="0" tIns="0" rIns="0" bIns="0" rtlCol="0" anchor="t"/>
          <a:lstStyle/>
          <a:p>
            <a:pPr marL="0" indent="0" algn="l">
              <a:lnSpc>
                <a:spcPts val="1181"/>
              </a:lnSpc>
              <a:buNone/>
            </a:pPr>
            <a:r>
              <a:rPr lang="en-US" sz="788" b="1" kern="0" spc="32" dirty="0">
                <a:solidFill>
                  <a:srgbClr val="1E3A8A"/>
                </a:solidFill>
                <a:latin typeface="Carlito" pitchFamily="34" charset="0"/>
                <a:ea typeface="Carlito" pitchFamily="34" charset="-122"/>
                <a:cs typeface="Carlito" pitchFamily="34" charset="-120"/>
              </a:rPr>
              <a:t>HEAD SPLITTING</a:t>
            </a:r>
            <a:endParaRPr lang="en-US" sz="788" dirty="0"/>
          </a:p>
        </p:txBody>
      </p:sp>
      <p:sp>
        <p:nvSpPr>
          <p:cNvPr id="16" name="Text 14"/>
          <p:cNvSpPr/>
          <p:nvPr/>
        </p:nvSpPr>
        <p:spPr>
          <a:xfrm>
            <a:off x="5397884" y="1785826"/>
            <a:ext cx="3206874" cy="297833"/>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d_model is split into num_heads chunks of size d_k = d_model / num_heads. Each head attends in its own subspace.</a:t>
            </a:r>
            <a:endParaRPr lang="en-US" sz="800" dirty="0"/>
          </a:p>
        </p:txBody>
      </p:sp>
      <p:sp>
        <p:nvSpPr>
          <p:cNvPr id="17" name="Text 15"/>
          <p:cNvSpPr/>
          <p:nvPr/>
        </p:nvSpPr>
        <p:spPr>
          <a:xfrm>
            <a:off x="5112134" y="2157301"/>
            <a:ext cx="200025" cy="200025"/>
          </a:xfrm>
          <a:prstGeom prst="ellipse">
            <a:avLst/>
          </a:prstGeom>
          <a:solidFill>
            <a:srgbClr val="1E3A8A"/>
          </a:solidFill>
          <a:ln/>
        </p:spPr>
        <p:txBody>
          <a:bodyPr wrap="square" rtlCol="0" anchor="ctr"/>
          <a:lstStyle/>
          <a:p>
            <a:pPr marL="0" indent="0">
              <a:buNone/>
            </a:pPr>
            <a:endParaRPr lang="en-US" dirty="0"/>
          </a:p>
        </p:txBody>
      </p:sp>
      <p:sp>
        <p:nvSpPr>
          <p:cNvPr id="18" name="Text 16"/>
          <p:cNvSpPr/>
          <p:nvPr/>
        </p:nvSpPr>
        <p:spPr>
          <a:xfrm>
            <a:off x="5112134" y="2157301"/>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19" name="Text 17"/>
          <p:cNvSpPr/>
          <p:nvPr/>
        </p:nvSpPr>
        <p:spPr>
          <a:xfrm>
            <a:off x="5397884" y="2164445"/>
            <a:ext cx="1321862" cy="133241"/>
          </a:xfrm>
          <a:prstGeom prst="rect">
            <a:avLst/>
          </a:prstGeom>
          <a:noFill/>
          <a:ln/>
        </p:spPr>
        <p:txBody>
          <a:bodyPr wrap="none" lIns="0" tIns="0" rIns="0" bIns="0" rtlCol="0" anchor="t"/>
          <a:lstStyle/>
          <a:p>
            <a:pPr marL="0" indent="0" algn="l">
              <a:lnSpc>
                <a:spcPts val="1181"/>
              </a:lnSpc>
              <a:buNone/>
            </a:pPr>
            <a:r>
              <a:rPr lang="en-US" sz="800" b="1" kern="0" spc="32" dirty="0">
                <a:solidFill>
                  <a:srgbClr val="1E3A8A"/>
                </a:solidFill>
                <a:latin typeface="Carlito" pitchFamily="34" charset="0"/>
                <a:ea typeface="Carlito" pitchFamily="34" charset="-122"/>
                <a:cs typeface="Carlito" pitchFamily="34" charset="-120"/>
              </a:rPr>
              <a:t>SCALED DOT-PRODUCT</a:t>
            </a:r>
            <a:endParaRPr lang="en-US" sz="800" dirty="0"/>
          </a:p>
        </p:txBody>
      </p:sp>
      <p:sp>
        <p:nvSpPr>
          <p:cNvPr id="20" name="Text 18"/>
          <p:cNvSpPr/>
          <p:nvPr/>
        </p:nvSpPr>
        <p:spPr>
          <a:xfrm>
            <a:off x="5397884" y="2164445"/>
            <a:ext cx="3048037" cy="297833"/>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Per head: scores = QKᵀ / √d_k, softmax, multiply by V. (Math detailed on the next slide.)</a:t>
            </a:r>
            <a:endParaRPr lang="en-US" sz="800" dirty="0"/>
          </a:p>
        </p:txBody>
      </p:sp>
      <p:sp>
        <p:nvSpPr>
          <p:cNvPr id="21" name="Text 19"/>
          <p:cNvSpPr/>
          <p:nvPr/>
        </p:nvSpPr>
        <p:spPr>
          <a:xfrm>
            <a:off x="5112134" y="2535920"/>
            <a:ext cx="200025" cy="200025"/>
          </a:xfrm>
          <a:prstGeom prst="ellipse">
            <a:avLst/>
          </a:prstGeom>
          <a:solidFill>
            <a:srgbClr val="1E3A8A"/>
          </a:solidFill>
          <a:ln/>
        </p:spPr>
        <p:txBody>
          <a:bodyPr wrap="square" rtlCol="0" anchor="ctr"/>
          <a:lstStyle/>
          <a:p>
            <a:pPr marL="0" indent="0">
              <a:buNone/>
            </a:pPr>
            <a:endParaRPr lang="en-US" dirty="0"/>
          </a:p>
        </p:txBody>
      </p:sp>
      <p:sp>
        <p:nvSpPr>
          <p:cNvPr id="22" name="Text 20"/>
          <p:cNvSpPr/>
          <p:nvPr/>
        </p:nvSpPr>
        <p:spPr>
          <a:xfrm>
            <a:off x="5112134" y="2535920"/>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3" name="Text 21"/>
          <p:cNvSpPr/>
          <p:nvPr/>
        </p:nvSpPr>
        <p:spPr>
          <a:xfrm>
            <a:off x="5397884" y="2543063"/>
            <a:ext cx="1079962" cy="133241"/>
          </a:xfrm>
          <a:prstGeom prst="rect">
            <a:avLst/>
          </a:prstGeom>
          <a:noFill/>
          <a:ln/>
        </p:spPr>
        <p:txBody>
          <a:bodyPr wrap="none" lIns="0" tIns="0" rIns="0" bIns="0" rtlCol="0" anchor="t"/>
          <a:lstStyle/>
          <a:p>
            <a:pPr marL="0" indent="0" algn="l">
              <a:lnSpc>
                <a:spcPts val="1181"/>
              </a:lnSpc>
              <a:buNone/>
            </a:pPr>
            <a:r>
              <a:rPr lang="en-US" sz="800" b="1" kern="0" spc="32" dirty="0">
                <a:solidFill>
                  <a:srgbClr val="1E3A8A"/>
                </a:solidFill>
                <a:latin typeface="Carlito" pitchFamily="34" charset="0"/>
                <a:ea typeface="Carlito" pitchFamily="34" charset="-122"/>
                <a:cs typeface="Carlito" pitchFamily="34" charset="-120"/>
              </a:rPr>
              <a:t>CONCAT + OUTPUT</a:t>
            </a:r>
            <a:endParaRPr lang="en-US" sz="800" dirty="0"/>
          </a:p>
        </p:txBody>
      </p:sp>
      <p:sp>
        <p:nvSpPr>
          <p:cNvPr id="24" name="Text 22"/>
          <p:cNvSpPr/>
          <p:nvPr/>
        </p:nvSpPr>
        <p:spPr>
          <a:xfrm>
            <a:off x="5397884" y="2543063"/>
            <a:ext cx="3066790" cy="297833"/>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Heads are concatenated back to d_model and passed through W_o — a learned linear mix of head outputs.</a:t>
            </a:r>
            <a:endParaRPr lang="en-US" sz="800" dirty="0"/>
          </a:p>
        </p:txBody>
      </p:sp>
      <p:sp>
        <p:nvSpPr>
          <p:cNvPr id="25" name="Text 23"/>
          <p:cNvSpPr/>
          <p:nvPr/>
        </p:nvSpPr>
        <p:spPr>
          <a:xfrm>
            <a:off x="5115706" y="2946685"/>
            <a:ext cx="3567522" cy="610791"/>
          </a:xfrm>
          <a:prstGeom prst="roundRect">
            <a:avLst>
              <a:gd name="adj" fmla="val 18713"/>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26" name="Text 24"/>
          <p:cNvSpPr/>
          <p:nvPr/>
        </p:nvSpPr>
        <p:spPr>
          <a:xfrm>
            <a:off x="5233578" y="3043126"/>
            <a:ext cx="3331778" cy="417909"/>
          </a:xfrm>
          <a:prstGeom prst="rect">
            <a:avLst/>
          </a:prstGeom>
          <a:noFill/>
          <a:ln/>
        </p:spPr>
        <p:txBody>
          <a:bodyPr wrap="square" lIns="0" tIns="0" rIns="0" bIns="0" rtlCol="0" anchor="t"/>
          <a:lstStyle/>
          <a:p>
            <a:pPr marL="0" indent="0" algn="l">
              <a:lnSpc>
                <a:spcPts val="1097"/>
              </a:lnSpc>
              <a:buNone/>
            </a:pPr>
            <a:r>
              <a:rPr lang="en-US" sz="800" b="1" dirty="0">
                <a:solidFill>
                  <a:srgbClr val="1E3A8A"/>
                </a:solidFill>
                <a:latin typeface="Carlito" pitchFamily="34" charset="0"/>
                <a:ea typeface="Carlito" pitchFamily="34" charset="-122"/>
                <a:cs typeface="Carlito" pitchFamily="34" charset="-120"/>
              </a:rPr>
              <a:t>Why multiple heads?</a:t>
            </a:r>
            <a:r>
              <a:rPr lang="en-US" sz="800" dirty="0">
                <a:solidFill>
                  <a:srgbClr val="0F172A"/>
                </a:solidFill>
                <a:latin typeface="Carlito" pitchFamily="34" charset="0"/>
                <a:ea typeface="Carlito" pitchFamily="34" charset="-122"/>
                <a:cs typeface="Carlito" pitchFamily="34" charset="-120"/>
              </a:rPr>
              <a:t> A single attention head must average over every relationship at once. Multiple heads let different heads specialize — one for syntactic dependencies, another for coreference, a third for topical similarity.</a:t>
            </a:r>
            <a:endParaRPr lang="en-US" sz="800" dirty="0"/>
          </a:p>
        </p:txBody>
      </p:sp>
      <p:sp>
        <p:nvSpPr>
          <p:cNvPr id="27" name="Text 25"/>
          <p:cNvSpPr/>
          <p:nvPr/>
        </p:nvSpPr>
        <p:spPr>
          <a:xfrm>
            <a:off x="457200" y="4854178"/>
            <a:ext cx="82296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06 · Core Building Blocks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60772" y="346472"/>
            <a:ext cx="8222456" cy="1237208"/>
          </a:xfrm>
          <a:prstGeom prst="roundRect">
            <a:avLst>
              <a:gd name="adj" fmla="val 9239"/>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3" name="Text 1"/>
          <p:cNvSpPr/>
          <p:nvPr/>
        </p:nvSpPr>
        <p:spPr>
          <a:xfrm>
            <a:off x="3934921" y="500063"/>
            <a:ext cx="1274158" cy="164592"/>
          </a:xfrm>
          <a:prstGeom prst="rect">
            <a:avLst/>
          </a:prstGeom>
          <a:noFill/>
          <a:ln/>
        </p:spPr>
        <p:txBody>
          <a:bodyPr wrap="none" lIns="0" tIns="0" rIns="0" bIns="0" rtlCol="0" anchor="t"/>
          <a:lstStyle/>
          <a:p>
            <a:pPr marL="0" indent="0" algn="ctr">
              <a:lnSpc>
                <a:spcPts val="1013"/>
              </a:lnSpc>
              <a:buNone/>
            </a:pPr>
            <a:r>
              <a:rPr lang="en-US" sz="800" kern="0" spc="95" dirty="0">
                <a:solidFill>
                  <a:srgbClr val="F59E0B"/>
                </a:solidFill>
                <a:latin typeface="Courier New" pitchFamily="34" charset="0"/>
                <a:ea typeface="Courier New" pitchFamily="34" charset="-122"/>
                <a:cs typeface="Courier New" pitchFamily="34" charset="-120"/>
              </a:rPr>
              <a:t>THE CORE OPERATION</a:t>
            </a:r>
            <a:endParaRPr lang="en-US" sz="800" dirty="0"/>
          </a:p>
        </p:txBody>
      </p:sp>
      <p:sp>
        <p:nvSpPr>
          <p:cNvPr id="4" name="Text 2"/>
          <p:cNvSpPr/>
          <p:nvPr/>
        </p:nvSpPr>
        <p:spPr>
          <a:xfrm>
            <a:off x="692944" y="667941"/>
            <a:ext cx="7867840" cy="240619"/>
          </a:xfrm>
          <a:prstGeom prst="rect">
            <a:avLst/>
          </a:prstGeom>
          <a:noFill/>
          <a:ln/>
        </p:spPr>
        <p:txBody>
          <a:bodyPr wrap="square" lIns="0" tIns="0" rIns="0" bIns="0" rtlCol="0" anchor="t"/>
          <a:lstStyle/>
          <a:p>
            <a:pPr marL="0" indent="0" algn="ctr">
              <a:lnSpc>
                <a:spcPts val="1755"/>
              </a:lnSpc>
              <a:buNone/>
            </a:pPr>
            <a:r>
              <a:rPr lang="en-US" sz="1463" b="1" dirty="0">
                <a:solidFill>
                  <a:srgbClr val="1E3A8A"/>
                </a:solidFill>
                <a:latin typeface="Carlito" pitchFamily="34" charset="0"/>
                <a:ea typeface="Carlito" pitchFamily="34" charset="-122"/>
                <a:cs typeface="Carlito" pitchFamily="34" charset="-120"/>
              </a:rPr>
              <a:t>Scaled Dot-Product Attention</a:t>
            </a:r>
            <a:endParaRPr lang="en-US" sz="1463" dirty="0"/>
          </a:p>
        </p:txBody>
      </p:sp>
      <p:sp>
        <p:nvSpPr>
          <p:cNvPr id="5" name="Text 3"/>
          <p:cNvSpPr/>
          <p:nvPr/>
        </p:nvSpPr>
        <p:spPr>
          <a:xfrm>
            <a:off x="692944" y="962174"/>
            <a:ext cx="7867840" cy="322612"/>
          </a:xfrm>
          <a:prstGeom prst="rect">
            <a:avLst/>
          </a:prstGeom>
          <a:noFill/>
          <a:ln/>
        </p:spPr>
        <p:txBody>
          <a:bodyPr wrap="square" lIns="0" tIns="0" rIns="0" bIns="0" rtlCol="0" anchor="t">
            <a:normAutofit/>
          </a:bodyPr>
          <a:lstStyle/>
          <a:p>
            <a:pPr marL="0" indent="0" algn="ctr">
              <a:lnSpc>
                <a:spcPts val="2531"/>
              </a:lnSpc>
              <a:buNone/>
            </a:pPr>
            <a:r>
              <a:rPr lang="en-US" sz="1688" kern="0" spc="17" dirty="0">
                <a:solidFill>
                  <a:srgbClr val="1E3A8A"/>
                </a:solidFill>
                <a:latin typeface="Courier New" pitchFamily="34" charset="0"/>
                <a:ea typeface="Courier New" pitchFamily="34" charset="-122"/>
                <a:cs typeface="Courier New" pitchFamily="34" charset="-120"/>
              </a:rPr>
              <a:t>Attention(Q, K, V) = softmax( Q · Kᵀ / √d_k ) · V</a:t>
            </a:r>
            <a:endParaRPr lang="en-US" sz="1688" dirty="0"/>
          </a:p>
        </p:txBody>
      </p:sp>
      <p:sp>
        <p:nvSpPr>
          <p:cNvPr id="6" name="Text 4"/>
          <p:cNvSpPr/>
          <p:nvPr/>
        </p:nvSpPr>
        <p:spPr>
          <a:xfrm>
            <a:off x="692944" y="1312218"/>
            <a:ext cx="7867840" cy="139303"/>
          </a:xfrm>
          <a:prstGeom prst="rect">
            <a:avLst/>
          </a:prstGeom>
          <a:noFill/>
          <a:ln/>
        </p:spPr>
        <p:txBody>
          <a:bodyPr wrap="square" lIns="0" tIns="0" rIns="0" bIns="0" rtlCol="0" anchor="t"/>
          <a:lstStyle/>
          <a:p>
            <a:pPr marL="0" indent="0" algn="ctr">
              <a:lnSpc>
                <a:spcPts val="1097"/>
              </a:lnSpc>
              <a:buNone/>
            </a:pPr>
            <a:r>
              <a:rPr lang="en-US" sz="800" i="1" dirty="0">
                <a:solidFill>
                  <a:srgbClr val="64748B"/>
                </a:solidFill>
                <a:latin typeface="Liberation Sans Narrow" pitchFamily="34" charset="0"/>
                <a:ea typeface="Liberation Sans Narrow" pitchFamily="34" charset="-122"/>
                <a:cs typeface="Liberation Sans Narrow" pitchFamily="34" charset="-120"/>
              </a:rPr>
              <a:t>— Vaswani et al., 2017, Eq. 1</a:t>
            </a:r>
            <a:endParaRPr lang="en-US" sz="800" dirty="0"/>
          </a:p>
        </p:txBody>
      </p:sp>
      <p:sp>
        <p:nvSpPr>
          <p:cNvPr id="7" name="Text 5"/>
          <p:cNvSpPr/>
          <p:nvPr/>
        </p:nvSpPr>
        <p:spPr>
          <a:xfrm>
            <a:off x="457200" y="1715839"/>
            <a:ext cx="4817678" cy="158306"/>
          </a:xfrm>
          <a:prstGeom prst="rect">
            <a:avLst/>
          </a:prstGeom>
          <a:noFill/>
          <a:ln/>
        </p:spPr>
        <p:txBody>
          <a:bodyPr wrap="square" lIns="0" tIns="0" rIns="0" bIns="0" rtlCol="0" anchor="t">
            <a:normAutofit/>
          </a:bodyPr>
          <a:lstStyle/>
          <a:p>
            <a:pPr marL="0" indent="0" algn="l">
              <a:lnSpc>
                <a:spcPts val="1013"/>
              </a:lnSpc>
              <a:buNone/>
            </a:pPr>
            <a:r>
              <a:rPr lang="en-US" sz="800" dirty="0">
                <a:solidFill>
                  <a:srgbClr val="64748B"/>
                </a:solidFill>
                <a:latin typeface="Courier New" pitchFamily="34" charset="0"/>
                <a:ea typeface="Courier New" pitchFamily="34" charset="-122"/>
                <a:cs typeface="Courier New" pitchFamily="34" charset="-120"/>
              </a:rPr>
              <a:t>scaled_dot_product_attention(self, Q, K, V, mask=None)</a:t>
            </a:r>
            <a:endParaRPr lang="en-US" sz="800" dirty="0"/>
          </a:p>
        </p:txBody>
      </p:sp>
      <p:sp>
        <p:nvSpPr>
          <p:cNvPr id="8" name="Text 6"/>
          <p:cNvSpPr/>
          <p:nvPr/>
        </p:nvSpPr>
        <p:spPr>
          <a:xfrm>
            <a:off x="457200" y="1901577"/>
            <a:ext cx="4817678" cy="2784723"/>
          </a:xfrm>
          <a:prstGeom prst="roundRect">
            <a:avLst>
              <a:gd name="adj" fmla="val 3420"/>
            </a:avLst>
          </a:prstGeom>
          <a:solidFill>
            <a:srgbClr val="0F172A"/>
          </a:solidFill>
          <a:ln/>
        </p:spPr>
        <p:txBody>
          <a:bodyPr wrap="square" rtlCol="0" anchor="ctr"/>
          <a:lstStyle/>
          <a:p>
            <a:pPr marL="0" indent="0">
              <a:buNone/>
            </a:pPr>
            <a:endParaRPr lang="en-US" dirty="0"/>
          </a:p>
        </p:txBody>
      </p:sp>
      <p:sp>
        <p:nvSpPr>
          <p:cNvPr id="9" name="Text 7"/>
          <p:cNvSpPr/>
          <p:nvPr/>
        </p:nvSpPr>
        <p:spPr>
          <a:xfrm>
            <a:off x="585788" y="2037308"/>
            <a:ext cx="4236244" cy="2446328"/>
          </a:xfrm>
          <a:prstGeom prst="rect">
            <a:avLst/>
          </a:prstGeom>
          <a:noFill/>
          <a:ln/>
        </p:spPr>
        <p:txBody>
          <a:bodyPr wrap="none" lIns="0" tIns="0" rIns="0" bIns="0" rtlCol="0" anchor="t"/>
          <a:lstStyle/>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scaled_dot_product_attention</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Q, K, V, mask=</a:t>
            </a:r>
            <a:r>
              <a:rPr lang="en-US" sz="800" dirty="0">
                <a:solidFill>
                  <a:srgbClr val="F59E0B"/>
                </a:solidFill>
                <a:latin typeface="Liberation Mono" pitchFamily="34" charset="0"/>
                <a:ea typeface="Liberation Mono" pitchFamily="34" charset="-122"/>
                <a:cs typeface="Liberation Mono" pitchFamily="34" charset="-120"/>
              </a:rPr>
              <a:t>None</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1. Similarity: how much each Q matches each K</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attn_scores = torch.</a:t>
            </a:r>
            <a:r>
              <a:rPr lang="en-US" sz="800" dirty="0">
                <a:solidFill>
                  <a:srgbClr val="60A5FA"/>
                </a:solidFill>
                <a:latin typeface="Liberation Mono" pitchFamily="34" charset="0"/>
                <a:ea typeface="Liberation Mono" pitchFamily="34" charset="-122"/>
                <a:cs typeface="Liberation Mono" pitchFamily="34" charset="-120"/>
              </a:rPr>
              <a:t>matmul</a:t>
            </a:r>
            <a:r>
              <a:rPr lang="en-US" sz="800" dirty="0">
                <a:solidFill>
                  <a:srgbClr val="E2E8F0"/>
                </a:solidFill>
                <a:latin typeface="Liberation Mono" pitchFamily="34" charset="0"/>
                <a:ea typeface="Liberation Mono" pitchFamily="34" charset="-122"/>
                <a:cs typeface="Liberation Mono" pitchFamily="34" charset="-120"/>
              </a:rPr>
              <a:t>(Q, K.</a:t>
            </a:r>
            <a:r>
              <a:rPr lang="en-US" sz="800" dirty="0">
                <a:solidFill>
                  <a:srgbClr val="60A5FA"/>
                </a:solidFill>
                <a:latin typeface="Liberation Mono" pitchFamily="34" charset="0"/>
                <a:ea typeface="Liberation Mono" pitchFamily="34" charset="-122"/>
                <a:cs typeface="Liberation Mono" pitchFamily="34" charset="-120"/>
              </a:rPr>
              <a:t>transpose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 / math.</a:t>
            </a:r>
            <a:r>
              <a:rPr lang="en-US" sz="800" dirty="0">
                <a:solidFill>
                  <a:srgbClr val="60A5FA"/>
                </a:solidFill>
                <a:latin typeface="Liberation Mono" pitchFamily="34" charset="0"/>
                <a:ea typeface="Liberation Mono" pitchFamily="34" charset="-122"/>
                <a:cs typeface="Liberation Mono" pitchFamily="34" charset="-120"/>
              </a:rPr>
              <a:t>sqrt</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.d_k)</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2. Masking: block forbidden positions (pad / future)</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if</a:t>
            </a:r>
            <a:r>
              <a:rPr lang="en-US" sz="800" dirty="0">
                <a:solidFill>
                  <a:srgbClr val="E2E8F0"/>
                </a:solidFill>
                <a:latin typeface="Liberation Mono" pitchFamily="34" charset="0"/>
                <a:ea typeface="Liberation Mono" pitchFamily="34" charset="-122"/>
                <a:cs typeface="Liberation Mono" pitchFamily="34" charset="-120"/>
              </a:rPr>
              <a:t> mask </a:t>
            </a:r>
            <a:r>
              <a:rPr lang="en-US" sz="800" dirty="0">
                <a:solidFill>
                  <a:srgbClr val="F59E0B"/>
                </a:solidFill>
                <a:latin typeface="Liberation Mono" pitchFamily="34" charset="0"/>
                <a:ea typeface="Liberation Mono" pitchFamily="34" charset="-122"/>
                <a:cs typeface="Liberation Mono" pitchFamily="34" charset="-120"/>
              </a:rPr>
              <a:t>is not</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59E0B"/>
                </a:solidFill>
                <a:latin typeface="Liberation Mono" pitchFamily="34" charset="0"/>
                <a:ea typeface="Liberation Mono" pitchFamily="34" charset="-122"/>
                <a:cs typeface="Liberation Mono" pitchFamily="34" charset="-120"/>
              </a:rPr>
              <a:t>None</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attn_scores = attn_scores.</a:t>
            </a:r>
            <a:r>
              <a:rPr lang="en-US" sz="800" dirty="0">
                <a:solidFill>
                  <a:srgbClr val="60A5FA"/>
                </a:solidFill>
                <a:latin typeface="Liberation Mono" pitchFamily="34" charset="0"/>
                <a:ea typeface="Liberation Mono" pitchFamily="34" charset="-122"/>
                <a:cs typeface="Liberation Mono" pitchFamily="34" charset="-120"/>
              </a:rPr>
              <a:t>masked_fill</a:t>
            </a:r>
            <a:r>
              <a:rPr lang="en-US" sz="800" dirty="0">
                <a:solidFill>
                  <a:srgbClr val="E2E8F0"/>
                </a:solidFill>
                <a:latin typeface="Liberation Mono" pitchFamily="34" charset="0"/>
                <a:ea typeface="Liberation Mono" pitchFamily="34" charset="-122"/>
                <a:cs typeface="Liberation Mono" pitchFamily="34" charset="-120"/>
              </a:rPr>
              <a:t>(mask == </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472B6"/>
                </a:solidFill>
                <a:latin typeface="Liberation Sans Narrow" pitchFamily="34" charset="0"/>
                <a:ea typeface="Liberation Sans Narrow" pitchFamily="34" charset="-122"/>
                <a:cs typeface="Liberation Sans Narrow" pitchFamily="34" charset="-120"/>
              </a:rPr>
              <a:t>-1e9</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3. Normalization: turn scores into a probability distribution</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attn_probs = torch.</a:t>
            </a:r>
            <a:r>
              <a:rPr lang="en-US" sz="800" dirty="0">
                <a:solidFill>
                  <a:srgbClr val="60A5FA"/>
                </a:solidFill>
                <a:latin typeface="Liberation Mono" pitchFamily="34" charset="0"/>
                <a:ea typeface="Liberation Mono" pitchFamily="34" charset="-122"/>
                <a:cs typeface="Liberation Mono" pitchFamily="34" charset="-120"/>
              </a:rPr>
              <a:t>softmax</a:t>
            </a:r>
            <a:r>
              <a:rPr lang="en-US" sz="800" dirty="0">
                <a:solidFill>
                  <a:srgbClr val="E2E8F0"/>
                </a:solidFill>
                <a:latin typeface="Liberation Mono" pitchFamily="34" charset="0"/>
                <a:ea typeface="Liberation Mono" pitchFamily="34" charset="-122"/>
                <a:cs typeface="Liberation Mono" pitchFamily="34" charset="-120"/>
              </a:rPr>
              <a:t>(attn_scores, dim=</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4. Aggregation: weighted sum of values</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output = torch.</a:t>
            </a:r>
            <a:r>
              <a:rPr lang="en-US" sz="800" dirty="0">
                <a:solidFill>
                  <a:srgbClr val="60A5FA"/>
                </a:solidFill>
                <a:latin typeface="Liberation Mono" pitchFamily="34" charset="0"/>
                <a:ea typeface="Liberation Mono" pitchFamily="34" charset="-122"/>
                <a:cs typeface="Liberation Mono" pitchFamily="34" charset="-120"/>
              </a:rPr>
              <a:t>matmul</a:t>
            </a:r>
            <a:r>
              <a:rPr lang="en-US" sz="800" dirty="0">
                <a:solidFill>
                  <a:srgbClr val="E2E8F0"/>
                </a:solidFill>
                <a:latin typeface="Liberation Mono" pitchFamily="34" charset="0"/>
                <a:ea typeface="Liberation Mono" pitchFamily="34" charset="-122"/>
                <a:cs typeface="Liberation Mono" pitchFamily="34" charset="-120"/>
              </a:rPr>
              <a:t>(attn_probs, V)</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output</a:t>
            </a:r>
            <a:endParaRPr lang="en-US" sz="800" dirty="0"/>
          </a:p>
        </p:txBody>
      </p:sp>
      <p:sp>
        <p:nvSpPr>
          <p:cNvPr id="10" name="Text 8"/>
          <p:cNvSpPr/>
          <p:nvPr/>
        </p:nvSpPr>
        <p:spPr>
          <a:xfrm>
            <a:off x="5478475" y="1719411"/>
            <a:ext cx="3204753" cy="567928"/>
          </a:xfrm>
          <a:prstGeom prst="roundRect">
            <a:avLst>
              <a:gd name="adj" fmla="val 16771"/>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1" name="Text 9"/>
          <p:cNvSpPr/>
          <p:nvPr/>
        </p:nvSpPr>
        <p:spPr>
          <a:xfrm>
            <a:off x="5582059" y="1801564"/>
            <a:ext cx="200025" cy="200025"/>
          </a:xfrm>
          <a:prstGeom prst="ellipse">
            <a:avLst/>
          </a:prstGeom>
          <a:solidFill>
            <a:srgbClr val="1E3A8A"/>
          </a:solidFill>
          <a:ln/>
        </p:spPr>
        <p:txBody>
          <a:bodyPr wrap="square" rtlCol="0" anchor="ctr"/>
          <a:lstStyle/>
          <a:p>
            <a:pPr marL="0" indent="0">
              <a:buNone/>
            </a:pPr>
            <a:endParaRPr lang="en-US" dirty="0"/>
          </a:p>
        </p:txBody>
      </p:sp>
      <p:sp>
        <p:nvSpPr>
          <p:cNvPr id="12" name="Text 10"/>
          <p:cNvSpPr/>
          <p:nvPr/>
        </p:nvSpPr>
        <p:spPr>
          <a:xfrm>
            <a:off x="5582059" y="1801564"/>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3" name="Text 11"/>
          <p:cNvSpPr/>
          <p:nvPr/>
        </p:nvSpPr>
        <p:spPr>
          <a:xfrm>
            <a:off x="5867809" y="1794421"/>
            <a:ext cx="2711834" cy="119015"/>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3A8A"/>
                </a:solidFill>
                <a:latin typeface="Carlito" pitchFamily="34" charset="0"/>
                <a:ea typeface="Carlito" pitchFamily="34" charset="-122"/>
                <a:cs typeface="Carlito" pitchFamily="34" charset="-120"/>
              </a:rPr>
              <a:t>SIMILARITY (Q · Kᵀ)</a:t>
            </a:r>
            <a:endParaRPr lang="en-US" sz="800" dirty="0"/>
          </a:p>
        </p:txBody>
      </p:sp>
      <p:sp>
        <p:nvSpPr>
          <p:cNvPr id="14" name="Text 12"/>
          <p:cNvSpPr/>
          <p:nvPr/>
        </p:nvSpPr>
        <p:spPr>
          <a:xfrm>
            <a:off x="5867809" y="1940868"/>
            <a:ext cx="2583693" cy="271463"/>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Dot product measures how aligned each query is with each key. Large positive = strong match; negative = unrelated.</a:t>
            </a:r>
            <a:endParaRPr lang="en-US" sz="800" dirty="0"/>
          </a:p>
        </p:txBody>
      </p:sp>
      <p:sp>
        <p:nvSpPr>
          <p:cNvPr id="15" name="Text 13"/>
          <p:cNvSpPr/>
          <p:nvPr/>
        </p:nvSpPr>
        <p:spPr>
          <a:xfrm>
            <a:off x="5478475" y="2365921"/>
            <a:ext cx="3204753" cy="567928"/>
          </a:xfrm>
          <a:prstGeom prst="roundRect">
            <a:avLst>
              <a:gd name="adj" fmla="val 16771"/>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6" name="Text 14"/>
          <p:cNvSpPr/>
          <p:nvPr/>
        </p:nvSpPr>
        <p:spPr>
          <a:xfrm>
            <a:off x="5582059" y="2448074"/>
            <a:ext cx="200025" cy="200025"/>
          </a:xfrm>
          <a:prstGeom prst="ellipse">
            <a:avLst/>
          </a:prstGeom>
          <a:solidFill>
            <a:srgbClr val="1E3A8A"/>
          </a:solidFill>
          <a:ln/>
        </p:spPr>
        <p:txBody>
          <a:bodyPr wrap="square" rtlCol="0" anchor="ctr"/>
          <a:lstStyle/>
          <a:p>
            <a:pPr marL="0" indent="0">
              <a:buNone/>
            </a:pPr>
            <a:endParaRPr lang="en-US" dirty="0"/>
          </a:p>
        </p:txBody>
      </p:sp>
      <p:sp>
        <p:nvSpPr>
          <p:cNvPr id="17" name="Text 15"/>
          <p:cNvSpPr/>
          <p:nvPr/>
        </p:nvSpPr>
        <p:spPr>
          <a:xfrm>
            <a:off x="5582059" y="2448074"/>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8" name="Text 16"/>
          <p:cNvSpPr/>
          <p:nvPr/>
        </p:nvSpPr>
        <p:spPr>
          <a:xfrm>
            <a:off x="5867809" y="2440930"/>
            <a:ext cx="2711834" cy="119015"/>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3A8A"/>
                </a:solidFill>
                <a:latin typeface="Carlito" pitchFamily="34" charset="0"/>
                <a:ea typeface="Carlito" pitchFamily="34" charset="-122"/>
                <a:cs typeface="Carlito" pitchFamily="34" charset="-120"/>
              </a:rPr>
              <a:t>SCALING (÷ √d_k)</a:t>
            </a:r>
            <a:endParaRPr lang="en-US" sz="800" dirty="0"/>
          </a:p>
        </p:txBody>
      </p:sp>
      <p:sp>
        <p:nvSpPr>
          <p:cNvPr id="19" name="Text 17"/>
          <p:cNvSpPr/>
          <p:nvPr/>
        </p:nvSpPr>
        <p:spPr>
          <a:xfrm>
            <a:off x="5867809" y="2587377"/>
            <a:ext cx="2696877" cy="271463"/>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Without scaling, dot products grow with d_k and push softmax into saturation where gradients vanish. √d_k keeps variance ~1.</a:t>
            </a:r>
            <a:endParaRPr lang="en-US" sz="800" dirty="0"/>
          </a:p>
        </p:txBody>
      </p:sp>
      <p:sp>
        <p:nvSpPr>
          <p:cNvPr id="20" name="Text 18"/>
          <p:cNvSpPr/>
          <p:nvPr/>
        </p:nvSpPr>
        <p:spPr>
          <a:xfrm>
            <a:off x="5478475" y="3012430"/>
            <a:ext cx="3204753" cy="567928"/>
          </a:xfrm>
          <a:prstGeom prst="roundRect">
            <a:avLst>
              <a:gd name="adj" fmla="val 16771"/>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1" name="Text 19"/>
          <p:cNvSpPr/>
          <p:nvPr/>
        </p:nvSpPr>
        <p:spPr>
          <a:xfrm>
            <a:off x="5582059" y="3094583"/>
            <a:ext cx="200025" cy="200025"/>
          </a:xfrm>
          <a:prstGeom prst="ellipse">
            <a:avLst/>
          </a:prstGeom>
          <a:solidFill>
            <a:srgbClr val="1E3A8A"/>
          </a:solidFill>
          <a:ln/>
        </p:spPr>
        <p:txBody>
          <a:bodyPr wrap="square" rtlCol="0" anchor="ctr"/>
          <a:lstStyle/>
          <a:p>
            <a:pPr marL="0" indent="0">
              <a:buNone/>
            </a:pPr>
            <a:endParaRPr lang="en-US" dirty="0"/>
          </a:p>
        </p:txBody>
      </p:sp>
      <p:sp>
        <p:nvSpPr>
          <p:cNvPr id="22" name="Text 20"/>
          <p:cNvSpPr/>
          <p:nvPr/>
        </p:nvSpPr>
        <p:spPr>
          <a:xfrm>
            <a:off x="5582059" y="3094583"/>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3" name="Text 21"/>
          <p:cNvSpPr/>
          <p:nvPr/>
        </p:nvSpPr>
        <p:spPr>
          <a:xfrm>
            <a:off x="5867809" y="3087439"/>
            <a:ext cx="2711834" cy="119015"/>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3A8A"/>
                </a:solidFill>
                <a:latin typeface="Liberation Sans Narrow" pitchFamily="34" charset="0"/>
                <a:ea typeface="Liberation Sans Narrow" pitchFamily="34" charset="-122"/>
                <a:cs typeface="Liberation Sans Narrow" pitchFamily="34" charset="-120"/>
              </a:rPr>
              <a:t>MASKING (-1e9)</a:t>
            </a:r>
            <a:endParaRPr lang="en-US" sz="800" dirty="0"/>
          </a:p>
        </p:txBody>
      </p:sp>
      <p:sp>
        <p:nvSpPr>
          <p:cNvPr id="24" name="Text 22"/>
          <p:cNvSpPr/>
          <p:nvPr/>
        </p:nvSpPr>
        <p:spPr>
          <a:xfrm>
            <a:off x="5867809" y="3233886"/>
            <a:ext cx="2606241" cy="271463"/>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Setting masked logits to -1e9 forces their softmax weight to ~0, so the model cannot attend to padding or future tokens.</a:t>
            </a:r>
            <a:endParaRPr lang="en-US" sz="800" dirty="0"/>
          </a:p>
        </p:txBody>
      </p:sp>
      <p:sp>
        <p:nvSpPr>
          <p:cNvPr id="25" name="Text 23"/>
          <p:cNvSpPr/>
          <p:nvPr/>
        </p:nvSpPr>
        <p:spPr>
          <a:xfrm>
            <a:off x="5478475" y="3658939"/>
            <a:ext cx="3204753" cy="567928"/>
          </a:xfrm>
          <a:prstGeom prst="roundRect">
            <a:avLst>
              <a:gd name="adj" fmla="val 16771"/>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6" name="Text 24"/>
          <p:cNvSpPr/>
          <p:nvPr/>
        </p:nvSpPr>
        <p:spPr>
          <a:xfrm>
            <a:off x="5582059" y="3741093"/>
            <a:ext cx="200025" cy="200025"/>
          </a:xfrm>
          <a:prstGeom prst="ellipse">
            <a:avLst/>
          </a:prstGeom>
          <a:solidFill>
            <a:srgbClr val="1E3A8A"/>
          </a:solidFill>
          <a:ln/>
        </p:spPr>
        <p:txBody>
          <a:bodyPr wrap="square" rtlCol="0" anchor="ctr"/>
          <a:lstStyle/>
          <a:p>
            <a:pPr marL="0" indent="0">
              <a:buNone/>
            </a:pPr>
            <a:endParaRPr lang="en-US" dirty="0"/>
          </a:p>
        </p:txBody>
      </p:sp>
      <p:sp>
        <p:nvSpPr>
          <p:cNvPr id="27" name="Text 25"/>
          <p:cNvSpPr/>
          <p:nvPr/>
        </p:nvSpPr>
        <p:spPr>
          <a:xfrm>
            <a:off x="5582059" y="3741093"/>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8" name="Text 26"/>
          <p:cNvSpPr/>
          <p:nvPr/>
        </p:nvSpPr>
        <p:spPr>
          <a:xfrm>
            <a:off x="5867809" y="3733949"/>
            <a:ext cx="2711834" cy="119015"/>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3A8A"/>
                </a:solidFill>
                <a:latin typeface="Carlito" pitchFamily="34" charset="0"/>
                <a:ea typeface="Carlito" pitchFamily="34" charset="-122"/>
                <a:cs typeface="Carlito" pitchFamily="34" charset="-120"/>
              </a:rPr>
              <a:t>SOFTMAX + VALUES</a:t>
            </a:r>
            <a:endParaRPr lang="en-US" sz="800" dirty="0"/>
          </a:p>
        </p:txBody>
      </p:sp>
      <p:sp>
        <p:nvSpPr>
          <p:cNvPr id="29" name="Text 27"/>
          <p:cNvSpPr/>
          <p:nvPr/>
        </p:nvSpPr>
        <p:spPr>
          <a:xfrm>
            <a:off x="5867809" y="3880396"/>
            <a:ext cx="2676339" cy="271463"/>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Softmax converts logits to a probability distribution summing to 1. Multiplying by V returns a weighted blend of value vectors.</a:t>
            </a:r>
            <a:endParaRPr lang="en-US" sz="800" dirty="0"/>
          </a:p>
        </p:txBody>
      </p:sp>
      <p:sp>
        <p:nvSpPr>
          <p:cNvPr id="30" name="Text 28"/>
          <p:cNvSpPr/>
          <p:nvPr/>
        </p:nvSpPr>
        <p:spPr>
          <a:xfrm>
            <a:off x="457200" y="4854178"/>
            <a:ext cx="82296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07 · Core Building Blocks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4289679" cy="164592"/>
          </a:xfrm>
          <a:prstGeom prst="rect">
            <a:avLst/>
          </a:prstGeom>
          <a:noFill/>
          <a:ln/>
        </p:spPr>
        <p:txBody>
          <a:bodyPr wrap="square" lIns="0" tIns="0" rIns="0" bIns="0" rtlCol="0" anchor="t"/>
          <a:lstStyle/>
          <a:p>
            <a:pPr marL="0" indent="0" algn="l">
              <a:lnSpc>
                <a:spcPts val="1013"/>
              </a:lnSpc>
              <a:buNone/>
            </a:pPr>
            <a:r>
              <a:rPr lang="en-US" sz="800" dirty="0">
                <a:solidFill>
                  <a:srgbClr val="64748B"/>
                </a:solidFill>
                <a:latin typeface="Courier New" pitchFamily="34" charset="0"/>
                <a:ea typeface="Courier New" pitchFamily="34" charset="-122"/>
                <a:cs typeface="Courier New" pitchFamily="34" charset="-120"/>
              </a:rPr>
              <a:t>class PositionWiseFeedForward(nn.Module)</a:t>
            </a:r>
            <a:endParaRPr lang="en-US" sz="800" dirty="0"/>
          </a:p>
        </p:txBody>
      </p:sp>
      <p:sp>
        <p:nvSpPr>
          <p:cNvPr id="3" name="Text 1"/>
          <p:cNvSpPr/>
          <p:nvPr/>
        </p:nvSpPr>
        <p:spPr>
          <a:xfrm>
            <a:off x="457200" y="600075"/>
            <a:ext cx="3971925" cy="1877913"/>
          </a:xfrm>
          <a:prstGeom prst="roundRect">
            <a:avLst>
              <a:gd name="adj" fmla="val 5072"/>
            </a:avLst>
          </a:prstGeom>
          <a:solidFill>
            <a:srgbClr val="0F172A"/>
          </a:solidFill>
          <a:ln/>
        </p:spPr>
        <p:txBody>
          <a:bodyPr wrap="square" rtlCol="0" anchor="ctr"/>
          <a:lstStyle/>
          <a:p>
            <a:pPr marL="0" indent="0">
              <a:buNone/>
            </a:pPr>
            <a:endParaRPr lang="en-US" dirty="0"/>
          </a:p>
        </p:txBody>
      </p:sp>
      <p:sp>
        <p:nvSpPr>
          <p:cNvPr id="4" name="Text 2"/>
          <p:cNvSpPr/>
          <p:nvPr/>
        </p:nvSpPr>
        <p:spPr>
          <a:xfrm>
            <a:off x="600075" y="750094"/>
            <a:ext cx="2821335" cy="1599307"/>
          </a:xfrm>
          <a:prstGeom prst="rect">
            <a:avLst/>
          </a:prstGeom>
          <a:noFill/>
          <a:ln/>
        </p:spPr>
        <p:txBody>
          <a:bodyPr wrap="none" lIns="0" tIns="0" rIns="0" bIns="0" rtlCol="0" anchor="t"/>
          <a:lstStyle/>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PositionWiseFeedForward</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d_model, d_ff):</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.fc1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d_ff)</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.fc2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(d_ff, d_model)</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.relu = nn.</a:t>
            </a:r>
            <a:r>
              <a:rPr lang="en-US" sz="800" dirty="0">
                <a:solidFill>
                  <a:srgbClr val="60A5FA"/>
                </a:solidFill>
                <a:latin typeface="Liberation Mono" pitchFamily="34" charset="0"/>
                <a:ea typeface="Liberation Mono" pitchFamily="34" charset="-122"/>
                <a:cs typeface="Liberation Mono" pitchFamily="34" charset="-120"/>
              </a:rPr>
              <a:t>ReLU</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x):</a:t>
            </a:r>
            <a:endParaRPr lang="en-US" sz="800" dirty="0"/>
          </a:p>
          <a:p>
            <a:pPr marL="0" indent="0" algn="l">
              <a:lnSpc>
                <a:spcPts val="1221"/>
              </a:lnSpc>
              <a:buNone/>
            </a:pPr>
            <a:r>
              <a:rPr lang="en-US" sz="800" i="1" dirty="0">
                <a:solidFill>
                  <a:srgbClr val="64748B"/>
                </a:solidFill>
                <a:latin typeface="Liberation Mono" pitchFamily="34" charset="0"/>
                <a:ea typeface="Liberation Mono" pitchFamily="34" charset="-122"/>
                <a:cs typeface="Liberation Mono" pitchFamily="34" charset="-120"/>
              </a:rPr>
              <a:t># x: (batch, seq_len, d_model)</a:t>
            </a:r>
            <a:endParaRPr lang="en-US" sz="800" dirty="0"/>
          </a:p>
          <a:p>
            <a:pPr marL="0" indent="0" algn="l">
              <a:lnSpc>
                <a:spcPts val="1221"/>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.fc2(</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relu</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.fc1(x)))</a:t>
            </a:r>
            <a:endParaRPr lang="en-US" sz="800" dirty="0"/>
          </a:p>
        </p:txBody>
      </p:sp>
      <p:sp>
        <p:nvSpPr>
          <p:cNvPr id="5" name="Text 3"/>
          <p:cNvSpPr/>
          <p:nvPr/>
        </p:nvSpPr>
        <p:spPr>
          <a:xfrm>
            <a:off x="460772" y="2595860"/>
            <a:ext cx="3964781" cy="682228"/>
          </a:xfrm>
          <a:prstGeom prst="roundRect">
            <a:avLst>
              <a:gd name="adj" fmla="val 1396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6" name="Text 4"/>
          <p:cNvSpPr/>
          <p:nvPr/>
        </p:nvSpPr>
        <p:spPr>
          <a:xfrm>
            <a:off x="564356" y="2685157"/>
            <a:ext cx="3757613" cy="147590"/>
          </a:xfrm>
          <a:prstGeom prst="rect">
            <a:avLst/>
          </a:prstGeom>
          <a:noFill/>
          <a:ln/>
        </p:spPr>
        <p:txBody>
          <a:bodyPr wrap="none" lIns="0" tIns="0" rIns="0" bIns="0" rtlCol="0" anchor="t">
            <a:normAutofit/>
          </a:bodyPr>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DATA FLOW</a:t>
            </a:r>
            <a:endParaRPr lang="en-US" sz="800" dirty="0"/>
          </a:p>
        </p:txBody>
      </p:sp>
      <p:sp>
        <p:nvSpPr>
          <p:cNvPr id="7" name="Text 5"/>
          <p:cNvSpPr/>
          <p:nvPr/>
        </p:nvSpPr>
        <p:spPr>
          <a:xfrm>
            <a:off x="564356" y="2847377"/>
            <a:ext cx="574514" cy="354216"/>
          </a:xfrm>
          <a:prstGeom prst="roundRect">
            <a:avLst>
              <a:gd name="adj" fmla="val 2686348"/>
            </a:avLst>
          </a:prstGeom>
          <a:solidFill>
            <a:srgbClr val="F1F5F9"/>
          </a:solidFill>
          <a:ln w="7144">
            <a:solidFill>
              <a:srgbClr val="E2E8F0"/>
            </a:solidFill>
            <a:prstDash val="solid"/>
          </a:ln>
        </p:spPr>
        <p:txBody>
          <a:bodyPr wrap="square" rtlCol="0" anchor="ctr"/>
          <a:lstStyle/>
          <a:p>
            <a:pPr marL="0" indent="0">
              <a:buNone/>
            </a:pPr>
            <a:endParaRPr lang="en-US" dirty="0"/>
          </a:p>
        </p:txBody>
      </p:sp>
      <p:sp>
        <p:nvSpPr>
          <p:cNvPr id="8" name="Text 6"/>
          <p:cNvSpPr/>
          <p:nvPr/>
        </p:nvSpPr>
        <p:spPr>
          <a:xfrm>
            <a:off x="564356" y="2860179"/>
            <a:ext cx="574514" cy="328613"/>
          </a:xfrm>
          <a:prstGeom prst="rect">
            <a:avLst/>
          </a:prstGeom>
          <a:noFill/>
          <a:ln/>
        </p:spPr>
        <p:txBody>
          <a:bodyPr wrap="none" lIns="0" tIns="0" rIns="0" bIns="0" rtlCol="0" anchor="ctr"/>
          <a:lstStyle/>
          <a:p>
            <a:pPr marL="0" indent="0" algn="ctr">
              <a:lnSpc>
                <a:spcPts val="1013"/>
              </a:lnSpc>
              <a:buNone/>
            </a:pPr>
            <a:r>
              <a:rPr lang="en-US" sz="800" dirty="0">
                <a:solidFill>
                  <a:srgbClr val="0F172A"/>
                </a:solidFill>
                <a:latin typeface="Courier New" pitchFamily="34" charset="0"/>
                <a:ea typeface="Courier New" pitchFamily="34" charset="-122"/>
                <a:cs typeface="Courier New" pitchFamily="34" charset="-120"/>
              </a:rPr>
              <a:t>[ d_model ]</a:t>
            </a:r>
            <a:endParaRPr lang="en-US" sz="800" dirty="0"/>
          </a:p>
        </p:txBody>
      </p:sp>
      <p:sp>
        <p:nvSpPr>
          <p:cNvPr id="9" name="Text 7"/>
          <p:cNvSpPr/>
          <p:nvPr/>
        </p:nvSpPr>
        <p:spPr>
          <a:xfrm>
            <a:off x="1196020"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10" name="Text 8"/>
          <p:cNvSpPr/>
          <p:nvPr/>
        </p:nvSpPr>
        <p:spPr>
          <a:xfrm>
            <a:off x="1331622" y="2960191"/>
            <a:ext cx="234574" cy="164592"/>
          </a:xfrm>
          <a:prstGeom prst="rect">
            <a:avLst/>
          </a:prstGeom>
          <a:noFill/>
          <a:ln/>
        </p:spPr>
        <p:txBody>
          <a:bodyPr wrap="none" lIns="0" tIns="0" rIns="0" bIns="0" rtlCol="0" anchor="t"/>
          <a:lstStyle/>
          <a:p>
            <a:pPr marL="0" indent="0" algn="l">
              <a:lnSpc>
                <a:spcPts val="1013"/>
              </a:lnSpc>
              <a:buNone/>
            </a:pPr>
            <a:r>
              <a:rPr lang="en-US" sz="800" dirty="0">
                <a:solidFill>
                  <a:srgbClr val="1E3A8A"/>
                </a:solidFill>
                <a:latin typeface="Liberation Sans Narrow" pitchFamily="34" charset="0"/>
                <a:ea typeface="Liberation Sans Narrow" pitchFamily="34" charset="-122"/>
                <a:cs typeface="Liberation Sans Narrow" pitchFamily="34" charset="-120"/>
              </a:rPr>
              <a:t>fc1</a:t>
            </a:r>
            <a:endParaRPr lang="en-US" sz="800" dirty="0"/>
          </a:p>
        </p:txBody>
      </p:sp>
      <p:sp>
        <p:nvSpPr>
          <p:cNvPr id="11" name="Text 9"/>
          <p:cNvSpPr/>
          <p:nvPr/>
        </p:nvSpPr>
        <p:spPr>
          <a:xfrm>
            <a:off x="1531776"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12" name="Text 10"/>
          <p:cNvSpPr/>
          <p:nvPr/>
        </p:nvSpPr>
        <p:spPr>
          <a:xfrm>
            <a:off x="1681795" y="2847377"/>
            <a:ext cx="468474" cy="354216"/>
          </a:xfrm>
          <a:prstGeom prst="roundRect">
            <a:avLst>
              <a:gd name="adj" fmla="val 2686348"/>
            </a:avLst>
          </a:prstGeom>
          <a:solidFill>
            <a:srgbClr val="FEF3C7"/>
          </a:solidFill>
          <a:ln w="7144">
            <a:solidFill>
              <a:srgbClr val="F59E0B"/>
            </a:solidFill>
            <a:prstDash val="solid"/>
          </a:ln>
        </p:spPr>
        <p:txBody>
          <a:bodyPr wrap="square" rtlCol="0" anchor="ctr"/>
          <a:lstStyle/>
          <a:p>
            <a:pPr marL="0" indent="0">
              <a:buNone/>
            </a:pPr>
            <a:endParaRPr lang="en-US" dirty="0"/>
          </a:p>
        </p:txBody>
      </p:sp>
      <p:sp>
        <p:nvSpPr>
          <p:cNvPr id="13" name="Text 11"/>
          <p:cNvSpPr/>
          <p:nvPr/>
        </p:nvSpPr>
        <p:spPr>
          <a:xfrm>
            <a:off x="1681795" y="2860179"/>
            <a:ext cx="468474" cy="328613"/>
          </a:xfrm>
          <a:prstGeom prst="rect">
            <a:avLst/>
          </a:prstGeom>
          <a:noFill/>
          <a:ln/>
        </p:spPr>
        <p:txBody>
          <a:bodyPr wrap="none" lIns="0" tIns="0" rIns="0" bIns="0" rtlCol="0" anchor="ctr"/>
          <a:lstStyle/>
          <a:p>
            <a:pPr marL="0" indent="0" algn="ctr">
              <a:lnSpc>
                <a:spcPts val="1013"/>
              </a:lnSpc>
              <a:buNone/>
            </a:pPr>
            <a:r>
              <a:rPr lang="en-US" sz="800" dirty="0">
                <a:solidFill>
                  <a:srgbClr val="92400E"/>
                </a:solidFill>
                <a:latin typeface="Courier New" pitchFamily="34" charset="0"/>
                <a:ea typeface="Courier New" pitchFamily="34" charset="-122"/>
                <a:cs typeface="Courier New" pitchFamily="34" charset="-120"/>
              </a:rPr>
              <a:t>[ d_ff ]</a:t>
            </a:r>
            <a:endParaRPr lang="en-US" sz="800" dirty="0"/>
          </a:p>
        </p:txBody>
      </p:sp>
      <p:sp>
        <p:nvSpPr>
          <p:cNvPr id="14" name="Text 12"/>
          <p:cNvSpPr/>
          <p:nvPr/>
        </p:nvSpPr>
        <p:spPr>
          <a:xfrm>
            <a:off x="2207419"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15" name="Text 13"/>
          <p:cNvSpPr/>
          <p:nvPr/>
        </p:nvSpPr>
        <p:spPr>
          <a:xfrm>
            <a:off x="2334151" y="2960191"/>
            <a:ext cx="320893" cy="164592"/>
          </a:xfrm>
          <a:prstGeom prst="rect">
            <a:avLst/>
          </a:prstGeom>
          <a:noFill/>
          <a:ln/>
        </p:spPr>
        <p:txBody>
          <a:bodyPr wrap="none" lIns="0" tIns="0" rIns="0" bIns="0" rtlCol="0" anchor="t"/>
          <a:lstStyle/>
          <a:p>
            <a:pPr marL="0" indent="0" algn="l">
              <a:lnSpc>
                <a:spcPts val="1013"/>
              </a:lnSpc>
              <a:buNone/>
            </a:pPr>
            <a:r>
              <a:rPr lang="en-US" sz="800" dirty="0">
                <a:solidFill>
                  <a:srgbClr val="1E3A8A"/>
                </a:solidFill>
                <a:latin typeface="Courier New" pitchFamily="34" charset="0"/>
                <a:ea typeface="Courier New" pitchFamily="34" charset="-122"/>
                <a:cs typeface="Courier New" pitchFamily="34" charset="-120"/>
              </a:rPr>
              <a:t>ReLU</a:t>
            </a:r>
            <a:endParaRPr lang="en-US" sz="800" dirty="0"/>
          </a:p>
        </p:txBody>
      </p:sp>
      <p:sp>
        <p:nvSpPr>
          <p:cNvPr id="16" name="Text 14"/>
          <p:cNvSpPr/>
          <p:nvPr/>
        </p:nvSpPr>
        <p:spPr>
          <a:xfrm>
            <a:off x="2586038"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17" name="Text 15"/>
          <p:cNvSpPr/>
          <p:nvPr/>
        </p:nvSpPr>
        <p:spPr>
          <a:xfrm>
            <a:off x="2736056" y="2847377"/>
            <a:ext cx="468474" cy="354216"/>
          </a:xfrm>
          <a:prstGeom prst="roundRect">
            <a:avLst>
              <a:gd name="adj" fmla="val 2686348"/>
            </a:avLst>
          </a:prstGeom>
          <a:solidFill>
            <a:srgbClr val="FEF3C7"/>
          </a:solidFill>
          <a:ln w="7144">
            <a:solidFill>
              <a:srgbClr val="F59E0B"/>
            </a:solidFill>
            <a:prstDash val="solid"/>
          </a:ln>
        </p:spPr>
        <p:txBody>
          <a:bodyPr wrap="square" rtlCol="0" anchor="ctr"/>
          <a:lstStyle/>
          <a:p>
            <a:pPr marL="0" indent="0">
              <a:buNone/>
            </a:pPr>
            <a:endParaRPr lang="en-US" dirty="0"/>
          </a:p>
        </p:txBody>
      </p:sp>
      <p:sp>
        <p:nvSpPr>
          <p:cNvPr id="18" name="Text 16"/>
          <p:cNvSpPr/>
          <p:nvPr/>
        </p:nvSpPr>
        <p:spPr>
          <a:xfrm>
            <a:off x="2736056" y="2860179"/>
            <a:ext cx="468474" cy="328613"/>
          </a:xfrm>
          <a:prstGeom prst="rect">
            <a:avLst/>
          </a:prstGeom>
          <a:noFill/>
          <a:ln/>
        </p:spPr>
        <p:txBody>
          <a:bodyPr wrap="none" lIns="0" tIns="0" rIns="0" bIns="0" rtlCol="0" anchor="ctr"/>
          <a:lstStyle/>
          <a:p>
            <a:pPr marL="0" indent="0" algn="ctr">
              <a:lnSpc>
                <a:spcPts val="1013"/>
              </a:lnSpc>
              <a:buNone/>
            </a:pPr>
            <a:r>
              <a:rPr lang="en-US" sz="800" dirty="0">
                <a:solidFill>
                  <a:srgbClr val="92400E"/>
                </a:solidFill>
                <a:latin typeface="Courier New" pitchFamily="34" charset="0"/>
                <a:ea typeface="Courier New" pitchFamily="34" charset="-122"/>
                <a:cs typeface="Courier New" pitchFamily="34" charset="-120"/>
              </a:rPr>
              <a:t>[ d_ff ]</a:t>
            </a:r>
            <a:endParaRPr lang="en-US" sz="800" dirty="0"/>
          </a:p>
        </p:txBody>
      </p:sp>
      <p:sp>
        <p:nvSpPr>
          <p:cNvPr id="19" name="Text 17"/>
          <p:cNvSpPr/>
          <p:nvPr/>
        </p:nvSpPr>
        <p:spPr>
          <a:xfrm>
            <a:off x="3261680"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20" name="Text 18"/>
          <p:cNvSpPr/>
          <p:nvPr/>
        </p:nvSpPr>
        <p:spPr>
          <a:xfrm>
            <a:off x="3397282" y="2960191"/>
            <a:ext cx="234574" cy="164592"/>
          </a:xfrm>
          <a:prstGeom prst="rect">
            <a:avLst/>
          </a:prstGeom>
          <a:noFill/>
          <a:ln/>
        </p:spPr>
        <p:txBody>
          <a:bodyPr wrap="none" lIns="0" tIns="0" rIns="0" bIns="0" rtlCol="0" anchor="t"/>
          <a:lstStyle/>
          <a:p>
            <a:pPr marL="0" indent="0" algn="l">
              <a:lnSpc>
                <a:spcPts val="1013"/>
              </a:lnSpc>
              <a:buNone/>
            </a:pPr>
            <a:r>
              <a:rPr lang="en-US" sz="800" dirty="0">
                <a:solidFill>
                  <a:srgbClr val="1E3A8A"/>
                </a:solidFill>
                <a:latin typeface="Liberation Sans Narrow" pitchFamily="34" charset="0"/>
                <a:ea typeface="Liberation Sans Narrow" pitchFamily="34" charset="-122"/>
                <a:cs typeface="Liberation Sans Narrow" pitchFamily="34" charset="-120"/>
              </a:rPr>
              <a:t>fc2</a:t>
            </a:r>
            <a:endParaRPr lang="en-US" sz="800" dirty="0"/>
          </a:p>
        </p:txBody>
      </p:sp>
      <p:sp>
        <p:nvSpPr>
          <p:cNvPr id="21" name="Text 19"/>
          <p:cNvSpPr/>
          <p:nvPr/>
        </p:nvSpPr>
        <p:spPr>
          <a:xfrm>
            <a:off x="3597436" y="2954834"/>
            <a:ext cx="92869" cy="139303"/>
          </a:xfrm>
          <a:prstGeom prst="rect">
            <a:avLst/>
          </a:prstGeom>
          <a:noFill/>
          <a:ln/>
        </p:spPr>
        <p:txBody>
          <a:bodyPr wrap="none" lIns="0" tIns="0" rIns="0" bIns="0" rtlCol="0" anchor="ctr"/>
          <a:lstStyle/>
          <a:p>
            <a:pPr marL="0" indent="0" algn="ctr">
              <a:buNone/>
            </a:pPr>
            <a:r>
              <a:rPr lang="en-US" sz="800" dirty="0">
                <a:solidFill>
                  <a:srgbClr val="64748B"/>
                </a:solidFill>
                <a:latin typeface="Segoe UI Symbol" pitchFamily="34" charset="0"/>
                <a:ea typeface="Segoe UI Symbol" pitchFamily="34" charset="-122"/>
                <a:cs typeface="Segoe UI Symbol" pitchFamily="34" charset="-120"/>
              </a:rPr>
              <a:t>→</a:t>
            </a:r>
            <a:endParaRPr lang="en-US" sz="800" dirty="0"/>
          </a:p>
        </p:txBody>
      </p:sp>
      <p:sp>
        <p:nvSpPr>
          <p:cNvPr id="22" name="Text 20"/>
          <p:cNvSpPr/>
          <p:nvPr/>
        </p:nvSpPr>
        <p:spPr>
          <a:xfrm>
            <a:off x="3747455" y="2847377"/>
            <a:ext cx="574514" cy="354216"/>
          </a:xfrm>
          <a:prstGeom prst="roundRect">
            <a:avLst>
              <a:gd name="adj" fmla="val 2686348"/>
            </a:avLst>
          </a:prstGeom>
          <a:solidFill>
            <a:srgbClr val="F1F5F9"/>
          </a:solidFill>
          <a:ln w="7144">
            <a:solidFill>
              <a:srgbClr val="E2E8F0"/>
            </a:solidFill>
            <a:prstDash val="solid"/>
          </a:ln>
        </p:spPr>
        <p:txBody>
          <a:bodyPr wrap="square" rtlCol="0" anchor="ctr"/>
          <a:lstStyle/>
          <a:p>
            <a:pPr marL="0" indent="0">
              <a:buNone/>
            </a:pPr>
            <a:endParaRPr lang="en-US" dirty="0"/>
          </a:p>
        </p:txBody>
      </p:sp>
      <p:sp>
        <p:nvSpPr>
          <p:cNvPr id="23" name="Text 21"/>
          <p:cNvSpPr/>
          <p:nvPr/>
        </p:nvSpPr>
        <p:spPr>
          <a:xfrm>
            <a:off x="3747455" y="2860179"/>
            <a:ext cx="574514" cy="328613"/>
          </a:xfrm>
          <a:prstGeom prst="rect">
            <a:avLst/>
          </a:prstGeom>
          <a:noFill/>
          <a:ln/>
        </p:spPr>
        <p:txBody>
          <a:bodyPr wrap="none" lIns="0" tIns="0" rIns="0" bIns="0" rtlCol="0" anchor="ctr"/>
          <a:lstStyle/>
          <a:p>
            <a:pPr marL="0" indent="0" algn="ctr">
              <a:lnSpc>
                <a:spcPts val="1013"/>
              </a:lnSpc>
              <a:buNone/>
            </a:pPr>
            <a:r>
              <a:rPr lang="en-US" sz="800" dirty="0">
                <a:solidFill>
                  <a:srgbClr val="0F172A"/>
                </a:solidFill>
                <a:latin typeface="Courier New" pitchFamily="34" charset="0"/>
                <a:ea typeface="Courier New" pitchFamily="34" charset="-122"/>
                <a:cs typeface="Courier New" pitchFamily="34" charset="-120"/>
              </a:rPr>
              <a:t>[ d_model ]</a:t>
            </a:r>
            <a:endParaRPr lang="en-US" sz="800" dirty="0"/>
          </a:p>
        </p:txBody>
      </p:sp>
      <p:sp>
        <p:nvSpPr>
          <p:cNvPr id="24" name="Text 22"/>
          <p:cNvSpPr/>
          <p:nvPr/>
        </p:nvSpPr>
        <p:spPr>
          <a:xfrm>
            <a:off x="4714875" y="400050"/>
            <a:ext cx="4429125"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BUILDING BLOCK · 02</a:t>
            </a:r>
            <a:endParaRPr lang="en-US" sz="800" dirty="0"/>
          </a:p>
        </p:txBody>
      </p:sp>
      <p:sp>
        <p:nvSpPr>
          <p:cNvPr id="25" name="Text 23"/>
          <p:cNvSpPr/>
          <p:nvPr/>
        </p:nvSpPr>
        <p:spPr>
          <a:xfrm>
            <a:off x="4714875" y="571500"/>
            <a:ext cx="4369118" cy="245370"/>
          </a:xfrm>
          <a:prstGeom prst="rect">
            <a:avLst/>
          </a:prstGeom>
          <a:noFill/>
          <a:ln/>
        </p:spPr>
        <p:txBody>
          <a:bodyPr wrap="square" lIns="0" tIns="0" rIns="0" bIns="0" rtlCol="0" anchor="t">
            <a:normAutofit/>
          </a:bodyPr>
          <a:lstStyle/>
          <a:p>
            <a:pPr marL="0" indent="0" algn="l">
              <a:lnSpc>
                <a:spcPts val="1811"/>
              </a:lnSpc>
              <a:buNone/>
            </a:pPr>
            <a:r>
              <a:rPr lang="en-US" sz="1575" b="1" dirty="0">
                <a:solidFill>
                  <a:srgbClr val="1E3A8A"/>
                </a:solidFill>
                <a:latin typeface="Carlito" pitchFamily="34" charset="0"/>
                <a:ea typeface="Carlito" pitchFamily="34" charset="-122"/>
                <a:cs typeface="Carlito" pitchFamily="34" charset="-120"/>
              </a:rPr>
              <a:t>Position-Wise Feed-Forward Network</a:t>
            </a:r>
            <a:endParaRPr lang="en-US" sz="1575" dirty="0"/>
          </a:p>
        </p:txBody>
      </p:sp>
      <p:sp>
        <p:nvSpPr>
          <p:cNvPr id="26" name="Text 24"/>
          <p:cNvSpPr/>
          <p:nvPr/>
        </p:nvSpPr>
        <p:spPr>
          <a:xfrm>
            <a:off x="4714875" y="844302"/>
            <a:ext cx="3971925" cy="183599"/>
          </a:xfrm>
          <a:prstGeom prst="rect">
            <a:avLst/>
          </a:prstGeom>
          <a:noFill/>
          <a:ln/>
        </p:spPr>
        <p:txBody>
          <a:bodyPr wrap="square" lIns="0" tIns="0" rIns="0" bIns="0" rtlCol="0" anchor="t"/>
          <a:lstStyle/>
          <a:p>
            <a:pPr marL="0" indent="0" algn="l">
              <a:lnSpc>
                <a:spcPts val="1339"/>
              </a:lnSpc>
              <a:buNone/>
            </a:pPr>
            <a:r>
              <a:rPr lang="en-US" sz="956" dirty="0">
                <a:solidFill>
                  <a:srgbClr val="475569"/>
                </a:solidFill>
                <a:latin typeface="Carlito" pitchFamily="34" charset="0"/>
                <a:ea typeface="Carlito" pitchFamily="34" charset="-122"/>
                <a:cs typeface="Carlito" pitchFamily="34" charset="-120"/>
              </a:rPr>
              <a:t>Two linear layers with a ReLU — applied identically to every position.</a:t>
            </a:r>
            <a:endParaRPr lang="en-US" sz="956" dirty="0"/>
          </a:p>
        </p:txBody>
      </p:sp>
      <p:sp>
        <p:nvSpPr>
          <p:cNvPr id="27" name="Text 25"/>
          <p:cNvSpPr/>
          <p:nvPr/>
        </p:nvSpPr>
        <p:spPr>
          <a:xfrm>
            <a:off x="4714875" y="1100026"/>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28" name="Text 26"/>
          <p:cNvSpPr/>
          <p:nvPr/>
        </p:nvSpPr>
        <p:spPr>
          <a:xfrm>
            <a:off x="4714875" y="1250045"/>
            <a:ext cx="200025" cy="200025"/>
          </a:xfrm>
          <a:prstGeom prst="ellipse">
            <a:avLst/>
          </a:prstGeom>
          <a:solidFill>
            <a:srgbClr val="1E3A8A"/>
          </a:solidFill>
          <a:ln/>
        </p:spPr>
        <p:txBody>
          <a:bodyPr wrap="square" rtlCol="0" anchor="ctr"/>
          <a:lstStyle/>
          <a:p>
            <a:pPr marL="0" indent="0">
              <a:buNone/>
            </a:pPr>
            <a:endParaRPr lang="en-US" dirty="0"/>
          </a:p>
        </p:txBody>
      </p:sp>
      <p:sp>
        <p:nvSpPr>
          <p:cNvPr id="29" name="Text 27"/>
          <p:cNvSpPr/>
          <p:nvPr/>
        </p:nvSpPr>
        <p:spPr>
          <a:xfrm>
            <a:off x="4714875" y="1250045"/>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30" name="Text 28"/>
          <p:cNvSpPr/>
          <p:nvPr/>
        </p:nvSpPr>
        <p:spPr>
          <a:xfrm>
            <a:off x="5000625" y="1257188"/>
            <a:ext cx="1459781" cy="133241"/>
          </a:xfrm>
          <a:prstGeom prst="rect">
            <a:avLst/>
          </a:prstGeom>
          <a:noFill/>
          <a:ln/>
        </p:spPr>
        <p:txBody>
          <a:bodyPr wrap="none" lIns="0" tIns="0" rIns="0" bIns="0" rtlCol="0" anchor="t"/>
          <a:lstStyle/>
          <a:p>
            <a:pPr marL="0" indent="0" algn="l">
              <a:lnSpc>
                <a:spcPts val="1181"/>
              </a:lnSpc>
              <a:buNone/>
            </a:pPr>
            <a:r>
              <a:rPr lang="en-US" sz="800" b="1" kern="0" spc="32" dirty="0">
                <a:solidFill>
                  <a:srgbClr val="1E3A8A"/>
                </a:solidFill>
                <a:latin typeface="Carlito" pitchFamily="34" charset="0"/>
                <a:ea typeface="Carlito" pitchFamily="34" charset="-122"/>
                <a:cs typeface="Carlito" pitchFamily="34" charset="-120"/>
              </a:rPr>
              <a:t>EXPAND-THEN-CONTRACT</a:t>
            </a:r>
            <a:endParaRPr lang="en-US" sz="800" dirty="0"/>
          </a:p>
        </p:txBody>
      </p:sp>
      <p:sp>
        <p:nvSpPr>
          <p:cNvPr id="31" name="Text 29"/>
          <p:cNvSpPr/>
          <p:nvPr/>
        </p:nvSpPr>
        <p:spPr>
          <a:xfrm>
            <a:off x="5000625" y="1257188"/>
            <a:ext cx="3660725" cy="462425"/>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fc1 expands d_model → d_ff (typically 4× wider, e.g. 512 → 2048). fc2 projects back to d_model. The wider hidden layer is where non-linear feature mixing happens.</a:t>
            </a:r>
            <a:endParaRPr lang="en-US" sz="800" dirty="0"/>
          </a:p>
        </p:txBody>
      </p:sp>
      <p:sp>
        <p:nvSpPr>
          <p:cNvPr id="32" name="Text 30"/>
          <p:cNvSpPr/>
          <p:nvPr/>
        </p:nvSpPr>
        <p:spPr>
          <a:xfrm>
            <a:off x="4714875" y="1785826"/>
            <a:ext cx="200025" cy="200025"/>
          </a:xfrm>
          <a:prstGeom prst="ellipse">
            <a:avLst/>
          </a:prstGeom>
          <a:solidFill>
            <a:srgbClr val="1E3A8A"/>
          </a:solidFill>
          <a:ln/>
        </p:spPr>
        <p:txBody>
          <a:bodyPr wrap="square" rtlCol="0" anchor="ctr"/>
          <a:lstStyle/>
          <a:p>
            <a:pPr marL="0" indent="0">
              <a:buNone/>
            </a:pPr>
            <a:endParaRPr lang="en-US" dirty="0"/>
          </a:p>
        </p:txBody>
      </p:sp>
      <p:sp>
        <p:nvSpPr>
          <p:cNvPr id="33" name="Text 31"/>
          <p:cNvSpPr/>
          <p:nvPr/>
        </p:nvSpPr>
        <p:spPr>
          <a:xfrm>
            <a:off x="4714875" y="1785826"/>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34" name="Text 32"/>
          <p:cNvSpPr/>
          <p:nvPr/>
        </p:nvSpPr>
        <p:spPr>
          <a:xfrm>
            <a:off x="5000625" y="1792970"/>
            <a:ext cx="878898" cy="133241"/>
          </a:xfrm>
          <a:prstGeom prst="rect">
            <a:avLst/>
          </a:prstGeom>
          <a:noFill/>
          <a:ln/>
        </p:spPr>
        <p:txBody>
          <a:bodyPr wrap="none" lIns="0" tIns="0" rIns="0" bIns="0" rtlCol="0" anchor="t"/>
          <a:lstStyle/>
          <a:p>
            <a:pPr marL="0" indent="0" algn="l">
              <a:lnSpc>
                <a:spcPts val="1181"/>
              </a:lnSpc>
              <a:buNone/>
            </a:pPr>
            <a:r>
              <a:rPr lang="en-US" sz="788" b="1" kern="0" spc="32" dirty="0">
                <a:solidFill>
                  <a:srgbClr val="1E3A8A"/>
                </a:solidFill>
                <a:latin typeface="Carlito" pitchFamily="34" charset="0"/>
                <a:ea typeface="Carlito" pitchFamily="34" charset="-122"/>
                <a:cs typeface="Carlito" pitchFamily="34" charset="-120"/>
              </a:rPr>
              <a:t>POSITION-WISE</a:t>
            </a:r>
            <a:endParaRPr lang="en-US" sz="788" dirty="0"/>
          </a:p>
        </p:txBody>
      </p:sp>
      <p:sp>
        <p:nvSpPr>
          <p:cNvPr id="35" name="Text 33"/>
          <p:cNvSpPr/>
          <p:nvPr/>
        </p:nvSpPr>
        <p:spPr>
          <a:xfrm>
            <a:off x="5000625" y="1792970"/>
            <a:ext cx="3661842" cy="462425"/>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The same FFN weights are applied independently to each of the seq_len positions. No information flows between positions inside the FFN — that is attention's job.</a:t>
            </a:r>
            <a:endParaRPr lang="en-US" sz="800" dirty="0"/>
          </a:p>
        </p:txBody>
      </p:sp>
      <p:sp>
        <p:nvSpPr>
          <p:cNvPr id="36" name="Text 34"/>
          <p:cNvSpPr/>
          <p:nvPr/>
        </p:nvSpPr>
        <p:spPr>
          <a:xfrm>
            <a:off x="4714875" y="2321607"/>
            <a:ext cx="200025" cy="200025"/>
          </a:xfrm>
          <a:prstGeom prst="ellipse">
            <a:avLst/>
          </a:prstGeom>
          <a:solidFill>
            <a:srgbClr val="1E3A8A"/>
          </a:solidFill>
          <a:ln/>
        </p:spPr>
        <p:txBody>
          <a:bodyPr wrap="square" rtlCol="0" anchor="ctr"/>
          <a:lstStyle/>
          <a:p>
            <a:pPr marL="0" indent="0">
              <a:buNone/>
            </a:pPr>
            <a:endParaRPr lang="en-US" dirty="0"/>
          </a:p>
        </p:txBody>
      </p:sp>
      <p:sp>
        <p:nvSpPr>
          <p:cNvPr id="37" name="Text 35"/>
          <p:cNvSpPr/>
          <p:nvPr/>
        </p:nvSpPr>
        <p:spPr>
          <a:xfrm>
            <a:off x="4714875" y="2321607"/>
            <a:ext cx="200025" cy="200025"/>
          </a:xfrm>
          <a:prstGeom prst="rect">
            <a:avLst/>
          </a:prstGeom>
          <a:noFill/>
          <a:ln/>
        </p:spPr>
        <p:txBody>
          <a:bodyPr wrap="none" lIns="0" tIns="0" rIns="0" bIns="0" rtlCol="0" anchor="ctr"/>
          <a:lstStyle/>
          <a:p>
            <a:pPr marL="0" indent="0" algn="ctr">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38" name="Text 36"/>
          <p:cNvSpPr/>
          <p:nvPr/>
        </p:nvSpPr>
        <p:spPr>
          <a:xfrm>
            <a:off x="5000625" y="2328751"/>
            <a:ext cx="654026" cy="133241"/>
          </a:xfrm>
          <a:prstGeom prst="rect">
            <a:avLst/>
          </a:prstGeom>
          <a:noFill/>
          <a:ln/>
        </p:spPr>
        <p:txBody>
          <a:bodyPr wrap="none" lIns="0" tIns="0" rIns="0" bIns="0" rtlCol="0" anchor="t"/>
          <a:lstStyle/>
          <a:p>
            <a:pPr marL="0" indent="0" algn="l">
              <a:lnSpc>
                <a:spcPts val="1181"/>
              </a:lnSpc>
              <a:buNone/>
            </a:pPr>
            <a:r>
              <a:rPr lang="en-US" sz="800" b="1" kern="0" spc="32" dirty="0">
                <a:solidFill>
                  <a:srgbClr val="1E3A8A"/>
                </a:solidFill>
                <a:latin typeface="Carlito" pitchFamily="34" charset="0"/>
                <a:ea typeface="Carlito" pitchFamily="34" charset="-122"/>
                <a:cs typeface="Carlito" pitchFamily="34" charset="-120"/>
              </a:rPr>
              <a:t>WHY ReLU</a:t>
            </a:r>
            <a:endParaRPr lang="en-US" sz="800" dirty="0"/>
          </a:p>
        </p:txBody>
      </p:sp>
      <p:sp>
        <p:nvSpPr>
          <p:cNvPr id="39" name="Text 37"/>
          <p:cNvSpPr/>
          <p:nvPr/>
        </p:nvSpPr>
        <p:spPr>
          <a:xfrm>
            <a:off x="5000625" y="2328751"/>
            <a:ext cx="3666641" cy="297833"/>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 A linear stack of two layers collapses to one. ReLU between them introduces the non-linearity that lets the FFN learn arbitrary feature transformations.</a:t>
            </a:r>
            <a:endParaRPr lang="en-US" sz="800" dirty="0"/>
          </a:p>
        </p:txBody>
      </p:sp>
      <p:sp>
        <p:nvSpPr>
          <p:cNvPr id="40" name="Text 38"/>
          <p:cNvSpPr/>
          <p:nvPr/>
        </p:nvSpPr>
        <p:spPr>
          <a:xfrm>
            <a:off x="4718447" y="2732373"/>
            <a:ext cx="3964781" cy="471488"/>
          </a:xfrm>
          <a:prstGeom prst="roundRect">
            <a:avLst>
              <a:gd name="adj" fmla="val 24242"/>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41" name="Text 39"/>
          <p:cNvSpPr/>
          <p:nvPr/>
        </p:nvSpPr>
        <p:spPr>
          <a:xfrm>
            <a:off x="4836319" y="2828813"/>
            <a:ext cx="3729038" cy="278606"/>
          </a:xfrm>
          <a:prstGeom prst="rect">
            <a:avLst/>
          </a:prstGeom>
          <a:noFill/>
          <a:ln/>
        </p:spPr>
        <p:txBody>
          <a:bodyPr wrap="square" lIns="0" tIns="0" rIns="0" bIns="0" rtlCol="0" anchor="t"/>
          <a:lstStyle/>
          <a:p>
            <a:pPr marL="0" indent="0" algn="l">
              <a:lnSpc>
                <a:spcPts val="1097"/>
              </a:lnSpc>
              <a:buNone/>
            </a:pPr>
            <a:r>
              <a:rPr lang="en-US" sz="800" b="1" dirty="0">
                <a:solidFill>
                  <a:srgbClr val="1E3A8A"/>
                </a:solidFill>
                <a:latin typeface="Carlito" pitchFamily="34" charset="0"/>
                <a:ea typeface="Carlito" pitchFamily="34" charset="-122"/>
                <a:cs typeface="Carlito" pitchFamily="34" charset="-120"/>
              </a:rPr>
              <a:t>The per-token "thinking" step.</a:t>
            </a:r>
            <a:r>
              <a:rPr lang="en-US" sz="800" dirty="0">
                <a:solidFill>
                  <a:srgbClr val="0F172A"/>
                </a:solidFill>
                <a:latin typeface="Carlito" pitchFamily="34" charset="0"/>
                <a:ea typeface="Carlito" pitchFamily="34" charset="-122"/>
                <a:cs typeface="Carlito" pitchFamily="34" charset="-120"/>
              </a:rPr>
              <a:t> Attention decides what each token should see; the FFN then transforms what it sees into richer features for the next layer.</a:t>
            </a:r>
            <a:endParaRPr lang="en-US" sz="800" dirty="0"/>
          </a:p>
        </p:txBody>
      </p:sp>
      <p:sp>
        <p:nvSpPr>
          <p:cNvPr id="42" name="Text 40"/>
          <p:cNvSpPr/>
          <p:nvPr/>
        </p:nvSpPr>
        <p:spPr>
          <a:xfrm>
            <a:off x="457200" y="4854178"/>
            <a:ext cx="82296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08 · Core Building Blocks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57188"/>
            <a:ext cx="5258332"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BUILDING BLOCK · 03</a:t>
            </a:r>
            <a:endParaRPr lang="en-US" sz="800" dirty="0"/>
          </a:p>
        </p:txBody>
      </p:sp>
      <p:sp>
        <p:nvSpPr>
          <p:cNvPr id="3" name="Text 1"/>
          <p:cNvSpPr/>
          <p:nvPr/>
        </p:nvSpPr>
        <p:spPr>
          <a:xfrm>
            <a:off x="457200" y="528638"/>
            <a:ext cx="4170521" cy="245370"/>
          </a:xfrm>
          <a:prstGeom prst="rect">
            <a:avLst/>
          </a:prstGeom>
          <a:noFill/>
          <a:ln/>
        </p:spPr>
        <p:txBody>
          <a:bodyPr wrap="none" lIns="0" tIns="0" rIns="0" bIns="0" rtlCol="0" anchor="t">
            <a:normAutofit/>
          </a:bodyPr>
          <a:lstStyle/>
          <a:p>
            <a:pPr marL="0" indent="0" algn="l">
              <a:lnSpc>
                <a:spcPts val="1811"/>
              </a:lnSpc>
              <a:buNone/>
            </a:pPr>
            <a:r>
              <a:rPr lang="en-US" sz="1575" b="1" dirty="0">
                <a:solidFill>
                  <a:srgbClr val="1E3A8A"/>
                </a:solidFill>
                <a:latin typeface="Carlito" pitchFamily="34" charset="0"/>
                <a:ea typeface="Carlito" pitchFamily="34" charset="-122"/>
                <a:cs typeface="Carlito" pitchFamily="34" charset="-120"/>
              </a:rPr>
              <a:t>Positional Encoding</a:t>
            </a:r>
            <a:endParaRPr lang="en-US" sz="1575" dirty="0"/>
          </a:p>
        </p:txBody>
      </p:sp>
      <p:sp>
        <p:nvSpPr>
          <p:cNvPr id="4" name="Text 2"/>
          <p:cNvSpPr/>
          <p:nvPr/>
        </p:nvSpPr>
        <p:spPr>
          <a:xfrm>
            <a:off x="457200" y="801439"/>
            <a:ext cx="3971925" cy="183599"/>
          </a:xfrm>
          <a:prstGeom prst="rect">
            <a:avLst/>
          </a:prstGeom>
          <a:noFill/>
          <a:ln/>
        </p:spPr>
        <p:txBody>
          <a:bodyPr wrap="square" lIns="0" tIns="0" rIns="0" bIns="0" rtlCol="0" anchor="t"/>
          <a:lstStyle/>
          <a:p>
            <a:pPr marL="0" indent="0" algn="l">
              <a:lnSpc>
                <a:spcPts val="1339"/>
              </a:lnSpc>
              <a:buNone/>
            </a:pPr>
            <a:r>
              <a:rPr lang="en-US" sz="956" dirty="0">
                <a:solidFill>
                  <a:srgbClr val="475569"/>
                </a:solidFill>
                <a:latin typeface="Carlito" pitchFamily="34" charset="0"/>
                <a:ea typeface="Carlito" pitchFamily="34" charset="-122"/>
                <a:cs typeface="Carlito" pitchFamily="34" charset="-120"/>
              </a:rPr>
              <a:t>Sinusoidal signals that tell the model where each token sits.</a:t>
            </a:r>
            <a:endParaRPr lang="en-US" sz="956" dirty="0"/>
          </a:p>
        </p:txBody>
      </p:sp>
      <p:sp>
        <p:nvSpPr>
          <p:cNvPr id="5" name="Text 3"/>
          <p:cNvSpPr/>
          <p:nvPr/>
        </p:nvSpPr>
        <p:spPr>
          <a:xfrm>
            <a:off x="457200" y="1057163"/>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6" name="Text 4"/>
          <p:cNvSpPr/>
          <p:nvPr/>
        </p:nvSpPr>
        <p:spPr>
          <a:xfrm>
            <a:off x="457200" y="1185751"/>
            <a:ext cx="3971925" cy="648099"/>
          </a:xfrm>
          <a:prstGeom prst="rect">
            <a:avLst/>
          </a:prstGeom>
          <a:noFill/>
          <a:ln/>
        </p:spPr>
        <p:txBody>
          <a:bodyPr wrap="square" lIns="0" tIns="0" rIns="0" bIns="0" rtlCol="0" anchor="t">
            <a:normAutofit/>
          </a:bodyPr>
          <a:lstStyle/>
          <a:p>
            <a:pPr marL="0" indent="0" algn="l">
              <a:lnSpc>
                <a:spcPts val="1133"/>
              </a:lnSpc>
              <a:buNone/>
            </a:pPr>
            <a:r>
              <a:rPr lang="en-US" sz="800" dirty="0">
                <a:solidFill>
                  <a:srgbClr val="334155"/>
                </a:solidFill>
                <a:latin typeface="Carlito" pitchFamily="34" charset="0"/>
                <a:ea typeface="Carlito" pitchFamily="34" charset="-122"/>
                <a:cs typeface="Carlito" pitchFamily="34" charset="-120"/>
              </a:rPr>
              <a:t>Self-attention is permutation-invariant — it sees a bag of tokens, not a sequence. To restore order, we add a position-dependent signal to each token embedding before any attention runs. The original paper uses sine and cosine of different frequencies, producing a unique smooth encoding for every position.</a:t>
            </a:r>
            <a:endParaRPr lang="en-US" sz="800" dirty="0"/>
          </a:p>
        </p:txBody>
      </p:sp>
      <p:sp>
        <p:nvSpPr>
          <p:cNvPr id="7" name="Text 5"/>
          <p:cNvSpPr/>
          <p:nvPr/>
        </p:nvSpPr>
        <p:spPr>
          <a:xfrm>
            <a:off x="460772" y="1864854"/>
            <a:ext cx="3964781" cy="624185"/>
          </a:xfrm>
          <a:prstGeom prst="roundRect">
            <a:avLst>
              <a:gd name="adj" fmla="val 18312"/>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8" name="Text 6"/>
          <p:cNvSpPr/>
          <p:nvPr/>
        </p:nvSpPr>
        <p:spPr>
          <a:xfrm>
            <a:off x="592931" y="1982725"/>
            <a:ext cx="3700463" cy="388441"/>
          </a:xfrm>
          <a:prstGeom prst="rect">
            <a:avLst/>
          </a:prstGeom>
          <a:noFill/>
          <a:ln/>
        </p:spPr>
        <p:txBody>
          <a:bodyPr wrap="square" lIns="0" tIns="0" rIns="0" bIns="0" rtlCol="0" anchor="t"/>
          <a:lstStyle/>
          <a:p>
            <a:pPr marL="0" indent="0" algn="ctr">
              <a:lnSpc>
                <a:spcPts val="1530"/>
              </a:lnSpc>
              <a:buNone/>
            </a:pPr>
            <a:r>
              <a:rPr lang="en-US" sz="900" dirty="0">
                <a:solidFill>
                  <a:srgbClr val="1E3A8A"/>
                </a:solidFill>
                <a:latin typeface="Courier New" pitchFamily="34" charset="0"/>
                <a:ea typeface="Courier New" pitchFamily="34" charset="-122"/>
                <a:cs typeface="Courier New" pitchFamily="34" charset="-120"/>
              </a:rPr>
              <a:t>PE(pos, 2i) = sin( pos / 10000^(2i/d_model) )</a:t>
            </a:r>
            <a:endParaRPr lang="en-US" sz="900" dirty="0"/>
          </a:p>
          <a:p>
            <a:pPr marL="0" indent="0" algn="ctr">
              <a:lnSpc>
                <a:spcPts val="1530"/>
              </a:lnSpc>
              <a:buNone/>
            </a:pPr>
            <a:r>
              <a:rPr lang="en-US" sz="900" dirty="0">
                <a:solidFill>
                  <a:srgbClr val="1E3A8A"/>
                </a:solidFill>
                <a:latin typeface="Courier New" pitchFamily="34" charset="0"/>
                <a:ea typeface="Courier New" pitchFamily="34" charset="-122"/>
                <a:cs typeface="Courier New" pitchFamily="34" charset="-120"/>
              </a:rPr>
              <a:t>PE(pos, 2i+1) = cos( pos / 10000^(2i/d_model) )</a:t>
            </a:r>
            <a:endParaRPr lang="en-US" sz="900" dirty="0"/>
          </a:p>
        </p:txBody>
      </p:sp>
      <p:sp>
        <p:nvSpPr>
          <p:cNvPr id="9" name="Text 7"/>
          <p:cNvSpPr/>
          <p:nvPr/>
        </p:nvSpPr>
        <p:spPr>
          <a:xfrm>
            <a:off x="457200" y="2649773"/>
            <a:ext cx="42863" cy="42863"/>
          </a:xfrm>
          <a:prstGeom prst="ellipse">
            <a:avLst/>
          </a:prstGeom>
          <a:solidFill>
            <a:srgbClr val="F59E0B"/>
          </a:solidFill>
          <a:ln/>
        </p:spPr>
        <p:txBody>
          <a:bodyPr wrap="square" rtlCol="0" anchor="ctr"/>
          <a:lstStyle/>
          <a:p>
            <a:pPr marL="0" indent="0">
              <a:buNone/>
            </a:pPr>
            <a:endParaRPr lang="en-US" dirty="0"/>
          </a:p>
        </p:txBody>
      </p:sp>
      <p:sp>
        <p:nvSpPr>
          <p:cNvPr id="10" name="Text 8"/>
          <p:cNvSpPr/>
          <p:nvPr/>
        </p:nvSpPr>
        <p:spPr>
          <a:xfrm>
            <a:off x="571500" y="2599767"/>
            <a:ext cx="989230" cy="143490"/>
          </a:xfrm>
          <a:prstGeom prst="rect">
            <a:avLst/>
          </a:prstGeom>
          <a:noFill/>
          <a:ln/>
        </p:spPr>
        <p:txBody>
          <a:bodyPr wrap="none" lIns="0" tIns="0" rIns="0" bIns="0" rtlCol="0" anchor="t"/>
          <a:lstStyle/>
          <a:p>
            <a:pPr marL="0" indent="0" algn="l">
              <a:lnSpc>
                <a:spcPts val="1097"/>
              </a:lnSpc>
              <a:buNone/>
            </a:pPr>
            <a:r>
              <a:rPr lang="en-US" sz="731" b="1" kern="0" spc="29" dirty="0">
                <a:solidFill>
                  <a:srgbClr val="1E3A8A"/>
                </a:solidFill>
                <a:latin typeface="Carlito" pitchFamily="34" charset="0"/>
                <a:ea typeface="Carlito" pitchFamily="34" charset="-122"/>
                <a:cs typeface="Carlito" pitchFamily="34" charset="-120"/>
              </a:rPr>
              <a:t>EVEN / ODD SPLIT</a:t>
            </a:r>
            <a:endParaRPr lang="en-US" sz="731" dirty="0"/>
          </a:p>
        </p:txBody>
      </p:sp>
      <p:sp>
        <p:nvSpPr>
          <p:cNvPr id="11" name="Text 9"/>
          <p:cNvSpPr/>
          <p:nvPr/>
        </p:nvSpPr>
        <p:spPr>
          <a:xfrm>
            <a:off x="571500" y="2599767"/>
            <a:ext cx="3560155" cy="308082"/>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 Even indices of the d_model vector get sin; odd indices get cos. Different i values give different wavelengths.</a:t>
            </a:r>
            <a:endParaRPr lang="en-US" sz="800" dirty="0"/>
          </a:p>
        </p:txBody>
      </p:sp>
      <p:sp>
        <p:nvSpPr>
          <p:cNvPr id="12" name="Text 10"/>
          <p:cNvSpPr/>
          <p:nvPr/>
        </p:nvSpPr>
        <p:spPr>
          <a:xfrm>
            <a:off x="457200" y="2985529"/>
            <a:ext cx="42863" cy="42863"/>
          </a:xfrm>
          <a:prstGeom prst="ellipse">
            <a:avLst/>
          </a:prstGeom>
          <a:solidFill>
            <a:srgbClr val="F59E0B"/>
          </a:solidFill>
          <a:ln/>
        </p:spPr>
        <p:txBody>
          <a:bodyPr wrap="square" rtlCol="0" anchor="ctr"/>
          <a:lstStyle/>
          <a:p>
            <a:pPr marL="0" indent="0">
              <a:buNone/>
            </a:pPr>
            <a:endParaRPr lang="en-US" dirty="0"/>
          </a:p>
        </p:txBody>
      </p:sp>
      <p:sp>
        <p:nvSpPr>
          <p:cNvPr id="13" name="Text 11"/>
          <p:cNvSpPr/>
          <p:nvPr/>
        </p:nvSpPr>
        <p:spPr>
          <a:xfrm>
            <a:off x="571500" y="2935523"/>
            <a:ext cx="1034017" cy="143490"/>
          </a:xfrm>
          <a:prstGeom prst="rect">
            <a:avLst/>
          </a:prstGeom>
          <a:noFill/>
          <a:ln/>
        </p:spPr>
        <p:txBody>
          <a:bodyPr wrap="none" lIns="0" tIns="0" rIns="0" bIns="0" rtlCol="0" anchor="t"/>
          <a:lstStyle/>
          <a:p>
            <a:pPr marL="0" indent="0" algn="l">
              <a:lnSpc>
                <a:spcPts val="1097"/>
              </a:lnSpc>
              <a:buNone/>
            </a:pPr>
            <a:r>
              <a:rPr lang="en-US" sz="800" b="1" kern="0" spc="29" dirty="0">
                <a:solidFill>
                  <a:srgbClr val="1E3A8A"/>
                </a:solidFill>
                <a:latin typeface="Carlito" pitchFamily="34" charset="0"/>
                <a:ea typeface="Carlito" pitchFamily="34" charset="-122"/>
                <a:cs typeface="Carlito" pitchFamily="34" charset="-120"/>
              </a:rPr>
              <a:t>SMOOTH &amp; UNIQUE</a:t>
            </a:r>
            <a:endParaRPr lang="en-US" sz="800" dirty="0"/>
          </a:p>
        </p:txBody>
      </p:sp>
      <p:sp>
        <p:nvSpPr>
          <p:cNvPr id="14" name="Text 12"/>
          <p:cNvSpPr/>
          <p:nvPr/>
        </p:nvSpPr>
        <p:spPr>
          <a:xfrm>
            <a:off x="571500" y="2935523"/>
            <a:ext cx="3737744" cy="308082"/>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 Each position has a unique encoding; nearby positions have similar encodings, so the model can learn relative offsets.</a:t>
            </a:r>
            <a:endParaRPr lang="en-US" sz="800" dirty="0"/>
          </a:p>
        </p:txBody>
      </p:sp>
      <p:sp>
        <p:nvSpPr>
          <p:cNvPr id="15" name="Text 13"/>
          <p:cNvSpPr/>
          <p:nvPr/>
        </p:nvSpPr>
        <p:spPr>
          <a:xfrm>
            <a:off x="457200" y="3321286"/>
            <a:ext cx="42863" cy="42863"/>
          </a:xfrm>
          <a:prstGeom prst="ellipse">
            <a:avLst/>
          </a:prstGeom>
          <a:solidFill>
            <a:srgbClr val="F59E0B"/>
          </a:solidFill>
          <a:ln/>
        </p:spPr>
        <p:txBody>
          <a:bodyPr wrap="square" rtlCol="0" anchor="ctr"/>
          <a:lstStyle/>
          <a:p>
            <a:pPr marL="0" indent="0">
              <a:buNone/>
            </a:pPr>
            <a:endParaRPr lang="en-US" dirty="0"/>
          </a:p>
        </p:txBody>
      </p:sp>
      <p:sp>
        <p:nvSpPr>
          <p:cNvPr id="16" name="Text 14"/>
          <p:cNvSpPr/>
          <p:nvPr/>
        </p:nvSpPr>
        <p:spPr>
          <a:xfrm>
            <a:off x="552497" y="3271279"/>
            <a:ext cx="847817" cy="143490"/>
          </a:xfrm>
          <a:prstGeom prst="rect">
            <a:avLst/>
          </a:prstGeom>
          <a:noFill/>
          <a:ln/>
        </p:spPr>
        <p:txBody>
          <a:bodyPr wrap="none" lIns="0" tIns="0" rIns="0" bIns="0" rtlCol="0" anchor="t"/>
          <a:lstStyle/>
          <a:p>
            <a:pPr marL="0" indent="0" algn="l">
              <a:lnSpc>
                <a:spcPts val="1097"/>
              </a:lnSpc>
              <a:buNone/>
            </a:pPr>
            <a:r>
              <a:rPr lang="en-US" sz="731" b="1" kern="0" spc="29" dirty="0">
                <a:solidFill>
                  <a:srgbClr val="1E3A8A"/>
                </a:solidFill>
                <a:latin typeface="Carlito" pitchFamily="34" charset="0"/>
                <a:ea typeface="Carlito" pitchFamily="34" charset="-122"/>
                <a:cs typeface="Carlito" pitchFamily="34" charset="-120"/>
              </a:rPr>
              <a:t>EXTRAPOLATES</a:t>
            </a:r>
            <a:endParaRPr lang="en-US" sz="731" dirty="0"/>
          </a:p>
        </p:txBody>
      </p:sp>
      <p:sp>
        <p:nvSpPr>
          <p:cNvPr id="17" name="Text 15"/>
          <p:cNvSpPr/>
          <p:nvPr/>
        </p:nvSpPr>
        <p:spPr>
          <a:xfrm>
            <a:off x="571500" y="3271279"/>
            <a:ext cx="3730377" cy="308082"/>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 Unlike learned position embeddings, sinusoids generalize to sequences longer than those seen in training.</a:t>
            </a:r>
            <a:endParaRPr lang="en-US" sz="800" dirty="0"/>
          </a:p>
        </p:txBody>
      </p:sp>
      <p:sp>
        <p:nvSpPr>
          <p:cNvPr id="18" name="Text 16"/>
          <p:cNvSpPr/>
          <p:nvPr/>
        </p:nvSpPr>
        <p:spPr>
          <a:xfrm>
            <a:off x="4714875" y="357188"/>
            <a:ext cx="4289679" cy="158306"/>
          </a:xfrm>
          <a:prstGeom prst="rect">
            <a:avLst/>
          </a:prstGeom>
          <a:noFill/>
          <a:ln/>
        </p:spPr>
        <p:txBody>
          <a:bodyPr wrap="square" lIns="0" tIns="0" rIns="0" bIns="0" rtlCol="0" anchor="t">
            <a:normAutofit/>
          </a:bodyPr>
          <a:lstStyle/>
          <a:p>
            <a:pPr marL="0" indent="0" algn="l">
              <a:lnSpc>
                <a:spcPts val="1013"/>
              </a:lnSpc>
              <a:buNone/>
            </a:pPr>
            <a:r>
              <a:rPr lang="en-US" sz="800" dirty="0">
                <a:solidFill>
                  <a:srgbClr val="64748B"/>
                </a:solidFill>
                <a:latin typeface="Courier New" pitchFamily="34" charset="0"/>
                <a:ea typeface="Courier New" pitchFamily="34" charset="-122"/>
                <a:cs typeface="Courier New" pitchFamily="34" charset="-120"/>
              </a:rPr>
              <a:t>class PositionalEncoding(nn.Module)</a:t>
            </a:r>
            <a:endParaRPr lang="en-US" sz="800" dirty="0"/>
          </a:p>
        </p:txBody>
      </p:sp>
      <p:sp>
        <p:nvSpPr>
          <p:cNvPr id="19" name="Text 17"/>
          <p:cNvSpPr/>
          <p:nvPr/>
        </p:nvSpPr>
        <p:spPr>
          <a:xfrm>
            <a:off x="4714875" y="542925"/>
            <a:ext cx="3971925" cy="2718197"/>
          </a:xfrm>
          <a:prstGeom prst="roundRect">
            <a:avLst>
              <a:gd name="adj" fmla="val 3504"/>
            </a:avLst>
          </a:prstGeom>
          <a:solidFill>
            <a:srgbClr val="0F172A"/>
          </a:solidFill>
          <a:ln/>
        </p:spPr>
        <p:txBody>
          <a:bodyPr wrap="square" rtlCol="0" anchor="ctr"/>
          <a:lstStyle/>
          <a:p>
            <a:pPr marL="0" indent="0">
              <a:buNone/>
            </a:pPr>
            <a:endParaRPr lang="en-US" dirty="0"/>
          </a:p>
        </p:txBody>
      </p:sp>
      <p:sp>
        <p:nvSpPr>
          <p:cNvPr id="20" name="Text 18"/>
          <p:cNvSpPr/>
          <p:nvPr/>
        </p:nvSpPr>
        <p:spPr>
          <a:xfrm>
            <a:off x="4843463" y="678656"/>
            <a:ext cx="3511376" cy="2468166"/>
          </a:xfrm>
          <a:prstGeom prst="rect">
            <a:avLst/>
          </a:prstGeom>
          <a:noFill/>
          <a:ln/>
        </p:spPr>
        <p:txBody>
          <a:bodyPr wrap="none" lIns="0" tIns="0" rIns="0" bIns="0" rtlCol="0" anchor="t"/>
          <a:lstStyle/>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PositionalEncoding</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d_model, max_seq_length):</a:t>
            </a:r>
            <a:endParaRPr lang="en-US" sz="800" dirty="0"/>
          </a:p>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pe = torch.</a:t>
            </a:r>
            <a:r>
              <a:rPr lang="en-US" sz="800" dirty="0">
                <a:solidFill>
                  <a:srgbClr val="60A5FA"/>
                </a:solidFill>
                <a:latin typeface="Liberation Mono" pitchFamily="34" charset="0"/>
                <a:ea typeface="Liberation Mono" pitchFamily="34" charset="-122"/>
                <a:cs typeface="Liberation Mono" pitchFamily="34" charset="-120"/>
              </a:rPr>
              <a:t>zeros</a:t>
            </a:r>
            <a:r>
              <a:rPr lang="en-US" sz="800" dirty="0">
                <a:solidFill>
                  <a:srgbClr val="E2E8F0"/>
                </a:solidFill>
                <a:latin typeface="Liberation Mono" pitchFamily="34" charset="0"/>
                <a:ea typeface="Liberation Mono" pitchFamily="34" charset="-122"/>
                <a:cs typeface="Liberation Mono" pitchFamily="34" charset="-120"/>
              </a:rPr>
              <a:t>(max_seq_length, d_model)</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position = torch.</a:t>
            </a:r>
            <a:r>
              <a:rPr lang="en-US" sz="800" dirty="0">
                <a:solidFill>
                  <a:srgbClr val="60A5FA"/>
                </a:solidFill>
                <a:latin typeface="Liberation Mono" pitchFamily="34" charset="0"/>
                <a:ea typeface="Liberation Mono" pitchFamily="34" charset="-122"/>
                <a:cs typeface="Liberation Mono" pitchFamily="34" charset="-120"/>
              </a:rPr>
              <a:t>arange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 max_seq_length,</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dtype=torch.float).</a:t>
            </a:r>
            <a:r>
              <a:rPr lang="en-US" sz="800" dirty="0">
                <a:solidFill>
                  <a:srgbClr val="60A5FA"/>
                </a:solidFill>
                <a:latin typeface="Liberation Mono" pitchFamily="34" charset="0"/>
                <a:ea typeface="Liberation Mono" pitchFamily="34" charset="-122"/>
                <a:cs typeface="Liberation Mono" pitchFamily="34" charset="-120"/>
              </a:rPr>
              <a:t>unsqueeze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div_term = torch.</a:t>
            </a:r>
            <a:r>
              <a:rPr lang="en-US" sz="800" dirty="0">
                <a:solidFill>
                  <a:srgbClr val="60A5FA"/>
                </a:solidFill>
                <a:latin typeface="Liberation Mono" pitchFamily="34" charset="0"/>
                <a:ea typeface="Liberation Mono" pitchFamily="34" charset="-122"/>
                <a:cs typeface="Liberation Mono" pitchFamily="34" charset="-120"/>
              </a:rPr>
              <a:t>exp</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torch.</a:t>
            </a:r>
            <a:r>
              <a:rPr lang="en-US" sz="800" dirty="0">
                <a:solidFill>
                  <a:srgbClr val="60A5FA"/>
                </a:solidFill>
                <a:latin typeface="Liberation Mono" pitchFamily="34" charset="0"/>
                <a:ea typeface="Liberation Mono" pitchFamily="34" charset="-122"/>
                <a:cs typeface="Liberation Mono" pitchFamily="34" charset="-120"/>
              </a:rPr>
              <a:t>arange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 d_model, </a:t>
            </a:r>
            <a:r>
              <a:rPr lang="en-US" sz="800" dirty="0">
                <a:solidFill>
                  <a:srgbClr val="F472B6"/>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Liberation Mono" pitchFamily="34" charset="0"/>
                <a:ea typeface="Liberation Mono" pitchFamily="34" charset="-122"/>
                <a:cs typeface="Liberation Mono" pitchFamily="34" charset="-120"/>
              </a:rPr>
              <a:t>).float()</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 -(math.</a:t>
            </a:r>
            <a:r>
              <a:rPr lang="en-US" sz="800" dirty="0">
                <a:solidFill>
                  <a:srgbClr val="60A5FA"/>
                </a:solidFill>
                <a:latin typeface="Liberation Mono" pitchFamily="34" charset="0"/>
                <a:ea typeface="Liberation Mono" pitchFamily="34" charset="-122"/>
                <a:cs typeface="Liberation Mono" pitchFamily="34" charset="-120"/>
              </a:rPr>
              <a:t>log</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10000.0</a:t>
            </a:r>
            <a:r>
              <a:rPr lang="en-US" sz="800" dirty="0">
                <a:solidFill>
                  <a:srgbClr val="E2E8F0"/>
                </a:solidFill>
                <a:latin typeface="Liberation Mono" pitchFamily="34" charset="0"/>
                <a:ea typeface="Liberation Mono" pitchFamily="34" charset="-122"/>
                <a:cs typeface="Liberation Mono" pitchFamily="34" charset="-120"/>
              </a:rPr>
              <a:t>) / d_model)</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pe[:, </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Liberation Mono" pitchFamily="34" charset="0"/>
                <a:ea typeface="Liberation Mono" pitchFamily="34" charset="-122"/>
                <a:cs typeface="Liberation Mono" pitchFamily="34" charset="-120"/>
              </a:rPr>
              <a:t>] = torch.</a:t>
            </a:r>
            <a:r>
              <a:rPr lang="en-US" sz="800" dirty="0">
                <a:solidFill>
                  <a:srgbClr val="60A5FA"/>
                </a:solidFill>
                <a:latin typeface="Liberation Mono" pitchFamily="34" charset="0"/>
                <a:ea typeface="Liberation Mono" pitchFamily="34" charset="-122"/>
                <a:cs typeface="Liberation Mono" pitchFamily="34" charset="-120"/>
              </a:rPr>
              <a:t>sin</a:t>
            </a:r>
            <a:r>
              <a:rPr lang="en-US" sz="800" dirty="0">
                <a:solidFill>
                  <a:srgbClr val="E2E8F0"/>
                </a:solidFill>
                <a:latin typeface="Liberation Mono" pitchFamily="34" charset="0"/>
                <a:ea typeface="Liberation Mono" pitchFamily="34" charset="-122"/>
                <a:cs typeface="Liberation Mono" pitchFamily="34" charset="-120"/>
              </a:rPr>
              <a:t>(position * div_term)</a:t>
            </a:r>
            <a:endParaRPr lang="en-US" sz="800" dirty="0"/>
          </a:p>
          <a:p>
            <a:pPr marL="0" indent="0" algn="l">
              <a:lnSpc>
                <a:spcPts val="1097"/>
              </a:lnSpc>
              <a:buNone/>
            </a:pPr>
            <a:r>
              <a:rPr lang="en-US" sz="800" dirty="0">
                <a:solidFill>
                  <a:srgbClr val="E2E8F0"/>
                </a:solidFill>
                <a:latin typeface="Liberation Mono" pitchFamily="34" charset="0"/>
                <a:ea typeface="Liberation Mono" pitchFamily="34" charset="-122"/>
                <a:cs typeface="Liberation Mono" pitchFamily="34" charset="-120"/>
              </a:rPr>
              <a:t>pe[:,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Liberation Mono" pitchFamily="34" charset="0"/>
                <a:ea typeface="Liberation Mono" pitchFamily="34" charset="-122"/>
                <a:cs typeface="Liberation Mono" pitchFamily="34" charset="-120"/>
              </a:rPr>
              <a:t>] = torch.</a:t>
            </a:r>
            <a:r>
              <a:rPr lang="en-US" sz="800" dirty="0">
                <a:solidFill>
                  <a:srgbClr val="60A5FA"/>
                </a:solidFill>
                <a:latin typeface="Liberation Mono" pitchFamily="34" charset="0"/>
                <a:ea typeface="Liberation Mono" pitchFamily="34" charset="-122"/>
                <a:cs typeface="Liberation Mono" pitchFamily="34" charset="-120"/>
              </a:rPr>
              <a:t>cos</a:t>
            </a:r>
            <a:r>
              <a:rPr lang="en-US" sz="800" dirty="0">
                <a:solidFill>
                  <a:srgbClr val="E2E8F0"/>
                </a:solidFill>
                <a:latin typeface="Liberation Mono" pitchFamily="34" charset="0"/>
                <a:ea typeface="Liberation Mono" pitchFamily="34" charset="-122"/>
                <a:cs typeface="Liberation Mono" pitchFamily="34" charset="-120"/>
              </a:rPr>
              <a:t>(position * div_term)</a:t>
            </a:r>
            <a:endParaRPr lang="en-US" sz="800" dirty="0"/>
          </a:p>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register_buffer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34D399"/>
                </a:solidFill>
                <a:latin typeface="Liberation Mono" pitchFamily="34" charset="0"/>
                <a:ea typeface="Liberation Mono" pitchFamily="34" charset="-122"/>
                <a:cs typeface="Liberation Mono" pitchFamily="34" charset="-120"/>
              </a:rPr>
              <a:t>'pe'</a:t>
            </a:r>
            <a:r>
              <a:rPr lang="en-US" sz="800" dirty="0">
                <a:solidFill>
                  <a:srgbClr val="E2E8F0"/>
                </a:solidFill>
                <a:latin typeface="Liberation Mono" pitchFamily="34" charset="0"/>
                <a:ea typeface="Liberation Mono" pitchFamily="34" charset="-122"/>
                <a:cs typeface="Liberation Mono" pitchFamily="34" charset="-120"/>
              </a:rPr>
              <a:t>, pe.</a:t>
            </a:r>
            <a:r>
              <a:rPr lang="en-US" sz="800" dirty="0">
                <a:solidFill>
                  <a:srgbClr val="60A5FA"/>
                </a:solidFill>
                <a:latin typeface="Liberation Mono" pitchFamily="34" charset="0"/>
                <a:ea typeface="Liberation Mono" pitchFamily="34" charset="-122"/>
                <a:cs typeface="Liberation Mono" pitchFamily="34" charset="-120"/>
              </a:rPr>
              <a:t>unsqueeze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 x):</a:t>
            </a:r>
            <a:endParaRPr lang="en-US" sz="800" dirty="0"/>
          </a:p>
          <a:p>
            <a:pPr marL="0" indent="0" algn="l">
              <a:lnSpc>
                <a:spcPts val="1097"/>
              </a:lnSpc>
              <a:buNone/>
            </a:pPr>
            <a:r>
              <a:rPr lang="en-US" sz="800" i="1" dirty="0">
                <a:solidFill>
                  <a:srgbClr val="64748B"/>
                </a:solidFill>
                <a:latin typeface="Liberation Mono" pitchFamily="34" charset="0"/>
                <a:ea typeface="Liberation Mono" pitchFamily="34" charset="-122"/>
                <a:cs typeface="Liberation Mono" pitchFamily="34" charset="-120"/>
              </a:rPr>
              <a:t># x: (batch, seq_len, d_model)</a:t>
            </a:r>
            <a:endParaRPr lang="en-US" sz="800" dirty="0"/>
          </a:p>
          <a:p>
            <a:pPr marL="0" indent="0" algn="l">
              <a:lnSpc>
                <a:spcPts val="1097"/>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x + </a:t>
            </a:r>
            <a:r>
              <a:rPr lang="en-US" sz="800" dirty="0">
                <a:solidFill>
                  <a:srgbClr val="F59E0B"/>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Mono" pitchFamily="34" charset="0"/>
                <a:ea typeface="Liberation Mono" pitchFamily="34" charset="-122"/>
                <a:cs typeface="Liberation Mono" pitchFamily="34" charset="-120"/>
              </a:rPr>
              <a:t>.pe[:, :x.</a:t>
            </a:r>
            <a:r>
              <a:rPr lang="en-US" sz="800" dirty="0">
                <a:solidFill>
                  <a:srgbClr val="60A5FA"/>
                </a:solidFill>
                <a:latin typeface="Liberation Mono" pitchFamily="34" charset="0"/>
                <a:ea typeface="Liberation Mono" pitchFamily="34" charset="-122"/>
                <a:cs typeface="Liberation Mono" pitchFamily="34" charset="-120"/>
              </a:rPr>
              <a:t>size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p:txBody>
      </p:sp>
      <p:sp>
        <p:nvSpPr>
          <p:cNvPr id="21" name="Text 19"/>
          <p:cNvSpPr/>
          <p:nvPr/>
        </p:nvSpPr>
        <p:spPr>
          <a:xfrm>
            <a:off x="4714875" y="3346847"/>
            <a:ext cx="3971925" cy="417016"/>
          </a:xfrm>
          <a:prstGeom prst="roundRect">
            <a:avLst>
              <a:gd name="adj" fmla="val 13705"/>
            </a:avLst>
          </a:prstGeom>
          <a:solidFill>
            <a:srgbClr val="F8FAFC"/>
          </a:solidFill>
          <a:ln/>
        </p:spPr>
        <p:txBody>
          <a:bodyPr wrap="square" rtlCol="0" anchor="ctr"/>
          <a:lstStyle/>
          <a:p>
            <a:pPr marL="0" indent="0">
              <a:buNone/>
            </a:pPr>
            <a:endParaRPr lang="en-US" dirty="0"/>
          </a:p>
        </p:txBody>
      </p:sp>
      <p:sp>
        <p:nvSpPr>
          <p:cNvPr id="22" name="Shape 20"/>
          <p:cNvSpPr/>
          <p:nvPr/>
        </p:nvSpPr>
        <p:spPr>
          <a:xfrm>
            <a:off x="4725591" y="3346847"/>
            <a:ext cx="0" cy="417016"/>
          </a:xfrm>
          <a:prstGeom prst="line">
            <a:avLst/>
          </a:prstGeom>
          <a:noFill/>
          <a:ln w="21431">
            <a:solidFill>
              <a:srgbClr val="F59E0B"/>
            </a:solidFill>
            <a:prstDash val="solid"/>
          </a:ln>
        </p:spPr>
        <p:txBody>
          <a:bodyPr/>
          <a:lstStyle/>
          <a:p>
            <a:endParaRPr lang="en-US"/>
          </a:p>
        </p:txBody>
      </p:sp>
      <p:sp>
        <p:nvSpPr>
          <p:cNvPr id="23" name="Text 21"/>
          <p:cNvSpPr/>
          <p:nvPr/>
        </p:nvSpPr>
        <p:spPr>
          <a:xfrm>
            <a:off x="4836319" y="3418284"/>
            <a:ext cx="3750469" cy="109639"/>
          </a:xfrm>
          <a:prstGeom prst="rect">
            <a:avLst/>
          </a:prstGeom>
          <a:noFill/>
          <a:ln/>
        </p:spPr>
        <p:txBody>
          <a:bodyPr wrap="square" lIns="0" tIns="0" rIns="0" bIns="0" rtlCol="0" anchor="t">
            <a:normAutofit/>
          </a:bodyPr>
          <a:lstStyle/>
          <a:p>
            <a:pPr marL="0" indent="0" algn="l">
              <a:lnSpc>
                <a:spcPts val="1080"/>
              </a:lnSpc>
              <a:buNone/>
            </a:pPr>
            <a:r>
              <a:rPr lang="en-US" sz="675" b="1" dirty="0">
                <a:solidFill>
                  <a:srgbClr val="F59E0B"/>
                </a:solidFill>
                <a:latin typeface="Courier New" pitchFamily="34" charset="0"/>
                <a:ea typeface="Courier New" pitchFamily="34" charset="-122"/>
                <a:cs typeface="Courier New" pitchFamily="34" charset="-120"/>
              </a:rPr>
              <a:t>register_buffer →</a:t>
            </a:r>
            <a:r>
              <a:rPr lang="en-US" sz="675" dirty="0">
                <a:solidFill>
                  <a:srgbClr val="334155"/>
                </a:solidFill>
                <a:latin typeface="Courier New" pitchFamily="34" charset="0"/>
                <a:ea typeface="Courier New" pitchFamily="34" charset="-122"/>
                <a:cs typeface="Courier New" pitchFamily="34" charset="-120"/>
              </a:rPr>
              <a:t> pe is part of module state but NOT a learnable parameter.</a:t>
            </a:r>
            <a:endParaRPr lang="en-US" sz="675" dirty="0"/>
          </a:p>
        </p:txBody>
      </p:sp>
      <p:sp>
        <p:nvSpPr>
          <p:cNvPr id="24" name="Text 22"/>
          <p:cNvSpPr/>
          <p:nvPr/>
        </p:nvSpPr>
        <p:spPr>
          <a:xfrm>
            <a:off x="4836319" y="3555355"/>
            <a:ext cx="3750469" cy="137071"/>
          </a:xfrm>
          <a:prstGeom prst="rect">
            <a:avLst/>
          </a:prstGeom>
          <a:noFill/>
          <a:ln/>
        </p:spPr>
        <p:txBody>
          <a:bodyPr wrap="square" lIns="0" tIns="0" rIns="0" bIns="0" rtlCol="0" anchor="t"/>
          <a:lstStyle/>
          <a:p>
            <a:pPr marL="0" indent="0" algn="l">
              <a:lnSpc>
                <a:spcPts val="1080"/>
              </a:lnSpc>
              <a:buNone/>
            </a:pPr>
            <a:r>
              <a:rPr lang="en-US" sz="675" b="1" dirty="0">
                <a:solidFill>
                  <a:srgbClr val="F59E0B"/>
                </a:solidFill>
                <a:latin typeface="Courier New" pitchFamily="34" charset="0"/>
                <a:ea typeface="Courier New" pitchFamily="34" charset="-122"/>
                <a:cs typeface="Courier New" pitchFamily="34" charset="-120"/>
              </a:rPr>
              <a:t>forward →</a:t>
            </a:r>
            <a:r>
              <a:rPr lang="en-US" sz="675" dirty="0">
                <a:solidFill>
                  <a:srgbClr val="334155"/>
                </a:solidFill>
                <a:latin typeface="Courier New" pitchFamily="34" charset="0"/>
                <a:ea typeface="Courier New" pitchFamily="34" charset="-122"/>
                <a:cs typeface="Courier New" pitchFamily="34" charset="-120"/>
              </a:rPr>
              <a:t> slices pe to the actual seq_len of x, then adds element-wise.</a:t>
            </a:r>
            <a:endParaRPr lang="en-US" sz="675" dirty="0"/>
          </a:p>
        </p:txBody>
      </p:sp>
      <p:sp>
        <p:nvSpPr>
          <p:cNvPr id="25" name="Text 23"/>
          <p:cNvSpPr/>
          <p:nvPr/>
        </p:nvSpPr>
        <p:spPr>
          <a:xfrm>
            <a:off x="457200" y="4854178"/>
            <a:ext cx="82296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09 · Core Building Blocks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4350" y="1671638"/>
            <a:ext cx="4663440" cy="1472756"/>
          </a:xfrm>
          <a:prstGeom prst="rect">
            <a:avLst/>
          </a:prstGeom>
          <a:noFill/>
          <a:ln/>
        </p:spPr>
        <p:txBody>
          <a:bodyPr wrap="none" lIns="0" tIns="0" rIns="0" bIns="0" rtlCol="0" anchor="t">
            <a:normAutofit/>
          </a:bodyPr>
          <a:lstStyle/>
          <a:p>
            <a:pPr marL="0" indent="0" algn="l">
              <a:lnSpc>
                <a:spcPts val="11138"/>
              </a:lnSpc>
              <a:buNone/>
            </a:pPr>
            <a:r>
              <a:rPr lang="en-US" sz="12375" b="1" kern="0" spc="-495" dirty="0">
                <a:solidFill>
                  <a:srgbClr val="1E3A8A"/>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3" name="Text 1"/>
          <p:cNvSpPr/>
          <p:nvPr/>
        </p:nvSpPr>
        <p:spPr>
          <a:xfrm>
            <a:off x="514350" y="3171825"/>
            <a:ext cx="4663440" cy="324041"/>
          </a:xfrm>
          <a:prstGeom prst="rect">
            <a:avLst/>
          </a:prstGeom>
          <a:noFill/>
          <a:ln/>
        </p:spPr>
        <p:txBody>
          <a:bodyPr wrap="none" lIns="0" tIns="0" rIns="0" bIns="0" rtlCol="0" anchor="t"/>
          <a:lstStyle/>
          <a:p>
            <a:pPr marL="0" indent="0" algn="l">
              <a:lnSpc>
                <a:spcPts val="2363"/>
              </a:lnSpc>
              <a:buNone/>
            </a:pPr>
            <a:r>
              <a:rPr lang="en-US" sz="1575" kern="0" spc="63" dirty="0">
                <a:solidFill>
                  <a:srgbClr val="F59E0B"/>
                </a:solidFill>
                <a:latin typeface="Liberation Sans Narrow" pitchFamily="34" charset="0"/>
                <a:ea typeface="Liberation Sans Narrow" pitchFamily="34" charset="-122"/>
                <a:cs typeface="Liberation Sans Narrow" pitchFamily="34" charset="-120"/>
              </a:rPr>
              <a:t>/ 04</a:t>
            </a:r>
            <a:endParaRPr lang="en-US" sz="1575" dirty="0"/>
          </a:p>
        </p:txBody>
      </p:sp>
      <p:sp>
        <p:nvSpPr>
          <p:cNvPr id="4" name="Text 2"/>
          <p:cNvSpPr/>
          <p:nvPr/>
        </p:nvSpPr>
        <p:spPr>
          <a:xfrm>
            <a:off x="3429000" y="1285875"/>
            <a:ext cx="28575" cy="2571750"/>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5" name="Text 3"/>
          <p:cNvSpPr/>
          <p:nvPr/>
        </p:nvSpPr>
        <p:spPr>
          <a:xfrm>
            <a:off x="3800475" y="1517489"/>
            <a:ext cx="5343525"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CHAPTER THREE</a:t>
            </a:r>
            <a:endParaRPr lang="en-US" sz="800" dirty="0"/>
          </a:p>
        </p:txBody>
      </p:sp>
      <p:sp>
        <p:nvSpPr>
          <p:cNvPr id="6" name="Text 4"/>
          <p:cNvSpPr/>
          <p:nvPr/>
        </p:nvSpPr>
        <p:spPr>
          <a:xfrm>
            <a:off x="3800475" y="1746089"/>
            <a:ext cx="5070634" cy="518368"/>
          </a:xfrm>
          <a:prstGeom prst="rect">
            <a:avLst/>
          </a:prstGeom>
          <a:noFill/>
          <a:ln/>
        </p:spPr>
        <p:txBody>
          <a:bodyPr wrap="none" lIns="0" tIns="0" rIns="0" bIns="0" rtlCol="0" anchor="t"/>
          <a:lstStyle/>
          <a:p>
            <a:pPr marL="0" indent="0" algn="l">
              <a:lnSpc>
                <a:spcPts val="3780"/>
              </a:lnSpc>
              <a:buNone/>
            </a:pPr>
            <a:r>
              <a:rPr lang="en-US" sz="3600" b="1" kern="0" spc="-72" dirty="0">
                <a:solidFill>
                  <a:srgbClr val="1E3A8A"/>
                </a:solidFill>
                <a:latin typeface="Carlito" pitchFamily="34" charset="0"/>
                <a:ea typeface="Carlito" pitchFamily="34" charset="-122"/>
                <a:cs typeface="Carlito" pitchFamily="34" charset="-120"/>
              </a:rPr>
              <a:t>Encoder &amp; Decoder</a:t>
            </a:r>
            <a:endParaRPr lang="en-US" sz="3600" dirty="0"/>
          </a:p>
        </p:txBody>
      </p:sp>
      <p:sp>
        <p:nvSpPr>
          <p:cNvPr id="7" name="Text 5"/>
          <p:cNvSpPr/>
          <p:nvPr/>
        </p:nvSpPr>
        <p:spPr>
          <a:xfrm>
            <a:off x="3800475" y="2383222"/>
            <a:ext cx="8572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8" name="Text 6"/>
          <p:cNvSpPr/>
          <p:nvPr/>
        </p:nvSpPr>
        <p:spPr>
          <a:xfrm>
            <a:off x="3800475" y="2540384"/>
            <a:ext cx="4572000" cy="492088"/>
          </a:xfrm>
          <a:prstGeom prst="rect">
            <a:avLst/>
          </a:prstGeom>
          <a:noFill/>
          <a:ln/>
        </p:spPr>
        <p:txBody>
          <a:bodyPr wrap="square" lIns="0" tIns="0" rIns="0" bIns="0" rtlCol="0" anchor="t"/>
          <a:lstStyle/>
          <a:p>
            <a:pPr marL="0" indent="0" algn="l">
              <a:lnSpc>
                <a:spcPts val="1794"/>
              </a:lnSpc>
              <a:buNone/>
            </a:pPr>
            <a:r>
              <a:rPr lang="en-US" sz="1238" dirty="0">
                <a:solidFill>
                  <a:srgbClr val="475569"/>
                </a:solidFill>
                <a:latin typeface="Carlito" pitchFamily="34" charset="0"/>
                <a:ea typeface="Carlito" pitchFamily="34" charset="-122"/>
                <a:cs typeface="Carlito" pitchFamily="34" charset="-120"/>
              </a:rPr>
              <a:t>Stacking the building blocks into the two sides of the Transformer — one to read, one to generate.</a:t>
            </a:r>
            <a:endParaRPr lang="en-US" sz="1238" dirty="0"/>
          </a:p>
        </p:txBody>
      </p:sp>
      <p:sp>
        <p:nvSpPr>
          <p:cNvPr id="9" name="Text 7"/>
          <p:cNvSpPr/>
          <p:nvPr/>
        </p:nvSpPr>
        <p:spPr>
          <a:xfrm>
            <a:off x="3800475" y="3196047"/>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ENCODER LAYER</a:t>
            </a:r>
            <a:endParaRPr lang="en-US" sz="800" dirty="0"/>
          </a:p>
        </p:txBody>
      </p:sp>
      <p:sp>
        <p:nvSpPr>
          <p:cNvPr id="10" name="Text 8"/>
          <p:cNvSpPr/>
          <p:nvPr/>
        </p:nvSpPr>
        <p:spPr>
          <a:xfrm>
            <a:off x="3800475" y="3356781"/>
            <a:ext cx="1524532"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self-attention + FFN, wrapped in Add &amp; Norm</a:t>
            </a:r>
            <a:endParaRPr lang="en-US" sz="800" dirty="0"/>
          </a:p>
        </p:txBody>
      </p:sp>
      <p:sp>
        <p:nvSpPr>
          <p:cNvPr id="11" name="Text 9"/>
          <p:cNvSpPr/>
          <p:nvPr/>
        </p:nvSpPr>
        <p:spPr>
          <a:xfrm>
            <a:off x="5438738" y="3196047"/>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DECODER LAYER</a:t>
            </a:r>
            <a:endParaRPr lang="en-US" sz="800" dirty="0"/>
          </a:p>
        </p:txBody>
      </p:sp>
      <p:sp>
        <p:nvSpPr>
          <p:cNvPr id="12" name="Text 10"/>
          <p:cNvSpPr/>
          <p:nvPr/>
        </p:nvSpPr>
        <p:spPr>
          <a:xfrm>
            <a:off x="5438738" y="3356781"/>
            <a:ext cx="1524532"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masked self-attn + cross-attn + FFN</a:t>
            </a:r>
            <a:endParaRPr lang="en-US" sz="800" dirty="0"/>
          </a:p>
        </p:txBody>
      </p:sp>
      <p:sp>
        <p:nvSpPr>
          <p:cNvPr id="13" name="Text 11"/>
          <p:cNvSpPr/>
          <p:nvPr/>
        </p:nvSpPr>
        <p:spPr>
          <a:xfrm>
            <a:off x="7077001" y="3196047"/>
            <a:ext cx="1863597" cy="133302"/>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3A8A"/>
                </a:solidFill>
                <a:latin typeface="Courier New" pitchFamily="34" charset="0"/>
                <a:ea typeface="Courier New" pitchFamily="34" charset="-122"/>
                <a:cs typeface="Courier New" pitchFamily="34" charset="-120"/>
              </a:rPr>
              <a:t>STACKED ×N</a:t>
            </a:r>
            <a:endParaRPr lang="en-US" sz="800" dirty="0"/>
          </a:p>
        </p:txBody>
      </p:sp>
      <p:sp>
        <p:nvSpPr>
          <p:cNvPr id="14" name="Text 12"/>
          <p:cNvSpPr/>
          <p:nvPr/>
        </p:nvSpPr>
        <p:spPr>
          <a:xfrm>
            <a:off x="7077001" y="3356781"/>
            <a:ext cx="1524532" cy="318106"/>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six layers per side in the original paper</a:t>
            </a:r>
            <a:endParaRPr lang="en-US" sz="800" dirty="0"/>
          </a:p>
        </p:txBody>
      </p:sp>
      <p:sp>
        <p:nvSpPr>
          <p:cNvPr id="15" name="Text 13"/>
          <p:cNvSpPr/>
          <p:nvPr/>
        </p:nvSpPr>
        <p:spPr>
          <a:xfrm>
            <a:off x="514350" y="4825603"/>
            <a:ext cx="8115300"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Transformer Model Tutorial · PyTorch · Chapter 3 of 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0025"/>
            <a:ext cx="7850646"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CHAPTER 3 · ENCODER &amp; DECODER</a:t>
            </a:r>
            <a:endParaRPr lang="en-US" sz="800" dirty="0"/>
          </a:p>
        </p:txBody>
      </p:sp>
      <p:sp>
        <p:nvSpPr>
          <p:cNvPr id="3" name="Text 1"/>
          <p:cNvSpPr/>
          <p:nvPr/>
        </p:nvSpPr>
        <p:spPr>
          <a:xfrm>
            <a:off x="8322134" y="205383"/>
            <a:ext cx="489336"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Liberation Sans Narrow" pitchFamily="34" charset="0"/>
                <a:ea typeface="Liberation Sans Narrow" pitchFamily="34" charset="-122"/>
                <a:cs typeface="Liberation Sans Narrow" pitchFamily="34" charset="-120"/>
              </a:rPr>
              <a:t>SLIDE 11</a:t>
            </a:r>
            <a:endParaRPr lang="en-US" sz="619" dirty="0"/>
          </a:p>
        </p:txBody>
      </p:sp>
      <p:sp>
        <p:nvSpPr>
          <p:cNvPr id="4" name="Text 2"/>
          <p:cNvSpPr/>
          <p:nvPr/>
        </p:nvSpPr>
        <p:spPr>
          <a:xfrm>
            <a:off x="457200" y="500063"/>
            <a:ext cx="4335971" cy="147590"/>
          </a:xfrm>
          <a:prstGeom prst="rect">
            <a:avLst/>
          </a:prstGeom>
          <a:noFill/>
          <a:ln/>
        </p:spPr>
        <p:txBody>
          <a:bodyPr wrap="square" lIns="0" tIns="0" rIns="0" bIns="0" rtlCol="0" anchor="t">
            <a:normAutofit/>
          </a:bodyPr>
          <a:lstStyle/>
          <a:p>
            <a:pPr marL="0" indent="0" algn="l">
              <a:lnSpc>
                <a:spcPts val="928"/>
              </a:lnSpc>
              <a:buNone/>
            </a:pPr>
            <a:r>
              <a:rPr lang="en-US" sz="800" kern="0" spc="25" dirty="0">
                <a:solidFill>
                  <a:srgbClr val="64748B"/>
                </a:solidFill>
                <a:latin typeface="Courier New" pitchFamily="34" charset="0"/>
                <a:ea typeface="Courier New" pitchFamily="34" charset="-122"/>
                <a:cs typeface="Courier New" pitchFamily="34" charset="-120"/>
              </a:rPr>
              <a:t>class EncoderLayer(nn.Module)</a:t>
            </a:r>
            <a:endParaRPr lang="en-US" sz="800" dirty="0"/>
          </a:p>
        </p:txBody>
      </p:sp>
      <p:sp>
        <p:nvSpPr>
          <p:cNvPr id="5" name="Text 3"/>
          <p:cNvSpPr/>
          <p:nvPr/>
        </p:nvSpPr>
        <p:spPr>
          <a:xfrm>
            <a:off x="457200" y="675084"/>
            <a:ext cx="4014788" cy="2847008"/>
          </a:xfrm>
          <a:prstGeom prst="roundRect">
            <a:avLst>
              <a:gd name="adj" fmla="val 3346"/>
            </a:avLst>
          </a:prstGeom>
          <a:solidFill>
            <a:srgbClr val="0F172A"/>
          </a:solidFill>
          <a:ln/>
        </p:spPr>
        <p:txBody>
          <a:bodyPr wrap="square" rtlCol="0" anchor="ctr"/>
          <a:lstStyle/>
          <a:p>
            <a:pPr marL="0" indent="0">
              <a:buNone/>
            </a:pPr>
            <a:endParaRPr lang="en-US" dirty="0"/>
          </a:p>
        </p:txBody>
      </p:sp>
      <p:sp>
        <p:nvSpPr>
          <p:cNvPr id="6" name="Text 4"/>
          <p:cNvSpPr/>
          <p:nvPr/>
        </p:nvSpPr>
        <p:spPr>
          <a:xfrm>
            <a:off x="600075" y="817959"/>
            <a:ext cx="3678585" cy="2575545"/>
          </a:xfrm>
          <a:prstGeom prst="rect">
            <a:avLst/>
          </a:prstGeom>
          <a:noFill/>
          <a:ln/>
        </p:spPr>
        <p:txBody>
          <a:bodyPr wrap="none" lIns="0" tIns="0" rIns="0" bIns="0" rtlCol="0" anchor="t"/>
          <a:lstStyle/>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EncoderLayer</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(self, d_model, num_heads, d_ff, dropout):</a:t>
            </a:r>
            <a:endParaRPr lang="en-US" sz="800" dirty="0"/>
          </a:p>
          <a:p>
            <a:pPr marL="0" indent="0" algn="l">
              <a:lnSpc>
                <a:spcPts val="1133"/>
              </a:lnSpc>
              <a:buNone/>
            </a:pPr>
            <a:r>
              <a:rPr lang="en-US" sz="800" dirty="0">
                <a:solidFill>
                  <a:srgbClr val="60A5FA"/>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self.self_attn    = </a:t>
            </a:r>
            <a:r>
              <a:rPr lang="en-US" sz="800" dirty="0">
                <a:solidFill>
                  <a:srgbClr val="60A5FA"/>
                </a:solidFill>
                <a:latin typeface="Liberation Mono" pitchFamily="34" charset="0"/>
                <a:ea typeface="Liberation Mono" pitchFamily="34" charset="-122"/>
                <a:cs typeface="Liberation Mono" pitchFamily="34" charset="-120"/>
              </a:rPr>
              <a:t>MultiHeadAttention</a:t>
            </a:r>
            <a:r>
              <a:rPr lang="en-US" sz="800" dirty="0">
                <a:solidFill>
                  <a:srgbClr val="E2E8F0"/>
                </a:solidFill>
                <a:latin typeface="Liberation Mono" pitchFamily="34" charset="0"/>
                <a:ea typeface="Liberation Mono" pitchFamily="34" charset="-122"/>
                <a:cs typeface="Liberation Mono" pitchFamily="34" charset="-120"/>
              </a:rPr>
              <a:t>(d_model, num_heads)</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self.feed_forward = </a:t>
            </a:r>
            <a:r>
              <a:rPr lang="en-US" sz="800" dirty="0">
                <a:solidFill>
                  <a:srgbClr val="60A5FA"/>
                </a:solidFill>
                <a:latin typeface="Liberation Mono" pitchFamily="34" charset="0"/>
                <a:ea typeface="Liberation Mono" pitchFamily="34" charset="-122"/>
                <a:cs typeface="Liberation Mono" pitchFamily="34" charset="-120"/>
              </a:rPr>
              <a:t>PositionWiseFeedForward</a:t>
            </a:r>
            <a:r>
              <a:rPr lang="en-US" sz="800" dirty="0">
                <a:solidFill>
                  <a:srgbClr val="E2E8F0"/>
                </a:solidFill>
                <a:latin typeface="Liberation Mono" pitchFamily="34" charset="0"/>
                <a:ea typeface="Liberation Mono" pitchFamily="34" charset="-122"/>
                <a:cs typeface="Liberation Mono" pitchFamily="34" charset="-120"/>
              </a:rPr>
              <a:t>(d_model, d_ff)</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.norm1 = nn.</a:t>
            </a:r>
            <a:r>
              <a:rPr lang="en-US" sz="800" dirty="0">
                <a:solidFill>
                  <a:srgbClr val="60A5FA"/>
                </a:solidFill>
                <a:latin typeface="Liberation Mono" pitchFamily="34" charset="0"/>
                <a:ea typeface="Liberation Mono" pitchFamily="34" charset="-122"/>
                <a:cs typeface="Liberation Mono" pitchFamily="34" charset="-120"/>
              </a:rPr>
              <a:t>LayerNorm</a:t>
            </a:r>
            <a:r>
              <a:rPr lang="en-US" sz="800" dirty="0">
                <a:solidFill>
                  <a:srgbClr val="E2E8F0"/>
                </a:solidFill>
                <a:latin typeface="Liberation Mono" pitchFamily="34" charset="0"/>
                <a:ea typeface="Liberation Mono" pitchFamily="34" charset="-122"/>
                <a:cs typeface="Liberation Mono" pitchFamily="34" charset="-120"/>
              </a:rPr>
              <a:t>(d_model)</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.norm2 = nn.</a:t>
            </a:r>
            <a:r>
              <a:rPr lang="en-US" sz="800" dirty="0">
                <a:solidFill>
                  <a:srgbClr val="60A5FA"/>
                </a:solidFill>
                <a:latin typeface="Liberation Mono" pitchFamily="34" charset="0"/>
                <a:ea typeface="Liberation Mono" pitchFamily="34" charset="-122"/>
                <a:cs typeface="Liberation Mono" pitchFamily="34" charset="-120"/>
              </a:rPr>
              <a:t>LayerNorm</a:t>
            </a:r>
            <a:r>
              <a:rPr lang="en-US" sz="800" dirty="0">
                <a:solidFill>
                  <a:srgbClr val="E2E8F0"/>
                </a:solidFill>
                <a:latin typeface="Liberation Mono" pitchFamily="34" charset="0"/>
                <a:ea typeface="Liberation Mono" pitchFamily="34" charset="-122"/>
                <a:cs typeface="Liberation Mono" pitchFamily="34" charset="-120"/>
              </a:rPr>
              <a:t>(d_model)</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self.dropout = nn.</a:t>
            </a:r>
            <a:r>
              <a:rPr lang="en-US" sz="800" dirty="0">
                <a:solidFill>
                  <a:srgbClr val="60A5FA"/>
                </a:solidFill>
                <a:latin typeface="Liberation Mono" pitchFamily="34" charset="0"/>
                <a:ea typeface="Liberation Mono" pitchFamily="34" charset="-122"/>
                <a:cs typeface="Liberation Mono" pitchFamily="34" charset="-120"/>
              </a:rPr>
              <a:t>Dropout</a:t>
            </a:r>
            <a:r>
              <a:rPr lang="en-US" sz="800" dirty="0">
                <a:solidFill>
                  <a:srgbClr val="E2E8F0"/>
                </a:solidFill>
                <a:latin typeface="Liberation Mono" pitchFamily="34" charset="0"/>
                <a:ea typeface="Liberation Mono" pitchFamily="34" charset="-122"/>
                <a:cs typeface="Liberation Mono" pitchFamily="34" charset="-120"/>
              </a:rPr>
              <a:t>(dropout)</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(self, x, mask):</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Sub-layer 1: self-attention + Add &amp; Norm</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attn = self.self_attn(x, x, x, mask)</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x = self</a:t>
            </a:r>
            <a:r>
              <a:rPr lang="en-US" sz="800" dirty="0">
                <a:solidFill>
                  <a:srgbClr val="E2E8F0"/>
                </a:solidFill>
                <a:latin typeface="Liberation Sans Narrow" pitchFamily="34" charset="0"/>
                <a:ea typeface="Liberation Sans Narrow" pitchFamily="34" charset="-122"/>
                <a:cs typeface="Liberation Sans Narrow" pitchFamily="34" charset="-120"/>
              </a:rPr>
              <a:t>.norm1(x + </a:t>
            </a:r>
            <a:r>
              <a:rPr lang="en-US" sz="800" dirty="0">
                <a:solidFill>
                  <a:srgbClr val="E2E8F0"/>
                </a:solidFill>
                <a:latin typeface="Liberation Mono" pitchFamily="34" charset="0"/>
                <a:ea typeface="Liberation Mono" pitchFamily="34" charset="-122"/>
                <a:cs typeface="Liberation Mono" pitchFamily="34" charset="-120"/>
              </a:rPr>
              <a:t>self.dropout(attn))</a:t>
            </a:r>
            <a:endParaRPr lang="en-US" sz="800" dirty="0"/>
          </a:p>
          <a:p>
            <a:pPr marL="0" indent="0" algn="l">
              <a:lnSpc>
                <a:spcPts val="1133"/>
              </a:lnSpc>
              <a:buNone/>
            </a:pPr>
            <a:r>
              <a:rPr lang="en-US" sz="800" i="1" dirty="0">
                <a:solidFill>
                  <a:srgbClr val="64748B"/>
                </a:solidFill>
                <a:latin typeface="Liberation Mono" pitchFamily="34" charset="0"/>
                <a:ea typeface="Liberation Mono" pitchFamily="34" charset="-122"/>
                <a:cs typeface="Liberation Mono" pitchFamily="34" charset="-120"/>
              </a:rPr>
              <a:t># Sub-layer 2: feed-forward + Add &amp; Norm</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ff = self.feed_forward(x)</a:t>
            </a:r>
            <a:endParaRPr lang="en-US" sz="800" dirty="0"/>
          </a:p>
          <a:p>
            <a:pPr marL="0" indent="0" algn="l">
              <a:lnSpc>
                <a:spcPts val="1133"/>
              </a:lnSpc>
              <a:buNone/>
            </a:pPr>
            <a:r>
              <a:rPr lang="en-US" sz="800" dirty="0">
                <a:solidFill>
                  <a:srgbClr val="E2E8F0"/>
                </a:solidFill>
                <a:latin typeface="Liberation Mono" pitchFamily="34" charset="0"/>
                <a:ea typeface="Liberation Mono" pitchFamily="34" charset="-122"/>
                <a:cs typeface="Liberation Mono" pitchFamily="34" charset="-120"/>
              </a:rPr>
              <a:t>x = self</a:t>
            </a:r>
            <a:r>
              <a:rPr lang="en-US" sz="800" dirty="0">
                <a:solidFill>
                  <a:srgbClr val="E2E8F0"/>
                </a:solidFill>
                <a:latin typeface="Liberation Sans Narrow" pitchFamily="34" charset="0"/>
                <a:ea typeface="Liberation Sans Narrow" pitchFamily="34" charset="-122"/>
                <a:cs typeface="Liberation Sans Narrow" pitchFamily="34" charset="-120"/>
              </a:rPr>
              <a:t>.norm2(x + </a:t>
            </a:r>
            <a:r>
              <a:rPr lang="en-US" sz="800" dirty="0">
                <a:solidFill>
                  <a:srgbClr val="E2E8F0"/>
                </a:solidFill>
                <a:latin typeface="Liberation Mono" pitchFamily="34" charset="0"/>
                <a:ea typeface="Liberation Mono" pitchFamily="34" charset="-122"/>
                <a:cs typeface="Liberation Mono" pitchFamily="34" charset="-120"/>
              </a:rPr>
              <a:t>self.dropout(ff))</a:t>
            </a:r>
            <a:endParaRPr lang="en-US" sz="800" dirty="0"/>
          </a:p>
          <a:p>
            <a:pPr marL="0" indent="0" algn="l">
              <a:lnSpc>
                <a:spcPts val="1133"/>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x</a:t>
            </a:r>
            <a:endParaRPr lang="en-US" sz="800" dirty="0"/>
          </a:p>
        </p:txBody>
      </p:sp>
      <p:sp>
        <p:nvSpPr>
          <p:cNvPr id="7" name="Text 5"/>
          <p:cNvSpPr/>
          <p:nvPr/>
        </p:nvSpPr>
        <p:spPr>
          <a:xfrm>
            <a:off x="4672013" y="500063"/>
            <a:ext cx="4471988" cy="158306"/>
          </a:xfrm>
          <a:prstGeom prst="rect">
            <a:avLst/>
          </a:prstGeom>
          <a:noFill/>
          <a:ln/>
        </p:spPr>
        <p:txBody>
          <a:bodyPr wrap="squar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ENCODER · 1 OF 2 SUB-LAYERS PER LAYER</a:t>
            </a:r>
            <a:endParaRPr lang="en-US" sz="800" dirty="0"/>
          </a:p>
        </p:txBody>
      </p:sp>
      <p:sp>
        <p:nvSpPr>
          <p:cNvPr id="8" name="Text 6"/>
          <p:cNvSpPr/>
          <p:nvPr/>
        </p:nvSpPr>
        <p:spPr>
          <a:xfrm>
            <a:off x="4672013" y="685800"/>
            <a:ext cx="4471988" cy="230614"/>
          </a:xfrm>
          <a:prstGeom prst="rect">
            <a:avLst/>
          </a:prstGeom>
          <a:noFill/>
          <a:ln/>
        </p:spPr>
        <p:txBody>
          <a:bodyPr wrap="none" lIns="0" tIns="0" rIns="0" bIns="0" rtlCol="0" anchor="t"/>
          <a:lstStyle/>
          <a:p>
            <a:pPr marL="0" indent="0" algn="l">
              <a:lnSpc>
                <a:spcPts val="1682"/>
              </a:lnSpc>
              <a:buNone/>
            </a:pPr>
            <a:r>
              <a:rPr lang="en-US" sz="1463" b="1" dirty="0">
                <a:solidFill>
                  <a:srgbClr val="1E3A8A"/>
                </a:solidFill>
                <a:latin typeface="Carlito" pitchFamily="34" charset="0"/>
                <a:ea typeface="Carlito" pitchFamily="34" charset="-122"/>
                <a:cs typeface="Carlito" pitchFamily="34" charset="-120"/>
              </a:rPr>
              <a:t>Encoder Layer</a:t>
            </a:r>
            <a:endParaRPr lang="en-US" sz="1463" dirty="0"/>
          </a:p>
        </p:txBody>
      </p:sp>
      <p:sp>
        <p:nvSpPr>
          <p:cNvPr id="9" name="Text 7"/>
          <p:cNvSpPr/>
          <p:nvPr/>
        </p:nvSpPr>
        <p:spPr>
          <a:xfrm>
            <a:off x="4672013" y="956481"/>
            <a:ext cx="4014788" cy="159081"/>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Self-attention and a feed-forward network, each followed by Add &amp; Norm.</a:t>
            </a:r>
            <a:endParaRPr lang="en-US" sz="800" dirty="0"/>
          </a:p>
        </p:txBody>
      </p:sp>
      <p:sp>
        <p:nvSpPr>
          <p:cNvPr id="10" name="Text 8"/>
          <p:cNvSpPr/>
          <p:nvPr/>
        </p:nvSpPr>
        <p:spPr>
          <a:xfrm>
            <a:off x="4672013" y="1172914"/>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11" name="Text 9"/>
          <p:cNvSpPr/>
          <p:nvPr/>
        </p:nvSpPr>
        <p:spPr>
          <a:xfrm>
            <a:off x="4675584" y="1290786"/>
            <a:ext cx="4007644" cy="333635"/>
          </a:xfrm>
          <a:prstGeom prst="roundRect">
            <a:avLst>
              <a:gd name="adj" fmla="val 28549"/>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12" name="Text 10"/>
          <p:cNvSpPr/>
          <p:nvPr/>
        </p:nvSpPr>
        <p:spPr>
          <a:xfrm>
            <a:off x="4764881" y="1364679"/>
            <a:ext cx="185738" cy="185738"/>
          </a:xfrm>
          <a:prstGeom prst="ellipse">
            <a:avLst/>
          </a:prstGeom>
          <a:solidFill>
            <a:srgbClr val="1E3A8A"/>
          </a:solidFill>
          <a:ln/>
        </p:spPr>
        <p:txBody>
          <a:bodyPr wrap="square" rtlCol="0" anchor="ctr"/>
          <a:lstStyle/>
          <a:p>
            <a:pPr marL="0" indent="0">
              <a:buNone/>
            </a:pPr>
            <a:endParaRPr lang="en-US" dirty="0"/>
          </a:p>
        </p:txBody>
      </p:sp>
      <p:sp>
        <p:nvSpPr>
          <p:cNvPr id="13" name="Text 11"/>
          <p:cNvSpPr/>
          <p:nvPr/>
        </p:nvSpPr>
        <p:spPr>
          <a:xfrm>
            <a:off x="4764881" y="1364679"/>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4" name="Text 12"/>
          <p:cNvSpPr/>
          <p:nvPr/>
        </p:nvSpPr>
        <p:spPr>
          <a:xfrm>
            <a:off x="5022056" y="1351508"/>
            <a:ext cx="3571875" cy="91440"/>
          </a:xfrm>
          <a:prstGeom prst="rect">
            <a:avLst/>
          </a:prstGeom>
          <a:noFill/>
          <a:ln/>
        </p:spPr>
        <p:txBody>
          <a:bodyPr wrap="none" lIns="0" tIns="0" rIns="0" bIns="0" rtlCol="0" anchor="t">
            <a:normAutofit/>
          </a:bodyPr>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INPUT</a:t>
            </a:r>
            <a:endParaRPr lang="en-US" sz="800" dirty="0"/>
          </a:p>
        </p:txBody>
      </p:sp>
      <p:sp>
        <p:nvSpPr>
          <p:cNvPr id="15" name="Text 13"/>
          <p:cNvSpPr/>
          <p:nvPr/>
        </p:nvSpPr>
        <p:spPr>
          <a:xfrm>
            <a:off x="5022056" y="1452860"/>
            <a:ext cx="3571875" cy="110840"/>
          </a:xfrm>
          <a:prstGeom prst="rect">
            <a:avLst/>
          </a:prstGeom>
          <a:noFill/>
          <a:ln/>
        </p:spPr>
        <p:txBody>
          <a:bodyPr wrap="square" lIns="0" tIns="0" rIns="0" bIns="0" rtlCol="0" anchor="t"/>
          <a:lstStyle/>
          <a:p>
            <a:pPr marL="0" indent="0" algn="l">
              <a:lnSpc>
                <a:spcPts val="873"/>
              </a:lnSpc>
              <a:buNone/>
            </a:pPr>
            <a:r>
              <a:rPr lang="en-US" sz="800" dirty="0">
                <a:solidFill>
                  <a:srgbClr val="334155"/>
                </a:solidFill>
                <a:latin typeface="Carlito" pitchFamily="34" charset="0"/>
                <a:ea typeface="Carlito" pitchFamily="34" charset="-122"/>
                <a:cs typeface="Carlito" pitchFamily="34" charset="-120"/>
              </a:rPr>
              <a:t>x enters the encoder layer (shape: batch × seq × d_model).</a:t>
            </a:r>
            <a:endParaRPr lang="en-US" sz="800" dirty="0"/>
          </a:p>
        </p:txBody>
      </p:sp>
      <p:sp>
        <p:nvSpPr>
          <p:cNvPr id="16" name="Text 14"/>
          <p:cNvSpPr/>
          <p:nvPr/>
        </p:nvSpPr>
        <p:spPr>
          <a:xfrm>
            <a:off x="4675584" y="1674428"/>
            <a:ext cx="4007644" cy="333635"/>
          </a:xfrm>
          <a:prstGeom prst="roundRect">
            <a:avLst>
              <a:gd name="adj" fmla="val 28549"/>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17" name="Text 15"/>
          <p:cNvSpPr/>
          <p:nvPr/>
        </p:nvSpPr>
        <p:spPr>
          <a:xfrm>
            <a:off x="4764881" y="1748321"/>
            <a:ext cx="185738" cy="185738"/>
          </a:xfrm>
          <a:prstGeom prst="ellipse">
            <a:avLst/>
          </a:prstGeom>
          <a:solidFill>
            <a:srgbClr val="1E3A8A"/>
          </a:solidFill>
          <a:ln/>
        </p:spPr>
        <p:txBody>
          <a:bodyPr wrap="square" rtlCol="0" anchor="ctr"/>
          <a:lstStyle/>
          <a:p>
            <a:pPr marL="0" indent="0">
              <a:buNone/>
            </a:pPr>
            <a:endParaRPr lang="en-US" dirty="0"/>
          </a:p>
        </p:txBody>
      </p:sp>
      <p:sp>
        <p:nvSpPr>
          <p:cNvPr id="18" name="Text 16"/>
          <p:cNvSpPr/>
          <p:nvPr/>
        </p:nvSpPr>
        <p:spPr>
          <a:xfrm>
            <a:off x="4764881" y="1748321"/>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9" name="Text 17"/>
          <p:cNvSpPr/>
          <p:nvPr/>
        </p:nvSpPr>
        <p:spPr>
          <a:xfrm>
            <a:off x="5022056" y="1735150"/>
            <a:ext cx="3571875" cy="91440"/>
          </a:xfrm>
          <a:prstGeom prst="rect">
            <a:avLst/>
          </a:prstGeom>
          <a:noFill/>
          <a:ln/>
        </p:spPr>
        <p:txBody>
          <a:bodyPr wrap="none" lIns="0" tIns="0" rIns="0" bIns="0" rtlCol="0" anchor="t">
            <a:normAutofit/>
          </a:bodyPr>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SELF-ATTENTION</a:t>
            </a:r>
            <a:endParaRPr lang="en-US" sz="800" dirty="0"/>
          </a:p>
        </p:txBody>
      </p:sp>
      <p:sp>
        <p:nvSpPr>
          <p:cNvPr id="20" name="Text 18"/>
          <p:cNvSpPr/>
          <p:nvPr/>
        </p:nvSpPr>
        <p:spPr>
          <a:xfrm>
            <a:off x="5022056" y="1836502"/>
            <a:ext cx="3571875" cy="110840"/>
          </a:xfrm>
          <a:prstGeom prst="rect">
            <a:avLst/>
          </a:prstGeom>
          <a:noFill/>
          <a:ln/>
        </p:spPr>
        <p:txBody>
          <a:bodyPr wrap="square" lIns="0" tIns="0" rIns="0" bIns="0" rtlCol="0" anchor="t"/>
          <a:lstStyle/>
          <a:p>
            <a:pPr marL="0" indent="0" algn="l">
              <a:lnSpc>
                <a:spcPts val="873"/>
              </a:lnSpc>
              <a:buNone/>
            </a:pPr>
            <a:r>
              <a:rPr lang="en-US" sz="647" dirty="0">
                <a:solidFill>
                  <a:srgbClr val="334155"/>
                </a:solidFill>
                <a:latin typeface="Carlito" pitchFamily="34" charset="0"/>
                <a:ea typeface="Carlito" pitchFamily="34" charset="-122"/>
                <a:cs typeface="Carlito" pitchFamily="34" charset="-120"/>
              </a:rPr>
              <a:t>MultiHeadAttention(x, x, x) — every token attends to every other.</a:t>
            </a:r>
            <a:endParaRPr lang="en-US" sz="647" dirty="0"/>
          </a:p>
        </p:txBody>
      </p:sp>
      <p:sp>
        <p:nvSpPr>
          <p:cNvPr id="21" name="Text 19"/>
          <p:cNvSpPr/>
          <p:nvPr/>
        </p:nvSpPr>
        <p:spPr>
          <a:xfrm>
            <a:off x="4675584" y="2058070"/>
            <a:ext cx="4007644" cy="333635"/>
          </a:xfrm>
          <a:prstGeom prst="roundRect">
            <a:avLst>
              <a:gd name="adj" fmla="val 28549"/>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22" name="Text 20"/>
          <p:cNvSpPr/>
          <p:nvPr/>
        </p:nvSpPr>
        <p:spPr>
          <a:xfrm>
            <a:off x="4764881" y="2131963"/>
            <a:ext cx="185738" cy="185738"/>
          </a:xfrm>
          <a:prstGeom prst="ellipse">
            <a:avLst/>
          </a:prstGeom>
          <a:solidFill>
            <a:srgbClr val="F59E0B"/>
          </a:solidFill>
          <a:ln/>
        </p:spPr>
        <p:txBody>
          <a:bodyPr wrap="square" rtlCol="0" anchor="ctr"/>
          <a:lstStyle/>
          <a:p>
            <a:pPr marL="0" indent="0">
              <a:buNone/>
            </a:pPr>
            <a:endParaRPr lang="en-US" dirty="0"/>
          </a:p>
        </p:txBody>
      </p:sp>
      <p:sp>
        <p:nvSpPr>
          <p:cNvPr id="23" name="Text 21"/>
          <p:cNvSpPr/>
          <p:nvPr/>
        </p:nvSpPr>
        <p:spPr>
          <a:xfrm>
            <a:off x="4764881" y="2131963"/>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4" name="Text 22"/>
          <p:cNvSpPr/>
          <p:nvPr/>
        </p:nvSpPr>
        <p:spPr>
          <a:xfrm>
            <a:off x="5022056" y="2118792"/>
            <a:ext cx="3571875" cy="91440"/>
          </a:xfrm>
          <a:prstGeom prst="rect">
            <a:avLst/>
          </a:prstGeom>
          <a:noFill/>
          <a:ln/>
        </p:spPr>
        <p:txBody>
          <a:bodyPr wrap="none" lIns="0" tIns="0" rIns="0" bIns="0" rtlCol="0" anchor="t">
            <a:normAutofit/>
          </a:bodyPr>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ADD &amp; NORM</a:t>
            </a:r>
            <a:endParaRPr lang="en-US" sz="800" dirty="0"/>
          </a:p>
        </p:txBody>
      </p:sp>
      <p:sp>
        <p:nvSpPr>
          <p:cNvPr id="25" name="Text 23"/>
          <p:cNvSpPr/>
          <p:nvPr/>
        </p:nvSpPr>
        <p:spPr>
          <a:xfrm>
            <a:off x="5022056" y="2220144"/>
            <a:ext cx="3571875" cy="110840"/>
          </a:xfrm>
          <a:prstGeom prst="rect">
            <a:avLst/>
          </a:prstGeom>
          <a:noFill/>
          <a:ln/>
        </p:spPr>
        <p:txBody>
          <a:bodyPr wrap="square" lIns="0" tIns="0" rIns="0" bIns="0" rtlCol="0" anchor="t"/>
          <a:lstStyle/>
          <a:p>
            <a:pPr marL="0" indent="0" algn="l">
              <a:lnSpc>
                <a:spcPts val="873"/>
              </a:lnSpc>
              <a:buNone/>
            </a:pPr>
            <a:r>
              <a:rPr lang="en-US" sz="647" dirty="0">
                <a:solidFill>
                  <a:srgbClr val="334155"/>
                </a:solidFill>
                <a:latin typeface="Carlito" pitchFamily="34" charset="0"/>
                <a:ea typeface="Carlito" pitchFamily="34" charset="-122"/>
                <a:cs typeface="Carlito" pitchFamily="34" charset="-120"/>
              </a:rPr>
              <a:t>x + dropout(attn_output), then LayerNorm. The residual preserves the original signal.</a:t>
            </a:r>
            <a:endParaRPr lang="en-US" sz="647" dirty="0"/>
          </a:p>
        </p:txBody>
      </p:sp>
      <p:sp>
        <p:nvSpPr>
          <p:cNvPr id="26" name="Text 24"/>
          <p:cNvSpPr/>
          <p:nvPr/>
        </p:nvSpPr>
        <p:spPr>
          <a:xfrm>
            <a:off x="4675584" y="2441711"/>
            <a:ext cx="4007644" cy="333635"/>
          </a:xfrm>
          <a:prstGeom prst="roundRect">
            <a:avLst>
              <a:gd name="adj" fmla="val 28549"/>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27" name="Text 25"/>
          <p:cNvSpPr/>
          <p:nvPr/>
        </p:nvSpPr>
        <p:spPr>
          <a:xfrm>
            <a:off x="4764881" y="2515605"/>
            <a:ext cx="185738" cy="185738"/>
          </a:xfrm>
          <a:prstGeom prst="ellipse">
            <a:avLst/>
          </a:prstGeom>
          <a:solidFill>
            <a:srgbClr val="1E3A8A"/>
          </a:solidFill>
          <a:ln/>
        </p:spPr>
        <p:txBody>
          <a:bodyPr wrap="square" rtlCol="0" anchor="ctr"/>
          <a:lstStyle/>
          <a:p>
            <a:pPr marL="0" indent="0">
              <a:buNone/>
            </a:pPr>
            <a:endParaRPr lang="en-US" dirty="0"/>
          </a:p>
        </p:txBody>
      </p:sp>
      <p:sp>
        <p:nvSpPr>
          <p:cNvPr id="28" name="Text 26"/>
          <p:cNvSpPr/>
          <p:nvPr/>
        </p:nvSpPr>
        <p:spPr>
          <a:xfrm>
            <a:off x="4764881" y="2515605"/>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9" name="Text 27"/>
          <p:cNvSpPr/>
          <p:nvPr/>
        </p:nvSpPr>
        <p:spPr>
          <a:xfrm>
            <a:off x="5022056" y="2502433"/>
            <a:ext cx="3571875" cy="91440"/>
          </a:xfrm>
          <a:prstGeom prst="rect">
            <a:avLst/>
          </a:prstGeom>
          <a:noFill/>
          <a:ln/>
        </p:spPr>
        <p:txBody>
          <a:bodyPr wrap="none" lIns="0" tIns="0" rIns="0" bIns="0" rtlCol="0" anchor="t">
            <a:normAutofit/>
          </a:bodyPr>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FEED-FORWARD</a:t>
            </a:r>
            <a:endParaRPr lang="en-US" sz="800" dirty="0"/>
          </a:p>
        </p:txBody>
      </p:sp>
      <p:sp>
        <p:nvSpPr>
          <p:cNvPr id="30" name="Text 28"/>
          <p:cNvSpPr/>
          <p:nvPr/>
        </p:nvSpPr>
        <p:spPr>
          <a:xfrm>
            <a:off x="5022056" y="2603785"/>
            <a:ext cx="3571875" cy="110840"/>
          </a:xfrm>
          <a:prstGeom prst="rect">
            <a:avLst/>
          </a:prstGeom>
          <a:noFill/>
          <a:ln/>
        </p:spPr>
        <p:txBody>
          <a:bodyPr wrap="square" lIns="0" tIns="0" rIns="0" bIns="0" rtlCol="0" anchor="t"/>
          <a:lstStyle/>
          <a:p>
            <a:pPr marL="0" indent="0" algn="l">
              <a:lnSpc>
                <a:spcPts val="873"/>
              </a:lnSpc>
              <a:buNone/>
            </a:pPr>
            <a:r>
              <a:rPr lang="en-US" sz="647" dirty="0">
                <a:solidFill>
                  <a:srgbClr val="334155"/>
                </a:solidFill>
                <a:latin typeface="Carlito" pitchFamily="34" charset="0"/>
                <a:ea typeface="Carlito" pitchFamily="34" charset="-122"/>
                <a:cs typeface="Carlito" pitchFamily="34" charset="-120"/>
              </a:rPr>
              <a:t>PositionWiseFeedForward transforms each position independently.</a:t>
            </a:r>
            <a:endParaRPr lang="en-US" sz="647" dirty="0"/>
          </a:p>
        </p:txBody>
      </p:sp>
      <p:sp>
        <p:nvSpPr>
          <p:cNvPr id="31" name="Text 29"/>
          <p:cNvSpPr/>
          <p:nvPr/>
        </p:nvSpPr>
        <p:spPr>
          <a:xfrm>
            <a:off x="4675584" y="2825353"/>
            <a:ext cx="4007644" cy="333635"/>
          </a:xfrm>
          <a:prstGeom prst="roundRect">
            <a:avLst>
              <a:gd name="adj" fmla="val 28549"/>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32" name="Text 30"/>
          <p:cNvSpPr/>
          <p:nvPr/>
        </p:nvSpPr>
        <p:spPr>
          <a:xfrm>
            <a:off x="4764881" y="2899246"/>
            <a:ext cx="185738" cy="185738"/>
          </a:xfrm>
          <a:prstGeom prst="ellipse">
            <a:avLst/>
          </a:prstGeom>
          <a:solidFill>
            <a:srgbClr val="F59E0B"/>
          </a:solidFill>
          <a:ln/>
        </p:spPr>
        <p:txBody>
          <a:bodyPr wrap="square" rtlCol="0" anchor="ctr"/>
          <a:lstStyle/>
          <a:p>
            <a:pPr marL="0" indent="0">
              <a:buNone/>
            </a:pPr>
            <a:endParaRPr lang="en-US" dirty="0"/>
          </a:p>
        </p:txBody>
      </p:sp>
      <p:sp>
        <p:nvSpPr>
          <p:cNvPr id="33" name="Text 31"/>
          <p:cNvSpPr/>
          <p:nvPr/>
        </p:nvSpPr>
        <p:spPr>
          <a:xfrm>
            <a:off x="4764881" y="2899246"/>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34" name="Text 32"/>
          <p:cNvSpPr/>
          <p:nvPr/>
        </p:nvSpPr>
        <p:spPr>
          <a:xfrm>
            <a:off x="5022056" y="2886075"/>
            <a:ext cx="3571875" cy="91440"/>
          </a:xfrm>
          <a:prstGeom prst="rect">
            <a:avLst/>
          </a:prstGeom>
          <a:noFill/>
          <a:ln/>
        </p:spPr>
        <p:txBody>
          <a:bodyPr wrap="none" lIns="0" tIns="0" rIns="0" bIns="0" rtlCol="0" anchor="t">
            <a:normAutofit/>
          </a:bodyPr>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ADD &amp; NORM</a:t>
            </a:r>
            <a:endParaRPr lang="en-US" sz="800" dirty="0"/>
          </a:p>
        </p:txBody>
      </p:sp>
      <p:sp>
        <p:nvSpPr>
          <p:cNvPr id="35" name="Text 33"/>
          <p:cNvSpPr/>
          <p:nvPr/>
        </p:nvSpPr>
        <p:spPr>
          <a:xfrm>
            <a:off x="5022056" y="2987427"/>
            <a:ext cx="3571875" cy="110840"/>
          </a:xfrm>
          <a:prstGeom prst="rect">
            <a:avLst/>
          </a:prstGeom>
          <a:noFill/>
          <a:ln/>
        </p:spPr>
        <p:txBody>
          <a:bodyPr wrap="square" lIns="0" tIns="0" rIns="0" bIns="0" rtlCol="0" anchor="t"/>
          <a:lstStyle/>
          <a:p>
            <a:pPr marL="0" indent="0" algn="l">
              <a:lnSpc>
                <a:spcPts val="873"/>
              </a:lnSpc>
              <a:buNone/>
            </a:pPr>
            <a:r>
              <a:rPr lang="en-US" sz="647" dirty="0">
                <a:solidFill>
                  <a:srgbClr val="334155"/>
                </a:solidFill>
                <a:latin typeface="Carlito" pitchFamily="34" charset="0"/>
                <a:ea typeface="Carlito" pitchFamily="34" charset="-122"/>
                <a:cs typeface="Carlito" pitchFamily="34" charset="-120"/>
              </a:rPr>
              <a:t>Same pattern: residual + dropout + LayerNorm. Output goes to the next layer.</a:t>
            </a:r>
            <a:endParaRPr lang="en-US" sz="647" dirty="0"/>
          </a:p>
        </p:txBody>
      </p:sp>
      <p:sp>
        <p:nvSpPr>
          <p:cNvPr id="36" name="Text 34"/>
          <p:cNvSpPr/>
          <p:nvPr/>
        </p:nvSpPr>
        <p:spPr>
          <a:xfrm>
            <a:off x="4675584" y="3237570"/>
            <a:ext cx="4007644" cy="634231"/>
          </a:xfrm>
          <a:prstGeom prst="roundRect">
            <a:avLst>
              <a:gd name="adj" fmla="val 18022"/>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37" name="Text 35"/>
          <p:cNvSpPr/>
          <p:nvPr/>
        </p:nvSpPr>
        <p:spPr>
          <a:xfrm>
            <a:off x="4779169" y="3312579"/>
            <a:ext cx="3800475" cy="111871"/>
          </a:xfrm>
          <a:prstGeom prst="rect">
            <a:avLst/>
          </a:prstGeom>
          <a:noFill/>
          <a:ln/>
        </p:spPr>
        <p:txBody>
          <a:bodyPr wrap="none" lIns="0" tIns="0" rIns="0" bIns="0" rtlCol="0" anchor="t">
            <a:normAutofit/>
          </a:bodyPr>
          <a:lstStyle/>
          <a:p>
            <a:pPr marL="0" indent="0" algn="l">
              <a:lnSpc>
                <a:spcPts val="928"/>
              </a:lnSpc>
              <a:buNone/>
            </a:pPr>
            <a:r>
              <a:rPr lang="en-US" sz="800" b="1" kern="0" spc="50" dirty="0">
                <a:solidFill>
                  <a:srgbClr val="1E3A8A"/>
                </a:solidFill>
                <a:latin typeface="Courier New" pitchFamily="34" charset="0"/>
                <a:ea typeface="Courier New" pitchFamily="34" charset="-122"/>
                <a:cs typeface="Courier New" pitchFamily="34" charset="-120"/>
              </a:rPr>
              <a:t>WHY ADD &amp; NORM?</a:t>
            </a:r>
            <a:endParaRPr lang="en-US" sz="800" dirty="0"/>
          </a:p>
        </p:txBody>
      </p:sp>
      <p:sp>
        <p:nvSpPr>
          <p:cNvPr id="38" name="Text 36"/>
          <p:cNvSpPr/>
          <p:nvPr/>
        </p:nvSpPr>
        <p:spPr>
          <a:xfrm>
            <a:off x="4779169" y="3451882"/>
            <a:ext cx="3800475" cy="34490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Residual connections (Add) let gradients flow straight through deep stacks, mitigating vanishing gradients. LayerNorm (Norm) normalizes each token's features to zero mean and unit variance, stabilizing training and allowing higher learning rates.</a:t>
            </a:r>
            <a:endParaRPr lang="en-US" sz="800" dirty="0"/>
          </a:p>
        </p:txBody>
      </p:sp>
      <p:sp>
        <p:nvSpPr>
          <p:cNvPr id="39" name="Text 37"/>
          <p:cNvSpPr/>
          <p:nvPr/>
        </p:nvSpPr>
        <p:spPr>
          <a:xfrm>
            <a:off x="457200" y="4854178"/>
            <a:ext cx="6595021"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11 · ENCODER &amp; DECODER</a:t>
            </a:r>
            <a:endParaRPr lang="en-US" sz="800" dirty="0"/>
          </a:p>
        </p:txBody>
      </p:sp>
      <p:sp>
        <p:nvSpPr>
          <p:cNvPr id="40" name="Text 38"/>
          <p:cNvSpPr/>
          <p:nvPr/>
        </p:nvSpPr>
        <p:spPr>
          <a:xfrm>
            <a:off x="7066508" y="4854178"/>
            <a:ext cx="1749915"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 · PYTORCH</a:t>
            </a:r>
            <a:endParaRPr lang="en-US" sz="6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0025"/>
            <a:ext cx="7850646"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CHAPTER 3 · ENCODER &amp; DECODER</a:t>
            </a:r>
            <a:endParaRPr lang="en-US" sz="800" dirty="0"/>
          </a:p>
        </p:txBody>
      </p:sp>
      <p:sp>
        <p:nvSpPr>
          <p:cNvPr id="3" name="Text 1"/>
          <p:cNvSpPr/>
          <p:nvPr/>
        </p:nvSpPr>
        <p:spPr>
          <a:xfrm>
            <a:off x="8322134" y="205383"/>
            <a:ext cx="489336"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Liberation Sans Narrow" pitchFamily="34" charset="0"/>
                <a:ea typeface="Liberation Sans Narrow" pitchFamily="34" charset="-122"/>
                <a:cs typeface="Liberation Sans Narrow" pitchFamily="34" charset="-120"/>
              </a:rPr>
              <a:t>SLIDE 12</a:t>
            </a:r>
            <a:endParaRPr lang="en-US" sz="619" dirty="0"/>
          </a:p>
        </p:txBody>
      </p:sp>
      <p:sp>
        <p:nvSpPr>
          <p:cNvPr id="4" name="Text 2"/>
          <p:cNvSpPr/>
          <p:nvPr/>
        </p:nvSpPr>
        <p:spPr>
          <a:xfrm>
            <a:off x="457200" y="500063"/>
            <a:ext cx="4335971" cy="147590"/>
          </a:xfrm>
          <a:prstGeom prst="rect">
            <a:avLst/>
          </a:prstGeom>
          <a:noFill/>
          <a:ln/>
        </p:spPr>
        <p:txBody>
          <a:bodyPr wrap="square" lIns="0" tIns="0" rIns="0" bIns="0" rtlCol="0" anchor="t">
            <a:normAutofit/>
          </a:bodyPr>
          <a:lstStyle/>
          <a:p>
            <a:pPr marL="0" indent="0" algn="l">
              <a:lnSpc>
                <a:spcPts val="928"/>
              </a:lnSpc>
              <a:buNone/>
            </a:pPr>
            <a:r>
              <a:rPr lang="en-US" sz="800" kern="0" spc="25" dirty="0">
                <a:solidFill>
                  <a:srgbClr val="64748B"/>
                </a:solidFill>
                <a:latin typeface="Courier New" pitchFamily="34" charset="0"/>
                <a:ea typeface="Courier New" pitchFamily="34" charset="-122"/>
                <a:cs typeface="Courier New" pitchFamily="34" charset="-120"/>
              </a:rPr>
              <a:t>class DecoderLayer(nn.Module)</a:t>
            </a:r>
            <a:endParaRPr lang="en-US" sz="800" dirty="0"/>
          </a:p>
        </p:txBody>
      </p:sp>
      <p:sp>
        <p:nvSpPr>
          <p:cNvPr id="5" name="Text 3"/>
          <p:cNvSpPr/>
          <p:nvPr/>
        </p:nvSpPr>
        <p:spPr>
          <a:xfrm>
            <a:off x="457200" y="675084"/>
            <a:ext cx="4014788" cy="3443288"/>
          </a:xfrm>
          <a:prstGeom prst="roundRect">
            <a:avLst>
              <a:gd name="adj" fmla="val 2766"/>
            </a:avLst>
          </a:prstGeom>
          <a:solidFill>
            <a:srgbClr val="0F172A"/>
          </a:solidFill>
          <a:ln/>
        </p:spPr>
        <p:txBody>
          <a:bodyPr wrap="square" rtlCol="0" anchor="ctr"/>
          <a:lstStyle/>
          <a:p>
            <a:pPr marL="0" indent="0">
              <a:buNone/>
            </a:pPr>
            <a:endParaRPr lang="en-US" dirty="0"/>
          </a:p>
        </p:txBody>
      </p:sp>
      <p:sp>
        <p:nvSpPr>
          <p:cNvPr id="6" name="Text 4"/>
          <p:cNvSpPr/>
          <p:nvPr/>
        </p:nvSpPr>
        <p:spPr>
          <a:xfrm>
            <a:off x="585788" y="803672"/>
            <a:ext cx="3751138" cy="3200400"/>
          </a:xfrm>
          <a:prstGeom prst="rect">
            <a:avLst/>
          </a:prstGeom>
          <a:noFill/>
          <a:ln/>
        </p:spPr>
        <p:txBody>
          <a:bodyPr wrap="none" lIns="0" tIns="0" rIns="0" bIns="0" rtlCol="0" anchor="t"/>
          <a:lstStyle/>
          <a:p>
            <a:pPr marL="0" indent="0" algn="l">
              <a:lnSpc>
                <a:spcPts val="1055"/>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DecoderLayer</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1055"/>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(self, d_model, num_heads, d_ff, dropout):</a:t>
            </a:r>
            <a:endParaRPr lang="en-US" sz="800" dirty="0"/>
          </a:p>
          <a:p>
            <a:pPr marL="0" indent="0" algn="l">
              <a:lnSpc>
                <a:spcPts val="1055"/>
              </a:lnSpc>
              <a:buNone/>
            </a:pPr>
            <a:r>
              <a:rPr lang="en-US" sz="800" dirty="0">
                <a:solidFill>
                  <a:srgbClr val="60A5FA"/>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self.self_attn     = </a:t>
            </a:r>
            <a:r>
              <a:rPr lang="en-US" sz="800" dirty="0">
                <a:solidFill>
                  <a:srgbClr val="60A5FA"/>
                </a:solidFill>
                <a:latin typeface="Liberation Mono" pitchFamily="34" charset="0"/>
                <a:ea typeface="Liberation Mono" pitchFamily="34" charset="-122"/>
                <a:cs typeface="Liberation Mono" pitchFamily="34" charset="-120"/>
              </a:rPr>
              <a:t>MultiHeadAttention</a:t>
            </a:r>
            <a:r>
              <a:rPr lang="en-US" sz="800" dirty="0">
                <a:solidFill>
                  <a:srgbClr val="E2E8F0"/>
                </a:solidFill>
                <a:latin typeface="Liberation Mono" pitchFamily="34" charset="0"/>
                <a:ea typeface="Liberation Mono" pitchFamily="34" charset="-122"/>
                <a:cs typeface="Liberation Mono" pitchFamily="34" charset="-120"/>
              </a:rPr>
              <a:t>(d_model, num_heads)</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self.cross_attn    = </a:t>
            </a:r>
            <a:r>
              <a:rPr lang="en-US" sz="800" dirty="0">
                <a:solidFill>
                  <a:srgbClr val="60A5FA"/>
                </a:solidFill>
                <a:latin typeface="Liberation Mono" pitchFamily="34" charset="0"/>
                <a:ea typeface="Liberation Mono" pitchFamily="34" charset="-122"/>
                <a:cs typeface="Liberation Mono" pitchFamily="34" charset="-120"/>
              </a:rPr>
              <a:t>MultiHeadAttention</a:t>
            </a:r>
            <a:r>
              <a:rPr lang="en-US" sz="800" dirty="0">
                <a:solidFill>
                  <a:srgbClr val="E2E8F0"/>
                </a:solidFill>
                <a:latin typeface="Liberation Mono" pitchFamily="34" charset="0"/>
                <a:ea typeface="Liberation Mono" pitchFamily="34" charset="-122"/>
                <a:cs typeface="Liberation Mono" pitchFamily="34" charset="-120"/>
              </a:rPr>
              <a:t>(d_model, num_heads)</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self.feed_forward  = </a:t>
            </a:r>
            <a:r>
              <a:rPr lang="en-US" sz="800" dirty="0">
                <a:solidFill>
                  <a:srgbClr val="60A5FA"/>
                </a:solidFill>
                <a:latin typeface="Liberation Mono" pitchFamily="34" charset="0"/>
                <a:ea typeface="Liberation Mono" pitchFamily="34" charset="-122"/>
                <a:cs typeface="Liberation Mono" pitchFamily="34" charset="-120"/>
              </a:rPr>
              <a:t>PositionWiseFeedForward</a:t>
            </a:r>
            <a:r>
              <a:rPr lang="en-US" sz="800" dirty="0">
                <a:solidFill>
                  <a:srgbClr val="E2E8F0"/>
                </a:solidFill>
                <a:latin typeface="Liberation Mono" pitchFamily="34" charset="0"/>
                <a:ea typeface="Liberation Mono" pitchFamily="34" charset="-122"/>
                <a:cs typeface="Liberation Mono" pitchFamily="34" charset="-120"/>
              </a:rPr>
              <a:t>(d_model, d_ff)</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.norm1 = nn.</a:t>
            </a:r>
            <a:r>
              <a:rPr lang="en-US" sz="800" dirty="0">
                <a:solidFill>
                  <a:srgbClr val="60A5FA"/>
                </a:solidFill>
                <a:latin typeface="Liberation Mono" pitchFamily="34" charset="0"/>
                <a:ea typeface="Liberation Mono" pitchFamily="34" charset="-122"/>
                <a:cs typeface="Liberation Mono" pitchFamily="34" charset="-120"/>
              </a:rPr>
              <a:t>LayerNorm</a:t>
            </a:r>
            <a:r>
              <a:rPr lang="en-US" sz="800" dirty="0">
                <a:solidFill>
                  <a:srgbClr val="E2E8F0"/>
                </a:solidFill>
                <a:latin typeface="Liberation Mono" pitchFamily="34" charset="0"/>
                <a:ea typeface="Liberation Mono" pitchFamily="34" charset="-122"/>
                <a:cs typeface="Liberation Mono" pitchFamily="34" charset="-120"/>
              </a:rPr>
              <a:t>(d_model)</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.norm2 = nn.</a:t>
            </a:r>
            <a:r>
              <a:rPr lang="en-US" sz="800" dirty="0">
                <a:solidFill>
                  <a:srgbClr val="60A5FA"/>
                </a:solidFill>
                <a:latin typeface="Liberation Mono" pitchFamily="34" charset="0"/>
                <a:ea typeface="Liberation Mono" pitchFamily="34" charset="-122"/>
                <a:cs typeface="Liberation Mono" pitchFamily="34" charset="-120"/>
              </a:rPr>
              <a:t>LayerNorm</a:t>
            </a:r>
            <a:r>
              <a:rPr lang="en-US" sz="800" dirty="0">
                <a:solidFill>
                  <a:srgbClr val="E2E8F0"/>
                </a:solidFill>
                <a:latin typeface="Liberation Mono" pitchFamily="34" charset="0"/>
                <a:ea typeface="Liberation Mono" pitchFamily="34" charset="-122"/>
                <a:cs typeface="Liberation Mono" pitchFamily="34" charset="-120"/>
              </a:rPr>
              <a:t>(d_model)</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a:t>
            </a:r>
            <a:r>
              <a:rPr lang="en-US" sz="800" dirty="0">
                <a:solidFill>
                  <a:srgbClr val="E2E8F0"/>
                </a:solidFill>
                <a:latin typeface="Liberation Sans Narrow" pitchFamily="34" charset="0"/>
                <a:ea typeface="Liberation Sans Narrow" pitchFamily="34" charset="-122"/>
                <a:cs typeface="Liberation Sans Narrow" pitchFamily="34" charset="-120"/>
              </a:rPr>
              <a:t>.norm3 = nn.</a:t>
            </a:r>
            <a:r>
              <a:rPr lang="en-US" sz="800" dirty="0">
                <a:solidFill>
                  <a:srgbClr val="60A5FA"/>
                </a:solidFill>
                <a:latin typeface="Liberation Mono" pitchFamily="34" charset="0"/>
                <a:ea typeface="Liberation Mono" pitchFamily="34" charset="-122"/>
                <a:cs typeface="Liberation Mono" pitchFamily="34" charset="-120"/>
              </a:rPr>
              <a:t>LayerNorm</a:t>
            </a:r>
            <a:r>
              <a:rPr lang="en-US" sz="800" dirty="0">
                <a:solidFill>
                  <a:srgbClr val="E2E8F0"/>
                </a:solidFill>
                <a:latin typeface="Liberation Mono" pitchFamily="34" charset="0"/>
                <a:ea typeface="Liberation Mono" pitchFamily="34" charset="-122"/>
                <a:cs typeface="Liberation Mono" pitchFamily="34" charset="-120"/>
              </a:rPr>
              <a:t>(d_model)</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self.dropout = nn.</a:t>
            </a:r>
            <a:r>
              <a:rPr lang="en-US" sz="800" dirty="0">
                <a:solidFill>
                  <a:srgbClr val="60A5FA"/>
                </a:solidFill>
                <a:latin typeface="Liberation Mono" pitchFamily="34" charset="0"/>
                <a:ea typeface="Liberation Mono" pitchFamily="34" charset="-122"/>
                <a:cs typeface="Liberation Mono" pitchFamily="34" charset="-120"/>
              </a:rPr>
              <a:t>Dropout</a:t>
            </a:r>
            <a:r>
              <a:rPr lang="en-US" sz="800" dirty="0">
                <a:solidFill>
                  <a:srgbClr val="E2E8F0"/>
                </a:solidFill>
                <a:latin typeface="Liberation Mono" pitchFamily="34" charset="0"/>
                <a:ea typeface="Liberation Mono" pitchFamily="34" charset="-122"/>
                <a:cs typeface="Liberation Mono" pitchFamily="34" charset="-120"/>
              </a:rPr>
              <a:t>(dropout)</a:t>
            </a:r>
            <a:endParaRPr lang="en-US" sz="800" dirty="0"/>
          </a:p>
          <a:p>
            <a:pPr marL="0" indent="0" algn="l">
              <a:lnSpc>
                <a:spcPts val="1055"/>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(self, x, enc_output, src_mask, tgt_mask):</a:t>
            </a:r>
            <a:endParaRPr lang="en-US" sz="800" dirty="0"/>
          </a:p>
          <a:p>
            <a:pPr marL="0" indent="0" algn="l">
              <a:lnSpc>
                <a:spcPts val="1055"/>
              </a:lnSpc>
              <a:buNone/>
            </a:pPr>
            <a:r>
              <a:rPr lang="en-US" sz="800" i="1" dirty="0">
                <a:solidFill>
                  <a:srgbClr val="64748B"/>
                </a:solidFill>
                <a:latin typeface="Liberation Mono" pitchFamily="34" charset="0"/>
                <a:ea typeface="Liberation Mono" pitchFamily="34" charset="-122"/>
                <a:cs typeface="Liberation Mono" pitchFamily="34" charset="-120"/>
              </a:rPr>
              <a:t># 1. Masked self-attention over target tokens</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attn = self.self_attn(x, x, x, tgt_mask)</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x = self</a:t>
            </a:r>
            <a:r>
              <a:rPr lang="en-US" sz="800" dirty="0">
                <a:solidFill>
                  <a:srgbClr val="E2E8F0"/>
                </a:solidFill>
                <a:latin typeface="Liberation Sans Narrow" pitchFamily="34" charset="0"/>
                <a:ea typeface="Liberation Sans Narrow" pitchFamily="34" charset="-122"/>
                <a:cs typeface="Liberation Sans Narrow" pitchFamily="34" charset="-120"/>
              </a:rPr>
              <a:t>.norm1(x + </a:t>
            </a:r>
            <a:r>
              <a:rPr lang="en-US" sz="800" dirty="0">
                <a:solidFill>
                  <a:srgbClr val="E2E8F0"/>
                </a:solidFill>
                <a:latin typeface="Liberation Mono" pitchFamily="34" charset="0"/>
                <a:ea typeface="Liberation Mono" pitchFamily="34" charset="-122"/>
                <a:cs typeface="Liberation Mono" pitchFamily="34" charset="-120"/>
              </a:rPr>
              <a:t>self.dropout(attn))</a:t>
            </a:r>
            <a:endParaRPr lang="en-US" sz="800" dirty="0"/>
          </a:p>
          <a:p>
            <a:pPr marL="0" indent="0" algn="l">
              <a:lnSpc>
                <a:spcPts val="1055"/>
              </a:lnSpc>
              <a:buNone/>
            </a:pPr>
            <a:r>
              <a:rPr lang="en-US" sz="800" i="1" dirty="0">
                <a:solidFill>
                  <a:srgbClr val="64748B"/>
                </a:solidFill>
                <a:latin typeface="Liberation Mono" pitchFamily="34" charset="0"/>
                <a:ea typeface="Liberation Mono" pitchFamily="34" charset="-122"/>
                <a:cs typeface="Liberation Mono" pitchFamily="34" charset="-120"/>
              </a:rPr>
              <a:t># 2. Cross-attention: queries from x, keys/values from encoder</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attn = self.cross_attn(x, enc_output, enc_output, src_mask)</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x = self</a:t>
            </a:r>
            <a:r>
              <a:rPr lang="en-US" sz="800" dirty="0">
                <a:solidFill>
                  <a:srgbClr val="E2E8F0"/>
                </a:solidFill>
                <a:latin typeface="Liberation Sans Narrow" pitchFamily="34" charset="0"/>
                <a:ea typeface="Liberation Sans Narrow" pitchFamily="34" charset="-122"/>
                <a:cs typeface="Liberation Sans Narrow" pitchFamily="34" charset="-120"/>
              </a:rPr>
              <a:t>.norm2(x + </a:t>
            </a:r>
            <a:r>
              <a:rPr lang="en-US" sz="800" dirty="0">
                <a:solidFill>
                  <a:srgbClr val="E2E8F0"/>
                </a:solidFill>
                <a:latin typeface="Liberation Mono" pitchFamily="34" charset="0"/>
                <a:ea typeface="Liberation Mono" pitchFamily="34" charset="-122"/>
                <a:cs typeface="Liberation Mono" pitchFamily="34" charset="-120"/>
              </a:rPr>
              <a:t>self.dropout(attn))</a:t>
            </a:r>
            <a:endParaRPr lang="en-US" sz="800" dirty="0"/>
          </a:p>
          <a:p>
            <a:pPr marL="0" indent="0" algn="l">
              <a:lnSpc>
                <a:spcPts val="1055"/>
              </a:lnSpc>
              <a:buNone/>
            </a:pPr>
            <a:r>
              <a:rPr lang="en-US" sz="800" i="1" dirty="0">
                <a:solidFill>
                  <a:srgbClr val="64748B"/>
                </a:solidFill>
                <a:latin typeface="Liberation Sans Narrow" pitchFamily="34" charset="0"/>
                <a:ea typeface="Liberation Sans Narrow" pitchFamily="34" charset="-122"/>
                <a:cs typeface="Liberation Sans Narrow" pitchFamily="34" charset="-120"/>
              </a:rPr>
              <a:t># 3. Feed-forward</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ff = self.feed_forward(x)</a:t>
            </a:r>
            <a:endParaRPr lang="en-US" sz="800" dirty="0"/>
          </a:p>
          <a:p>
            <a:pPr marL="0" indent="0" algn="l">
              <a:lnSpc>
                <a:spcPts val="1055"/>
              </a:lnSpc>
              <a:buNone/>
            </a:pPr>
            <a:r>
              <a:rPr lang="en-US" sz="800" dirty="0">
                <a:solidFill>
                  <a:srgbClr val="E2E8F0"/>
                </a:solidFill>
                <a:latin typeface="Liberation Mono" pitchFamily="34" charset="0"/>
                <a:ea typeface="Liberation Mono" pitchFamily="34" charset="-122"/>
                <a:cs typeface="Liberation Mono" pitchFamily="34" charset="-120"/>
              </a:rPr>
              <a:t>x = self</a:t>
            </a:r>
            <a:r>
              <a:rPr lang="en-US" sz="800" dirty="0">
                <a:solidFill>
                  <a:srgbClr val="E2E8F0"/>
                </a:solidFill>
                <a:latin typeface="Liberation Sans Narrow" pitchFamily="34" charset="0"/>
                <a:ea typeface="Liberation Sans Narrow" pitchFamily="34" charset="-122"/>
                <a:cs typeface="Liberation Sans Narrow" pitchFamily="34" charset="-120"/>
              </a:rPr>
              <a:t>.norm3(x + </a:t>
            </a:r>
            <a:r>
              <a:rPr lang="en-US" sz="800" dirty="0">
                <a:solidFill>
                  <a:srgbClr val="E2E8F0"/>
                </a:solidFill>
                <a:latin typeface="Liberation Mono" pitchFamily="34" charset="0"/>
                <a:ea typeface="Liberation Mono" pitchFamily="34" charset="-122"/>
                <a:cs typeface="Liberation Mono" pitchFamily="34" charset="-120"/>
              </a:rPr>
              <a:t>self.dropout(ff))</a:t>
            </a:r>
            <a:endParaRPr lang="en-US" sz="800" dirty="0"/>
          </a:p>
          <a:p>
            <a:pPr marL="0" indent="0" algn="l">
              <a:lnSpc>
                <a:spcPts val="1055"/>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x</a:t>
            </a:r>
            <a:endParaRPr lang="en-US" sz="800" dirty="0"/>
          </a:p>
        </p:txBody>
      </p:sp>
      <p:sp>
        <p:nvSpPr>
          <p:cNvPr id="7" name="Text 5"/>
          <p:cNvSpPr/>
          <p:nvPr/>
        </p:nvSpPr>
        <p:spPr>
          <a:xfrm>
            <a:off x="4672013" y="500063"/>
            <a:ext cx="4471988" cy="151162"/>
          </a:xfrm>
          <a:prstGeom prst="rect">
            <a:avLst/>
          </a:prstGeom>
          <a:noFill/>
          <a:ln/>
        </p:spPr>
        <p:txBody>
          <a:bodyPr wrap="square" lIns="0" tIns="0" rIns="0" bIns="0" rtlCol="0" anchor="t">
            <a:normAutofit/>
          </a:bodyPr>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DECODER · 3 SUB-LAYERS PER LAYER</a:t>
            </a:r>
            <a:endParaRPr lang="en-US" sz="800" dirty="0"/>
          </a:p>
        </p:txBody>
      </p:sp>
      <p:sp>
        <p:nvSpPr>
          <p:cNvPr id="8" name="Text 6"/>
          <p:cNvSpPr/>
          <p:nvPr/>
        </p:nvSpPr>
        <p:spPr>
          <a:xfrm>
            <a:off x="4672013" y="678656"/>
            <a:ext cx="4471988" cy="230614"/>
          </a:xfrm>
          <a:prstGeom prst="rect">
            <a:avLst/>
          </a:prstGeom>
          <a:noFill/>
          <a:ln/>
        </p:spPr>
        <p:txBody>
          <a:bodyPr wrap="none" lIns="0" tIns="0" rIns="0" bIns="0" rtlCol="0" anchor="t"/>
          <a:lstStyle/>
          <a:p>
            <a:pPr marL="0" indent="0" algn="l">
              <a:lnSpc>
                <a:spcPts val="1682"/>
              </a:lnSpc>
              <a:buNone/>
            </a:pPr>
            <a:r>
              <a:rPr lang="en-US" sz="1463" b="1" dirty="0">
                <a:solidFill>
                  <a:srgbClr val="1E3A8A"/>
                </a:solidFill>
                <a:latin typeface="Carlito" pitchFamily="34" charset="0"/>
                <a:ea typeface="Carlito" pitchFamily="34" charset="-122"/>
                <a:cs typeface="Carlito" pitchFamily="34" charset="-120"/>
              </a:rPr>
              <a:t>Decoder Layer</a:t>
            </a:r>
            <a:endParaRPr lang="en-US" sz="1463" dirty="0"/>
          </a:p>
        </p:txBody>
      </p:sp>
      <p:sp>
        <p:nvSpPr>
          <p:cNvPr id="9" name="Text 7"/>
          <p:cNvSpPr/>
          <p:nvPr/>
        </p:nvSpPr>
        <p:spPr>
          <a:xfrm>
            <a:off x="4672013" y="942194"/>
            <a:ext cx="4014788" cy="159004"/>
          </a:xfrm>
          <a:prstGeom prst="rect">
            <a:avLst/>
          </a:prstGeom>
          <a:noFill/>
          <a:ln/>
        </p:spPr>
        <p:txBody>
          <a:bodyPr wrap="square" lIns="0" tIns="0" rIns="0" bIns="0" rtlCol="0" anchor="t"/>
          <a:lstStyle/>
          <a:p>
            <a:pPr marL="0" indent="0" algn="l">
              <a:lnSpc>
                <a:spcPts val="1101"/>
              </a:lnSpc>
              <a:buNone/>
            </a:pPr>
            <a:r>
              <a:rPr lang="en-US" sz="759" dirty="0">
                <a:solidFill>
                  <a:srgbClr val="334155"/>
                </a:solidFill>
                <a:latin typeface="Carlito" pitchFamily="34" charset="0"/>
                <a:ea typeface="Carlito" pitchFamily="34" charset="-122"/>
                <a:cs typeface="Carlito" pitchFamily="34" charset="-120"/>
              </a:rPr>
              <a:t>Masked self-attention, cross-attention, and a feed-forward — each wrapped in Add &amp; Norm.</a:t>
            </a:r>
            <a:endParaRPr lang="en-US" sz="759" dirty="0"/>
          </a:p>
        </p:txBody>
      </p:sp>
      <p:sp>
        <p:nvSpPr>
          <p:cNvPr id="10" name="Text 8"/>
          <p:cNvSpPr/>
          <p:nvPr/>
        </p:nvSpPr>
        <p:spPr>
          <a:xfrm>
            <a:off x="4672013" y="1146237"/>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11" name="Text 9"/>
          <p:cNvSpPr/>
          <p:nvPr/>
        </p:nvSpPr>
        <p:spPr>
          <a:xfrm>
            <a:off x="4675584" y="1256965"/>
            <a:ext cx="4007644" cy="485329"/>
          </a:xfrm>
          <a:prstGeom prst="roundRect">
            <a:avLst>
              <a:gd name="adj" fmla="val 1962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2" name="Text 10"/>
          <p:cNvSpPr/>
          <p:nvPr/>
        </p:nvSpPr>
        <p:spPr>
          <a:xfrm>
            <a:off x="4764881" y="1324831"/>
            <a:ext cx="185738" cy="185738"/>
          </a:xfrm>
          <a:prstGeom prst="ellipse">
            <a:avLst/>
          </a:prstGeom>
          <a:solidFill>
            <a:srgbClr val="1E3A8A"/>
          </a:solidFill>
          <a:ln/>
        </p:spPr>
        <p:txBody>
          <a:bodyPr wrap="square" rtlCol="0" anchor="ctr"/>
          <a:lstStyle/>
          <a:p>
            <a:pPr marL="0" indent="0">
              <a:buNone/>
            </a:pPr>
            <a:endParaRPr lang="en-US" dirty="0"/>
          </a:p>
        </p:txBody>
      </p:sp>
      <p:sp>
        <p:nvSpPr>
          <p:cNvPr id="13" name="Text 11"/>
          <p:cNvSpPr/>
          <p:nvPr/>
        </p:nvSpPr>
        <p:spPr>
          <a:xfrm>
            <a:off x="4764881" y="1324831"/>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4" name="Text 12"/>
          <p:cNvSpPr/>
          <p:nvPr/>
        </p:nvSpPr>
        <p:spPr>
          <a:xfrm>
            <a:off x="5022056" y="1324831"/>
            <a:ext cx="3016672" cy="120587"/>
          </a:xfrm>
          <a:prstGeom prst="rect">
            <a:avLst/>
          </a:prstGeom>
          <a:noFill/>
          <a:ln/>
        </p:spPr>
        <p:txBody>
          <a:bodyPr wrap="none" lIns="0" tIns="0" rIns="0" bIns="0" rtlCol="0" anchor="t"/>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MASKED SELF-ATTENTION</a:t>
            </a:r>
            <a:endParaRPr lang="en-US" sz="800" dirty="0"/>
          </a:p>
        </p:txBody>
      </p:sp>
      <p:sp>
        <p:nvSpPr>
          <p:cNvPr id="15" name="Text 13"/>
          <p:cNvSpPr/>
          <p:nvPr/>
        </p:nvSpPr>
        <p:spPr>
          <a:xfrm>
            <a:off x="8027303" y="1317687"/>
            <a:ext cx="606628"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F59E0B"/>
                </a:solidFill>
                <a:latin typeface="Courier New" pitchFamily="34" charset="0"/>
                <a:ea typeface="Courier New" pitchFamily="34" charset="-122"/>
                <a:cs typeface="Courier New" pitchFamily="34" charset="-120"/>
              </a:rPr>
              <a:t>uses tgt_mask</a:t>
            </a:r>
            <a:endParaRPr lang="en-US" sz="600" dirty="0"/>
          </a:p>
        </p:txBody>
      </p:sp>
      <p:sp>
        <p:nvSpPr>
          <p:cNvPr id="16" name="Text 14"/>
          <p:cNvSpPr/>
          <p:nvPr/>
        </p:nvSpPr>
        <p:spPr>
          <a:xfrm>
            <a:off x="5022056" y="1451632"/>
            <a:ext cx="3571875"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The decoder attends to its own partial output so far. tgt_mask blocks future positions so the model cannot cheat during training.</a:t>
            </a:r>
            <a:endParaRPr lang="en-US" sz="800" dirty="0"/>
          </a:p>
        </p:txBody>
      </p:sp>
      <p:sp>
        <p:nvSpPr>
          <p:cNvPr id="17" name="Text 15"/>
          <p:cNvSpPr/>
          <p:nvPr/>
        </p:nvSpPr>
        <p:spPr>
          <a:xfrm>
            <a:off x="4675584" y="1792300"/>
            <a:ext cx="4007644" cy="485329"/>
          </a:xfrm>
          <a:prstGeom prst="roundRect">
            <a:avLst>
              <a:gd name="adj" fmla="val 1962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8" name="Text 16"/>
          <p:cNvSpPr/>
          <p:nvPr/>
        </p:nvSpPr>
        <p:spPr>
          <a:xfrm>
            <a:off x="4764881" y="1860166"/>
            <a:ext cx="185738" cy="185738"/>
          </a:xfrm>
          <a:prstGeom prst="ellipse">
            <a:avLst/>
          </a:prstGeom>
          <a:solidFill>
            <a:srgbClr val="1E3A8A"/>
          </a:solidFill>
          <a:ln/>
        </p:spPr>
        <p:txBody>
          <a:bodyPr wrap="square" rtlCol="0" anchor="ctr"/>
          <a:lstStyle/>
          <a:p>
            <a:pPr marL="0" indent="0">
              <a:buNone/>
            </a:pPr>
            <a:endParaRPr lang="en-US" dirty="0"/>
          </a:p>
        </p:txBody>
      </p:sp>
      <p:sp>
        <p:nvSpPr>
          <p:cNvPr id="19" name="Text 17"/>
          <p:cNvSpPr/>
          <p:nvPr/>
        </p:nvSpPr>
        <p:spPr>
          <a:xfrm>
            <a:off x="4764881" y="1860166"/>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0" name="Text 18"/>
          <p:cNvSpPr/>
          <p:nvPr/>
        </p:nvSpPr>
        <p:spPr>
          <a:xfrm>
            <a:off x="5022056" y="1860166"/>
            <a:ext cx="3016672" cy="120587"/>
          </a:xfrm>
          <a:prstGeom prst="rect">
            <a:avLst/>
          </a:prstGeom>
          <a:noFill/>
          <a:ln/>
        </p:spPr>
        <p:txBody>
          <a:bodyPr wrap="none" lIns="0" tIns="0" rIns="0" bIns="0" rtlCol="0" anchor="t"/>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CROSS-ATTENTION</a:t>
            </a:r>
            <a:endParaRPr lang="en-US" sz="800" dirty="0"/>
          </a:p>
        </p:txBody>
      </p:sp>
      <p:sp>
        <p:nvSpPr>
          <p:cNvPr id="21" name="Text 19"/>
          <p:cNvSpPr/>
          <p:nvPr/>
        </p:nvSpPr>
        <p:spPr>
          <a:xfrm>
            <a:off x="8027303" y="1853022"/>
            <a:ext cx="606628"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F59E0B"/>
                </a:solidFill>
                <a:latin typeface="Courier New" pitchFamily="34" charset="0"/>
                <a:ea typeface="Courier New" pitchFamily="34" charset="-122"/>
                <a:cs typeface="Courier New" pitchFamily="34" charset="-120"/>
              </a:rPr>
              <a:t>uses src_mask</a:t>
            </a:r>
            <a:endParaRPr lang="en-US" sz="600" dirty="0"/>
          </a:p>
        </p:txBody>
      </p:sp>
      <p:sp>
        <p:nvSpPr>
          <p:cNvPr id="22" name="Text 20"/>
          <p:cNvSpPr/>
          <p:nvPr/>
        </p:nvSpPr>
        <p:spPr>
          <a:xfrm>
            <a:off x="5022056" y="1986967"/>
            <a:ext cx="3571875"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Queries come from the decoder (x); keys and values come from the encoder output. This is how the decoder conditions on the source sequence.</a:t>
            </a:r>
            <a:endParaRPr lang="en-US" sz="800" dirty="0"/>
          </a:p>
        </p:txBody>
      </p:sp>
      <p:sp>
        <p:nvSpPr>
          <p:cNvPr id="23" name="Text 21"/>
          <p:cNvSpPr/>
          <p:nvPr/>
        </p:nvSpPr>
        <p:spPr>
          <a:xfrm>
            <a:off x="4675584" y="2327635"/>
            <a:ext cx="4007644" cy="485329"/>
          </a:xfrm>
          <a:prstGeom prst="roundRect">
            <a:avLst>
              <a:gd name="adj" fmla="val 1962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4" name="Text 22"/>
          <p:cNvSpPr/>
          <p:nvPr/>
        </p:nvSpPr>
        <p:spPr>
          <a:xfrm>
            <a:off x="4764881" y="2395500"/>
            <a:ext cx="185738" cy="185738"/>
          </a:xfrm>
          <a:prstGeom prst="ellipse">
            <a:avLst/>
          </a:prstGeom>
          <a:solidFill>
            <a:srgbClr val="1E3A8A"/>
          </a:solidFill>
          <a:ln/>
        </p:spPr>
        <p:txBody>
          <a:bodyPr wrap="square" rtlCol="0" anchor="ctr"/>
          <a:lstStyle/>
          <a:p>
            <a:pPr marL="0" indent="0">
              <a:buNone/>
            </a:pPr>
            <a:endParaRPr lang="en-US" dirty="0"/>
          </a:p>
        </p:txBody>
      </p:sp>
      <p:sp>
        <p:nvSpPr>
          <p:cNvPr id="25" name="Text 23"/>
          <p:cNvSpPr/>
          <p:nvPr/>
        </p:nvSpPr>
        <p:spPr>
          <a:xfrm>
            <a:off x="4764881" y="2395500"/>
            <a:ext cx="221456" cy="185738"/>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6" name="Text 24"/>
          <p:cNvSpPr/>
          <p:nvPr/>
        </p:nvSpPr>
        <p:spPr>
          <a:xfrm>
            <a:off x="5022056" y="2395500"/>
            <a:ext cx="3259671" cy="120587"/>
          </a:xfrm>
          <a:prstGeom prst="rect">
            <a:avLst/>
          </a:prstGeom>
          <a:noFill/>
          <a:ln/>
        </p:spPr>
        <p:txBody>
          <a:bodyPr wrap="none" lIns="0" tIns="0" rIns="0" bIns="0" rtlCol="0" anchor="t"/>
          <a:lstStyle/>
          <a:p>
            <a:pPr marL="0" indent="0" algn="l">
              <a:lnSpc>
                <a:spcPts val="742"/>
              </a:lnSpc>
              <a:buNone/>
            </a:pPr>
            <a:r>
              <a:rPr lang="en-US" sz="800" b="1" kern="0" spc="54" dirty="0">
                <a:solidFill>
                  <a:srgbClr val="1E3A8A"/>
                </a:solidFill>
                <a:latin typeface="Carlito" pitchFamily="34" charset="0"/>
                <a:ea typeface="Carlito" pitchFamily="34" charset="-122"/>
                <a:cs typeface="Carlito" pitchFamily="34" charset="-120"/>
              </a:rPr>
              <a:t>FEED-FORWARD</a:t>
            </a:r>
            <a:endParaRPr lang="en-US" sz="800" dirty="0"/>
          </a:p>
        </p:txBody>
      </p:sp>
      <p:sp>
        <p:nvSpPr>
          <p:cNvPr id="27" name="Text 25"/>
          <p:cNvSpPr/>
          <p:nvPr/>
        </p:nvSpPr>
        <p:spPr>
          <a:xfrm>
            <a:off x="8285924" y="2388357"/>
            <a:ext cx="332384"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F59E0B"/>
                </a:solidFill>
                <a:latin typeface="Courier New" pitchFamily="34" charset="0"/>
                <a:ea typeface="Courier New" pitchFamily="34" charset="-122"/>
                <a:cs typeface="Courier New" pitchFamily="34" charset="-120"/>
              </a:rPr>
              <a:t>no mask</a:t>
            </a:r>
            <a:endParaRPr lang="en-US" sz="600" dirty="0"/>
          </a:p>
        </p:txBody>
      </p:sp>
      <p:sp>
        <p:nvSpPr>
          <p:cNvPr id="28" name="Text 26"/>
          <p:cNvSpPr/>
          <p:nvPr/>
        </p:nvSpPr>
        <p:spPr>
          <a:xfrm>
            <a:off x="5022056" y="2522302"/>
            <a:ext cx="3571875"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Same position-wise FFN as the encoder. Transforms the cross-attended features before passing to the next decoder layer.</a:t>
            </a:r>
            <a:endParaRPr lang="en-US" sz="800" dirty="0"/>
          </a:p>
        </p:txBody>
      </p:sp>
      <p:sp>
        <p:nvSpPr>
          <p:cNvPr id="29" name="Text 27"/>
          <p:cNvSpPr/>
          <p:nvPr/>
        </p:nvSpPr>
        <p:spPr>
          <a:xfrm>
            <a:off x="4675584" y="2884401"/>
            <a:ext cx="4007644" cy="619162"/>
          </a:xfrm>
          <a:prstGeom prst="roundRect">
            <a:avLst>
              <a:gd name="adj" fmla="val 18460"/>
            </a:avLst>
          </a:prstGeom>
          <a:solidFill>
            <a:srgbClr val="F1F5F9"/>
          </a:solidFill>
          <a:ln w="7144">
            <a:solidFill>
              <a:srgbClr val="E2E8F0"/>
            </a:solidFill>
            <a:prstDash val="solid"/>
          </a:ln>
        </p:spPr>
        <p:txBody>
          <a:bodyPr wrap="square" rtlCol="0" anchor="ctr"/>
          <a:lstStyle/>
          <a:p>
            <a:pPr marL="0" indent="0">
              <a:buNone/>
            </a:pPr>
            <a:endParaRPr lang="en-US" dirty="0"/>
          </a:p>
        </p:txBody>
      </p:sp>
      <p:sp>
        <p:nvSpPr>
          <p:cNvPr id="30" name="Text 28"/>
          <p:cNvSpPr/>
          <p:nvPr/>
        </p:nvSpPr>
        <p:spPr>
          <a:xfrm>
            <a:off x="4779169" y="2959410"/>
            <a:ext cx="2454158" cy="111871"/>
          </a:xfrm>
          <a:prstGeom prst="rect">
            <a:avLst/>
          </a:prstGeom>
          <a:noFill/>
          <a:ln/>
        </p:spPr>
        <p:txBody>
          <a:bodyPr wrap="none" lIns="0" tIns="0" rIns="0" bIns="0" rtlCol="0" anchor="t">
            <a:normAutofit/>
          </a:bodyPr>
          <a:lstStyle/>
          <a:p>
            <a:pPr marL="0" indent="0" algn="l">
              <a:lnSpc>
                <a:spcPts val="928"/>
              </a:lnSpc>
              <a:buNone/>
            </a:pPr>
            <a:r>
              <a:rPr lang="en-US" sz="800" b="1" kern="0" spc="37" dirty="0">
                <a:solidFill>
                  <a:srgbClr val="1E3A8A"/>
                </a:solidFill>
                <a:latin typeface="Courier New" pitchFamily="34" charset="0"/>
                <a:ea typeface="Courier New" pitchFamily="34" charset="-122"/>
                <a:cs typeface="Courier New" pitchFamily="34" charset="-120"/>
              </a:rPr>
              <a:t>tgt_mask</a:t>
            </a:r>
            <a:endParaRPr lang="en-US" sz="800" dirty="0"/>
          </a:p>
        </p:txBody>
      </p:sp>
      <p:sp>
        <p:nvSpPr>
          <p:cNvPr id="31" name="Text 29"/>
          <p:cNvSpPr/>
          <p:nvPr/>
        </p:nvSpPr>
        <p:spPr>
          <a:xfrm>
            <a:off x="4779169" y="3098713"/>
            <a:ext cx="1850231" cy="307051"/>
          </a:xfrm>
          <a:prstGeom prst="rect">
            <a:avLst/>
          </a:prstGeom>
          <a:noFill/>
          <a:ln/>
        </p:spPr>
        <p:txBody>
          <a:bodyPr wrap="square" lIns="0" tIns="0" rIns="0" bIns="0" rtlCol="0" anchor="t"/>
          <a:lstStyle/>
          <a:p>
            <a:pPr marL="0" indent="0" algn="l">
              <a:lnSpc>
                <a:spcPts val="866"/>
              </a:lnSpc>
              <a:buNone/>
            </a:pPr>
            <a:r>
              <a:rPr lang="en-US" sz="800" dirty="0">
                <a:solidFill>
                  <a:srgbClr val="334155"/>
                </a:solidFill>
                <a:latin typeface="Carlito" pitchFamily="34" charset="0"/>
                <a:ea typeface="Carlito" pitchFamily="34" charset="-122"/>
                <a:cs typeface="Carlito" pitchFamily="34" charset="-120"/>
              </a:rPr>
              <a:t>Padding mask AND look-ahead (no-peak) mask combined. Position i can only attend to positions ≤ i.</a:t>
            </a:r>
            <a:endParaRPr lang="en-US" sz="800" dirty="0"/>
          </a:p>
        </p:txBody>
      </p:sp>
      <p:sp>
        <p:nvSpPr>
          <p:cNvPr id="32" name="Text 30"/>
          <p:cNvSpPr/>
          <p:nvPr/>
        </p:nvSpPr>
        <p:spPr>
          <a:xfrm>
            <a:off x="6729413" y="2959410"/>
            <a:ext cx="1850231" cy="111871"/>
          </a:xfrm>
          <a:prstGeom prst="rect">
            <a:avLst/>
          </a:prstGeom>
          <a:noFill/>
          <a:ln/>
        </p:spPr>
        <p:txBody>
          <a:bodyPr wrap="none" lIns="0" tIns="0" rIns="0" bIns="0" rtlCol="0" anchor="t">
            <a:normAutofit/>
          </a:bodyPr>
          <a:lstStyle/>
          <a:p>
            <a:pPr marL="0" indent="0" algn="l">
              <a:lnSpc>
                <a:spcPts val="928"/>
              </a:lnSpc>
              <a:buNone/>
            </a:pPr>
            <a:r>
              <a:rPr lang="en-US" sz="800" b="1" kern="0" spc="37" dirty="0">
                <a:solidFill>
                  <a:srgbClr val="1E3A8A"/>
                </a:solidFill>
                <a:latin typeface="Courier New" pitchFamily="34" charset="0"/>
                <a:ea typeface="Courier New" pitchFamily="34" charset="-122"/>
                <a:cs typeface="Courier New" pitchFamily="34" charset="-120"/>
              </a:rPr>
              <a:t>src_mask</a:t>
            </a:r>
            <a:endParaRPr lang="en-US" sz="800" dirty="0"/>
          </a:p>
        </p:txBody>
      </p:sp>
      <p:sp>
        <p:nvSpPr>
          <p:cNvPr id="33" name="Text 31"/>
          <p:cNvSpPr/>
          <p:nvPr/>
        </p:nvSpPr>
        <p:spPr>
          <a:xfrm>
            <a:off x="6729413" y="3098713"/>
            <a:ext cx="1850231" cy="329840"/>
          </a:xfrm>
          <a:prstGeom prst="rect">
            <a:avLst/>
          </a:prstGeom>
          <a:noFill/>
          <a:ln/>
        </p:spPr>
        <p:txBody>
          <a:bodyPr wrap="square" lIns="0" tIns="0" rIns="0" bIns="0" rtlCol="0" anchor="t"/>
          <a:lstStyle/>
          <a:p>
            <a:pPr marL="0" indent="0" algn="l">
              <a:lnSpc>
                <a:spcPts val="866"/>
              </a:lnSpc>
              <a:buNone/>
            </a:pPr>
            <a:r>
              <a:rPr lang="en-US" sz="800" dirty="0">
                <a:solidFill>
                  <a:srgbClr val="334155"/>
                </a:solidFill>
                <a:latin typeface="Carlito" pitchFamily="34" charset="0"/>
                <a:ea typeface="Carlito" pitchFamily="34" charset="-122"/>
                <a:cs typeface="Carlito" pitchFamily="34" charset="-120"/>
              </a:rPr>
              <a:t>Padding mask only. Hides &lt;PAD&gt; tokens in the source sequence so the encoder output for those positions is ignored.</a:t>
            </a:r>
            <a:endParaRPr lang="en-US" sz="800" dirty="0"/>
          </a:p>
        </p:txBody>
      </p:sp>
      <p:sp>
        <p:nvSpPr>
          <p:cNvPr id="34" name="Text 32"/>
          <p:cNvSpPr/>
          <p:nvPr/>
        </p:nvSpPr>
        <p:spPr>
          <a:xfrm>
            <a:off x="457200" y="4854178"/>
            <a:ext cx="6595021"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12 · ENCODER &amp; DECODER</a:t>
            </a:r>
            <a:endParaRPr lang="en-US" sz="800" dirty="0"/>
          </a:p>
        </p:txBody>
      </p:sp>
      <p:sp>
        <p:nvSpPr>
          <p:cNvPr id="35" name="Text 33"/>
          <p:cNvSpPr/>
          <p:nvPr/>
        </p:nvSpPr>
        <p:spPr>
          <a:xfrm>
            <a:off x="7066508" y="4854178"/>
            <a:ext cx="1749915"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 · PYTORCH</a:t>
            </a:r>
            <a:endParaRPr lang="en-US" sz="619"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7175"/>
            <a:ext cx="7577175"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PART 04 OF 04</a:t>
            </a:r>
            <a:endParaRPr lang="en-US" sz="800" dirty="0"/>
          </a:p>
        </p:txBody>
      </p:sp>
      <p:sp>
        <p:nvSpPr>
          <p:cNvPr id="3" name="Text 1"/>
          <p:cNvSpPr/>
          <p:nvPr/>
        </p:nvSpPr>
        <p:spPr>
          <a:xfrm>
            <a:off x="8048662" y="262533"/>
            <a:ext cx="787382"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SECTION HEADER</a:t>
            </a:r>
            <a:endParaRPr lang="en-US" sz="619" dirty="0"/>
          </a:p>
        </p:txBody>
      </p:sp>
      <p:sp>
        <p:nvSpPr>
          <p:cNvPr id="4" name="Text 2"/>
          <p:cNvSpPr/>
          <p:nvPr/>
        </p:nvSpPr>
        <p:spPr>
          <a:xfrm>
            <a:off x="2408415" y="2000250"/>
            <a:ext cx="6735585" cy="3143250"/>
          </a:xfrm>
          <a:prstGeom prst="rect">
            <a:avLst/>
          </a:prstGeom>
          <a:noFill/>
          <a:ln/>
        </p:spPr>
        <p:txBody>
          <a:bodyPr wrap="none" lIns="0" tIns="0" rIns="0" bIns="0" rtlCol="0" anchor="t"/>
          <a:lstStyle/>
          <a:p>
            <a:pPr marL="0" indent="0" algn="l">
              <a:lnSpc>
                <a:spcPts val="29250"/>
              </a:lnSpc>
              <a:buNone/>
            </a:pPr>
            <a:r>
              <a:rPr lang="en-US" sz="29250" b="1" dirty="0">
                <a:solidFill>
                  <a:srgbClr val="DBEAFE"/>
                </a:solidFill>
                <a:latin typeface="Liberation Sans Narrow" pitchFamily="34" charset="0"/>
                <a:ea typeface="Liberation Sans Narrow" pitchFamily="34" charset="-122"/>
                <a:cs typeface="Liberation Sans Narrow" pitchFamily="34" charset="-120"/>
              </a:rPr>
              <a:t>04</a:t>
            </a:r>
            <a:endParaRPr lang="en-US" sz="29250" dirty="0"/>
          </a:p>
        </p:txBody>
      </p:sp>
      <p:sp>
        <p:nvSpPr>
          <p:cNvPr id="5" name="Text 3"/>
          <p:cNvSpPr/>
          <p:nvPr/>
        </p:nvSpPr>
        <p:spPr>
          <a:xfrm>
            <a:off x="3874257" y="978694"/>
            <a:ext cx="28575" cy="3257550"/>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6" name="Text 4"/>
          <p:cNvSpPr/>
          <p:nvPr/>
        </p:nvSpPr>
        <p:spPr>
          <a:xfrm>
            <a:off x="457200" y="4854178"/>
            <a:ext cx="7577175"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TRANSFORMER MODEL TUTORIAL · PYTORCH · CHAPTER 4 OF 4</a:t>
            </a:r>
            <a:endParaRPr lang="en-US" sz="800" dirty="0"/>
          </a:p>
        </p:txBody>
      </p:sp>
      <p:sp>
        <p:nvSpPr>
          <p:cNvPr id="7" name="Text 5"/>
          <p:cNvSpPr/>
          <p:nvPr/>
        </p:nvSpPr>
        <p:spPr>
          <a:xfrm>
            <a:off x="8048662" y="4854178"/>
            <a:ext cx="787382"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SECTION HEADER</a:t>
            </a:r>
            <a:endParaRPr lang="en-US" sz="619" dirty="0"/>
          </a:p>
        </p:txBody>
      </p:sp>
      <p:sp>
        <p:nvSpPr>
          <p:cNvPr id="8" name="Text 6"/>
          <p:cNvSpPr/>
          <p:nvPr/>
        </p:nvSpPr>
        <p:spPr>
          <a:xfrm>
            <a:off x="457200" y="1560909"/>
            <a:ext cx="5055810" cy="1829943"/>
          </a:xfrm>
          <a:prstGeom prst="rect">
            <a:avLst/>
          </a:prstGeom>
          <a:noFill/>
          <a:ln/>
        </p:spPr>
        <p:txBody>
          <a:bodyPr wrap="none" lIns="0" tIns="0" rIns="0" bIns="0" rtlCol="0" anchor="t">
            <a:normAutofit/>
          </a:bodyPr>
          <a:lstStyle/>
          <a:p>
            <a:pPr marL="0" indent="0" algn="l">
              <a:lnSpc>
                <a:spcPts val="14175"/>
              </a:lnSpc>
              <a:buNone/>
            </a:pPr>
            <a:r>
              <a:rPr lang="en-US" sz="15750" b="1" kern="0" spc="-630" dirty="0">
                <a:solidFill>
                  <a:srgbClr val="1E3A8A"/>
                </a:solidFill>
                <a:latin typeface="Liberation Sans Narrow" pitchFamily="34" charset="0"/>
                <a:ea typeface="Liberation Sans Narrow" pitchFamily="34" charset="-122"/>
                <a:cs typeface="Liberation Sans Narrow" pitchFamily="34" charset="-120"/>
              </a:rPr>
              <a:t>04</a:t>
            </a:r>
            <a:endParaRPr lang="en-US" sz="15750" dirty="0"/>
          </a:p>
        </p:txBody>
      </p:sp>
      <p:sp>
        <p:nvSpPr>
          <p:cNvPr id="9" name="Text 7"/>
          <p:cNvSpPr/>
          <p:nvPr/>
        </p:nvSpPr>
        <p:spPr>
          <a:xfrm>
            <a:off x="457200" y="3418284"/>
            <a:ext cx="5055810" cy="254603"/>
          </a:xfrm>
          <a:prstGeom prst="rect">
            <a:avLst/>
          </a:prstGeom>
          <a:noFill/>
          <a:ln/>
        </p:spPr>
        <p:txBody>
          <a:bodyPr wrap="none" lIns="0" tIns="0" rIns="0" bIns="0" rtlCol="0" anchor="t"/>
          <a:lstStyle/>
          <a:p>
            <a:pPr marL="0" indent="0" algn="l">
              <a:lnSpc>
                <a:spcPts val="1856"/>
              </a:lnSpc>
              <a:buNone/>
            </a:pPr>
            <a:r>
              <a:rPr lang="en-US" sz="1238" kern="0" spc="99" dirty="0">
                <a:solidFill>
                  <a:srgbClr val="F59E0B"/>
                </a:solidFill>
                <a:latin typeface="Liberation Sans Narrow" pitchFamily="34" charset="0"/>
                <a:ea typeface="Liberation Sans Narrow" pitchFamily="34" charset="-122"/>
                <a:cs typeface="Liberation Sans Narrow" pitchFamily="34" charset="-120"/>
              </a:rPr>
              <a:t>/ 04</a:t>
            </a:r>
            <a:endParaRPr lang="en-US" sz="1238" dirty="0"/>
          </a:p>
        </p:txBody>
      </p:sp>
      <p:sp>
        <p:nvSpPr>
          <p:cNvPr id="10" name="Text 8"/>
          <p:cNvSpPr/>
          <p:nvPr/>
        </p:nvSpPr>
        <p:spPr>
          <a:xfrm>
            <a:off x="4160007" y="1407096"/>
            <a:ext cx="4983993"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CHAPTER FOUR</a:t>
            </a:r>
            <a:endParaRPr lang="en-US" sz="800" dirty="0"/>
          </a:p>
        </p:txBody>
      </p:sp>
      <p:sp>
        <p:nvSpPr>
          <p:cNvPr id="11" name="Text 9"/>
          <p:cNvSpPr/>
          <p:nvPr/>
        </p:nvSpPr>
        <p:spPr>
          <a:xfrm>
            <a:off x="4160007" y="1607121"/>
            <a:ext cx="4979350" cy="1036737"/>
          </a:xfrm>
          <a:prstGeom prst="rect">
            <a:avLst/>
          </a:prstGeom>
          <a:noFill/>
          <a:ln/>
        </p:spPr>
        <p:txBody>
          <a:bodyPr wrap="none" lIns="0" tIns="0" rIns="0" bIns="0" rtlCol="0" anchor="t"/>
          <a:lstStyle/>
          <a:p>
            <a:pPr marL="0" indent="0" algn="l">
              <a:lnSpc>
                <a:spcPts val="3780"/>
              </a:lnSpc>
              <a:buNone/>
            </a:pPr>
            <a:r>
              <a:rPr lang="en-US" sz="3600" b="1" kern="0" spc="-72" dirty="0">
                <a:solidFill>
                  <a:srgbClr val="1E3A8A"/>
                </a:solidFill>
                <a:latin typeface="Carlito" pitchFamily="34" charset="0"/>
                <a:ea typeface="Carlito" pitchFamily="34" charset="-122"/>
                <a:cs typeface="Carlito" pitchFamily="34" charset="-120"/>
              </a:rPr>
              <a:t>Assembly &amp;</a:t>
            </a:r>
            <a:endParaRPr lang="en-US" sz="3600" dirty="0"/>
          </a:p>
          <a:p>
            <a:pPr marL="0" indent="0" algn="l">
              <a:lnSpc>
                <a:spcPts val="3780"/>
              </a:lnSpc>
              <a:buNone/>
            </a:pPr>
            <a:r>
              <a:rPr lang="en-US" sz="3600" b="1" kern="0" spc="-72" dirty="0">
                <a:solidFill>
                  <a:srgbClr val="1E3A8A"/>
                </a:solidFill>
                <a:latin typeface="Carlito" pitchFamily="34" charset="0"/>
                <a:ea typeface="Carlito" pitchFamily="34" charset="-122"/>
                <a:cs typeface="Carlito" pitchFamily="34" charset="-120"/>
              </a:rPr>
              <a:t>Training</a:t>
            </a:r>
            <a:endParaRPr lang="en-US" sz="3600" dirty="0"/>
          </a:p>
        </p:txBody>
      </p:sp>
      <p:sp>
        <p:nvSpPr>
          <p:cNvPr id="12" name="Text 10"/>
          <p:cNvSpPr/>
          <p:nvPr/>
        </p:nvSpPr>
        <p:spPr>
          <a:xfrm>
            <a:off x="4160007" y="2695649"/>
            <a:ext cx="571500" cy="21431"/>
          </a:xfrm>
          <a:prstGeom prst="roundRect">
            <a:avLst>
              <a:gd name="adj" fmla="val 88890"/>
            </a:avLst>
          </a:prstGeom>
          <a:solidFill>
            <a:srgbClr val="F59E0B"/>
          </a:solidFill>
          <a:ln/>
        </p:spPr>
        <p:txBody>
          <a:bodyPr wrap="square" rtlCol="0" anchor="ctr"/>
          <a:lstStyle/>
          <a:p>
            <a:pPr marL="0" indent="0">
              <a:buNone/>
            </a:pPr>
            <a:endParaRPr lang="en-US" dirty="0"/>
          </a:p>
        </p:txBody>
      </p:sp>
      <p:sp>
        <p:nvSpPr>
          <p:cNvPr id="13" name="Text 11"/>
          <p:cNvSpPr/>
          <p:nvPr/>
        </p:nvSpPr>
        <p:spPr>
          <a:xfrm>
            <a:off x="4160007" y="2817093"/>
            <a:ext cx="4000500" cy="447485"/>
          </a:xfrm>
          <a:prstGeom prst="rect">
            <a:avLst/>
          </a:prstGeom>
          <a:noFill/>
          <a:ln/>
        </p:spPr>
        <p:txBody>
          <a:bodyPr wrap="square" lIns="0" tIns="0" rIns="0" bIns="0" rtlCol="0" anchor="t"/>
          <a:lstStyle/>
          <a:p>
            <a:pPr marL="0" indent="0" algn="l">
              <a:lnSpc>
                <a:spcPts val="1631"/>
              </a:lnSpc>
              <a:buNone/>
            </a:pPr>
            <a:r>
              <a:rPr lang="en-US" sz="1125" dirty="0">
                <a:solidFill>
                  <a:srgbClr val="334155"/>
                </a:solidFill>
                <a:latin typeface="Carlito" pitchFamily="34" charset="0"/>
                <a:ea typeface="Carlito" pitchFamily="34" charset="-122"/>
                <a:cs typeface="Carlito" pitchFamily="34" charset="-120"/>
              </a:rPr>
              <a:t>Compose the full Transformer, configure hyperparameters, run the training loop, and evaluate.</a:t>
            </a:r>
            <a:endParaRPr lang="en-US" sz="1125" dirty="0"/>
          </a:p>
        </p:txBody>
      </p:sp>
      <p:sp>
        <p:nvSpPr>
          <p:cNvPr id="14" name="Text 12"/>
          <p:cNvSpPr/>
          <p:nvPr/>
        </p:nvSpPr>
        <p:spPr>
          <a:xfrm>
            <a:off x="4160007" y="3431456"/>
            <a:ext cx="1779426" cy="119015"/>
          </a:xfrm>
          <a:prstGeom prst="rect">
            <a:avLst/>
          </a:prstGeom>
          <a:noFill/>
          <a:ln/>
        </p:spPr>
        <p:txBody>
          <a:bodyPr wrap="none" lIns="0" tIns="0" rIns="0" bIns="0" rtlCol="0" anchor="t">
            <a:normAutofit/>
          </a:bodyPr>
          <a:lstStyle/>
          <a:p>
            <a:pPr marL="0" indent="0" algn="l">
              <a:lnSpc>
                <a:spcPts val="928"/>
              </a:lnSpc>
              <a:buNone/>
            </a:pPr>
            <a:r>
              <a:rPr lang="en-US" sz="800" b="1" kern="0" spc="50" dirty="0">
                <a:solidFill>
                  <a:srgbClr val="1E3A8A"/>
                </a:solidFill>
                <a:latin typeface="Courier New" pitchFamily="34" charset="0"/>
                <a:ea typeface="Courier New" pitchFamily="34" charset="-122"/>
                <a:cs typeface="Courier New" pitchFamily="34" charset="-120"/>
              </a:rPr>
              <a:t>FULL TRANSFORMER</a:t>
            </a:r>
            <a:endParaRPr lang="en-US" sz="800" dirty="0"/>
          </a:p>
        </p:txBody>
      </p:sp>
      <p:sp>
        <p:nvSpPr>
          <p:cNvPr id="15" name="Text 13"/>
          <p:cNvSpPr/>
          <p:nvPr/>
        </p:nvSpPr>
        <p:spPr>
          <a:xfrm>
            <a:off x="4160007" y="3577903"/>
            <a:ext cx="1528673" cy="30711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embeddings + enc stack + dec stack + linear</a:t>
            </a:r>
            <a:endParaRPr lang="en-US" sz="800" dirty="0"/>
          </a:p>
        </p:txBody>
      </p:sp>
      <p:sp>
        <p:nvSpPr>
          <p:cNvPr id="16" name="Text 14"/>
          <p:cNvSpPr/>
          <p:nvPr/>
        </p:nvSpPr>
        <p:spPr>
          <a:xfrm>
            <a:off x="5702164" y="3431456"/>
            <a:ext cx="1779564" cy="119015"/>
          </a:xfrm>
          <a:prstGeom prst="rect">
            <a:avLst/>
          </a:prstGeom>
          <a:noFill/>
          <a:ln/>
        </p:spPr>
        <p:txBody>
          <a:bodyPr wrap="none" lIns="0" tIns="0" rIns="0" bIns="0" rtlCol="0" anchor="t">
            <a:normAutofit/>
          </a:bodyPr>
          <a:lstStyle/>
          <a:p>
            <a:pPr marL="0" indent="0" algn="l">
              <a:lnSpc>
                <a:spcPts val="928"/>
              </a:lnSpc>
              <a:buNone/>
            </a:pPr>
            <a:r>
              <a:rPr lang="en-US" sz="800" b="1" kern="0" spc="50" dirty="0">
                <a:solidFill>
                  <a:srgbClr val="1E3A8A"/>
                </a:solidFill>
                <a:latin typeface="Courier New" pitchFamily="34" charset="0"/>
                <a:ea typeface="Courier New" pitchFamily="34" charset="-122"/>
                <a:cs typeface="Courier New" pitchFamily="34" charset="-120"/>
              </a:rPr>
              <a:t>HYPERPARAMETERS</a:t>
            </a:r>
            <a:endParaRPr lang="en-US" sz="800" dirty="0"/>
          </a:p>
        </p:txBody>
      </p:sp>
      <p:sp>
        <p:nvSpPr>
          <p:cNvPr id="17" name="Text 15"/>
          <p:cNvSpPr/>
          <p:nvPr/>
        </p:nvSpPr>
        <p:spPr>
          <a:xfrm>
            <a:off x="5702164" y="3577903"/>
            <a:ext cx="1528792" cy="30711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d_model=512, num_heads=8, num_layers=6, d_ff=2048</a:t>
            </a:r>
            <a:endParaRPr lang="en-US" sz="800" dirty="0"/>
          </a:p>
        </p:txBody>
      </p:sp>
      <p:sp>
        <p:nvSpPr>
          <p:cNvPr id="18" name="Text 16"/>
          <p:cNvSpPr/>
          <p:nvPr/>
        </p:nvSpPr>
        <p:spPr>
          <a:xfrm>
            <a:off x="7244432" y="3431456"/>
            <a:ext cx="1899568" cy="119015"/>
          </a:xfrm>
          <a:prstGeom prst="rect">
            <a:avLst/>
          </a:prstGeom>
          <a:noFill/>
          <a:ln/>
        </p:spPr>
        <p:txBody>
          <a:bodyPr wrap="none" lIns="0" tIns="0" rIns="0" bIns="0" rtlCol="0" anchor="t">
            <a:normAutofit/>
          </a:bodyPr>
          <a:lstStyle/>
          <a:p>
            <a:pPr marL="0" indent="0" algn="l">
              <a:lnSpc>
                <a:spcPts val="928"/>
              </a:lnSpc>
              <a:buNone/>
            </a:pPr>
            <a:r>
              <a:rPr lang="en-US" sz="800" b="1" kern="0" spc="50" dirty="0">
                <a:solidFill>
                  <a:srgbClr val="1E3A8A"/>
                </a:solidFill>
                <a:latin typeface="Courier New" pitchFamily="34" charset="0"/>
                <a:ea typeface="Courier New" pitchFamily="34" charset="-122"/>
                <a:cs typeface="Courier New" pitchFamily="34" charset="-120"/>
              </a:rPr>
              <a:t>TRAINING</a:t>
            </a:r>
            <a:endParaRPr lang="en-US" sz="800" dirty="0"/>
          </a:p>
        </p:txBody>
      </p:sp>
      <p:sp>
        <p:nvSpPr>
          <p:cNvPr id="19" name="Text 17"/>
          <p:cNvSpPr/>
          <p:nvPr/>
        </p:nvSpPr>
        <p:spPr>
          <a:xfrm>
            <a:off x="7244432" y="3577903"/>
            <a:ext cx="1528792" cy="30711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CrossEntropyLoss + Adam, 100 epochs, eval with torch.no_grad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71450"/>
            <a:ext cx="7850646"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Liberation Sans Narrow" pitchFamily="34" charset="0"/>
                <a:ea typeface="Liberation Sans Narrow" pitchFamily="34" charset="-122"/>
                <a:cs typeface="Liberation Sans Narrow" pitchFamily="34" charset="-120"/>
              </a:rPr>
              <a:t>CHAPTER 4 · ASSEMBLY &amp; TRAINING</a:t>
            </a:r>
            <a:endParaRPr lang="en-US" sz="800" dirty="0"/>
          </a:p>
        </p:txBody>
      </p:sp>
      <p:sp>
        <p:nvSpPr>
          <p:cNvPr id="3" name="Text 1"/>
          <p:cNvSpPr/>
          <p:nvPr/>
        </p:nvSpPr>
        <p:spPr>
          <a:xfrm>
            <a:off x="8322134" y="176808"/>
            <a:ext cx="489336"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Liberation Sans Narrow" pitchFamily="34" charset="0"/>
                <a:ea typeface="Liberation Sans Narrow" pitchFamily="34" charset="-122"/>
                <a:cs typeface="Liberation Sans Narrow" pitchFamily="34" charset="-120"/>
              </a:rPr>
              <a:t>SLIDE 14</a:t>
            </a:r>
            <a:endParaRPr lang="en-US" sz="619" dirty="0"/>
          </a:p>
        </p:txBody>
      </p:sp>
      <p:sp>
        <p:nvSpPr>
          <p:cNvPr id="4" name="Text 2"/>
          <p:cNvSpPr/>
          <p:nvPr/>
        </p:nvSpPr>
        <p:spPr>
          <a:xfrm>
            <a:off x="457200" y="428625"/>
            <a:ext cx="4431916" cy="127945"/>
          </a:xfrm>
          <a:prstGeom prst="rect">
            <a:avLst/>
          </a:prstGeom>
          <a:noFill/>
          <a:ln/>
        </p:spPr>
        <p:txBody>
          <a:bodyPr wrap="square" lIns="0" tIns="0" rIns="0" bIns="0" rtlCol="0" anchor="t">
            <a:normAutofit/>
          </a:bodyPr>
          <a:lstStyle/>
          <a:p>
            <a:pPr marL="0" indent="0" algn="l">
              <a:lnSpc>
                <a:spcPts val="886"/>
              </a:lnSpc>
              <a:buNone/>
            </a:pPr>
            <a:r>
              <a:rPr lang="en-US" sz="800" kern="0" spc="24" dirty="0">
                <a:solidFill>
                  <a:srgbClr val="64748B"/>
                </a:solidFill>
                <a:latin typeface="Courier New" pitchFamily="34" charset="0"/>
                <a:ea typeface="Courier New" pitchFamily="34" charset="-122"/>
                <a:cs typeface="Courier New" pitchFamily="34" charset="-120"/>
              </a:rPr>
              <a:t>class Transformer(nn.Module) — __init__ + generate_mask + forward</a:t>
            </a:r>
            <a:endParaRPr lang="en-US" sz="800" dirty="0"/>
          </a:p>
        </p:txBody>
      </p:sp>
      <p:sp>
        <p:nvSpPr>
          <p:cNvPr id="5" name="Text 3"/>
          <p:cNvSpPr/>
          <p:nvPr/>
        </p:nvSpPr>
        <p:spPr>
          <a:xfrm>
            <a:off x="457200" y="584002"/>
            <a:ext cx="4431916" cy="4216598"/>
          </a:xfrm>
          <a:prstGeom prst="roundRect">
            <a:avLst>
              <a:gd name="adj" fmla="val 2259"/>
            </a:avLst>
          </a:prstGeom>
          <a:solidFill>
            <a:srgbClr val="0F172A"/>
          </a:solidFill>
          <a:ln/>
        </p:spPr>
        <p:txBody>
          <a:bodyPr wrap="square" rtlCol="0" anchor="ctr"/>
          <a:lstStyle/>
          <a:p>
            <a:pPr marL="0" indent="0">
              <a:buNone/>
            </a:pPr>
            <a:endParaRPr lang="en-US" dirty="0"/>
          </a:p>
        </p:txBody>
      </p:sp>
      <p:sp>
        <p:nvSpPr>
          <p:cNvPr id="6" name="Text 4"/>
          <p:cNvSpPr/>
          <p:nvPr/>
        </p:nvSpPr>
        <p:spPr>
          <a:xfrm>
            <a:off x="557213" y="641152"/>
            <a:ext cx="3511376" cy="4102298"/>
          </a:xfrm>
          <a:prstGeom prst="rect">
            <a:avLst/>
          </a:prstGeom>
          <a:noFill/>
          <a:ln/>
        </p:spPr>
        <p:txBody>
          <a:bodyPr wrap="none" lIns="0" tIns="0" rIns="0" bIns="0" rtlCol="0" anchor="t"/>
          <a:lstStyle/>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class</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Transformer</a:t>
            </a:r>
            <a:r>
              <a:rPr lang="en-US" sz="800" dirty="0">
                <a:solidFill>
                  <a:srgbClr val="E2E8F0"/>
                </a:solidFill>
                <a:latin typeface="Liberation Mono" pitchFamily="34" charset="0"/>
                <a:ea typeface="Liberation Mono" pitchFamily="34" charset="-122"/>
                <a:cs typeface="Liberation Mono" pitchFamily="34" charset="-120"/>
              </a:rPr>
              <a:t>(nn.Module):</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(self, src_vocab_size, tgt_vocab_size,</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d_model, num_heads, num_layers, d_ff,</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max_seq_length, dropout):</a:t>
            </a:r>
            <a:endParaRPr lang="en-US" sz="800" dirty="0"/>
          </a:p>
          <a:p>
            <a:pPr marL="0" indent="0" algn="l">
              <a:lnSpc>
                <a:spcPts val="780"/>
              </a:lnSpc>
              <a:buNone/>
            </a:pPr>
            <a:r>
              <a:rPr lang="en-US" sz="800" dirty="0">
                <a:solidFill>
                  <a:srgbClr val="60A5FA"/>
                </a:solidFill>
                <a:latin typeface="Liberation Mono" pitchFamily="34" charset="0"/>
                <a:ea typeface="Liberation Mono" pitchFamily="34" charset="-122"/>
                <a:cs typeface="Liberation Mono" pitchFamily="34" charset="-120"/>
              </a:rPr>
              <a:t>super</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__init__</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self.encoder_embedding = nn.</a:t>
            </a:r>
            <a:r>
              <a:rPr lang="en-US" sz="800" dirty="0">
                <a:solidFill>
                  <a:srgbClr val="60A5FA"/>
                </a:solidFill>
                <a:latin typeface="Liberation Mono" pitchFamily="34" charset="0"/>
                <a:ea typeface="Liberation Mono" pitchFamily="34" charset="-122"/>
                <a:cs typeface="Liberation Mono" pitchFamily="34" charset="-120"/>
              </a:rPr>
              <a:t>Embedding</a:t>
            </a:r>
            <a:r>
              <a:rPr lang="en-US" sz="800" dirty="0">
                <a:solidFill>
                  <a:srgbClr val="E2E8F0"/>
                </a:solidFill>
                <a:latin typeface="Liberation Mono" pitchFamily="34" charset="0"/>
                <a:ea typeface="Liberation Mono" pitchFamily="34" charset="-122"/>
                <a:cs typeface="Liberation Mono" pitchFamily="34" charset="-120"/>
              </a:rPr>
              <a:t>(src_vocab_size, d_model)</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self.decoder_embedding = nn.</a:t>
            </a:r>
            <a:r>
              <a:rPr lang="en-US" sz="800" dirty="0">
                <a:solidFill>
                  <a:srgbClr val="60A5FA"/>
                </a:solidFill>
                <a:latin typeface="Liberation Mono" pitchFamily="34" charset="0"/>
                <a:ea typeface="Liberation Mono" pitchFamily="34" charset="-122"/>
                <a:cs typeface="Liberation Mono" pitchFamily="34" charset="-120"/>
              </a:rPr>
              <a:t>Embedding</a:t>
            </a:r>
            <a:r>
              <a:rPr lang="en-US" sz="800" dirty="0">
                <a:solidFill>
                  <a:srgbClr val="E2E8F0"/>
                </a:solidFill>
                <a:latin typeface="Liberation Mono" pitchFamily="34" charset="0"/>
                <a:ea typeface="Liberation Mono" pitchFamily="34" charset="-122"/>
                <a:cs typeface="Liberation Mono" pitchFamily="34" charset="-120"/>
              </a:rPr>
              <a:t>(tgt_vocab_size, d_model)</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self.positional_encoding = </a:t>
            </a:r>
            <a:r>
              <a:rPr lang="en-US" sz="800" dirty="0">
                <a:solidFill>
                  <a:srgbClr val="60A5FA"/>
                </a:solidFill>
                <a:latin typeface="Liberation Mono" pitchFamily="34" charset="0"/>
                <a:ea typeface="Liberation Mono" pitchFamily="34" charset="-122"/>
                <a:cs typeface="Liberation Mono" pitchFamily="34" charset="-120"/>
              </a:rPr>
              <a:t>PositionalEncoding</a:t>
            </a:r>
            <a:r>
              <a:rPr lang="en-US" sz="800" dirty="0">
                <a:solidFill>
                  <a:srgbClr val="E2E8F0"/>
                </a:solidFill>
                <a:latin typeface="Liberation Mono" pitchFamily="34" charset="0"/>
                <a:ea typeface="Liberation Mono" pitchFamily="34" charset="-122"/>
                <a:cs typeface="Liberation Mono" pitchFamily="34" charset="-120"/>
              </a:rPr>
              <a:t>(d_model, max_seq_length)</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self.encoder_layers = nn.</a:t>
            </a:r>
            <a:r>
              <a:rPr lang="en-US" sz="800" dirty="0">
                <a:solidFill>
                  <a:srgbClr val="60A5FA"/>
                </a:solidFill>
                <a:latin typeface="Liberation Mono" pitchFamily="34" charset="0"/>
                <a:ea typeface="Liberation Mono" pitchFamily="34" charset="-122"/>
                <a:cs typeface="Liberation Mono" pitchFamily="34" charset="-120"/>
              </a:rPr>
              <a:t>ModuleList</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EncoderLayer</a:t>
            </a:r>
            <a:r>
              <a:rPr lang="en-US" sz="800" dirty="0">
                <a:solidFill>
                  <a:srgbClr val="E2E8F0"/>
                </a:solidFill>
                <a:latin typeface="Liberation Mono" pitchFamily="34" charset="0"/>
                <a:ea typeface="Liberation Mono" pitchFamily="34" charset="-122"/>
                <a:cs typeface="Liberation Mono" pitchFamily="34" charset="-120"/>
              </a:rPr>
              <a:t>(d_model, num_heads, d_ff, dropout)</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for</a:t>
            </a:r>
            <a:r>
              <a:rPr lang="en-US" sz="800" dirty="0">
                <a:solidFill>
                  <a:srgbClr val="E2E8F0"/>
                </a:solidFill>
                <a:latin typeface="Liberation Mono" pitchFamily="34" charset="0"/>
                <a:ea typeface="Liberation Mono" pitchFamily="34" charset="-122"/>
                <a:cs typeface="Liberation Mono" pitchFamily="34" charset="-120"/>
              </a:rPr>
              <a:t> _ </a:t>
            </a:r>
            <a:r>
              <a:rPr lang="en-US" sz="800" dirty="0">
                <a:solidFill>
                  <a:srgbClr val="F59E0B"/>
                </a:solidFill>
                <a:latin typeface="Liberation Mono" pitchFamily="34" charset="0"/>
                <a:ea typeface="Liberation Mono" pitchFamily="34" charset="-122"/>
                <a:cs typeface="Liberation Mono" pitchFamily="34" charset="-120"/>
              </a:rPr>
              <a:t>in</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range</a:t>
            </a:r>
            <a:r>
              <a:rPr lang="en-US" sz="800" dirty="0">
                <a:solidFill>
                  <a:srgbClr val="E2E8F0"/>
                </a:solidFill>
                <a:latin typeface="Liberation Mono" pitchFamily="34" charset="0"/>
                <a:ea typeface="Liberation Mono" pitchFamily="34" charset="-122"/>
                <a:cs typeface="Liberation Mono" pitchFamily="34" charset="-120"/>
              </a:rPr>
              <a:t>(num_layers)])</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self.decoder_layers = nn.</a:t>
            </a:r>
            <a:r>
              <a:rPr lang="en-US" sz="800" dirty="0">
                <a:solidFill>
                  <a:srgbClr val="60A5FA"/>
                </a:solidFill>
                <a:latin typeface="Liberation Mono" pitchFamily="34" charset="0"/>
                <a:ea typeface="Liberation Mono" pitchFamily="34" charset="-122"/>
                <a:cs typeface="Liberation Mono" pitchFamily="34" charset="-120"/>
              </a:rPr>
              <a:t>ModuleList</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DecoderLayer</a:t>
            </a:r>
            <a:r>
              <a:rPr lang="en-US" sz="800" dirty="0">
                <a:solidFill>
                  <a:srgbClr val="E2E8F0"/>
                </a:solidFill>
                <a:latin typeface="Liberation Mono" pitchFamily="34" charset="0"/>
                <a:ea typeface="Liberation Mono" pitchFamily="34" charset="-122"/>
                <a:cs typeface="Liberation Mono" pitchFamily="34" charset="-120"/>
              </a:rPr>
              <a:t>(d_model, num_heads, d_ff, dropout)</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for</a:t>
            </a:r>
            <a:r>
              <a:rPr lang="en-US" sz="800" dirty="0">
                <a:solidFill>
                  <a:srgbClr val="E2E8F0"/>
                </a:solidFill>
                <a:latin typeface="Liberation Mono" pitchFamily="34" charset="0"/>
                <a:ea typeface="Liberation Mono" pitchFamily="34" charset="-122"/>
                <a:cs typeface="Liberation Mono" pitchFamily="34" charset="-120"/>
              </a:rPr>
              <a:t> _ </a:t>
            </a:r>
            <a:r>
              <a:rPr lang="en-US" sz="800" dirty="0">
                <a:solidFill>
                  <a:srgbClr val="F59E0B"/>
                </a:solidFill>
                <a:latin typeface="Liberation Mono" pitchFamily="34" charset="0"/>
                <a:ea typeface="Liberation Mono" pitchFamily="34" charset="-122"/>
                <a:cs typeface="Liberation Mono" pitchFamily="34" charset="-120"/>
              </a:rPr>
              <a:t>in</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range</a:t>
            </a:r>
            <a:r>
              <a:rPr lang="en-US" sz="800" dirty="0">
                <a:solidFill>
                  <a:srgbClr val="E2E8F0"/>
                </a:solidFill>
                <a:latin typeface="Liberation Mono" pitchFamily="34" charset="0"/>
                <a:ea typeface="Liberation Mono" pitchFamily="34" charset="-122"/>
                <a:cs typeface="Liberation Mono" pitchFamily="34" charset="-120"/>
              </a:rPr>
              <a:t>(num_layers)])</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self.fc      = nn.</a:t>
            </a:r>
            <a:r>
              <a:rPr lang="en-US" sz="800" dirty="0">
                <a:solidFill>
                  <a:srgbClr val="60A5FA"/>
                </a:solidFill>
                <a:latin typeface="Liberation Mono" pitchFamily="34" charset="0"/>
                <a:ea typeface="Liberation Mono" pitchFamily="34" charset="-122"/>
                <a:cs typeface="Liberation Mono" pitchFamily="34" charset="-120"/>
              </a:rPr>
              <a:t>Linear</a:t>
            </a:r>
            <a:r>
              <a:rPr lang="en-US" sz="800" dirty="0">
                <a:solidFill>
                  <a:srgbClr val="E2E8F0"/>
                </a:solidFill>
                <a:latin typeface="Liberation Mono" pitchFamily="34" charset="0"/>
                <a:ea typeface="Liberation Mono" pitchFamily="34" charset="-122"/>
                <a:cs typeface="Liberation Mono" pitchFamily="34" charset="-120"/>
              </a:rPr>
              <a:t>(d_model, tgt_vocab_size)</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self.dropout = nn.</a:t>
            </a:r>
            <a:r>
              <a:rPr lang="en-US" sz="800" dirty="0">
                <a:solidFill>
                  <a:srgbClr val="60A5FA"/>
                </a:solidFill>
                <a:latin typeface="Liberation Mono" pitchFamily="34" charset="0"/>
                <a:ea typeface="Liberation Mono" pitchFamily="34" charset="-122"/>
                <a:cs typeface="Liberation Mono" pitchFamily="34" charset="-120"/>
              </a:rPr>
              <a:t>Dropout</a:t>
            </a:r>
            <a:r>
              <a:rPr lang="en-US" sz="800" dirty="0">
                <a:solidFill>
                  <a:srgbClr val="E2E8F0"/>
                </a:solidFill>
                <a:latin typeface="Liberation Mono" pitchFamily="34" charset="0"/>
                <a:ea typeface="Liberation Mono" pitchFamily="34" charset="-122"/>
                <a:cs typeface="Liberation Mono" pitchFamily="34" charset="-120"/>
              </a:rPr>
              <a:t>(dropout)</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generate_mask</a:t>
            </a:r>
            <a:r>
              <a:rPr lang="en-US" sz="800" dirty="0">
                <a:solidFill>
                  <a:srgbClr val="E2E8F0"/>
                </a:solidFill>
                <a:latin typeface="Liberation Mono" pitchFamily="34" charset="0"/>
                <a:ea typeface="Liberation Mono" pitchFamily="34" charset="-122"/>
                <a:cs typeface="Liberation Mono" pitchFamily="34" charset="-120"/>
              </a:rPr>
              <a:t>(self, src, tgt):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src_mask = (src != </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).unsqueeze(</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).unsqueeze(</a:t>
            </a:r>
            <a:r>
              <a:rPr lang="en-US" sz="800" dirty="0">
                <a:solidFill>
                  <a:srgbClr val="F472B6"/>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tgt_mask = (tgt != </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).unsqueeze(</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).unsqueeze(</a:t>
            </a:r>
            <a:r>
              <a:rPr lang="en-US" sz="800" dirty="0">
                <a:solidFill>
                  <a:srgbClr val="F472B6"/>
                </a:solidFill>
                <a:latin typeface="Liberation Sans Narrow" pitchFamily="34" charset="0"/>
                <a:ea typeface="Liberation Sans Narrow" pitchFamily="34" charset="-122"/>
                <a:cs typeface="Liberation Sans Narrow" pitchFamily="34" charset="-120"/>
              </a:rPr>
              <a:t>3</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seq_length = tgt.size(</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nopeak_mask =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 - torch.</a:t>
            </a:r>
            <a:r>
              <a:rPr lang="en-US" sz="800" dirty="0">
                <a:solidFill>
                  <a:srgbClr val="60A5FA"/>
                </a:solidFill>
                <a:latin typeface="Liberation Mono" pitchFamily="34" charset="0"/>
                <a:ea typeface="Liberation Mono" pitchFamily="34" charset="-122"/>
                <a:cs typeface="Liberation Mono" pitchFamily="34" charset="-120"/>
              </a:rPr>
              <a:t>triu</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torch.</a:t>
            </a:r>
            <a:r>
              <a:rPr lang="en-US" sz="800" dirty="0">
                <a:solidFill>
                  <a:srgbClr val="60A5FA"/>
                </a:solidFill>
                <a:latin typeface="Liberation Mono" pitchFamily="34" charset="0"/>
                <a:ea typeface="Liberation Mono" pitchFamily="34" charset="-122"/>
                <a:cs typeface="Liberation Mono" pitchFamily="34" charset="-120"/>
              </a:rPr>
              <a:t>ones</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 seq_length, seq_length),</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diagonal=</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60A5FA"/>
                </a:solidFill>
                <a:latin typeface="Liberation Mono" pitchFamily="34" charset="0"/>
                <a:ea typeface="Liberation Mono" pitchFamily="34" charset="-122"/>
                <a:cs typeface="Liberation Mono" pitchFamily="34" charset="-120"/>
              </a:rPr>
              <a:t>bool</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tgt_mask = tgt_mask &amp; nopeak_mask</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src_mask, tgt_mask</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def</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forward</a:t>
            </a:r>
            <a:r>
              <a:rPr lang="en-US" sz="800" dirty="0">
                <a:solidFill>
                  <a:srgbClr val="E2E8F0"/>
                </a:solidFill>
                <a:latin typeface="Liberation Mono" pitchFamily="34" charset="0"/>
                <a:ea typeface="Liberation Mono" pitchFamily="34" charset="-122"/>
                <a:cs typeface="Liberation Mono" pitchFamily="34" charset="-120"/>
              </a:rPr>
              <a:t>(self, src, tgt):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src_mask, tgt_mask = self.</a:t>
            </a:r>
            <a:r>
              <a:rPr lang="en-US" sz="800" dirty="0">
                <a:solidFill>
                  <a:srgbClr val="60A5FA"/>
                </a:solidFill>
                <a:latin typeface="Liberation Mono" pitchFamily="34" charset="0"/>
                <a:ea typeface="Liberation Mono" pitchFamily="34" charset="-122"/>
                <a:cs typeface="Liberation Mono" pitchFamily="34" charset="-120"/>
              </a:rPr>
              <a:t>generate_mask</a:t>
            </a:r>
            <a:r>
              <a:rPr lang="en-US" sz="800" dirty="0">
                <a:solidFill>
                  <a:srgbClr val="E2E8F0"/>
                </a:solidFill>
                <a:latin typeface="Liberation Mono" pitchFamily="34" charset="0"/>
                <a:ea typeface="Liberation Mono" pitchFamily="34" charset="-122"/>
                <a:cs typeface="Liberation Mono" pitchFamily="34" charset="-120"/>
              </a:rPr>
              <a:t>(src, tgt)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src_emb = self.dropout(self.positional_encoding(</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self.encoder_embedding(src)))</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tgt_emb = self.dropout(self.positional_encoding(</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self.decoder_embedding(tgt)))</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enc_out = src_emb</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for</a:t>
            </a:r>
            <a:r>
              <a:rPr lang="en-US" sz="800" dirty="0">
                <a:solidFill>
                  <a:srgbClr val="E2E8F0"/>
                </a:solidFill>
                <a:latin typeface="Liberation Mono" pitchFamily="34" charset="0"/>
                <a:ea typeface="Liberation Mono" pitchFamily="34" charset="-122"/>
                <a:cs typeface="Liberation Mono" pitchFamily="34" charset="-120"/>
              </a:rPr>
              <a:t> layer </a:t>
            </a:r>
            <a:r>
              <a:rPr lang="en-US" sz="800" dirty="0">
                <a:solidFill>
                  <a:srgbClr val="F59E0B"/>
                </a:solidFill>
                <a:latin typeface="Liberation Mono" pitchFamily="34" charset="0"/>
                <a:ea typeface="Liberation Mono" pitchFamily="34" charset="-122"/>
                <a:cs typeface="Liberation Mono" pitchFamily="34" charset="-120"/>
              </a:rPr>
              <a:t>in</a:t>
            </a:r>
            <a:r>
              <a:rPr lang="en-US" sz="800" dirty="0">
                <a:solidFill>
                  <a:srgbClr val="E2E8F0"/>
                </a:solidFill>
                <a:latin typeface="Liberation Mono" pitchFamily="34" charset="0"/>
                <a:ea typeface="Liberation Mono" pitchFamily="34" charset="-122"/>
                <a:cs typeface="Liberation Mono" pitchFamily="34" charset="-120"/>
              </a:rPr>
              <a:t> self.encoder_layers:</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enc_out = layer(enc_out, src_mask)</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dec_out = tgt_emb</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for</a:t>
            </a:r>
            <a:r>
              <a:rPr lang="en-US" sz="800" dirty="0">
                <a:solidFill>
                  <a:srgbClr val="E2E8F0"/>
                </a:solidFill>
                <a:latin typeface="Liberation Mono" pitchFamily="34" charset="0"/>
                <a:ea typeface="Liberation Mono" pitchFamily="34" charset="-122"/>
                <a:cs typeface="Liberation Mono" pitchFamily="34" charset="-120"/>
              </a:rPr>
              <a:t> layer </a:t>
            </a:r>
            <a:r>
              <a:rPr lang="en-US" sz="800" dirty="0">
                <a:solidFill>
                  <a:srgbClr val="F59E0B"/>
                </a:solidFill>
                <a:latin typeface="Liberation Mono" pitchFamily="34" charset="0"/>
                <a:ea typeface="Liberation Mono" pitchFamily="34" charset="-122"/>
                <a:cs typeface="Liberation Mono" pitchFamily="34" charset="-120"/>
              </a:rPr>
              <a:t>in</a:t>
            </a:r>
            <a:r>
              <a:rPr lang="en-US" sz="800" dirty="0">
                <a:solidFill>
                  <a:srgbClr val="E2E8F0"/>
                </a:solidFill>
                <a:latin typeface="Liberation Mono" pitchFamily="34" charset="0"/>
                <a:ea typeface="Liberation Mono" pitchFamily="34" charset="-122"/>
                <a:cs typeface="Liberation Mono" pitchFamily="34" charset="-120"/>
              </a:rPr>
              <a:t> self.decoder_layers:</a:t>
            </a:r>
            <a:endParaRPr lang="en-US" sz="800" dirty="0"/>
          </a:p>
          <a:p>
            <a:pPr marL="0" indent="0" algn="l">
              <a:lnSpc>
                <a:spcPts val="780"/>
              </a:lnSpc>
              <a:buNone/>
            </a:pPr>
            <a:r>
              <a:rPr lang="en-US" sz="800" dirty="0">
                <a:solidFill>
                  <a:srgbClr val="E2E8F0"/>
                </a:solidFill>
                <a:latin typeface="Liberation Mono" pitchFamily="34" charset="0"/>
                <a:ea typeface="Liberation Mono" pitchFamily="34" charset="-122"/>
                <a:cs typeface="Liberation Mono" pitchFamily="34" charset="-120"/>
              </a:rPr>
              <a:t>dec_out = layer(dec_out, enc_out, src_mask, tgt_mask)</a:t>
            </a:r>
            <a:endParaRPr lang="en-US" sz="800" dirty="0"/>
          </a:p>
          <a:p>
            <a:pPr marL="0" indent="0" algn="l">
              <a:lnSpc>
                <a:spcPts val="780"/>
              </a:lnSpc>
              <a:buNone/>
            </a:pPr>
            <a:r>
              <a:rPr lang="en-US" sz="800" dirty="0">
                <a:solidFill>
                  <a:srgbClr val="F59E0B"/>
                </a:solidFill>
                <a:latin typeface="Liberation Mono" pitchFamily="34" charset="0"/>
                <a:ea typeface="Liberation Mono" pitchFamily="34" charset="-122"/>
                <a:cs typeface="Liberation Mono" pitchFamily="34" charset="-120"/>
              </a:rPr>
              <a:t>return</a:t>
            </a:r>
            <a:r>
              <a:rPr lang="en-US" sz="800" dirty="0">
                <a:solidFill>
                  <a:srgbClr val="E2E8F0"/>
                </a:solidFill>
                <a:latin typeface="Liberation Mono" pitchFamily="34" charset="0"/>
                <a:ea typeface="Liberation Mono" pitchFamily="34" charset="-122"/>
                <a:cs typeface="Liberation Mono" pitchFamily="34" charset="-120"/>
              </a:rPr>
              <a:t> self.fc(dec_out)</a:t>
            </a:r>
            <a:endParaRPr lang="en-US" sz="800" dirty="0"/>
          </a:p>
        </p:txBody>
      </p:sp>
      <p:sp>
        <p:nvSpPr>
          <p:cNvPr id="7" name="Text 5"/>
          <p:cNvSpPr/>
          <p:nvPr/>
        </p:nvSpPr>
        <p:spPr>
          <a:xfrm>
            <a:off x="5060566" y="428625"/>
            <a:ext cx="4083434" cy="158306"/>
          </a:xfrm>
          <a:prstGeom prst="rect">
            <a:avLst/>
          </a:prstGeom>
          <a:noFill/>
          <a:ln/>
        </p:spPr>
        <p:txBody>
          <a:bodyPr wrap="squar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FULL MODEL · MASKING DEEP DIVE</a:t>
            </a:r>
            <a:endParaRPr lang="en-US" sz="800" dirty="0"/>
          </a:p>
        </p:txBody>
      </p:sp>
      <p:sp>
        <p:nvSpPr>
          <p:cNvPr id="8" name="Text 6"/>
          <p:cNvSpPr/>
          <p:nvPr/>
        </p:nvSpPr>
        <p:spPr>
          <a:xfrm>
            <a:off x="5060566" y="614363"/>
            <a:ext cx="3988735" cy="212893"/>
          </a:xfrm>
          <a:prstGeom prst="rect">
            <a:avLst/>
          </a:prstGeom>
          <a:noFill/>
          <a:ln/>
        </p:spPr>
        <p:txBody>
          <a:bodyPr wrap="square" lIns="0" tIns="0" rIns="0" bIns="0" rtlCol="0" anchor="t"/>
          <a:lstStyle/>
          <a:p>
            <a:pPr marL="0" indent="0" algn="l">
              <a:lnSpc>
                <a:spcPts val="1553"/>
              </a:lnSpc>
              <a:buNone/>
            </a:pPr>
            <a:r>
              <a:rPr lang="en-US" sz="1350" b="1" dirty="0">
                <a:solidFill>
                  <a:srgbClr val="1E3A8A"/>
                </a:solidFill>
                <a:latin typeface="Carlito" pitchFamily="34" charset="0"/>
                <a:ea typeface="Carlito" pitchFamily="34" charset="-122"/>
                <a:cs typeface="Carlito" pitchFamily="34" charset="-120"/>
              </a:rPr>
              <a:t>Assembling the Full Transformer</a:t>
            </a:r>
            <a:endParaRPr lang="en-US" sz="1350" dirty="0"/>
          </a:p>
        </p:txBody>
      </p:sp>
      <p:sp>
        <p:nvSpPr>
          <p:cNvPr id="9" name="Text 7"/>
          <p:cNvSpPr/>
          <p:nvPr/>
        </p:nvSpPr>
        <p:spPr>
          <a:xfrm>
            <a:off x="5060566" y="882923"/>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10" name="Text 8"/>
          <p:cNvSpPr/>
          <p:nvPr/>
        </p:nvSpPr>
        <p:spPr>
          <a:xfrm>
            <a:off x="5064137" y="1000795"/>
            <a:ext cx="3618979" cy="1375172"/>
          </a:xfrm>
          <a:prstGeom prst="roundRect">
            <a:avLst>
              <a:gd name="adj" fmla="val 831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1" name="Text 9"/>
          <p:cNvSpPr/>
          <p:nvPr/>
        </p:nvSpPr>
        <p:spPr>
          <a:xfrm>
            <a:off x="5167722" y="1075804"/>
            <a:ext cx="3411810" cy="113657"/>
          </a:xfrm>
          <a:prstGeom prst="rect">
            <a:avLst/>
          </a:prstGeom>
          <a:noFill/>
          <a:ln/>
        </p:spPr>
        <p:txBody>
          <a:bodyPr wrap="none" lIns="0" tIns="0" rIns="0" bIns="0" rtlCol="0" anchor="t">
            <a:normAutofit/>
          </a:bodyPr>
          <a:lstStyle/>
          <a:p>
            <a:pPr marL="0" indent="0" algn="l">
              <a:lnSpc>
                <a:spcPts val="886"/>
              </a:lnSpc>
              <a:buNone/>
            </a:pPr>
            <a:r>
              <a:rPr lang="en-US" sz="800" b="1" kern="0" spc="47" dirty="0">
                <a:solidFill>
                  <a:srgbClr val="1E3A8A"/>
                </a:solidFill>
                <a:latin typeface="Liberation Sans Narrow" pitchFamily="34" charset="0"/>
                <a:ea typeface="Liberation Sans Narrow" pitchFamily="34" charset="-122"/>
                <a:cs typeface="Liberation Sans Narrow" pitchFamily="34" charset="-120"/>
              </a:rPr>
              <a:t>FORWARD PASS · 4 STEPS</a:t>
            </a:r>
            <a:endParaRPr lang="en-US" sz="800" dirty="0"/>
          </a:p>
        </p:txBody>
      </p:sp>
      <p:sp>
        <p:nvSpPr>
          <p:cNvPr id="12" name="Text 10"/>
          <p:cNvSpPr/>
          <p:nvPr/>
        </p:nvSpPr>
        <p:spPr>
          <a:xfrm>
            <a:off x="5167722" y="1252612"/>
            <a:ext cx="157163" cy="157163"/>
          </a:xfrm>
          <a:prstGeom prst="ellipse">
            <a:avLst/>
          </a:prstGeom>
          <a:solidFill>
            <a:srgbClr val="1E3A8A"/>
          </a:solidFill>
          <a:ln/>
        </p:spPr>
        <p:txBody>
          <a:bodyPr wrap="square" rtlCol="0" anchor="ctr"/>
          <a:lstStyle/>
          <a:p>
            <a:pPr marL="0" indent="0">
              <a:buNone/>
            </a:pPr>
            <a:endParaRPr lang="en-US" dirty="0"/>
          </a:p>
        </p:txBody>
      </p:sp>
      <p:sp>
        <p:nvSpPr>
          <p:cNvPr id="13" name="Text 11"/>
          <p:cNvSpPr/>
          <p:nvPr/>
        </p:nvSpPr>
        <p:spPr>
          <a:xfrm>
            <a:off x="5167722" y="1252612"/>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4" name="Text 12"/>
          <p:cNvSpPr/>
          <p:nvPr/>
        </p:nvSpPr>
        <p:spPr>
          <a:xfrm>
            <a:off x="5382034" y="1252612"/>
            <a:ext cx="3197498" cy="120638"/>
          </a:xfrm>
          <a:prstGeom prst="rect">
            <a:avLst/>
          </a:prstGeom>
          <a:noFill/>
          <a:ln/>
        </p:spPr>
        <p:txBody>
          <a:bodyPr wrap="none" lIns="0" tIns="0" rIns="0" bIns="0" rtlCol="0" anchor="t"/>
          <a:lstStyle/>
          <a:p>
            <a:pPr marL="0" indent="0" algn="l">
              <a:lnSpc>
                <a:spcPts val="681"/>
              </a:lnSpc>
              <a:buNone/>
            </a:pPr>
            <a:r>
              <a:rPr lang="en-US" sz="800" b="1" kern="0" spc="50" dirty="0">
                <a:solidFill>
                  <a:srgbClr val="1E3A8A"/>
                </a:solidFill>
                <a:latin typeface="Carlito" pitchFamily="34" charset="0"/>
                <a:ea typeface="Carlito" pitchFamily="34" charset="-122"/>
                <a:cs typeface="Carlito" pitchFamily="34" charset="-120"/>
              </a:rPr>
              <a:t>EMBED + ENCODE</a:t>
            </a:r>
            <a:endParaRPr lang="en-US" sz="800" dirty="0"/>
          </a:p>
        </p:txBody>
      </p:sp>
      <p:sp>
        <p:nvSpPr>
          <p:cNvPr id="15" name="Text 13"/>
          <p:cNvSpPr/>
          <p:nvPr/>
        </p:nvSpPr>
        <p:spPr>
          <a:xfrm>
            <a:off x="5382034" y="1346150"/>
            <a:ext cx="3197498" cy="148070"/>
          </a:xfrm>
          <a:prstGeom prst="rect">
            <a:avLst/>
          </a:prstGeom>
          <a:noFill/>
          <a:ln/>
        </p:spPr>
        <p:txBody>
          <a:bodyPr wrap="square" lIns="0" tIns="0" rIns="0" bIns="0" rtlCol="0" anchor="t"/>
          <a:lstStyle/>
          <a:p>
            <a:pPr marL="0" indent="0" algn="l">
              <a:lnSpc>
                <a:spcPts val="835"/>
              </a:lnSpc>
              <a:buNone/>
            </a:pPr>
            <a:r>
              <a:rPr lang="en-US" sz="800" dirty="0">
                <a:solidFill>
                  <a:srgbClr val="334155"/>
                </a:solidFill>
                <a:latin typeface="Carlito" pitchFamily="34" charset="0"/>
                <a:ea typeface="Carlito" pitchFamily="34" charset="-122"/>
                <a:cs typeface="Carlito" pitchFamily="34" charset="-120"/>
              </a:rPr>
              <a:t>src/tgt → embedding → +positional encoding → dropout.</a:t>
            </a:r>
            <a:endParaRPr lang="en-US" sz="800" dirty="0"/>
          </a:p>
        </p:txBody>
      </p:sp>
      <p:sp>
        <p:nvSpPr>
          <p:cNvPr id="16" name="Text 14"/>
          <p:cNvSpPr/>
          <p:nvPr/>
        </p:nvSpPr>
        <p:spPr>
          <a:xfrm>
            <a:off x="5167722" y="1523628"/>
            <a:ext cx="157163" cy="157163"/>
          </a:xfrm>
          <a:prstGeom prst="ellipse">
            <a:avLst/>
          </a:prstGeom>
          <a:solidFill>
            <a:srgbClr val="1E3A8A"/>
          </a:solidFill>
          <a:ln/>
        </p:spPr>
        <p:txBody>
          <a:bodyPr wrap="square" rtlCol="0" anchor="ctr"/>
          <a:lstStyle/>
          <a:p>
            <a:pPr marL="0" indent="0">
              <a:buNone/>
            </a:pPr>
            <a:endParaRPr lang="en-US" dirty="0"/>
          </a:p>
        </p:txBody>
      </p:sp>
      <p:sp>
        <p:nvSpPr>
          <p:cNvPr id="17" name="Text 15"/>
          <p:cNvSpPr/>
          <p:nvPr/>
        </p:nvSpPr>
        <p:spPr>
          <a:xfrm>
            <a:off x="5167722" y="1523628"/>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8" name="Text 16"/>
          <p:cNvSpPr/>
          <p:nvPr/>
        </p:nvSpPr>
        <p:spPr>
          <a:xfrm>
            <a:off x="5382034" y="1523628"/>
            <a:ext cx="3197498" cy="120638"/>
          </a:xfrm>
          <a:prstGeom prst="rect">
            <a:avLst/>
          </a:prstGeom>
          <a:noFill/>
          <a:ln/>
        </p:spPr>
        <p:txBody>
          <a:bodyPr wrap="none" lIns="0" tIns="0" rIns="0" bIns="0" rtlCol="0" anchor="t"/>
          <a:lstStyle/>
          <a:p>
            <a:pPr marL="0" indent="0" algn="l">
              <a:lnSpc>
                <a:spcPts val="681"/>
              </a:lnSpc>
              <a:buNone/>
            </a:pPr>
            <a:r>
              <a:rPr lang="en-US" sz="800" b="1" kern="0" spc="50" dirty="0">
                <a:solidFill>
                  <a:srgbClr val="1E3A8A"/>
                </a:solidFill>
                <a:latin typeface="Carlito" pitchFamily="34" charset="0"/>
                <a:ea typeface="Carlito" pitchFamily="34" charset="-122"/>
                <a:cs typeface="Carlito" pitchFamily="34" charset="-120"/>
              </a:rPr>
              <a:t>ENCODER STACK</a:t>
            </a:r>
            <a:endParaRPr lang="en-US" sz="800" dirty="0"/>
          </a:p>
        </p:txBody>
      </p:sp>
      <p:sp>
        <p:nvSpPr>
          <p:cNvPr id="19" name="Text 17"/>
          <p:cNvSpPr/>
          <p:nvPr/>
        </p:nvSpPr>
        <p:spPr>
          <a:xfrm>
            <a:off x="5382034" y="1617166"/>
            <a:ext cx="3307226" cy="148070"/>
          </a:xfrm>
          <a:prstGeom prst="rect">
            <a:avLst/>
          </a:prstGeom>
          <a:noFill/>
          <a:ln/>
        </p:spPr>
        <p:txBody>
          <a:bodyPr wrap="square" lIns="0" tIns="0" rIns="0" bIns="0" rtlCol="0" anchor="t"/>
          <a:lstStyle/>
          <a:p>
            <a:pPr marL="0" indent="0" algn="l">
              <a:lnSpc>
                <a:spcPts val="835"/>
              </a:lnSpc>
              <a:buNone/>
            </a:pPr>
            <a:r>
              <a:rPr lang="en-US" sz="800" dirty="0">
                <a:solidFill>
                  <a:srgbClr val="334155"/>
                </a:solidFill>
                <a:latin typeface="Carlito" pitchFamily="34" charset="0"/>
                <a:ea typeface="Carlito" pitchFamily="34" charset="-122"/>
                <a:cs typeface="Carlito" pitchFamily="34" charset="-120"/>
              </a:rPr>
              <a:t>Pass src through N encoder layers; keep enc_out.</a:t>
            </a:r>
            <a:endParaRPr lang="en-US" sz="800" dirty="0"/>
          </a:p>
        </p:txBody>
      </p:sp>
      <p:sp>
        <p:nvSpPr>
          <p:cNvPr id="20" name="Text 18"/>
          <p:cNvSpPr/>
          <p:nvPr/>
        </p:nvSpPr>
        <p:spPr>
          <a:xfrm>
            <a:off x="5167722" y="1794644"/>
            <a:ext cx="157163" cy="157163"/>
          </a:xfrm>
          <a:prstGeom prst="ellipse">
            <a:avLst/>
          </a:prstGeom>
          <a:solidFill>
            <a:srgbClr val="1E3A8A"/>
          </a:solidFill>
          <a:ln/>
        </p:spPr>
        <p:txBody>
          <a:bodyPr wrap="square" rtlCol="0" anchor="ctr"/>
          <a:lstStyle/>
          <a:p>
            <a:pPr marL="0" indent="0">
              <a:buNone/>
            </a:pPr>
            <a:endParaRPr lang="en-US" dirty="0"/>
          </a:p>
        </p:txBody>
      </p:sp>
      <p:sp>
        <p:nvSpPr>
          <p:cNvPr id="21" name="Text 19"/>
          <p:cNvSpPr/>
          <p:nvPr/>
        </p:nvSpPr>
        <p:spPr>
          <a:xfrm>
            <a:off x="5167722" y="1794644"/>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2" name="Text 20"/>
          <p:cNvSpPr/>
          <p:nvPr/>
        </p:nvSpPr>
        <p:spPr>
          <a:xfrm>
            <a:off x="5382034" y="1794644"/>
            <a:ext cx="3197498" cy="120638"/>
          </a:xfrm>
          <a:prstGeom prst="rect">
            <a:avLst/>
          </a:prstGeom>
          <a:noFill/>
          <a:ln/>
        </p:spPr>
        <p:txBody>
          <a:bodyPr wrap="none" lIns="0" tIns="0" rIns="0" bIns="0" rtlCol="0" anchor="t"/>
          <a:lstStyle/>
          <a:p>
            <a:pPr marL="0" indent="0" algn="l">
              <a:lnSpc>
                <a:spcPts val="681"/>
              </a:lnSpc>
              <a:buNone/>
            </a:pPr>
            <a:r>
              <a:rPr lang="en-US" sz="800" b="1" kern="0" spc="50" dirty="0">
                <a:solidFill>
                  <a:srgbClr val="1E3A8A"/>
                </a:solidFill>
                <a:latin typeface="Carlito" pitchFamily="34" charset="0"/>
                <a:ea typeface="Carlito" pitchFamily="34" charset="-122"/>
                <a:cs typeface="Carlito" pitchFamily="34" charset="-120"/>
              </a:rPr>
              <a:t>DECODER STACK</a:t>
            </a:r>
            <a:endParaRPr lang="en-US" sz="800" dirty="0"/>
          </a:p>
        </p:txBody>
      </p:sp>
      <p:sp>
        <p:nvSpPr>
          <p:cNvPr id="23" name="Text 21"/>
          <p:cNvSpPr/>
          <p:nvPr/>
        </p:nvSpPr>
        <p:spPr>
          <a:xfrm>
            <a:off x="5382034" y="1888182"/>
            <a:ext cx="3197498" cy="148070"/>
          </a:xfrm>
          <a:prstGeom prst="rect">
            <a:avLst/>
          </a:prstGeom>
          <a:noFill/>
          <a:ln/>
        </p:spPr>
        <p:txBody>
          <a:bodyPr wrap="square" lIns="0" tIns="0" rIns="0" bIns="0" rtlCol="0" anchor="t"/>
          <a:lstStyle/>
          <a:p>
            <a:pPr marL="0" indent="0" algn="l">
              <a:lnSpc>
                <a:spcPts val="835"/>
              </a:lnSpc>
              <a:buNone/>
            </a:pPr>
            <a:r>
              <a:rPr lang="en-US" sz="619" dirty="0">
                <a:solidFill>
                  <a:srgbClr val="334155"/>
                </a:solidFill>
                <a:latin typeface="Carlito" pitchFamily="34" charset="0"/>
                <a:ea typeface="Carlito" pitchFamily="34" charset="-122"/>
                <a:cs typeface="Carlito" pitchFamily="34" charset="-120"/>
              </a:rPr>
              <a:t>Pass tgt through N decoder layers, each attending to enc_out.</a:t>
            </a:r>
            <a:endParaRPr lang="en-US" sz="619" dirty="0"/>
          </a:p>
        </p:txBody>
      </p:sp>
      <p:sp>
        <p:nvSpPr>
          <p:cNvPr id="24" name="Text 22"/>
          <p:cNvSpPr/>
          <p:nvPr/>
        </p:nvSpPr>
        <p:spPr>
          <a:xfrm>
            <a:off x="5167722" y="2065660"/>
            <a:ext cx="157163" cy="157163"/>
          </a:xfrm>
          <a:prstGeom prst="ellipse">
            <a:avLst/>
          </a:prstGeom>
          <a:solidFill>
            <a:srgbClr val="1E3A8A"/>
          </a:solidFill>
          <a:ln/>
        </p:spPr>
        <p:txBody>
          <a:bodyPr wrap="square" rtlCol="0" anchor="ctr"/>
          <a:lstStyle/>
          <a:p>
            <a:pPr marL="0" indent="0">
              <a:buNone/>
            </a:pPr>
            <a:endParaRPr lang="en-US" dirty="0"/>
          </a:p>
        </p:txBody>
      </p:sp>
      <p:sp>
        <p:nvSpPr>
          <p:cNvPr id="25" name="Text 23"/>
          <p:cNvSpPr/>
          <p:nvPr/>
        </p:nvSpPr>
        <p:spPr>
          <a:xfrm>
            <a:off x="5167722" y="2065660"/>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6" name="Text 24"/>
          <p:cNvSpPr/>
          <p:nvPr/>
        </p:nvSpPr>
        <p:spPr>
          <a:xfrm>
            <a:off x="5382034" y="2065660"/>
            <a:ext cx="3197498" cy="120638"/>
          </a:xfrm>
          <a:prstGeom prst="rect">
            <a:avLst/>
          </a:prstGeom>
          <a:noFill/>
          <a:ln/>
        </p:spPr>
        <p:txBody>
          <a:bodyPr wrap="none" lIns="0" tIns="0" rIns="0" bIns="0" rtlCol="0" anchor="t"/>
          <a:lstStyle/>
          <a:p>
            <a:pPr marL="0" indent="0" algn="l">
              <a:lnSpc>
                <a:spcPts val="681"/>
              </a:lnSpc>
              <a:buNone/>
            </a:pPr>
            <a:r>
              <a:rPr lang="en-US" sz="800" b="1" kern="0" spc="50" dirty="0">
                <a:solidFill>
                  <a:srgbClr val="1E3A8A"/>
                </a:solidFill>
                <a:latin typeface="Carlito" pitchFamily="34" charset="0"/>
                <a:ea typeface="Carlito" pitchFamily="34" charset="-122"/>
                <a:cs typeface="Carlito" pitchFamily="34" charset="-120"/>
              </a:rPr>
              <a:t>PROJECT</a:t>
            </a:r>
            <a:endParaRPr lang="en-US" sz="800" dirty="0"/>
          </a:p>
        </p:txBody>
      </p:sp>
      <p:sp>
        <p:nvSpPr>
          <p:cNvPr id="27" name="Text 25"/>
          <p:cNvSpPr/>
          <p:nvPr/>
        </p:nvSpPr>
        <p:spPr>
          <a:xfrm>
            <a:off x="5382034" y="2159198"/>
            <a:ext cx="3197498" cy="141759"/>
          </a:xfrm>
          <a:prstGeom prst="rect">
            <a:avLst/>
          </a:prstGeom>
          <a:noFill/>
          <a:ln/>
        </p:spPr>
        <p:txBody>
          <a:bodyPr wrap="square" lIns="0" tIns="0" rIns="0" bIns="0" rtlCol="0" anchor="t"/>
          <a:lstStyle/>
          <a:p>
            <a:pPr marL="0" indent="0" algn="l">
              <a:lnSpc>
                <a:spcPts val="835"/>
              </a:lnSpc>
              <a:buNone/>
            </a:pPr>
            <a:r>
              <a:rPr lang="en-US" sz="619" dirty="0">
                <a:solidFill>
                  <a:srgbClr val="334155"/>
                </a:solidFill>
                <a:latin typeface="Carlito" pitchFamily="34" charset="0"/>
                <a:ea typeface="Carlito" pitchFamily="34" charset="-122"/>
                <a:cs typeface="Carlito" pitchFamily="34" charset="-120"/>
              </a:rPr>
              <a:t>Linear layer maps decoder output to tgt_vocab_size logits.</a:t>
            </a:r>
            <a:endParaRPr lang="en-US" sz="619" dirty="0"/>
          </a:p>
        </p:txBody>
      </p:sp>
      <p:sp>
        <p:nvSpPr>
          <p:cNvPr id="28" name="Text 26"/>
          <p:cNvSpPr/>
          <p:nvPr/>
        </p:nvSpPr>
        <p:spPr>
          <a:xfrm>
            <a:off x="5064137" y="2440260"/>
            <a:ext cx="3618979" cy="936278"/>
          </a:xfrm>
          <a:prstGeom prst="roundRect">
            <a:avLst>
              <a:gd name="adj" fmla="val 12208"/>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29" name="Text 27"/>
          <p:cNvSpPr/>
          <p:nvPr/>
        </p:nvSpPr>
        <p:spPr>
          <a:xfrm>
            <a:off x="5167722" y="2522413"/>
            <a:ext cx="3411810" cy="133302"/>
          </a:xfrm>
          <a:prstGeom prst="rect">
            <a:avLst/>
          </a:prstGeom>
          <a:noFill/>
          <a:ln/>
        </p:spPr>
        <p:txBody>
          <a:bodyPr wrap="none" lIns="0" tIns="0" rIns="0" bIns="0" rtlCol="0" anchor="t">
            <a:normAutofit/>
          </a:bodyPr>
          <a:lstStyle/>
          <a:p>
            <a:pPr marL="0" indent="0" algn="l">
              <a:lnSpc>
                <a:spcPts val="928"/>
              </a:lnSpc>
              <a:buNone/>
            </a:pPr>
            <a:r>
              <a:rPr lang="en-US" sz="800" b="1" kern="0" spc="37" dirty="0">
                <a:solidFill>
                  <a:srgbClr val="1E3A8A"/>
                </a:solidFill>
                <a:latin typeface="Courier New" pitchFamily="34" charset="0"/>
                <a:ea typeface="Courier New" pitchFamily="34" charset="-122"/>
                <a:cs typeface="Courier New" pitchFamily="34" charset="-120"/>
              </a:rPr>
              <a:t>MASKING — THE FIDDLY BIT</a:t>
            </a:r>
            <a:endParaRPr lang="en-US" sz="800" dirty="0"/>
          </a:p>
        </p:txBody>
      </p:sp>
      <p:sp>
        <p:nvSpPr>
          <p:cNvPr id="30" name="Text 28"/>
          <p:cNvSpPr/>
          <p:nvPr/>
        </p:nvSpPr>
        <p:spPr>
          <a:xfrm>
            <a:off x="5167722" y="2690292"/>
            <a:ext cx="91440" cy="173593"/>
          </a:xfrm>
          <a:prstGeom prst="rect">
            <a:avLst/>
          </a:prstGeom>
          <a:noFill/>
          <a:ln/>
        </p:spPr>
        <p:txBody>
          <a:bodyPr wrap="none" lIns="0" tIns="0" rIns="0" bIns="0" rtlCol="0" anchor="t"/>
          <a:lstStyle/>
          <a:p>
            <a:pPr marL="0" indent="0" algn="l">
              <a:lnSpc>
                <a:spcPts val="1266"/>
              </a:lnSpc>
              <a:buNone/>
            </a:pPr>
            <a:r>
              <a:rPr lang="en-US" sz="844" b="1" dirty="0">
                <a:solidFill>
                  <a:srgbClr val="F59E0B"/>
                </a:solidFill>
                <a:latin typeface="Carlito" pitchFamily="34" charset="0"/>
                <a:ea typeface="Carlito" pitchFamily="34" charset="-122"/>
                <a:cs typeface="Carlito" pitchFamily="34" charset="-120"/>
              </a:rPr>
              <a:t>•</a:t>
            </a:r>
            <a:endParaRPr lang="en-US" sz="844" dirty="0"/>
          </a:p>
        </p:txBody>
      </p:sp>
      <p:sp>
        <p:nvSpPr>
          <p:cNvPr id="31" name="Text 29"/>
          <p:cNvSpPr/>
          <p:nvPr/>
        </p:nvSpPr>
        <p:spPr>
          <a:xfrm>
            <a:off x="5262488" y="2683148"/>
            <a:ext cx="3317044" cy="99370"/>
          </a:xfrm>
          <a:prstGeom prst="rect">
            <a:avLst/>
          </a:prstGeom>
          <a:noFill/>
          <a:ln/>
        </p:spPr>
        <p:txBody>
          <a:bodyPr wrap="none" lIns="0" tIns="0" rIns="0" bIns="0" rtlCol="0" anchor="t">
            <a:normAutofit/>
          </a:bodyPr>
          <a:lstStyle/>
          <a:p>
            <a:pPr marL="0" indent="0" algn="l">
              <a:lnSpc>
                <a:spcPts val="886"/>
              </a:lnSpc>
              <a:buNone/>
            </a:pPr>
            <a:r>
              <a:rPr lang="en-US" sz="800" dirty="0">
                <a:solidFill>
                  <a:srgbClr val="1E3A8A"/>
                </a:solidFill>
                <a:latin typeface="Liberation Sans Narrow" pitchFamily="34" charset="0"/>
                <a:ea typeface="Liberation Sans Narrow" pitchFamily="34" charset="-122"/>
                <a:cs typeface="Liberation Sans Narrow" pitchFamily="34" charset="-120"/>
              </a:rPr>
              <a:t>src_mask = (src != 0)</a:t>
            </a:r>
            <a:endParaRPr lang="en-US" sz="800" dirty="0"/>
          </a:p>
        </p:txBody>
      </p:sp>
      <p:sp>
        <p:nvSpPr>
          <p:cNvPr id="32" name="Text 30"/>
          <p:cNvSpPr/>
          <p:nvPr/>
        </p:nvSpPr>
        <p:spPr>
          <a:xfrm>
            <a:off x="5262488" y="2809949"/>
            <a:ext cx="3317044" cy="153489"/>
          </a:xfrm>
          <a:prstGeom prst="rect">
            <a:avLst/>
          </a:prstGeom>
          <a:noFill/>
          <a:ln/>
        </p:spPr>
        <p:txBody>
          <a:bodyPr wrap="square" lIns="0" tIns="0" rIns="0" bIns="0" rtlCol="0" anchor="t"/>
          <a:lstStyle/>
          <a:p>
            <a:pPr marL="0" indent="0" algn="l">
              <a:lnSpc>
                <a:spcPts val="827"/>
              </a:lnSpc>
              <a:buNone/>
            </a:pPr>
            <a:r>
              <a:rPr lang="en-US" sz="600" dirty="0">
                <a:solidFill>
                  <a:srgbClr val="334155"/>
                </a:solidFill>
                <a:latin typeface="Carlito" pitchFamily="34" charset="0"/>
                <a:ea typeface="Carlito" pitchFamily="34" charset="-122"/>
                <a:cs typeface="Carlito" pitchFamily="34" charset="-120"/>
              </a:rPr>
              <a:t>Boolean padding mask: True where the source token is not &lt;PAD&gt;. Shape (batch, 1, 1, seq_len).</a:t>
            </a:r>
            <a:endParaRPr lang="en-US" sz="600" dirty="0"/>
          </a:p>
        </p:txBody>
      </p:sp>
      <p:sp>
        <p:nvSpPr>
          <p:cNvPr id="33" name="Text 31"/>
          <p:cNvSpPr/>
          <p:nvPr/>
        </p:nvSpPr>
        <p:spPr>
          <a:xfrm>
            <a:off x="5167722" y="2964879"/>
            <a:ext cx="91440" cy="173593"/>
          </a:xfrm>
          <a:prstGeom prst="rect">
            <a:avLst/>
          </a:prstGeom>
          <a:noFill/>
          <a:ln/>
        </p:spPr>
        <p:txBody>
          <a:bodyPr wrap="none" lIns="0" tIns="0" rIns="0" bIns="0" rtlCol="0" anchor="t"/>
          <a:lstStyle/>
          <a:p>
            <a:pPr marL="0" indent="0" algn="l">
              <a:lnSpc>
                <a:spcPts val="1266"/>
              </a:lnSpc>
              <a:buNone/>
            </a:pPr>
            <a:r>
              <a:rPr lang="en-US" sz="844" b="1" dirty="0">
                <a:solidFill>
                  <a:srgbClr val="F59E0B"/>
                </a:solidFill>
                <a:latin typeface="Carlito" pitchFamily="34" charset="0"/>
                <a:ea typeface="Carlito" pitchFamily="34" charset="-122"/>
                <a:cs typeface="Carlito" pitchFamily="34" charset="-120"/>
              </a:rPr>
              <a:t>•</a:t>
            </a:r>
            <a:endParaRPr lang="en-US" sz="844" dirty="0"/>
          </a:p>
        </p:txBody>
      </p:sp>
      <p:sp>
        <p:nvSpPr>
          <p:cNvPr id="34" name="Text 32"/>
          <p:cNvSpPr/>
          <p:nvPr/>
        </p:nvSpPr>
        <p:spPr>
          <a:xfrm>
            <a:off x="5262488" y="2957736"/>
            <a:ext cx="3426772" cy="99370"/>
          </a:xfrm>
          <a:prstGeom prst="rect">
            <a:avLst/>
          </a:prstGeom>
          <a:noFill/>
          <a:ln/>
        </p:spPr>
        <p:txBody>
          <a:bodyPr wrap="square" lIns="0" tIns="0" rIns="0" bIns="0" rtlCol="0" anchor="t">
            <a:normAutofit/>
          </a:bodyPr>
          <a:lstStyle/>
          <a:p>
            <a:pPr marL="0" indent="0" algn="l">
              <a:lnSpc>
                <a:spcPts val="886"/>
              </a:lnSpc>
              <a:buNone/>
            </a:pPr>
            <a:r>
              <a:rPr lang="en-US" sz="800" dirty="0">
                <a:solidFill>
                  <a:srgbClr val="1E3A8A"/>
                </a:solidFill>
                <a:latin typeface="Courier New" pitchFamily="34" charset="0"/>
                <a:ea typeface="Courier New" pitchFamily="34" charset="-122"/>
                <a:cs typeface="Courier New" pitchFamily="34" charset="-120"/>
              </a:rPr>
              <a:t>tgt_mask = padding AND nopeak</a:t>
            </a:r>
            <a:endParaRPr lang="en-US" sz="800" dirty="0"/>
          </a:p>
        </p:txBody>
      </p:sp>
      <p:sp>
        <p:nvSpPr>
          <p:cNvPr id="35" name="Text 33"/>
          <p:cNvSpPr/>
          <p:nvPr/>
        </p:nvSpPr>
        <p:spPr>
          <a:xfrm>
            <a:off x="5262488" y="3084537"/>
            <a:ext cx="3317044" cy="209848"/>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Combined mask: True only where the target token is not &lt;PAD&gt; AND the query position is ≤ the key position (no looking ahead). torch.triu with diagonal=1 builds the upper-triangular no-peak mask.</a:t>
            </a:r>
            <a:endParaRPr lang="en-US" sz="800" dirty="0"/>
          </a:p>
        </p:txBody>
      </p:sp>
      <p:sp>
        <p:nvSpPr>
          <p:cNvPr id="36" name="Text 34"/>
          <p:cNvSpPr/>
          <p:nvPr/>
        </p:nvSpPr>
        <p:spPr>
          <a:xfrm>
            <a:off x="457200" y="4854178"/>
            <a:ext cx="6595021"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14 · ASSEMBLY &amp; TRAINING</a:t>
            </a:r>
            <a:endParaRPr lang="en-US" sz="800" dirty="0"/>
          </a:p>
        </p:txBody>
      </p:sp>
      <p:sp>
        <p:nvSpPr>
          <p:cNvPr id="37" name="Text 35"/>
          <p:cNvSpPr/>
          <p:nvPr/>
        </p:nvSpPr>
        <p:spPr>
          <a:xfrm>
            <a:off x="7066508" y="4854178"/>
            <a:ext cx="1749915"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 · PYTORCH</a:t>
            </a:r>
            <a:endParaRPr lang="en-US" sz="619"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14300"/>
            <a:ext cx="6400760"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SAMPLE CONFIGURATION</a:t>
            </a:r>
            <a:endParaRPr lang="en-US" sz="800" dirty="0"/>
          </a:p>
        </p:txBody>
      </p:sp>
      <p:sp>
        <p:nvSpPr>
          <p:cNvPr id="3" name="Text 1"/>
          <p:cNvSpPr/>
          <p:nvPr/>
        </p:nvSpPr>
        <p:spPr>
          <a:xfrm>
            <a:off x="460772" y="289322"/>
            <a:ext cx="1158627"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4" name="Text 2"/>
          <p:cNvSpPr/>
          <p:nvPr/>
        </p:nvSpPr>
        <p:spPr>
          <a:xfrm>
            <a:off x="564356" y="498611"/>
            <a:ext cx="951458"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5000</a:t>
            </a:r>
            <a:endParaRPr lang="en-US" sz="1800" dirty="0"/>
          </a:p>
        </p:txBody>
      </p:sp>
      <p:sp>
        <p:nvSpPr>
          <p:cNvPr id="5" name="Text 3"/>
          <p:cNvSpPr/>
          <p:nvPr/>
        </p:nvSpPr>
        <p:spPr>
          <a:xfrm>
            <a:off x="564356" y="770074"/>
            <a:ext cx="951458" cy="131565"/>
          </a:xfrm>
          <a:prstGeom prst="rect">
            <a:avLst/>
          </a:prstGeom>
          <a:noFill/>
          <a:ln/>
        </p:spPr>
        <p:txBody>
          <a:bodyPr wrap="none" lIns="0" tIns="0" rIns="0" bIns="0" rtlCol="0" anchor="t"/>
          <a:lstStyle/>
          <a:p>
            <a:pPr marL="0" indent="0" algn="l">
              <a:lnSpc>
                <a:spcPts val="641"/>
              </a:lnSpc>
              <a:buNone/>
            </a:pPr>
            <a:r>
              <a:rPr lang="en-US" sz="600" kern="0" spc="43" dirty="0">
                <a:solidFill>
                  <a:srgbClr val="64748B"/>
                </a:solidFill>
                <a:latin typeface="Courier New" pitchFamily="34" charset="0"/>
                <a:ea typeface="Courier New" pitchFamily="34" charset="-122"/>
                <a:cs typeface="Courier New" pitchFamily="34" charset="-120"/>
              </a:rPr>
              <a:t>SRC/TGT VOCAB SIZE</a:t>
            </a:r>
            <a:endParaRPr lang="en-US" sz="600" dirty="0"/>
          </a:p>
        </p:txBody>
      </p:sp>
      <p:sp>
        <p:nvSpPr>
          <p:cNvPr id="6" name="Text 4"/>
          <p:cNvSpPr/>
          <p:nvPr/>
        </p:nvSpPr>
        <p:spPr>
          <a:xfrm>
            <a:off x="1683693" y="289322"/>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7" name="Text 5"/>
          <p:cNvSpPr/>
          <p:nvPr/>
        </p:nvSpPr>
        <p:spPr>
          <a:xfrm>
            <a:off x="1787277" y="498611"/>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512</a:t>
            </a:r>
            <a:endParaRPr lang="en-US" sz="1800" dirty="0"/>
          </a:p>
        </p:txBody>
      </p:sp>
      <p:sp>
        <p:nvSpPr>
          <p:cNvPr id="8" name="Text 6"/>
          <p:cNvSpPr/>
          <p:nvPr/>
        </p:nvSpPr>
        <p:spPr>
          <a:xfrm>
            <a:off x="1787277" y="770074"/>
            <a:ext cx="951570" cy="131565"/>
          </a:xfrm>
          <a:prstGeom prst="rect">
            <a:avLst/>
          </a:prstGeom>
          <a:noFill/>
          <a:ln/>
        </p:spPr>
        <p:txBody>
          <a:bodyPr wrap="none" lIns="0" tIns="0" rIns="0" bIns="0" rtlCol="0" anchor="t"/>
          <a:lstStyle/>
          <a:p>
            <a:pPr marL="0" indent="0" algn="l">
              <a:lnSpc>
                <a:spcPts val="641"/>
              </a:lnSpc>
              <a:buNone/>
            </a:pPr>
            <a:r>
              <a:rPr lang="en-US" sz="600" kern="0" spc="43" dirty="0">
                <a:solidFill>
                  <a:srgbClr val="64748B"/>
                </a:solidFill>
                <a:latin typeface="Courier New" pitchFamily="34" charset="0"/>
                <a:ea typeface="Courier New" pitchFamily="34" charset="-122"/>
                <a:cs typeface="Courier New" pitchFamily="34" charset="-120"/>
              </a:rPr>
              <a:t>D_MODEL (EMBEDDING DIM)</a:t>
            </a:r>
            <a:endParaRPr lang="en-US" sz="600" dirty="0"/>
          </a:p>
        </p:txBody>
      </p:sp>
      <p:sp>
        <p:nvSpPr>
          <p:cNvPr id="9" name="Text 7"/>
          <p:cNvSpPr/>
          <p:nvPr/>
        </p:nvSpPr>
        <p:spPr>
          <a:xfrm>
            <a:off x="2906725" y="289322"/>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0" name="Text 8"/>
          <p:cNvSpPr/>
          <p:nvPr/>
        </p:nvSpPr>
        <p:spPr>
          <a:xfrm>
            <a:off x="3010309" y="498611"/>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8</a:t>
            </a:r>
            <a:endParaRPr lang="en-US" sz="1800" dirty="0"/>
          </a:p>
        </p:txBody>
      </p:sp>
      <p:sp>
        <p:nvSpPr>
          <p:cNvPr id="11" name="Text 9"/>
          <p:cNvSpPr/>
          <p:nvPr/>
        </p:nvSpPr>
        <p:spPr>
          <a:xfrm>
            <a:off x="3010309" y="770074"/>
            <a:ext cx="951570" cy="131565"/>
          </a:xfrm>
          <a:prstGeom prst="rect">
            <a:avLst/>
          </a:prstGeom>
          <a:noFill/>
          <a:ln/>
        </p:spPr>
        <p:txBody>
          <a:bodyPr wrap="none" lIns="0" tIns="0" rIns="0" bIns="0" rtlCol="0" anchor="t"/>
          <a:lstStyle/>
          <a:p>
            <a:pPr marL="0" indent="0" algn="l">
              <a:lnSpc>
                <a:spcPts val="641"/>
              </a:lnSpc>
              <a:buNone/>
            </a:pPr>
            <a:r>
              <a:rPr lang="en-US" sz="800" kern="0" spc="43" dirty="0">
                <a:solidFill>
                  <a:srgbClr val="64748B"/>
                </a:solidFill>
                <a:latin typeface="Courier New" pitchFamily="34" charset="0"/>
                <a:ea typeface="Courier New" pitchFamily="34" charset="-122"/>
                <a:cs typeface="Courier New" pitchFamily="34" charset="-120"/>
              </a:rPr>
              <a:t>NUM_HEADS</a:t>
            </a:r>
            <a:endParaRPr lang="en-US" sz="800" dirty="0"/>
          </a:p>
        </p:txBody>
      </p:sp>
      <p:sp>
        <p:nvSpPr>
          <p:cNvPr id="12" name="Text 10"/>
          <p:cNvSpPr/>
          <p:nvPr/>
        </p:nvSpPr>
        <p:spPr>
          <a:xfrm>
            <a:off x="4129757" y="289322"/>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3" name="Text 11"/>
          <p:cNvSpPr/>
          <p:nvPr/>
        </p:nvSpPr>
        <p:spPr>
          <a:xfrm>
            <a:off x="4233342" y="498611"/>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6</a:t>
            </a:r>
            <a:endParaRPr lang="en-US" sz="1800" dirty="0"/>
          </a:p>
        </p:txBody>
      </p:sp>
      <p:sp>
        <p:nvSpPr>
          <p:cNvPr id="14" name="Text 12"/>
          <p:cNvSpPr/>
          <p:nvPr/>
        </p:nvSpPr>
        <p:spPr>
          <a:xfrm>
            <a:off x="4233342" y="770074"/>
            <a:ext cx="951570" cy="131565"/>
          </a:xfrm>
          <a:prstGeom prst="rect">
            <a:avLst/>
          </a:prstGeom>
          <a:noFill/>
          <a:ln/>
        </p:spPr>
        <p:txBody>
          <a:bodyPr wrap="none" lIns="0" tIns="0" rIns="0" bIns="0" rtlCol="0" anchor="t"/>
          <a:lstStyle/>
          <a:p>
            <a:pPr marL="0" indent="0" algn="l">
              <a:lnSpc>
                <a:spcPts val="641"/>
              </a:lnSpc>
              <a:buNone/>
            </a:pPr>
            <a:r>
              <a:rPr lang="en-US" sz="600" kern="0" spc="43" dirty="0">
                <a:solidFill>
                  <a:srgbClr val="64748B"/>
                </a:solidFill>
                <a:latin typeface="Courier New" pitchFamily="34" charset="0"/>
                <a:ea typeface="Courier New" pitchFamily="34" charset="-122"/>
                <a:cs typeface="Courier New" pitchFamily="34" charset="-120"/>
              </a:rPr>
              <a:t>NUM_LAYERS (ENC + DEC)</a:t>
            </a:r>
            <a:endParaRPr lang="en-US" sz="600" dirty="0"/>
          </a:p>
        </p:txBody>
      </p:sp>
      <p:sp>
        <p:nvSpPr>
          <p:cNvPr id="15" name="Text 13"/>
          <p:cNvSpPr/>
          <p:nvPr/>
        </p:nvSpPr>
        <p:spPr>
          <a:xfrm>
            <a:off x="460772" y="1125141"/>
            <a:ext cx="1158627"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6" name="Text 14"/>
          <p:cNvSpPr/>
          <p:nvPr/>
        </p:nvSpPr>
        <p:spPr>
          <a:xfrm>
            <a:off x="564356" y="1334430"/>
            <a:ext cx="951458"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2048</a:t>
            </a:r>
            <a:endParaRPr lang="en-US" sz="1800" dirty="0"/>
          </a:p>
        </p:txBody>
      </p:sp>
      <p:sp>
        <p:nvSpPr>
          <p:cNvPr id="17" name="Text 15"/>
          <p:cNvSpPr/>
          <p:nvPr/>
        </p:nvSpPr>
        <p:spPr>
          <a:xfrm>
            <a:off x="564356" y="1605893"/>
            <a:ext cx="951458" cy="131565"/>
          </a:xfrm>
          <a:prstGeom prst="rect">
            <a:avLst/>
          </a:prstGeom>
          <a:noFill/>
          <a:ln/>
        </p:spPr>
        <p:txBody>
          <a:bodyPr wrap="none" lIns="0" tIns="0" rIns="0" bIns="0" rtlCol="0" anchor="t"/>
          <a:lstStyle/>
          <a:p>
            <a:pPr marL="0" indent="0" algn="l">
              <a:lnSpc>
                <a:spcPts val="641"/>
              </a:lnSpc>
              <a:buNone/>
            </a:pPr>
            <a:r>
              <a:rPr lang="en-US" sz="600" kern="0" spc="43" dirty="0">
                <a:solidFill>
                  <a:srgbClr val="64748B"/>
                </a:solidFill>
                <a:latin typeface="Courier New" pitchFamily="34" charset="0"/>
                <a:ea typeface="Courier New" pitchFamily="34" charset="-122"/>
                <a:cs typeface="Courier New" pitchFamily="34" charset="-120"/>
              </a:rPr>
              <a:t>D_FF (FFN INNER DIM)</a:t>
            </a:r>
            <a:endParaRPr lang="en-US" sz="600" dirty="0"/>
          </a:p>
        </p:txBody>
      </p:sp>
      <p:sp>
        <p:nvSpPr>
          <p:cNvPr id="18" name="Text 16"/>
          <p:cNvSpPr/>
          <p:nvPr/>
        </p:nvSpPr>
        <p:spPr>
          <a:xfrm>
            <a:off x="1683693" y="1125141"/>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9" name="Text 17"/>
          <p:cNvSpPr/>
          <p:nvPr/>
        </p:nvSpPr>
        <p:spPr>
          <a:xfrm>
            <a:off x="1787277" y="1334430"/>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100</a:t>
            </a:r>
            <a:endParaRPr lang="en-US" sz="1800" dirty="0"/>
          </a:p>
        </p:txBody>
      </p:sp>
      <p:sp>
        <p:nvSpPr>
          <p:cNvPr id="20" name="Text 18"/>
          <p:cNvSpPr/>
          <p:nvPr/>
        </p:nvSpPr>
        <p:spPr>
          <a:xfrm>
            <a:off x="1787277" y="1605893"/>
            <a:ext cx="951570" cy="131565"/>
          </a:xfrm>
          <a:prstGeom prst="rect">
            <a:avLst/>
          </a:prstGeom>
          <a:noFill/>
          <a:ln/>
        </p:spPr>
        <p:txBody>
          <a:bodyPr wrap="none" lIns="0" tIns="0" rIns="0" bIns="0" rtlCol="0" anchor="t"/>
          <a:lstStyle/>
          <a:p>
            <a:pPr marL="0" indent="0" algn="l">
              <a:lnSpc>
                <a:spcPts val="641"/>
              </a:lnSpc>
              <a:buNone/>
            </a:pPr>
            <a:r>
              <a:rPr lang="en-US" sz="800" kern="0" spc="43" dirty="0">
                <a:solidFill>
                  <a:srgbClr val="64748B"/>
                </a:solidFill>
                <a:latin typeface="Courier New" pitchFamily="34" charset="0"/>
                <a:ea typeface="Courier New" pitchFamily="34" charset="-122"/>
                <a:cs typeface="Courier New" pitchFamily="34" charset="-120"/>
              </a:rPr>
              <a:t>MAX_SEQ_LENGTH</a:t>
            </a:r>
            <a:endParaRPr lang="en-US" sz="800" dirty="0"/>
          </a:p>
        </p:txBody>
      </p:sp>
      <p:sp>
        <p:nvSpPr>
          <p:cNvPr id="21" name="Text 19"/>
          <p:cNvSpPr/>
          <p:nvPr/>
        </p:nvSpPr>
        <p:spPr>
          <a:xfrm>
            <a:off x="2906725" y="1125141"/>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2" name="Text 20"/>
          <p:cNvSpPr/>
          <p:nvPr/>
        </p:nvSpPr>
        <p:spPr>
          <a:xfrm>
            <a:off x="3010309" y="1334430"/>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0.1</a:t>
            </a:r>
            <a:endParaRPr lang="en-US" sz="1800" dirty="0"/>
          </a:p>
        </p:txBody>
      </p:sp>
      <p:sp>
        <p:nvSpPr>
          <p:cNvPr id="23" name="Text 21"/>
          <p:cNvSpPr/>
          <p:nvPr/>
        </p:nvSpPr>
        <p:spPr>
          <a:xfrm>
            <a:off x="3010309" y="1605893"/>
            <a:ext cx="951570" cy="131565"/>
          </a:xfrm>
          <a:prstGeom prst="rect">
            <a:avLst/>
          </a:prstGeom>
          <a:noFill/>
          <a:ln/>
        </p:spPr>
        <p:txBody>
          <a:bodyPr wrap="none" lIns="0" tIns="0" rIns="0" bIns="0" rtlCol="0" anchor="t"/>
          <a:lstStyle/>
          <a:p>
            <a:pPr marL="0" indent="0" algn="l">
              <a:lnSpc>
                <a:spcPts val="641"/>
              </a:lnSpc>
              <a:buNone/>
            </a:pPr>
            <a:r>
              <a:rPr lang="en-US" sz="800" kern="0" spc="43" dirty="0">
                <a:solidFill>
                  <a:srgbClr val="64748B"/>
                </a:solidFill>
                <a:latin typeface="Courier New" pitchFamily="34" charset="0"/>
                <a:ea typeface="Courier New" pitchFamily="34" charset="-122"/>
                <a:cs typeface="Courier New" pitchFamily="34" charset="-120"/>
              </a:rPr>
              <a:t>DROPOUT</a:t>
            </a:r>
            <a:endParaRPr lang="en-US" sz="800" dirty="0"/>
          </a:p>
        </p:txBody>
      </p:sp>
      <p:sp>
        <p:nvSpPr>
          <p:cNvPr id="24" name="Text 22"/>
          <p:cNvSpPr/>
          <p:nvPr/>
        </p:nvSpPr>
        <p:spPr>
          <a:xfrm>
            <a:off x="4129757" y="1125141"/>
            <a:ext cx="1158739" cy="771525"/>
          </a:xfrm>
          <a:prstGeom prst="roundRect">
            <a:avLst>
              <a:gd name="adj" fmla="val 1234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5" name="Text 23"/>
          <p:cNvSpPr/>
          <p:nvPr/>
        </p:nvSpPr>
        <p:spPr>
          <a:xfrm>
            <a:off x="4233342" y="1334430"/>
            <a:ext cx="951570" cy="244030"/>
          </a:xfrm>
          <a:prstGeom prst="rect">
            <a:avLst/>
          </a:prstGeom>
          <a:noFill/>
          <a:ln/>
        </p:spPr>
        <p:txBody>
          <a:bodyPr wrap="none" lIns="0" tIns="0" rIns="0" bIns="0" rtlCol="0" anchor="t">
            <a:normAutofit/>
          </a:bodyPr>
          <a:lstStyle/>
          <a:p>
            <a:pPr marL="0" indent="0" algn="l">
              <a:lnSpc>
                <a:spcPts val="1800"/>
              </a:lnSpc>
              <a:buNone/>
            </a:pPr>
            <a:r>
              <a:rPr lang="en-US" sz="1800" b="1" kern="0" spc="-18" dirty="0">
                <a:solidFill>
                  <a:srgbClr val="1E3A8A"/>
                </a:solidFill>
                <a:latin typeface="Liberation Sans Narrow" pitchFamily="34" charset="0"/>
                <a:ea typeface="Liberation Sans Narrow" pitchFamily="34" charset="-122"/>
                <a:cs typeface="Liberation Sans Narrow" pitchFamily="34" charset="-120"/>
              </a:rPr>
              <a:t>64</a:t>
            </a:r>
            <a:endParaRPr lang="en-US" sz="1800" dirty="0"/>
          </a:p>
        </p:txBody>
      </p:sp>
      <p:sp>
        <p:nvSpPr>
          <p:cNvPr id="26" name="Text 24"/>
          <p:cNvSpPr/>
          <p:nvPr/>
        </p:nvSpPr>
        <p:spPr>
          <a:xfrm>
            <a:off x="4233342" y="1605893"/>
            <a:ext cx="951570" cy="131565"/>
          </a:xfrm>
          <a:prstGeom prst="rect">
            <a:avLst/>
          </a:prstGeom>
          <a:noFill/>
          <a:ln/>
        </p:spPr>
        <p:txBody>
          <a:bodyPr wrap="none" lIns="0" tIns="0" rIns="0" bIns="0" rtlCol="0" anchor="t"/>
          <a:lstStyle/>
          <a:p>
            <a:pPr marL="0" indent="0" algn="l">
              <a:lnSpc>
                <a:spcPts val="641"/>
              </a:lnSpc>
              <a:buNone/>
            </a:pPr>
            <a:r>
              <a:rPr lang="en-US" sz="800" kern="0" spc="43" dirty="0">
                <a:solidFill>
                  <a:srgbClr val="64748B"/>
                </a:solidFill>
                <a:latin typeface="Courier New" pitchFamily="34" charset="0"/>
                <a:ea typeface="Courier New" pitchFamily="34" charset="-122"/>
                <a:cs typeface="Courier New" pitchFamily="34" charset="-120"/>
              </a:rPr>
              <a:t>BATCH SIZE</a:t>
            </a:r>
            <a:endParaRPr lang="en-US" sz="800" dirty="0"/>
          </a:p>
        </p:txBody>
      </p:sp>
      <p:sp>
        <p:nvSpPr>
          <p:cNvPr id="27" name="Text 25"/>
          <p:cNvSpPr/>
          <p:nvPr/>
        </p:nvSpPr>
        <p:spPr>
          <a:xfrm>
            <a:off x="5463518" y="114300"/>
            <a:ext cx="3680482"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64748B"/>
                </a:solidFill>
                <a:latin typeface="Courier New" pitchFamily="34" charset="0"/>
                <a:ea typeface="Courier New" pitchFamily="34" charset="-122"/>
                <a:cs typeface="Courier New" pitchFamily="34" charset="-120"/>
              </a:rPr>
              <a:t>HYPERPARAMETER IMPACT</a:t>
            </a:r>
            <a:endParaRPr lang="en-US" sz="800" dirty="0"/>
          </a:p>
        </p:txBody>
      </p:sp>
      <p:sp>
        <p:nvSpPr>
          <p:cNvPr id="28" name="Text 26"/>
          <p:cNvSpPr/>
          <p:nvPr/>
        </p:nvSpPr>
        <p:spPr>
          <a:xfrm>
            <a:off x="5467090" y="289322"/>
            <a:ext cx="3216027" cy="1607344"/>
          </a:xfrm>
          <a:prstGeom prst="roundRect">
            <a:avLst>
              <a:gd name="adj" fmla="val 7111"/>
            </a:avLst>
          </a:prstGeom>
          <a:solidFill>
            <a:srgbClr val="F8FAFC"/>
          </a:solidFill>
          <a:ln w="7144">
            <a:solidFill>
              <a:srgbClr val="E2E8F0"/>
            </a:solidFill>
            <a:prstDash val="solid"/>
          </a:ln>
        </p:spPr>
        <p:txBody>
          <a:bodyPr wrap="square" rtlCol="0" anchor="ctr"/>
          <a:lstStyle/>
          <a:p>
            <a:pPr marL="0" indent="0">
              <a:buNone/>
            </a:pPr>
            <a:endParaRPr lang="en-US"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542099" y="335756"/>
          <a:ext cx="3066009" cy="1819278"/>
        </p:xfrm>
        <a:graphic>
          <a:graphicData uri="http://schemas.openxmlformats.org/drawingml/2006/table">
            <a:tbl>
              <a:tblPr/>
              <a:tblGrid>
                <a:gridCol w="680554">
                  <a:extLst>
                    <a:ext uri="{9D8B030D-6E8A-4147-A177-3AD203B41FA5}">
                      <a16:colId xmlns:a16="http://schemas.microsoft.com/office/drawing/2014/main" val="20000"/>
                    </a:ext>
                  </a:extLst>
                </a:gridCol>
                <a:gridCol w="722970">
                  <a:extLst>
                    <a:ext uri="{9D8B030D-6E8A-4147-A177-3AD203B41FA5}">
                      <a16:colId xmlns:a16="http://schemas.microsoft.com/office/drawing/2014/main" val="20001"/>
                    </a:ext>
                  </a:extLst>
                </a:gridCol>
                <a:gridCol w="1662485">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64748B"/>
                          </a:solidFill>
                          <a:latin typeface="Courier New" pitchFamily="34" charset="0"/>
                          <a:ea typeface="Courier New" pitchFamily="34" charset="-122"/>
                          <a:cs typeface="Courier New" pitchFamily="34" charset="-120"/>
                        </a:rPr>
                        <a:t>PARAMETER</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b="1" dirty="0">
                          <a:solidFill>
                            <a:srgbClr val="64748B"/>
                          </a:solidFill>
                          <a:latin typeface="Courier New" pitchFamily="34" charset="0"/>
                          <a:ea typeface="Courier New" pitchFamily="34" charset="-122"/>
                          <a:cs typeface="Courier New" pitchFamily="34" charset="-120"/>
                        </a:rPr>
                        <a:t>RANGE</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b="1" dirty="0">
                          <a:solidFill>
                            <a:srgbClr val="64748B"/>
                          </a:solidFill>
                          <a:latin typeface="Courier New" pitchFamily="34" charset="0"/>
                          <a:ea typeface="Courier New" pitchFamily="34" charset="-122"/>
                          <a:cs typeface="Courier New" pitchFamily="34" charset="-120"/>
                        </a:rPr>
                        <a:t>TRADE-OFF</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E3A8A"/>
                          </a:solidFill>
                          <a:latin typeface="Courier New" pitchFamily="34" charset="0"/>
                          <a:ea typeface="Courier New" pitchFamily="34" charset="-122"/>
                          <a:cs typeface="Courier New" pitchFamily="34" charset="-120"/>
                        </a:rPr>
                        <a:t>d_model</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0F172A"/>
                          </a:solidFill>
                          <a:latin typeface="Courier New" pitchFamily="34" charset="0"/>
                          <a:ea typeface="Courier New" pitchFamily="34" charset="-122"/>
                          <a:cs typeface="Courier New" pitchFamily="34" charset="-120"/>
                        </a:rPr>
                        <a:t>256, 512, 1024</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Higher = more capacity, more compute</a:t>
                      </a:r>
                      <a:endParaRPr lang="en-US" sz="800" dirty="0">
                        <a:latin typeface="Carlito" charset="0"/>
                        <a:ea typeface="Carlito" charset="0"/>
                        <a:cs typeface="Carlito"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E3A8A"/>
                          </a:solidFill>
                          <a:latin typeface="Courier New" pitchFamily="34" charset="0"/>
                          <a:ea typeface="Courier New" pitchFamily="34" charset="-122"/>
                          <a:cs typeface="Courier New" pitchFamily="34" charset="-120"/>
                        </a:rPr>
                        <a:t>num_heads</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0F172A"/>
                          </a:solidFill>
                          <a:latin typeface="Courier New" pitchFamily="34" charset="0"/>
                          <a:ea typeface="Courier New" pitchFamily="34" charset="-122"/>
                          <a:cs typeface="Courier New" pitchFamily="34" charset="-120"/>
                        </a:rPr>
                        <a:t>8, 12, 16</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More heads = diverse patterns, costlier</a:t>
                      </a:r>
                      <a:endParaRPr lang="en-US" sz="800" dirty="0">
                        <a:latin typeface="Carlito" charset="0"/>
                        <a:ea typeface="Carlito" charset="0"/>
                        <a:cs typeface="Carlito"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1E3A8A"/>
                          </a:solidFill>
                          <a:latin typeface="Courier New" pitchFamily="34" charset="0"/>
                          <a:ea typeface="Courier New" pitchFamily="34" charset="-122"/>
                          <a:cs typeface="Courier New" pitchFamily="34" charset="-120"/>
                        </a:rPr>
                        <a:t>num_layers</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0F172A"/>
                          </a:solidFill>
                          <a:latin typeface="Courier New" pitchFamily="34" charset="0"/>
                          <a:ea typeface="Courier New" pitchFamily="34" charset="-122"/>
                          <a:cs typeface="Courier New" pitchFamily="34" charset="-120"/>
                        </a:rPr>
                        <a:t>6, 12, 24</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Deeper = more representation power</a:t>
                      </a:r>
                      <a:endParaRPr lang="en-US" sz="800" dirty="0">
                        <a:latin typeface="Carlito" charset="0"/>
                        <a:ea typeface="Carlito" charset="0"/>
                        <a:cs typeface="Carlito"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1E3A8A"/>
                          </a:solidFill>
                          <a:latin typeface="Courier New" pitchFamily="34" charset="0"/>
                          <a:ea typeface="Courier New" pitchFamily="34" charset="-122"/>
                          <a:cs typeface="Courier New" pitchFamily="34" charset="-120"/>
                        </a:rPr>
                        <a:t>dropout</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0F172A"/>
                          </a:solidFill>
                          <a:latin typeface="Courier New" pitchFamily="34" charset="0"/>
                          <a:ea typeface="Courier New" pitchFamily="34" charset="-122"/>
                          <a:cs typeface="Courier New" pitchFamily="34" charset="-120"/>
                        </a:rPr>
                        <a:t>0.1, 0.3</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Regularization vs underfitting</a:t>
                      </a:r>
                      <a:endParaRPr lang="en-US" sz="800" dirty="0">
                        <a:latin typeface="Carlito" charset="0"/>
                        <a:ea typeface="Carlito" charset="0"/>
                        <a:cs typeface="Carlito"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1E3A8A"/>
                          </a:solidFill>
                          <a:latin typeface="Courier New" pitchFamily="34" charset="0"/>
                          <a:ea typeface="Courier New" pitchFamily="34" charset="-122"/>
                          <a:cs typeface="Courier New" pitchFamily="34" charset="-120"/>
                        </a:rPr>
                        <a:t>learning rate</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0F172A"/>
                          </a:solidFill>
                          <a:latin typeface="Courier New" pitchFamily="34" charset="0"/>
                          <a:ea typeface="Courier New" pitchFamily="34" charset="-122"/>
                          <a:cs typeface="Courier New" pitchFamily="34" charset="-120"/>
                        </a:rPr>
                        <a:t>1e-4 to 1e-3</a:t>
                      </a:r>
                      <a:endParaRPr lang="en-US" sz="800" dirty="0">
                        <a:latin typeface="Courier New" charset="0"/>
                        <a:ea typeface="Courier New" charset="0"/>
                        <a:cs typeface="Courier New"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Convergence speed vs stability</a:t>
                      </a:r>
                      <a:endParaRPr lang="en-US" sz="800" dirty="0">
                        <a:latin typeface="Carlito" charset="0"/>
                        <a:ea typeface="Carlito" charset="0"/>
                        <a:cs typeface="Carlito" charset="0"/>
                      </a:endParaRPr>
                    </a:p>
                  </a:txBody>
                  <a:tcPr marL="42863" marR="57150" marT="57150" marB="42863">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0" name="Text 27"/>
          <p:cNvSpPr/>
          <p:nvPr/>
        </p:nvSpPr>
        <p:spPr>
          <a:xfrm>
            <a:off x="457200" y="1957388"/>
            <a:ext cx="5809245" cy="127945"/>
          </a:xfrm>
          <a:prstGeom prst="rect">
            <a:avLst/>
          </a:prstGeom>
          <a:noFill/>
          <a:ln/>
        </p:spPr>
        <p:txBody>
          <a:bodyPr wrap="none" lIns="0" tIns="0" rIns="0" bIns="0" rtlCol="0" anchor="t">
            <a:normAutofit/>
          </a:bodyPr>
          <a:lstStyle/>
          <a:p>
            <a:pPr marL="0" indent="0" algn="l">
              <a:lnSpc>
                <a:spcPts val="886"/>
              </a:lnSpc>
              <a:buNone/>
            </a:pPr>
            <a:r>
              <a:rPr lang="en-US" sz="800" kern="0" spc="24" dirty="0">
                <a:solidFill>
                  <a:srgbClr val="64748B"/>
                </a:solidFill>
                <a:latin typeface="Courier New" pitchFamily="34" charset="0"/>
                <a:ea typeface="Courier New" pitchFamily="34" charset="-122"/>
                <a:cs typeface="Courier New" pitchFamily="34" charset="-120"/>
              </a:rPr>
              <a:t>Training loop</a:t>
            </a:r>
            <a:endParaRPr lang="en-US" sz="800" dirty="0"/>
          </a:p>
        </p:txBody>
      </p:sp>
      <p:sp>
        <p:nvSpPr>
          <p:cNvPr id="31" name="Text 28"/>
          <p:cNvSpPr/>
          <p:nvPr/>
        </p:nvSpPr>
        <p:spPr>
          <a:xfrm>
            <a:off x="457200" y="2112764"/>
            <a:ext cx="4834868" cy="1822772"/>
          </a:xfrm>
          <a:prstGeom prst="roundRect">
            <a:avLst>
              <a:gd name="adj" fmla="val 5226"/>
            </a:avLst>
          </a:prstGeom>
          <a:solidFill>
            <a:srgbClr val="0F172A"/>
          </a:solidFill>
          <a:ln/>
        </p:spPr>
        <p:txBody>
          <a:bodyPr wrap="square" rtlCol="0" anchor="ctr"/>
          <a:lstStyle/>
          <a:p>
            <a:pPr marL="0" indent="0">
              <a:buNone/>
            </a:pPr>
            <a:endParaRPr lang="en-US" dirty="0"/>
          </a:p>
        </p:txBody>
      </p:sp>
      <p:sp>
        <p:nvSpPr>
          <p:cNvPr id="32" name="Text 29"/>
          <p:cNvSpPr/>
          <p:nvPr/>
        </p:nvSpPr>
        <p:spPr>
          <a:xfrm>
            <a:off x="557213" y="2191345"/>
            <a:ext cx="3189908" cy="1672754"/>
          </a:xfrm>
          <a:prstGeom prst="rect">
            <a:avLst/>
          </a:prstGeom>
          <a:noFill/>
          <a:ln/>
        </p:spPr>
        <p:txBody>
          <a:bodyPr wrap="none" lIns="0" tIns="0" rIns="0" bIns="0" rtlCol="0" anchor="t"/>
          <a:lstStyle/>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criterion = nn.</a:t>
            </a:r>
            <a:r>
              <a:rPr lang="en-US" sz="800" dirty="0">
                <a:solidFill>
                  <a:srgbClr val="60A5FA"/>
                </a:solidFill>
                <a:latin typeface="Liberation Mono" pitchFamily="34" charset="0"/>
                <a:ea typeface="Liberation Mono" pitchFamily="34" charset="-122"/>
                <a:cs typeface="Liberation Mono" pitchFamily="34" charset="-120"/>
              </a:rPr>
              <a:t>CrossEntropyLoss</a:t>
            </a:r>
            <a:r>
              <a:rPr lang="en-US" sz="800" dirty="0">
                <a:solidFill>
                  <a:srgbClr val="E2E8F0"/>
                </a:solidFill>
                <a:latin typeface="Liberation Mono" pitchFamily="34" charset="0"/>
                <a:ea typeface="Liberation Mono" pitchFamily="34" charset="-122"/>
                <a:cs typeface="Liberation Mono" pitchFamily="34" charset="-120"/>
              </a:rPr>
              <a:t>(ignore_index=</a:t>
            </a:r>
            <a:r>
              <a:rPr lang="en-US" sz="800" dirty="0">
                <a:solidFill>
                  <a:srgbClr val="F472B6"/>
                </a:solidFill>
                <a:latin typeface="Liberation Sans Narrow" pitchFamily="34" charset="0"/>
                <a:ea typeface="Liberation Sans Narrow" pitchFamily="34" charset="-122"/>
                <a:cs typeface="Liberation Sans Narrow" pitchFamily="34" charset="-120"/>
              </a:rPr>
              <a:t>0</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optimizer = optim.</a:t>
            </a:r>
            <a:r>
              <a:rPr lang="en-US" sz="800" dirty="0">
                <a:solidFill>
                  <a:srgbClr val="60A5FA"/>
                </a:solidFill>
                <a:latin typeface="Liberation Mono" pitchFamily="34" charset="0"/>
                <a:ea typeface="Liberation Mono" pitchFamily="34" charset="-122"/>
                <a:cs typeface="Liberation Mono" pitchFamily="34" charset="-120"/>
              </a:rPr>
              <a:t>Adam</a:t>
            </a:r>
            <a:r>
              <a:rPr lang="en-US" sz="800" dirty="0">
                <a:solidFill>
                  <a:srgbClr val="E2E8F0"/>
                </a:solidFill>
                <a:latin typeface="Liberation Mono" pitchFamily="34" charset="0"/>
                <a:ea typeface="Liberation Mono" pitchFamily="34" charset="-122"/>
                <a:cs typeface="Liberation Mono" pitchFamily="34" charset="-120"/>
              </a:rPr>
              <a:t>(transformer.parameters(),</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lr=</a:t>
            </a:r>
            <a:r>
              <a:rPr lang="en-US" sz="800" dirty="0">
                <a:solidFill>
                  <a:srgbClr val="F472B6"/>
                </a:solidFill>
                <a:latin typeface="Liberation Sans Narrow" pitchFamily="34" charset="0"/>
                <a:ea typeface="Liberation Sans Narrow" pitchFamily="34" charset="-122"/>
                <a:cs typeface="Liberation Sans Narrow" pitchFamily="34" charset="-120"/>
              </a:rPr>
              <a:t>0.0001</a:t>
            </a:r>
            <a:r>
              <a:rPr lang="en-US" sz="800" dirty="0">
                <a:solidFill>
                  <a:srgbClr val="E2E8F0"/>
                </a:solidFill>
                <a:latin typeface="Liberation Mono" pitchFamily="34" charset="0"/>
                <a:ea typeface="Liberation Mono" pitchFamily="34" charset="-122"/>
                <a:cs typeface="Liberation Mono" pitchFamily="34" charset="-120"/>
              </a:rPr>
              <a:t>, betas=(</a:t>
            </a:r>
            <a:r>
              <a:rPr lang="en-US" sz="800" dirty="0">
                <a:solidFill>
                  <a:srgbClr val="F472B6"/>
                </a:solidFill>
                <a:latin typeface="Liberation Sans Narrow" pitchFamily="34" charset="0"/>
                <a:ea typeface="Liberation Sans Narrow" pitchFamily="34" charset="-122"/>
                <a:cs typeface="Liberation Sans Narrow" pitchFamily="34" charset="-120"/>
              </a:rPr>
              <a:t>0.9</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F472B6"/>
                </a:solidFill>
                <a:latin typeface="Liberation Sans Narrow" pitchFamily="34" charset="0"/>
                <a:ea typeface="Liberation Sans Narrow" pitchFamily="34" charset="-122"/>
                <a:cs typeface="Liberation Sans Narrow" pitchFamily="34" charset="-120"/>
              </a:rPr>
              <a:t>0.98</a:t>
            </a:r>
            <a:r>
              <a:rPr lang="en-US" sz="800" dirty="0">
                <a:solidFill>
                  <a:srgbClr val="E2E8F0"/>
                </a:solidFill>
                <a:latin typeface="Liberation Mono" pitchFamily="34" charset="0"/>
                <a:ea typeface="Liberation Mono" pitchFamily="34" charset="-122"/>
                <a:cs typeface="Liberation Mono" pitchFamily="34" charset="-120"/>
              </a:rPr>
              <a:t>), eps=</a:t>
            </a:r>
            <a:r>
              <a:rPr lang="en-US" sz="800" dirty="0">
                <a:solidFill>
                  <a:srgbClr val="F472B6"/>
                </a:solidFill>
                <a:latin typeface="Liberation Sans Narrow" pitchFamily="34" charset="0"/>
                <a:ea typeface="Liberation Sans Narrow" pitchFamily="34" charset="-122"/>
                <a:cs typeface="Liberation Sans Narrow" pitchFamily="34" charset="-120"/>
              </a:rPr>
              <a:t>1e-9</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transformer.</a:t>
            </a:r>
            <a:r>
              <a:rPr lang="en-US" sz="800" dirty="0">
                <a:solidFill>
                  <a:srgbClr val="60A5FA"/>
                </a:solidFill>
                <a:latin typeface="Liberation Mono" pitchFamily="34" charset="0"/>
                <a:ea typeface="Liberation Mono" pitchFamily="34" charset="-122"/>
                <a:cs typeface="Liberation Mono" pitchFamily="34" charset="-120"/>
              </a:rPr>
              <a:t>train</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F59E0B"/>
                </a:solidFill>
                <a:latin typeface="Liberation Mono" pitchFamily="34" charset="0"/>
                <a:ea typeface="Liberation Mono" pitchFamily="34" charset="-122"/>
                <a:cs typeface="Liberation Mono" pitchFamily="34" charset="-120"/>
              </a:rPr>
              <a:t>for</a:t>
            </a:r>
            <a:r>
              <a:rPr lang="en-US" sz="800" dirty="0">
                <a:solidFill>
                  <a:srgbClr val="E2E8F0"/>
                </a:solidFill>
                <a:latin typeface="Liberation Mono" pitchFamily="34" charset="0"/>
                <a:ea typeface="Liberation Mono" pitchFamily="34" charset="-122"/>
                <a:cs typeface="Liberation Mono" pitchFamily="34" charset="-120"/>
              </a:rPr>
              <a:t> epoch </a:t>
            </a:r>
            <a:r>
              <a:rPr lang="en-US" sz="800" dirty="0">
                <a:solidFill>
                  <a:srgbClr val="F59E0B"/>
                </a:solidFill>
                <a:latin typeface="Liberation Mono" pitchFamily="34" charset="0"/>
                <a:ea typeface="Liberation Mono" pitchFamily="34" charset="-122"/>
                <a:cs typeface="Liberation Mono" pitchFamily="34" charset="-120"/>
              </a:rPr>
              <a:t>in</a:t>
            </a:r>
            <a:r>
              <a:rPr lang="en-US" sz="800" dirty="0">
                <a:solidFill>
                  <a:srgbClr val="E2E8F0"/>
                </a:solidFill>
                <a:latin typeface="Liberation Mono" pitchFamily="34" charset="0"/>
                <a:ea typeface="Liberation Mono" pitchFamily="34" charset="-122"/>
                <a:cs typeface="Liberation Mono" pitchFamily="34" charset="-120"/>
              </a:rPr>
              <a:t> </a:t>
            </a:r>
            <a:r>
              <a:rPr lang="en-US" sz="800" dirty="0">
                <a:solidFill>
                  <a:srgbClr val="60A5FA"/>
                </a:solidFill>
                <a:latin typeface="Liberation Mono" pitchFamily="34" charset="0"/>
                <a:ea typeface="Liberation Mono" pitchFamily="34" charset="-122"/>
                <a:cs typeface="Liberation Mono" pitchFamily="34" charset="-120"/>
              </a:rPr>
              <a:t>range</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F472B6"/>
                </a:solidFill>
                <a:latin typeface="Liberation Sans Narrow" pitchFamily="34" charset="0"/>
                <a:ea typeface="Liberation Sans Narrow" pitchFamily="34" charset="-122"/>
                <a:cs typeface="Liberation Sans Narrow" pitchFamily="34" charset="-120"/>
              </a:rPr>
              <a:t>100</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optimizer.</a:t>
            </a:r>
            <a:r>
              <a:rPr lang="en-US" sz="800" dirty="0">
                <a:solidFill>
                  <a:srgbClr val="60A5FA"/>
                </a:solidFill>
                <a:latin typeface="Liberation Mono" pitchFamily="34" charset="0"/>
                <a:ea typeface="Liberation Mono" pitchFamily="34" charset="-122"/>
                <a:cs typeface="Liberation Mono" pitchFamily="34" charset="-120"/>
              </a:rPr>
              <a:t>zero_grad</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output = transformer(src_data, tgt_data[:,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loss = criterion(</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output.contiguous().view(-</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 tgt_vocab_size),</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tgt_data[:,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:].contiguous().view(-</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loss.</a:t>
            </a:r>
            <a:r>
              <a:rPr lang="en-US" sz="800" dirty="0">
                <a:solidFill>
                  <a:srgbClr val="60A5FA"/>
                </a:solidFill>
                <a:latin typeface="Liberation Mono" pitchFamily="34" charset="0"/>
                <a:ea typeface="Liberation Mono" pitchFamily="34" charset="-122"/>
                <a:cs typeface="Liberation Mono" pitchFamily="34" charset="-120"/>
              </a:rPr>
              <a:t>backward</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E2E8F0"/>
                </a:solidFill>
                <a:latin typeface="Liberation Mono" pitchFamily="34" charset="0"/>
                <a:ea typeface="Liberation Mono" pitchFamily="34" charset="-122"/>
                <a:cs typeface="Liberation Mono" pitchFamily="34" charset="-120"/>
              </a:rPr>
              <a:t>optimizer.</a:t>
            </a:r>
            <a:r>
              <a:rPr lang="en-US" sz="800" dirty="0">
                <a:solidFill>
                  <a:srgbClr val="60A5FA"/>
                </a:solidFill>
                <a:latin typeface="Liberation Mono" pitchFamily="34" charset="0"/>
                <a:ea typeface="Liberation Mono" pitchFamily="34" charset="-122"/>
                <a:cs typeface="Liberation Mono" pitchFamily="34" charset="-120"/>
              </a:rPr>
              <a:t>step</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45"/>
              </a:lnSpc>
              <a:buNone/>
            </a:pPr>
            <a:r>
              <a:rPr lang="en-US" sz="800" dirty="0">
                <a:solidFill>
                  <a:srgbClr val="60A5FA"/>
                </a:solidFill>
                <a:latin typeface="Liberation Mono" pitchFamily="34" charset="0"/>
                <a:ea typeface="Liberation Mono" pitchFamily="34" charset="-122"/>
                <a:cs typeface="Liberation Mono" pitchFamily="34" charset="-120"/>
              </a:rPr>
              <a:t>print</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34D399"/>
                </a:solidFill>
                <a:latin typeface="Liberation Mono" pitchFamily="34" charset="0"/>
                <a:ea typeface="Liberation Mono" pitchFamily="34" charset="-122"/>
                <a:cs typeface="Liberation Mono" pitchFamily="34" charset="-120"/>
              </a:rPr>
              <a:t>f"Epoch {epoch+1}, Loss: {loss.item():.4f}"</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p:txBody>
      </p:sp>
      <p:sp>
        <p:nvSpPr>
          <p:cNvPr id="33" name="Text 30"/>
          <p:cNvSpPr/>
          <p:nvPr/>
        </p:nvSpPr>
        <p:spPr>
          <a:xfrm>
            <a:off x="5463518" y="1957388"/>
            <a:ext cx="3680482" cy="144018"/>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TRAINING · KEY DETAILS</a:t>
            </a:r>
            <a:endParaRPr lang="en-US" sz="800" dirty="0"/>
          </a:p>
        </p:txBody>
      </p:sp>
      <p:sp>
        <p:nvSpPr>
          <p:cNvPr id="34" name="Text 31"/>
          <p:cNvSpPr/>
          <p:nvPr/>
        </p:nvSpPr>
        <p:spPr>
          <a:xfrm>
            <a:off x="5467090" y="2132409"/>
            <a:ext cx="3216027" cy="431974"/>
          </a:xfrm>
          <a:prstGeom prst="roundRect">
            <a:avLst>
              <a:gd name="adj" fmla="val 22050"/>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35" name="Text 32"/>
          <p:cNvSpPr/>
          <p:nvPr/>
        </p:nvSpPr>
        <p:spPr>
          <a:xfrm>
            <a:off x="5556386" y="2193131"/>
            <a:ext cx="157163" cy="157163"/>
          </a:xfrm>
          <a:prstGeom prst="ellipse">
            <a:avLst/>
          </a:prstGeom>
          <a:solidFill>
            <a:srgbClr val="1E3A8A"/>
          </a:solidFill>
          <a:ln/>
        </p:spPr>
        <p:txBody>
          <a:bodyPr wrap="square" rtlCol="0" anchor="ctr"/>
          <a:lstStyle/>
          <a:p>
            <a:pPr marL="0" indent="0">
              <a:buNone/>
            </a:pPr>
            <a:endParaRPr lang="en-US" dirty="0"/>
          </a:p>
        </p:txBody>
      </p:sp>
      <p:sp>
        <p:nvSpPr>
          <p:cNvPr id="36" name="Text 33"/>
          <p:cNvSpPr/>
          <p:nvPr/>
        </p:nvSpPr>
        <p:spPr>
          <a:xfrm>
            <a:off x="5556386" y="2193131"/>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37" name="Text 34"/>
          <p:cNvSpPr/>
          <p:nvPr/>
        </p:nvSpPr>
        <p:spPr>
          <a:xfrm>
            <a:off x="5770699" y="2193131"/>
            <a:ext cx="2823121" cy="91440"/>
          </a:xfrm>
          <a:prstGeom prst="rect">
            <a:avLst/>
          </a:prstGeom>
          <a:noFill/>
          <a:ln/>
        </p:spPr>
        <p:txBody>
          <a:bodyPr wrap="none" lIns="0" tIns="0" rIns="0" bIns="0" rtlCol="0" anchor="t">
            <a:normAutofit/>
          </a:bodyPr>
          <a:lstStyle/>
          <a:p>
            <a:pPr marL="0" indent="0" algn="l">
              <a:lnSpc>
                <a:spcPts val="681"/>
              </a:lnSpc>
              <a:buNone/>
            </a:pPr>
            <a:r>
              <a:rPr lang="en-US" sz="800" b="1" kern="0" spc="37" dirty="0">
                <a:solidFill>
                  <a:srgbClr val="1E3A8A"/>
                </a:solidFill>
                <a:latin typeface="Carlito" pitchFamily="34" charset="0"/>
                <a:ea typeface="Carlito" pitchFamily="34" charset="-122"/>
                <a:cs typeface="Carlito" pitchFamily="34" charset="-120"/>
              </a:rPr>
              <a:t>SHIFTED TARGETS</a:t>
            </a:r>
            <a:endParaRPr lang="en-US" sz="800" dirty="0"/>
          </a:p>
        </p:txBody>
      </p:sp>
      <p:sp>
        <p:nvSpPr>
          <p:cNvPr id="38" name="Text 35"/>
          <p:cNvSpPr/>
          <p:nvPr/>
        </p:nvSpPr>
        <p:spPr>
          <a:xfrm>
            <a:off x="5770699" y="2293813"/>
            <a:ext cx="2823121" cy="209848"/>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Input is tgt[:, :-1] (drop last token). Loss is computed against tgt[:, 1:] (drop first token). This teaches the model to predict the next token.</a:t>
            </a:r>
            <a:endParaRPr lang="en-US" sz="800" dirty="0"/>
          </a:p>
        </p:txBody>
      </p:sp>
      <p:sp>
        <p:nvSpPr>
          <p:cNvPr id="39" name="Text 36"/>
          <p:cNvSpPr/>
          <p:nvPr/>
        </p:nvSpPr>
        <p:spPr>
          <a:xfrm>
            <a:off x="5467090" y="2614389"/>
            <a:ext cx="3216027" cy="431974"/>
          </a:xfrm>
          <a:prstGeom prst="roundRect">
            <a:avLst>
              <a:gd name="adj" fmla="val 22050"/>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40" name="Text 37"/>
          <p:cNvSpPr/>
          <p:nvPr/>
        </p:nvSpPr>
        <p:spPr>
          <a:xfrm>
            <a:off x="5556386" y="2675111"/>
            <a:ext cx="157163" cy="157163"/>
          </a:xfrm>
          <a:prstGeom prst="ellipse">
            <a:avLst/>
          </a:prstGeom>
          <a:solidFill>
            <a:srgbClr val="1E3A8A"/>
          </a:solidFill>
          <a:ln/>
        </p:spPr>
        <p:txBody>
          <a:bodyPr wrap="square" rtlCol="0" anchor="ctr"/>
          <a:lstStyle/>
          <a:p>
            <a:pPr marL="0" indent="0">
              <a:buNone/>
            </a:pPr>
            <a:endParaRPr lang="en-US" dirty="0"/>
          </a:p>
        </p:txBody>
      </p:sp>
      <p:sp>
        <p:nvSpPr>
          <p:cNvPr id="41" name="Text 38"/>
          <p:cNvSpPr/>
          <p:nvPr/>
        </p:nvSpPr>
        <p:spPr>
          <a:xfrm>
            <a:off x="5556386" y="2675111"/>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42" name="Text 39"/>
          <p:cNvSpPr/>
          <p:nvPr/>
        </p:nvSpPr>
        <p:spPr>
          <a:xfrm>
            <a:off x="5770699" y="2675111"/>
            <a:ext cx="2823121" cy="91440"/>
          </a:xfrm>
          <a:prstGeom prst="rect">
            <a:avLst/>
          </a:prstGeom>
          <a:noFill/>
          <a:ln/>
        </p:spPr>
        <p:txBody>
          <a:bodyPr wrap="none" lIns="0" tIns="0" rIns="0" bIns="0" rtlCol="0" anchor="t">
            <a:normAutofit/>
          </a:bodyPr>
          <a:lstStyle/>
          <a:p>
            <a:pPr marL="0" indent="0" algn="l">
              <a:lnSpc>
                <a:spcPts val="681"/>
              </a:lnSpc>
              <a:buNone/>
            </a:pPr>
            <a:r>
              <a:rPr lang="en-US" sz="800" b="1" kern="0" spc="37" dirty="0">
                <a:solidFill>
                  <a:srgbClr val="1E3A8A"/>
                </a:solidFill>
                <a:latin typeface="Carlito" pitchFamily="34" charset="0"/>
                <a:ea typeface="Carlito" pitchFamily="34" charset="-122"/>
                <a:cs typeface="Carlito" pitchFamily="34" charset="-120"/>
              </a:rPr>
              <a:t>CROSS-ENTROPY</a:t>
            </a:r>
            <a:endParaRPr lang="en-US" sz="800" dirty="0"/>
          </a:p>
        </p:txBody>
      </p:sp>
      <p:sp>
        <p:nvSpPr>
          <p:cNvPr id="43" name="Text 40"/>
          <p:cNvSpPr/>
          <p:nvPr/>
        </p:nvSpPr>
        <p:spPr>
          <a:xfrm>
            <a:off x="5770699" y="2775793"/>
            <a:ext cx="2823121" cy="209848"/>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ignore_index=0 skips &lt;PAD&gt; tokens in the loss. Standard for sequence tasks where batches are padded.</a:t>
            </a:r>
            <a:endParaRPr lang="en-US" sz="800" dirty="0"/>
          </a:p>
        </p:txBody>
      </p:sp>
      <p:sp>
        <p:nvSpPr>
          <p:cNvPr id="44" name="Text 41"/>
          <p:cNvSpPr/>
          <p:nvPr/>
        </p:nvSpPr>
        <p:spPr>
          <a:xfrm>
            <a:off x="5467090" y="3096369"/>
            <a:ext cx="3216027" cy="431974"/>
          </a:xfrm>
          <a:prstGeom prst="roundRect">
            <a:avLst>
              <a:gd name="adj" fmla="val 22050"/>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45" name="Text 42"/>
          <p:cNvSpPr/>
          <p:nvPr/>
        </p:nvSpPr>
        <p:spPr>
          <a:xfrm>
            <a:off x="5556386" y="3157091"/>
            <a:ext cx="157163" cy="157163"/>
          </a:xfrm>
          <a:prstGeom prst="ellipse">
            <a:avLst/>
          </a:prstGeom>
          <a:solidFill>
            <a:srgbClr val="1E3A8A"/>
          </a:solidFill>
          <a:ln/>
        </p:spPr>
        <p:txBody>
          <a:bodyPr wrap="square" rtlCol="0" anchor="ctr"/>
          <a:lstStyle/>
          <a:p>
            <a:pPr marL="0" indent="0">
              <a:buNone/>
            </a:pPr>
            <a:endParaRPr lang="en-US" dirty="0"/>
          </a:p>
        </p:txBody>
      </p:sp>
      <p:sp>
        <p:nvSpPr>
          <p:cNvPr id="46" name="Text 43"/>
          <p:cNvSpPr/>
          <p:nvPr/>
        </p:nvSpPr>
        <p:spPr>
          <a:xfrm>
            <a:off x="5556386" y="3157091"/>
            <a:ext cx="185738" cy="157163"/>
          </a:xfrm>
          <a:prstGeom prst="rect">
            <a:avLst/>
          </a:prstGeom>
          <a:noFill/>
          <a:ln/>
        </p:spPr>
        <p:txBody>
          <a:bodyPr wrap="none" lIns="0" tIns="0" rIns="0" bIns="0" rtlCol="0" anchor="ctr"/>
          <a:lstStyle/>
          <a:p>
            <a:pPr marL="0" indent="0" algn="ctr">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47" name="Text 44"/>
          <p:cNvSpPr/>
          <p:nvPr/>
        </p:nvSpPr>
        <p:spPr>
          <a:xfrm>
            <a:off x="5770699" y="3157091"/>
            <a:ext cx="2823121" cy="91440"/>
          </a:xfrm>
          <a:prstGeom prst="rect">
            <a:avLst/>
          </a:prstGeom>
          <a:noFill/>
          <a:ln/>
        </p:spPr>
        <p:txBody>
          <a:bodyPr wrap="none" lIns="0" tIns="0" rIns="0" bIns="0" rtlCol="0" anchor="t">
            <a:normAutofit/>
          </a:bodyPr>
          <a:lstStyle/>
          <a:p>
            <a:pPr marL="0" indent="0" algn="l">
              <a:lnSpc>
                <a:spcPts val="681"/>
              </a:lnSpc>
              <a:buNone/>
            </a:pPr>
            <a:r>
              <a:rPr lang="en-US" sz="800" b="1" kern="0" spc="37" dirty="0">
                <a:solidFill>
                  <a:srgbClr val="1E3A8A"/>
                </a:solidFill>
                <a:latin typeface="Carlito" pitchFamily="34" charset="0"/>
                <a:ea typeface="Carlito" pitchFamily="34" charset="-122"/>
                <a:cs typeface="Carlito" pitchFamily="34" charset="-120"/>
              </a:rPr>
              <a:t>ADAM</a:t>
            </a:r>
            <a:endParaRPr lang="en-US" sz="800" dirty="0"/>
          </a:p>
        </p:txBody>
      </p:sp>
      <p:sp>
        <p:nvSpPr>
          <p:cNvPr id="48" name="Text 45"/>
          <p:cNvSpPr/>
          <p:nvPr/>
        </p:nvSpPr>
        <p:spPr>
          <a:xfrm>
            <a:off x="5770699" y="3257773"/>
            <a:ext cx="2823121" cy="209848"/>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Original paper used Adam with lr=1e-4, betas=(0.9, 0.98), eps=1e-9, plus a warmup schedule. We use the same fixed lr here for simplicity.</a:t>
            </a:r>
            <a:endParaRPr lang="en-US" sz="800" dirty="0"/>
          </a:p>
        </p:txBody>
      </p:sp>
      <p:sp>
        <p:nvSpPr>
          <p:cNvPr id="49" name="Text 46"/>
          <p:cNvSpPr/>
          <p:nvPr/>
        </p:nvSpPr>
        <p:spPr>
          <a:xfrm>
            <a:off x="460772" y="3775472"/>
            <a:ext cx="8222456" cy="1121569"/>
          </a:xfrm>
          <a:prstGeom prst="roundRect">
            <a:avLst>
              <a:gd name="adj" fmla="val 10191"/>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50" name="Text 47"/>
          <p:cNvSpPr/>
          <p:nvPr/>
        </p:nvSpPr>
        <p:spPr>
          <a:xfrm>
            <a:off x="578644" y="3850481"/>
            <a:ext cx="6583635"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EVALUATION</a:t>
            </a:r>
            <a:endParaRPr lang="en-US" sz="800" dirty="0"/>
          </a:p>
        </p:txBody>
      </p:sp>
      <p:sp>
        <p:nvSpPr>
          <p:cNvPr id="51" name="Text 48"/>
          <p:cNvSpPr/>
          <p:nvPr/>
        </p:nvSpPr>
        <p:spPr>
          <a:xfrm>
            <a:off x="7176567" y="3864769"/>
            <a:ext cx="1499893" cy="164592"/>
          </a:xfrm>
          <a:prstGeom prst="rect">
            <a:avLst/>
          </a:prstGeom>
          <a:noFill/>
          <a:ln/>
        </p:spPr>
        <p:txBody>
          <a:bodyPr wrap="square" lIns="0" tIns="0" rIns="0" bIns="0" rtlCol="0" anchor="t"/>
          <a:lstStyle/>
          <a:p>
            <a:pPr marL="0" indent="0" algn="l">
              <a:lnSpc>
                <a:spcPts val="844"/>
              </a:lnSpc>
              <a:buNone/>
            </a:pPr>
            <a:r>
              <a:rPr lang="en-US" sz="600" kern="0" spc="23" dirty="0">
                <a:solidFill>
                  <a:srgbClr val="1E3A8A"/>
                </a:solidFill>
                <a:latin typeface="Courier New" pitchFamily="34" charset="0"/>
                <a:ea typeface="Courier New" pitchFamily="34" charset="-122"/>
                <a:cs typeface="Courier New" pitchFamily="34" charset="-120"/>
              </a:rPr>
              <a:t>transformer.eval() + torch.no_grad()</a:t>
            </a:r>
            <a:endParaRPr lang="en-US" sz="600" dirty="0"/>
          </a:p>
        </p:txBody>
      </p:sp>
      <p:sp>
        <p:nvSpPr>
          <p:cNvPr id="52" name="Text 49"/>
          <p:cNvSpPr/>
          <p:nvPr/>
        </p:nvSpPr>
        <p:spPr>
          <a:xfrm>
            <a:off x="578644" y="4021931"/>
            <a:ext cx="4723358" cy="800100"/>
          </a:xfrm>
          <a:prstGeom prst="roundRect">
            <a:avLst>
              <a:gd name="adj" fmla="val 11905"/>
            </a:avLst>
          </a:prstGeom>
          <a:solidFill>
            <a:srgbClr val="0F172A"/>
          </a:solidFill>
          <a:ln/>
        </p:spPr>
        <p:txBody>
          <a:bodyPr wrap="square" rtlCol="0" anchor="ctr"/>
          <a:lstStyle/>
          <a:p>
            <a:pPr marL="0" indent="0">
              <a:buNone/>
            </a:pPr>
            <a:endParaRPr lang="en-US" dirty="0"/>
          </a:p>
        </p:txBody>
      </p:sp>
      <p:sp>
        <p:nvSpPr>
          <p:cNvPr id="53" name="Text 50"/>
          <p:cNvSpPr/>
          <p:nvPr/>
        </p:nvSpPr>
        <p:spPr>
          <a:xfrm>
            <a:off x="664369" y="4086225"/>
            <a:ext cx="3155305" cy="678656"/>
          </a:xfrm>
          <a:prstGeom prst="rect">
            <a:avLst/>
          </a:prstGeom>
          <a:noFill/>
          <a:ln/>
        </p:spPr>
        <p:txBody>
          <a:bodyPr wrap="none" lIns="0" tIns="0" rIns="0" bIns="0" rtlCol="0" anchor="t"/>
          <a:lstStyle/>
          <a:p>
            <a:pPr marL="0" indent="0" algn="l">
              <a:lnSpc>
                <a:spcPts val="906"/>
              </a:lnSpc>
              <a:buNone/>
            </a:pPr>
            <a:r>
              <a:rPr lang="en-US" sz="800" dirty="0">
                <a:solidFill>
                  <a:srgbClr val="E2E8F0"/>
                </a:solidFill>
                <a:latin typeface="Liberation Mono" pitchFamily="34" charset="0"/>
                <a:ea typeface="Liberation Mono" pitchFamily="34" charset="-122"/>
                <a:cs typeface="Liberation Mono" pitchFamily="34" charset="-120"/>
              </a:rPr>
              <a:t>transformer.</a:t>
            </a:r>
            <a:r>
              <a:rPr lang="en-US" sz="800" dirty="0">
                <a:solidFill>
                  <a:srgbClr val="60A5FA"/>
                </a:solidFill>
                <a:latin typeface="Liberation Mono" pitchFamily="34" charset="0"/>
                <a:ea typeface="Liberation Mono" pitchFamily="34" charset="-122"/>
                <a:cs typeface="Liberation Mono" pitchFamily="34" charset="-120"/>
              </a:rPr>
              <a:t>eval</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06"/>
              </a:lnSpc>
              <a:buNone/>
            </a:pPr>
            <a:r>
              <a:rPr lang="en-US" sz="800" dirty="0">
                <a:solidFill>
                  <a:srgbClr val="F59E0B"/>
                </a:solidFill>
                <a:latin typeface="Liberation Mono" pitchFamily="34" charset="0"/>
                <a:ea typeface="Liberation Mono" pitchFamily="34" charset="-122"/>
                <a:cs typeface="Liberation Mono" pitchFamily="34" charset="-120"/>
              </a:rPr>
              <a:t>with</a:t>
            </a:r>
            <a:r>
              <a:rPr lang="en-US" sz="800" dirty="0">
                <a:solidFill>
                  <a:srgbClr val="E2E8F0"/>
                </a:solidFill>
                <a:latin typeface="Liberation Mono" pitchFamily="34" charset="0"/>
                <a:ea typeface="Liberation Mono" pitchFamily="34" charset="-122"/>
                <a:cs typeface="Liberation Mono" pitchFamily="34" charset="-120"/>
              </a:rPr>
              <a:t> torch.</a:t>
            </a:r>
            <a:r>
              <a:rPr lang="en-US" sz="800" dirty="0">
                <a:solidFill>
                  <a:srgbClr val="60A5FA"/>
                </a:solidFill>
                <a:latin typeface="Liberation Mono" pitchFamily="34" charset="0"/>
                <a:ea typeface="Liberation Mono" pitchFamily="34" charset="-122"/>
                <a:cs typeface="Liberation Mono" pitchFamily="34" charset="-120"/>
              </a:rPr>
              <a:t>no_grad</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06"/>
              </a:lnSpc>
              <a:buNone/>
            </a:pPr>
            <a:r>
              <a:rPr lang="en-US" sz="800" dirty="0">
                <a:solidFill>
                  <a:srgbClr val="E2E8F0"/>
                </a:solidFill>
                <a:latin typeface="Liberation Mono" pitchFamily="34" charset="0"/>
                <a:ea typeface="Liberation Mono" pitchFamily="34" charset="-122"/>
                <a:cs typeface="Liberation Mono" pitchFamily="34" charset="-120"/>
              </a:rPr>
              <a:t>val_output = transformer(val_src_data, val_tgt_data[:,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06"/>
              </a:lnSpc>
              <a:buNone/>
            </a:pPr>
            <a:r>
              <a:rPr lang="en-US" sz="800" dirty="0">
                <a:solidFill>
                  <a:srgbClr val="E2E8F0"/>
                </a:solidFill>
                <a:latin typeface="Liberation Mono" pitchFamily="34" charset="0"/>
                <a:ea typeface="Liberation Mono" pitchFamily="34" charset="-122"/>
                <a:cs typeface="Liberation Mono" pitchFamily="34" charset="-120"/>
              </a:rPr>
              <a:t>val_loss = criterion(val_output.view(-</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 tgt_vocab_size),</a:t>
            </a:r>
            <a:endParaRPr lang="en-US" sz="800" dirty="0"/>
          </a:p>
          <a:p>
            <a:pPr marL="0" indent="0" algn="l">
              <a:lnSpc>
                <a:spcPts val="906"/>
              </a:lnSpc>
              <a:buNone/>
            </a:pPr>
            <a:r>
              <a:rPr lang="en-US" sz="800" dirty="0">
                <a:solidFill>
                  <a:srgbClr val="E2E8F0"/>
                </a:solidFill>
                <a:latin typeface="Liberation Mono" pitchFamily="34" charset="0"/>
                <a:ea typeface="Liberation Mono" pitchFamily="34" charset="-122"/>
                <a:cs typeface="Liberation Mono" pitchFamily="34" charset="-120"/>
              </a:rPr>
              <a:t>val_tgt_data[:, </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:].view(-</a:t>
            </a:r>
            <a:r>
              <a:rPr lang="en-US" sz="800" dirty="0">
                <a:solidFill>
                  <a:srgbClr val="F472B6"/>
                </a:solidFill>
                <a:latin typeface="Liberation Sans Narrow" pitchFamily="34" charset="0"/>
                <a:ea typeface="Liberation Sans Narrow" pitchFamily="34" charset="-122"/>
                <a:cs typeface="Liberation Sans Narrow" pitchFamily="34" charset="-120"/>
              </a:rPr>
              <a:t>1</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a:p>
            <a:pPr marL="0" indent="0" algn="l">
              <a:lnSpc>
                <a:spcPts val="906"/>
              </a:lnSpc>
              <a:buNone/>
            </a:pPr>
            <a:r>
              <a:rPr lang="en-US" sz="800" dirty="0">
                <a:solidFill>
                  <a:srgbClr val="60A5FA"/>
                </a:solidFill>
                <a:latin typeface="Liberation Mono" pitchFamily="34" charset="0"/>
                <a:ea typeface="Liberation Mono" pitchFamily="34" charset="-122"/>
                <a:cs typeface="Liberation Mono" pitchFamily="34" charset="-120"/>
              </a:rPr>
              <a:t>print</a:t>
            </a:r>
            <a:r>
              <a:rPr lang="en-US" sz="800" dirty="0">
                <a:solidFill>
                  <a:srgbClr val="E2E8F0"/>
                </a:solidFill>
                <a:latin typeface="Liberation Mono" pitchFamily="34" charset="0"/>
                <a:ea typeface="Liberation Mono" pitchFamily="34" charset="-122"/>
                <a:cs typeface="Liberation Mono" pitchFamily="34" charset="-120"/>
              </a:rPr>
              <a:t>(</a:t>
            </a:r>
            <a:r>
              <a:rPr lang="en-US" sz="800" dirty="0">
                <a:solidFill>
                  <a:srgbClr val="34D399"/>
                </a:solidFill>
                <a:latin typeface="Liberation Mono" pitchFamily="34" charset="0"/>
                <a:ea typeface="Liberation Mono" pitchFamily="34" charset="-122"/>
                <a:cs typeface="Liberation Mono" pitchFamily="34" charset="-120"/>
              </a:rPr>
              <a:t>f"Validation Loss: {val_loss.item():.4f}"</a:t>
            </a:r>
            <a:r>
              <a:rPr lang="en-US" sz="800" dirty="0">
                <a:solidFill>
                  <a:srgbClr val="E2E8F0"/>
                </a:solidFill>
                <a:latin typeface="Liberation Mono" pitchFamily="34" charset="0"/>
                <a:ea typeface="Liberation Mono" pitchFamily="34" charset="-122"/>
                <a:cs typeface="Liberation Mono" pitchFamily="34" charset="-120"/>
              </a:rPr>
              <a:t>)</a:t>
            </a:r>
            <a:endParaRPr lang="en-US" sz="800" dirty="0"/>
          </a:p>
        </p:txBody>
      </p:sp>
      <p:sp>
        <p:nvSpPr>
          <p:cNvPr id="54" name="Text 51"/>
          <p:cNvSpPr/>
          <p:nvPr/>
        </p:nvSpPr>
        <p:spPr>
          <a:xfrm>
            <a:off x="5416302" y="4190702"/>
            <a:ext cx="878538" cy="153489"/>
          </a:xfrm>
          <a:prstGeom prst="rect">
            <a:avLst/>
          </a:prstGeom>
          <a:noFill/>
          <a:ln/>
        </p:spPr>
        <p:txBody>
          <a:bodyPr wrap="none" lIns="0" tIns="0" rIns="0" bIns="0" rtlCol="0" anchor="t"/>
          <a:lstStyle/>
          <a:p>
            <a:pPr marL="0" indent="0" algn="l">
              <a:lnSpc>
                <a:spcPts val="827"/>
              </a:lnSpc>
              <a:buNone/>
            </a:pPr>
            <a:r>
              <a:rPr lang="en-US" sz="800" b="1" dirty="0">
                <a:solidFill>
                  <a:srgbClr val="1E3A8A"/>
                </a:solidFill>
                <a:latin typeface="Courier New" pitchFamily="34" charset="0"/>
                <a:ea typeface="Courier New" pitchFamily="34" charset="-122"/>
                <a:cs typeface="Courier New" pitchFamily="34" charset="-120"/>
              </a:rPr>
              <a:t>.eval()</a:t>
            </a:r>
            <a:endParaRPr lang="en-US" sz="800" dirty="0"/>
          </a:p>
        </p:txBody>
      </p:sp>
      <p:sp>
        <p:nvSpPr>
          <p:cNvPr id="55" name="Text 52"/>
          <p:cNvSpPr/>
          <p:nvPr/>
        </p:nvSpPr>
        <p:spPr>
          <a:xfrm>
            <a:off x="6087814" y="4190702"/>
            <a:ext cx="2477542" cy="306977"/>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Switches off dropout and batch-norm updates. Required for deterministic inference.</a:t>
            </a:r>
            <a:endParaRPr lang="en-US" sz="800" dirty="0"/>
          </a:p>
        </p:txBody>
      </p:sp>
      <p:sp>
        <p:nvSpPr>
          <p:cNvPr id="56" name="Text 53"/>
          <p:cNvSpPr/>
          <p:nvPr/>
        </p:nvSpPr>
        <p:spPr>
          <a:xfrm>
            <a:off x="5416302" y="4443413"/>
            <a:ext cx="767953" cy="153489"/>
          </a:xfrm>
          <a:prstGeom prst="rect">
            <a:avLst/>
          </a:prstGeom>
          <a:noFill/>
          <a:ln/>
        </p:spPr>
        <p:txBody>
          <a:bodyPr wrap="none" lIns="0" tIns="0" rIns="0" bIns="0" rtlCol="0" anchor="t"/>
          <a:lstStyle/>
          <a:p>
            <a:pPr marL="0" indent="0" algn="l">
              <a:lnSpc>
                <a:spcPts val="827"/>
              </a:lnSpc>
              <a:buNone/>
            </a:pPr>
            <a:r>
              <a:rPr lang="en-US" sz="600" b="1" dirty="0">
                <a:solidFill>
                  <a:srgbClr val="1E3A8A"/>
                </a:solidFill>
                <a:latin typeface="Courier New" pitchFamily="34" charset="0"/>
                <a:ea typeface="Courier New" pitchFamily="34" charset="-122"/>
                <a:cs typeface="Courier New" pitchFamily="34" charset="-120"/>
              </a:rPr>
              <a:t>torch.no_grad()</a:t>
            </a:r>
            <a:endParaRPr lang="en-US" sz="600" dirty="0"/>
          </a:p>
        </p:txBody>
      </p:sp>
      <p:sp>
        <p:nvSpPr>
          <p:cNvPr id="57" name="Text 54"/>
          <p:cNvSpPr/>
          <p:nvPr/>
        </p:nvSpPr>
        <p:spPr>
          <a:xfrm>
            <a:off x="6087814" y="4443413"/>
            <a:ext cx="2477542" cy="306977"/>
          </a:xfrm>
          <a:prstGeom prst="rect">
            <a:avLst/>
          </a:prstGeom>
          <a:noFill/>
          <a:ln/>
        </p:spPr>
        <p:txBody>
          <a:bodyPr wrap="square" lIns="0" tIns="0" rIns="0" bIns="0" rtlCol="0" anchor="t"/>
          <a:lstStyle/>
          <a:p>
            <a:pPr marL="0" indent="0" algn="l">
              <a:lnSpc>
                <a:spcPts val="827"/>
              </a:lnSpc>
              <a:buNone/>
            </a:pPr>
            <a:r>
              <a:rPr lang="en-US" sz="800" dirty="0">
                <a:solidFill>
                  <a:srgbClr val="334155"/>
                </a:solidFill>
                <a:latin typeface="Carlito" pitchFamily="34" charset="0"/>
                <a:ea typeface="Carlito" pitchFamily="34" charset="-122"/>
                <a:cs typeface="Carlito" pitchFamily="34" charset="-120"/>
              </a:rPr>
              <a:t>Disables autograd, reducing memory and speeding up forward passes during validation.</a:t>
            </a:r>
            <a:endParaRPr lang="en-US" sz="800" dirty="0"/>
          </a:p>
        </p:txBody>
      </p:sp>
      <p:sp>
        <p:nvSpPr>
          <p:cNvPr id="58" name="Text 55"/>
          <p:cNvSpPr/>
          <p:nvPr/>
        </p:nvSpPr>
        <p:spPr>
          <a:xfrm>
            <a:off x="457200" y="4854178"/>
            <a:ext cx="6595021"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Liberation Sans Narrow" pitchFamily="34" charset="0"/>
                <a:ea typeface="Liberation Sans Narrow" pitchFamily="34" charset="-122"/>
                <a:cs typeface="Liberation Sans Narrow" pitchFamily="34" charset="-120"/>
              </a:rPr>
              <a:t>SLIDE 15 · ASSEMBLY &amp; TRAINING</a:t>
            </a:r>
            <a:endParaRPr lang="en-US" sz="800" dirty="0"/>
          </a:p>
        </p:txBody>
      </p:sp>
      <p:sp>
        <p:nvSpPr>
          <p:cNvPr id="59" name="Text 56"/>
          <p:cNvSpPr/>
          <p:nvPr/>
        </p:nvSpPr>
        <p:spPr>
          <a:xfrm>
            <a:off x="7066508" y="4854178"/>
            <a:ext cx="1749915"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 · PYTORCH</a:t>
            </a:r>
            <a:endParaRPr lang="en-US" sz="619"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185398" y="233958"/>
            <a:ext cx="618667" cy="164592"/>
          </a:xfrm>
          <a:prstGeom prst="rect">
            <a:avLst/>
          </a:prstGeom>
          <a:noFill/>
          <a:ln/>
        </p:spPr>
        <p:txBody>
          <a:bodyPr wrap="non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END OF DECK</a:t>
            </a:r>
            <a:endParaRPr lang="en-US" sz="619" dirty="0"/>
          </a:p>
        </p:txBody>
      </p:sp>
      <p:sp>
        <p:nvSpPr>
          <p:cNvPr id="5" name="Shape 3"/>
          <p:cNvSpPr/>
          <p:nvPr/>
        </p:nvSpPr>
        <p:spPr>
          <a:xfrm>
            <a:off x="6035018" y="2785170"/>
            <a:ext cx="3566071" cy="0"/>
          </a:xfrm>
          <a:prstGeom prst="line">
            <a:avLst/>
          </a:prstGeom>
          <a:noFill/>
          <a:ln w="7144">
            <a:solidFill>
              <a:srgbClr val="E2E8F0"/>
            </a:solidFill>
            <a:prstDash val="solid"/>
          </a:ln>
        </p:spPr>
        <p:txBody>
          <a:bodyPr/>
          <a:lstStyle/>
          <a:p>
            <a:endParaRPr lang="en-US"/>
          </a:p>
        </p:txBody>
      </p:sp>
      <p:sp>
        <p:nvSpPr>
          <p:cNvPr id="6" name="Text 4"/>
          <p:cNvSpPr/>
          <p:nvPr/>
        </p:nvSpPr>
        <p:spPr>
          <a:xfrm>
            <a:off x="457200" y="4854178"/>
            <a:ext cx="6595021"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4748B"/>
                </a:solidFill>
                <a:latin typeface="Courier New" pitchFamily="34" charset="0"/>
                <a:ea typeface="Courier New" pitchFamily="34" charset="-122"/>
                <a:cs typeface="Courier New" pitchFamily="34" charset="-120"/>
              </a:rPr>
              <a:t>SLIDE 16 OF 16 · END OF DECK · THANK YOU</a:t>
            </a:r>
            <a:endParaRPr lang="en-US" sz="800" dirty="0"/>
          </a:p>
        </p:txBody>
      </p:sp>
      <p:sp>
        <p:nvSpPr>
          <p:cNvPr id="7" name="Text 5"/>
          <p:cNvSpPr/>
          <p:nvPr/>
        </p:nvSpPr>
        <p:spPr>
          <a:xfrm>
            <a:off x="7066508" y="4854178"/>
            <a:ext cx="1749915" cy="164592"/>
          </a:xfrm>
          <a:prstGeom prst="rect">
            <a:avLst/>
          </a:prstGeom>
          <a:noFill/>
          <a:ln/>
        </p:spPr>
        <p:txBody>
          <a:bodyPr wrap="square" lIns="0" tIns="0" rIns="0" bIns="0" rtlCol="0" anchor="t"/>
          <a:lstStyle/>
          <a:p>
            <a:pPr marL="0" indent="0" algn="l">
              <a:lnSpc>
                <a:spcPts val="928"/>
              </a:lnSpc>
              <a:buNone/>
            </a:pPr>
            <a:r>
              <a:rPr lang="en-US" sz="619" kern="0" spc="50" dirty="0">
                <a:solidFill>
                  <a:srgbClr val="64748B"/>
                </a:solidFill>
                <a:latin typeface="Courier New" pitchFamily="34" charset="0"/>
                <a:ea typeface="Courier New" pitchFamily="34" charset="-122"/>
                <a:cs typeface="Courier New" pitchFamily="34" charset="-120"/>
              </a:rPr>
              <a:t>TRANSFORMER MODEL TUTORIAL · PYTORCH</a:t>
            </a:r>
            <a:endParaRPr lang="en-US" sz="619" dirty="0"/>
          </a:p>
        </p:txBody>
      </p:sp>
      <p:sp>
        <p:nvSpPr>
          <p:cNvPr id="8" name="Text 6"/>
          <p:cNvSpPr/>
          <p:nvPr/>
        </p:nvSpPr>
        <p:spPr>
          <a:xfrm>
            <a:off x="457200" y="514350"/>
            <a:ext cx="7081696" cy="158306"/>
          </a:xfrm>
          <a:prstGeom prst="rect">
            <a:avLst/>
          </a:prstGeom>
          <a:noFill/>
          <a:ln/>
        </p:spPr>
        <p:txBody>
          <a:bodyPr wrap="none" lIns="0" tIns="0" rIns="0" bIns="0" rtlCol="0" anchor="t">
            <a:normAutofit/>
          </a:bodyPr>
          <a:lstStyle/>
          <a:p>
            <a:pPr marL="0" indent="0" algn="l">
              <a:lnSpc>
                <a:spcPts val="1013"/>
              </a:lnSpc>
              <a:buNone/>
            </a:pPr>
            <a:r>
              <a:rPr lang="en-US" sz="800" kern="0" spc="122" dirty="0">
                <a:solidFill>
                  <a:srgbClr val="F59E0B"/>
                </a:solidFill>
                <a:latin typeface="Courier New" pitchFamily="34" charset="0"/>
                <a:ea typeface="Courier New" pitchFamily="34" charset="-122"/>
                <a:cs typeface="Courier New" pitchFamily="34" charset="-120"/>
              </a:rPr>
              <a:t>CONCLUSION</a:t>
            </a:r>
            <a:endParaRPr lang="en-US" sz="800" dirty="0"/>
          </a:p>
        </p:txBody>
      </p:sp>
      <p:sp>
        <p:nvSpPr>
          <p:cNvPr id="9" name="Text 7"/>
          <p:cNvSpPr/>
          <p:nvPr/>
        </p:nvSpPr>
        <p:spPr>
          <a:xfrm>
            <a:off x="457200" y="700088"/>
            <a:ext cx="5616679" cy="356348"/>
          </a:xfrm>
          <a:prstGeom prst="rect">
            <a:avLst/>
          </a:prstGeom>
          <a:noFill/>
          <a:ln/>
        </p:spPr>
        <p:txBody>
          <a:bodyPr wrap="none" lIns="0" tIns="0" rIns="0" bIns="0" rtlCol="0" anchor="t"/>
          <a:lstStyle/>
          <a:p>
            <a:pPr marL="0" indent="0" algn="l">
              <a:lnSpc>
                <a:spcPts val="2599"/>
              </a:lnSpc>
              <a:buNone/>
            </a:pPr>
            <a:r>
              <a:rPr lang="en-US" sz="2475" b="1" kern="0" spc="-49" dirty="0">
                <a:solidFill>
                  <a:srgbClr val="1E3A8A"/>
                </a:solidFill>
                <a:latin typeface="Carlito" pitchFamily="34" charset="0"/>
                <a:ea typeface="Carlito" pitchFamily="34" charset="-122"/>
                <a:cs typeface="Carlito" pitchFamily="34" charset="-120"/>
              </a:rPr>
              <a:t>What You've Built</a:t>
            </a:r>
            <a:endParaRPr lang="en-US" sz="2475" dirty="0"/>
          </a:p>
        </p:txBody>
      </p:sp>
      <p:sp>
        <p:nvSpPr>
          <p:cNvPr id="10" name="Text 8"/>
          <p:cNvSpPr/>
          <p:nvPr/>
        </p:nvSpPr>
        <p:spPr>
          <a:xfrm>
            <a:off x="457200" y="1087189"/>
            <a:ext cx="4000500" cy="3671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A complete Transformer — encoder, decoder, attention, masking, training — from scratch, in pure PyTorch.</a:t>
            </a:r>
            <a:endParaRPr lang="en-US" sz="956" dirty="0"/>
          </a:p>
        </p:txBody>
      </p:sp>
      <p:sp>
        <p:nvSpPr>
          <p:cNvPr id="11" name="Text 9"/>
          <p:cNvSpPr/>
          <p:nvPr/>
        </p:nvSpPr>
        <p:spPr>
          <a:xfrm>
            <a:off x="457200" y="1512912"/>
            <a:ext cx="400050" cy="28575"/>
          </a:xfrm>
          <a:prstGeom prst="roundRect">
            <a:avLst>
              <a:gd name="adj" fmla="val 66667"/>
            </a:avLst>
          </a:prstGeom>
          <a:solidFill>
            <a:srgbClr val="F59E0B"/>
          </a:solidFill>
          <a:ln/>
        </p:spPr>
        <p:txBody>
          <a:bodyPr wrap="square" rtlCol="0" anchor="ctr"/>
          <a:lstStyle/>
          <a:p>
            <a:pPr marL="0" indent="0">
              <a:buNone/>
            </a:pPr>
            <a:endParaRPr lang="en-US" dirty="0"/>
          </a:p>
        </p:txBody>
      </p:sp>
      <p:sp>
        <p:nvSpPr>
          <p:cNvPr id="12" name="Text 10"/>
          <p:cNvSpPr/>
          <p:nvPr/>
        </p:nvSpPr>
        <p:spPr>
          <a:xfrm>
            <a:off x="457200" y="1648644"/>
            <a:ext cx="157163" cy="157163"/>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685800" y="1641500"/>
            <a:ext cx="6361407" cy="94012"/>
          </a:xfrm>
          <a:prstGeom prst="rect">
            <a:avLst/>
          </a:prstGeom>
          <a:noFill/>
          <a:ln/>
        </p:spPr>
        <p:txBody>
          <a:bodyPr wrap="none" lIns="0" tIns="0" rIns="0" bIns="0" rtlCol="0" anchor="t">
            <a:normAutofit/>
          </a:bodyPr>
          <a:lstStyle/>
          <a:p>
            <a:pPr marL="0" indent="0" algn="l">
              <a:lnSpc>
                <a:spcPts val="844"/>
              </a:lnSpc>
              <a:buNone/>
            </a:pPr>
            <a:r>
              <a:rPr lang="en-US" sz="800" b="1" kern="0" spc="56" dirty="0">
                <a:solidFill>
                  <a:srgbClr val="1E3A8A"/>
                </a:solidFill>
                <a:latin typeface="Carlito" pitchFamily="34" charset="0"/>
                <a:ea typeface="Carlito" pitchFamily="34" charset="-122"/>
                <a:cs typeface="Carlito" pitchFamily="34" charset="-120"/>
              </a:rPr>
              <a:t>ARCHITECTURE</a:t>
            </a:r>
            <a:endParaRPr lang="en-US" sz="800" dirty="0"/>
          </a:p>
        </p:txBody>
      </p:sp>
      <p:sp>
        <p:nvSpPr>
          <p:cNvPr id="14" name="Text 12"/>
          <p:cNvSpPr/>
          <p:nvPr/>
        </p:nvSpPr>
        <p:spPr>
          <a:xfrm>
            <a:off x="685800" y="1762944"/>
            <a:ext cx="5120618" cy="153591"/>
          </a:xfrm>
          <a:prstGeom prst="rect">
            <a:avLst/>
          </a:prstGeom>
          <a:noFill/>
          <a:ln/>
        </p:spPr>
        <p:txBody>
          <a:bodyPr wrap="square" lIns="0" tIns="0" rIns="0" bIns="0" rtlCol="0" anchor="t"/>
          <a:lstStyle/>
          <a:p>
            <a:pPr marL="0" indent="0" algn="l">
              <a:lnSpc>
                <a:spcPts val="945"/>
              </a:lnSpc>
              <a:buNone/>
            </a:pPr>
            <a:r>
              <a:rPr lang="en-US" sz="675" dirty="0">
                <a:solidFill>
                  <a:srgbClr val="334155"/>
                </a:solidFill>
                <a:latin typeface="Carlito" pitchFamily="34" charset="0"/>
                <a:ea typeface="Carlito" pitchFamily="34" charset="-122"/>
                <a:cs typeface="Carlito" pitchFamily="34" charset="-120"/>
              </a:rPr>
              <a:t>You implemented multi-head attention, position-wise FFN, and sinusoidal positional encoding as standalone nn.Modules.</a:t>
            </a:r>
            <a:endParaRPr lang="en-US" sz="675" dirty="0"/>
          </a:p>
        </p:txBody>
      </p:sp>
      <p:sp>
        <p:nvSpPr>
          <p:cNvPr id="15" name="Text 13"/>
          <p:cNvSpPr/>
          <p:nvPr/>
        </p:nvSpPr>
        <p:spPr>
          <a:xfrm>
            <a:off x="457200" y="1947230"/>
            <a:ext cx="157163" cy="157163"/>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685800" y="1940086"/>
            <a:ext cx="6361407" cy="94012"/>
          </a:xfrm>
          <a:prstGeom prst="rect">
            <a:avLst/>
          </a:prstGeom>
          <a:noFill/>
          <a:ln/>
        </p:spPr>
        <p:txBody>
          <a:bodyPr wrap="none" lIns="0" tIns="0" rIns="0" bIns="0" rtlCol="0" anchor="t">
            <a:normAutofit/>
          </a:bodyPr>
          <a:lstStyle/>
          <a:p>
            <a:pPr marL="0" indent="0" algn="l">
              <a:lnSpc>
                <a:spcPts val="844"/>
              </a:lnSpc>
              <a:buNone/>
            </a:pPr>
            <a:r>
              <a:rPr lang="en-US" sz="800" b="1" kern="0" spc="56" dirty="0">
                <a:solidFill>
                  <a:srgbClr val="1E3A8A"/>
                </a:solidFill>
                <a:latin typeface="Carlito" pitchFamily="34" charset="0"/>
                <a:ea typeface="Carlito" pitchFamily="34" charset="-122"/>
                <a:cs typeface="Carlito" pitchFamily="34" charset="-120"/>
              </a:rPr>
              <a:t>ENCODER &amp; DECODER</a:t>
            </a:r>
            <a:endParaRPr lang="en-US" sz="800" dirty="0"/>
          </a:p>
        </p:txBody>
      </p:sp>
      <p:sp>
        <p:nvSpPr>
          <p:cNvPr id="17" name="Text 15"/>
          <p:cNvSpPr/>
          <p:nvPr/>
        </p:nvSpPr>
        <p:spPr>
          <a:xfrm>
            <a:off x="685800" y="2061530"/>
            <a:ext cx="5120618" cy="153591"/>
          </a:xfrm>
          <a:prstGeom prst="rect">
            <a:avLst/>
          </a:prstGeom>
          <a:noFill/>
          <a:ln/>
        </p:spPr>
        <p:txBody>
          <a:bodyPr wrap="square" lIns="0" tIns="0" rIns="0" bIns="0" rtlCol="0" anchor="t"/>
          <a:lstStyle/>
          <a:p>
            <a:pPr marL="0" indent="0" algn="l">
              <a:lnSpc>
                <a:spcPts val="945"/>
              </a:lnSpc>
              <a:buNone/>
            </a:pPr>
            <a:r>
              <a:rPr lang="en-US" sz="675" dirty="0">
                <a:solidFill>
                  <a:srgbClr val="334155"/>
                </a:solidFill>
                <a:latin typeface="Carlito" pitchFamily="34" charset="0"/>
                <a:ea typeface="Carlito" pitchFamily="34" charset="-122"/>
                <a:cs typeface="Carlito" pitchFamily="34" charset="-120"/>
              </a:rPr>
              <a:t>You composed them into encoder layers (2 sub-layers) and decoder layers (3 sub-layers), each wrapped in Add &amp; Norm.</a:t>
            </a:r>
            <a:endParaRPr lang="en-US" sz="675" dirty="0"/>
          </a:p>
        </p:txBody>
      </p:sp>
      <p:sp>
        <p:nvSpPr>
          <p:cNvPr id="18" name="Text 16"/>
          <p:cNvSpPr/>
          <p:nvPr/>
        </p:nvSpPr>
        <p:spPr>
          <a:xfrm>
            <a:off x="457200" y="2245816"/>
            <a:ext cx="157163" cy="157163"/>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85800" y="2238673"/>
            <a:ext cx="6361407" cy="94012"/>
          </a:xfrm>
          <a:prstGeom prst="rect">
            <a:avLst/>
          </a:prstGeom>
          <a:noFill/>
          <a:ln/>
        </p:spPr>
        <p:txBody>
          <a:bodyPr wrap="none" lIns="0" tIns="0" rIns="0" bIns="0" rtlCol="0" anchor="t">
            <a:normAutofit/>
          </a:bodyPr>
          <a:lstStyle/>
          <a:p>
            <a:pPr marL="0" indent="0" algn="l">
              <a:lnSpc>
                <a:spcPts val="844"/>
              </a:lnSpc>
              <a:buNone/>
            </a:pPr>
            <a:r>
              <a:rPr lang="en-US" sz="800" b="1" kern="0" spc="56" dirty="0">
                <a:solidFill>
                  <a:srgbClr val="1E3A8A"/>
                </a:solidFill>
                <a:latin typeface="Carlito" pitchFamily="34" charset="0"/>
                <a:ea typeface="Carlito" pitchFamily="34" charset="-122"/>
                <a:cs typeface="Carlito" pitchFamily="34" charset="-120"/>
              </a:rPr>
              <a:t>FULL MODEL</a:t>
            </a:r>
            <a:endParaRPr lang="en-US" sz="800" dirty="0"/>
          </a:p>
        </p:txBody>
      </p:sp>
      <p:sp>
        <p:nvSpPr>
          <p:cNvPr id="20" name="Text 18"/>
          <p:cNvSpPr/>
          <p:nvPr/>
        </p:nvSpPr>
        <p:spPr>
          <a:xfrm>
            <a:off x="685800" y="2360116"/>
            <a:ext cx="5120618" cy="153591"/>
          </a:xfrm>
          <a:prstGeom prst="rect">
            <a:avLst/>
          </a:prstGeom>
          <a:noFill/>
          <a:ln/>
        </p:spPr>
        <p:txBody>
          <a:bodyPr wrap="square" lIns="0" tIns="0" rIns="0" bIns="0" rtlCol="0" anchor="t"/>
          <a:lstStyle/>
          <a:p>
            <a:pPr marL="0" indent="0" algn="l">
              <a:lnSpc>
                <a:spcPts val="945"/>
              </a:lnSpc>
              <a:buNone/>
            </a:pPr>
            <a:r>
              <a:rPr lang="en-US" sz="675" dirty="0">
                <a:solidFill>
                  <a:srgbClr val="334155"/>
                </a:solidFill>
                <a:latin typeface="Carlito" pitchFamily="34" charset="0"/>
                <a:ea typeface="Carlito" pitchFamily="34" charset="-122"/>
                <a:cs typeface="Carlito" pitchFamily="34" charset="-120"/>
              </a:rPr>
              <a:t>You assembled embeddings, positional encoding, Nx stacks, and a linear head into one Transformer class.</a:t>
            </a:r>
            <a:endParaRPr lang="en-US" sz="675" dirty="0"/>
          </a:p>
        </p:txBody>
      </p:sp>
      <p:sp>
        <p:nvSpPr>
          <p:cNvPr id="21" name="Text 19"/>
          <p:cNvSpPr/>
          <p:nvPr/>
        </p:nvSpPr>
        <p:spPr>
          <a:xfrm>
            <a:off x="457200" y="2544403"/>
            <a:ext cx="157163" cy="157163"/>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685800" y="2537259"/>
            <a:ext cx="6914434" cy="94012"/>
          </a:xfrm>
          <a:prstGeom prst="rect">
            <a:avLst/>
          </a:prstGeom>
          <a:noFill/>
          <a:ln/>
        </p:spPr>
        <p:txBody>
          <a:bodyPr wrap="none" lIns="0" tIns="0" rIns="0" bIns="0" rtlCol="0" anchor="t">
            <a:normAutofit/>
          </a:bodyPr>
          <a:lstStyle/>
          <a:p>
            <a:pPr marL="0" indent="0" algn="l">
              <a:lnSpc>
                <a:spcPts val="844"/>
              </a:lnSpc>
              <a:buNone/>
            </a:pPr>
            <a:r>
              <a:rPr lang="en-US" sz="800" b="1" kern="0" spc="56" dirty="0">
                <a:solidFill>
                  <a:srgbClr val="1E3A8A"/>
                </a:solidFill>
                <a:latin typeface="Carlito" pitchFamily="34" charset="0"/>
                <a:ea typeface="Carlito" pitchFamily="34" charset="-122"/>
                <a:cs typeface="Carlito" pitchFamily="34" charset="-120"/>
              </a:rPr>
              <a:t>MASKING</a:t>
            </a:r>
            <a:endParaRPr lang="en-US" sz="800" dirty="0"/>
          </a:p>
        </p:txBody>
      </p:sp>
      <p:sp>
        <p:nvSpPr>
          <p:cNvPr id="23" name="Text 21"/>
          <p:cNvSpPr/>
          <p:nvPr/>
        </p:nvSpPr>
        <p:spPr>
          <a:xfrm>
            <a:off x="685800" y="2658703"/>
            <a:ext cx="5120618" cy="153591"/>
          </a:xfrm>
          <a:prstGeom prst="rect">
            <a:avLst/>
          </a:prstGeom>
          <a:noFill/>
          <a:ln/>
        </p:spPr>
        <p:txBody>
          <a:bodyPr wrap="square" lIns="0" tIns="0" rIns="0" bIns="0" rtlCol="0" anchor="t"/>
          <a:lstStyle/>
          <a:p>
            <a:pPr marL="0" indent="0" algn="l">
              <a:lnSpc>
                <a:spcPts val="945"/>
              </a:lnSpc>
              <a:buNone/>
            </a:pPr>
            <a:r>
              <a:rPr lang="en-US" sz="675" dirty="0">
                <a:solidFill>
                  <a:srgbClr val="334155"/>
                </a:solidFill>
                <a:latin typeface="Carlito" pitchFamily="34" charset="0"/>
                <a:ea typeface="Carlito" pitchFamily="34" charset="-122"/>
                <a:cs typeface="Carlito" pitchFamily="34" charset="-120"/>
              </a:rPr>
              <a:t>You built src_mask (padding) and tgt_mask (padding + no-peak) — the subtle detail that makes generation causal.</a:t>
            </a:r>
            <a:endParaRPr lang="en-US" sz="675" dirty="0"/>
          </a:p>
        </p:txBody>
      </p:sp>
      <p:sp>
        <p:nvSpPr>
          <p:cNvPr id="24" name="Text 22"/>
          <p:cNvSpPr/>
          <p:nvPr/>
        </p:nvSpPr>
        <p:spPr>
          <a:xfrm>
            <a:off x="457200" y="2842989"/>
            <a:ext cx="157163" cy="157163"/>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685800" y="2835846"/>
            <a:ext cx="6914434" cy="94012"/>
          </a:xfrm>
          <a:prstGeom prst="rect">
            <a:avLst/>
          </a:prstGeom>
          <a:noFill/>
          <a:ln/>
        </p:spPr>
        <p:txBody>
          <a:bodyPr wrap="none" lIns="0" tIns="0" rIns="0" bIns="0" rtlCol="0" anchor="t">
            <a:normAutofit/>
          </a:bodyPr>
          <a:lstStyle/>
          <a:p>
            <a:pPr marL="0" indent="0" algn="l">
              <a:lnSpc>
                <a:spcPts val="844"/>
              </a:lnSpc>
              <a:buNone/>
            </a:pPr>
            <a:r>
              <a:rPr lang="en-US" sz="800" b="1" kern="0" spc="56" dirty="0">
                <a:solidFill>
                  <a:srgbClr val="1E3A8A"/>
                </a:solidFill>
                <a:latin typeface="Carlito" pitchFamily="34" charset="0"/>
                <a:ea typeface="Carlito" pitchFamily="34" charset="-122"/>
                <a:cs typeface="Carlito" pitchFamily="34" charset="-120"/>
              </a:rPr>
              <a:t>TRAINING</a:t>
            </a:r>
            <a:endParaRPr lang="en-US" sz="800" dirty="0"/>
          </a:p>
        </p:txBody>
      </p:sp>
      <p:sp>
        <p:nvSpPr>
          <p:cNvPr id="26" name="Text 24"/>
          <p:cNvSpPr/>
          <p:nvPr/>
        </p:nvSpPr>
        <p:spPr>
          <a:xfrm>
            <a:off x="685800" y="2957289"/>
            <a:ext cx="5120618" cy="153591"/>
          </a:xfrm>
          <a:prstGeom prst="rect">
            <a:avLst/>
          </a:prstGeom>
          <a:noFill/>
          <a:ln/>
        </p:spPr>
        <p:txBody>
          <a:bodyPr wrap="square" lIns="0" tIns="0" rIns="0" bIns="0" rtlCol="0" anchor="t"/>
          <a:lstStyle/>
          <a:p>
            <a:pPr marL="0" indent="0" algn="l">
              <a:lnSpc>
                <a:spcPts val="945"/>
              </a:lnSpc>
              <a:buNone/>
            </a:pPr>
            <a:r>
              <a:rPr lang="en-US" sz="675" dirty="0">
                <a:solidFill>
                  <a:srgbClr val="334155"/>
                </a:solidFill>
                <a:latin typeface="Carlito" pitchFamily="34" charset="0"/>
                <a:ea typeface="Carlito" pitchFamily="34" charset="-122"/>
                <a:cs typeface="Carlito" pitchFamily="34" charset="-120"/>
              </a:rPr>
              <a:t>You wired CrossEntropyLoss + Adam and ran a 100-epoch training loop plus an evaluation pass with torch.no_grad.</a:t>
            </a:r>
            <a:endParaRPr lang="en-US" sz="675" dirty="0"/>
          </a:p>
        </p:txBody>
      </p:sp>
      <p:sp>
        <p:nvSpPr>
          <p:cNvPr id="27" name="Text 25"/>
          <p:cNvSpPr/>
          <p:nvPr/>
        </p:nvSpPr>
        <p:spPr>
          <a:xfrm>
            <a:off x="6038590" y="517922"/>
            <a:ext cx="3558927" cy="1059061"/>
          </a:xfrm>
          <a:prstGeom prst="roundRect">
            <a:avLst>
              <a:gd name="adj" fmla="val 10793"/>
            </a:avLst>
          </a:prstGeom>
          <a:solidFill>
            <a:srgbClr val="DBEAFE"/>
          </a:solidFill>
          <a:ln w="7144">
            <a:solidFill>
              <a:srgbClr val="BFDBFE"/>
            </a:solidFill>
            <a:prstDash val="solid"/>
          </a:ln>
        </p:spPr>
        <p:txBody>
          <a:bodyPr wrap="square" rtlCol="0" anchor="ctr"/>
          <a:lstStyle/>
          <a:p>
            <a:pPr marL="0" indent="0">
              <a:buNone/>
            </a:pPr>
            <a:endParaRPr lang="en-US" dirty="0"/>
          </a:p>
        </p:txBody>
      </p:sp>
      <p:sp>
        <p:nvSpPr>
          <p:cNvPr id="28" name="Text 26"/>
          <p:cNvSpPr/>
          <p:nvPr/>
        </p:nvSpPr>
        <p:spPr>
          <a:xfrm>
            <a:off x="6156461" y="621506"/>
            <a:ext cx="2987539" cy="127945"/>
          </a:xfrm>
          <a:prstGeom prst="rect">
            <a:avLst/>
          </a:prstGeom>
          <a:noFill/>
          <a:ln/>
        </p:spPr>
        <p:txBody>
          <a:bodyPr wrap="none" lIns="0" tIns="0" rIns="0" bIns="0" rtlCol="0" anchor="t">
            <a:normAutofit/>
          </a:bodyPr>
          <a:lstStyle/>
          <a:p>
            <a:pPr marL="0" indent="0" algn="l">
              <a:lnSpc>
                <a:spcPts val="886"/>
              </a:lnSpc>
              <a:buNone/>
            </a:pPr>
            <a:r>
              <a:rPr lang="en-US" sz="800" b="1" kern="0" spc="59" dirty="0">
                <a:solidFill>
                  <a:srgbClr val="F59E0B"/>
                </a:solidFill>
                <a:latin typeface="Courier New" pitchFamily="34" charset="0"/>
                <a:ea typeface="Courier New" pitchFamily="34" charset="-122"/>
                <a:cs typeface="Courier New" pitchFamily="34" charset="-120"/>
              </a:rPr>
              <a:t>WHY THIS MATTERS</a:t>
            </a:r>
            <a:endParaRPr lang="en-US" sz="800" dirty="0"/>
          </a:p>
        </p:txBody>
      </p:sp>
      <p:sp>
        <p:nvSpPr>
          <p:cNvPr id="29" name="Text 27"/>
          <p:cNvSpPr/>
          <p:nvPr/>
        </p:nvSpPr>
        <p:spPr>
          <a:xfrm>
            <a:off x="6156461" y="776883"/>
            <a:ext cx="2987539" cy="696516"/>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This 2017 architecture is the foundation of BERT, GPT, T5, and every modern large language model. The encoder-only variant powers classification and embedding; the decoder-only variant powers generation; the full encoder-decoder powers translation and summarization. Master this skeleton and the rest of modern NLP is a variation on it.</a:t>
            </a:r>
            <a:endParaRPr lang="en-US" sz="800" dirty="0"/>
          </a:p>
        </p:txBody>
      </p:sp>
      <p:sp>
        <p:nvSpPr>
          <p:cNvPr id="30" name="Text 28"/>
          <p:cNvSpPr/>
          <p:nvPr/>
        </p:nvSpPr>
        <p:spPr>
          <a:xfrm>
            <a:off x="6038590" y="1655564"/>
            <a:ext cx="3558927" cy="1051024"/>
          </a:xfrm>
          <a:prstGeom prst="roundRect">
            <a:avLst>
              <a:gd name="adj" fmla="val 10875"/>
            </a:avLst>
          </a:prstGeom>
          <a:solidFill>
            <a:srgbClr val="FEF3C7"/>
          </a:solidFill>
          <a:ln w="7144">
            <a:solidFill>
              <a:srgbClr val="FDE68A"/>
            </a:solidFill>
            <a:prstDash val="solid"/>
          </a:ln>
        </p:spPr>
        <p:txBody>
          <a:bodyPr wrap="square" rtlCol="0" anchor="ctr"/>
          <a:lstStyle/>
          <a:p>
            <a:pPr marL="0" indent="0">
              <a:buNone/>
            </a:pPr>
            <a:endParaRPr lang="en-US" dirty="0"/>
          </a:p>
        </p:txBody>
      </p:sp>
      <p:sp>
        <p:nvSpPr>
          <p:cNvPr id="31" name="Text 29"/>
          <p:cNvSpPr/>
          <p:nvPr/>
        </p:nvSpPr>
        <p:spPr>
          <a:xfrm>
            <a:off x="6156461" y="1759148"/>
            <a:ext cx="2987539" cy="127945"/>
          </a:xfrm>
          <a:prstGeom prst="rect">
            <a:avLst/>
          </a:prstGeom>
          <a:noFill/>
          <a:ln/>
        </p:spPr>
        <p:txBody>
          <a:bodyPr wrap="none" lIns="0" tIns="0" rIns="0" bIns="0" rtlCol="0" anchor="t">
            <a:normAutofit/>
          </a:bodyPr>
          <a:lstStyle/>
          <a:p>
            <a:pPr marL="0" indent="0" algn="l">
              <a:lnSpc>
                <a:spcPts val="886"/>
              </a:lnSpc>
              <a:buNone/>
            </a:pPr>
            <a:r>
              <a:rPr lang="en-US" sz="800" b="1" kern="0" spc="59" dirty="0">
                <a:solidFill>
                  <a:srgbClr val="1E3A8A"/>
                </a:solidFill>
                <a:latin typeface="Courier New" pitchFamily="34" charset="0"/>
                <a:ea typeface="Courier New" pitchFamily="34" charset="-122"/>
                <a:cs typeface="Courier New" pitchFamily="34" charset="-120"/>
              </a:rPr>
              <a:t>FAQ TEASER</a:t>
            </a:r>
            <a:endParaRPr lang="en-US" sz="800" dirty="0"/>
          </a:p>
        </p:txBody>
      </p:sp>
      <p:sp>
        <p:nvSpPr>
          <p:cNvPr id="32" name="Text 30"/>
          <p:cNvSpPr/>
          <p:nvPr/>
        </p:nvSpPr>
        <p:spPr>
          <a:xfrm>
            <a:off x="6156461" y="1914525"/>
            <a:ext cx="2987539" cy="275284"/>
          </a:xfrm>
          <a:prstGeom prst="rect">
            <a:avLst/>
          </a:prstGeom>
          <a:noFill/>
          <a:ln/>
        </p:spPr>
        <p:txBody>
          <a:bodyPr wrap="square" lIns="0" tIns="0" rIns="0" bIns="0" rtlCol="0" anchor="t">
            <a:normAutofit/>
          </a:bodyPr>
          <a:lstStyle/>
          <a:p>
            <a:pPr marL="0" indent="0" algn="l">
              <a:lnSpc>
                <a:spcPts val="1024"/>
              </a:lnSpc>
              <a:buNone/>
            </a:pPr>
            <a:r>
              <a:rPr lang="en-US" sz="800" dirty="0">
                <a:solidFill>
                  <a:srgbClr val="1E3A8A"/>
                </a:solidFill>
                <a:latin typeface="Carlito" pitchFamily="34" charset="0"/>
                <a:ea typeface="Carlito" pitchFamily="34" charset="-122"/>
                <a:cs typeface="Carlito" pitchFamily="34" charset="-120"/>
              </a:rPr>
              <a:t>Why are Transformers more efficient than LSTMs for handling long sequences?</a:t>
            </a:r>
            <a:endParaRPr lang="en-US" sz="800" dirty="0"/>
          </a:p>
        </p:txBody>
      </p:sp>
      <p:sp>
        <p:nvSpPr>
          <p:cNvPr id="33" name="Text 31"/>
          <p:cNvSpPr/>
          <p:nvPr/>
        </p:nvSpPr>
        <p:spPr>
          <a:xfrm>
            <a:off x="6156461" y="2217241"/>
            <a:ext cx="2987539" cy="385763"/>
          </a:xfrm>
          <a:prstGeom prst="rect">
            <a:avLst/>
          </a:prstGeom>
          <a:noFill/>
          <a:ln/>
        </p:spPr>
        <p:txBody>
          <a:bodyPr wrap="square" lIns="0" tIns="0" rIns="0" bIns="0" rtlCol="0" anchor="t"/>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Two reasons. (1) Self-attention links any two positions in O(1) steps, while LSTMs need O(n) recurrent steps. (2) The whole sequence processes in parallel on a GPU — no recurrence to serialize over.</a:t>
            </a:r>
            <a:endParaRPr lang="en-US" sz="800" dirty="0"/>
          </a:p>
        </p:txBody>
      </p:sp>
      <p:sp>
        <p:nvSpPr>
          <p:cNvPr id="34" name="Text 32"/>
          <p:cNvSpPr/>
          <p:nvPr/>
        </p:nvSpPr>
        <p:spPr>
          <a:xfrm>
            <a:off x="6063593" y="2831604"/>
            <a:ext cx="3080407" cy="101156"/>
          </a:xfrm>
          <a:prstGeom prst="rect">
            <a:avLst/>
          </a:prstGeom>
          <a:noFill/>
          <a:ln/>
        </p:spPr>
        <p:txBody>
          <a:bodyPr wrap="none" lIns="0" tIns="0" rIns="0" bIns="0" rtlCol="0" anchor="t">
            <a:normAutofit/>
          </a:bodyPr>
          <a:lstStyle/>
          <a:p>
            <a:pPr marL="0" indent="0" algn="l">
              <a:lnSpc>
                <a:spcPts val="844"/>
              </a:lnSpc>
              <a:buNone/>
            </a:pPr>
            <a:r>
              <a:rPr lang="en-US" sz="800" kern="0" spc="45" dirty="0">
                <a:solidFill>
                  <a:srgbClr val="64748B"/>
                </a:solidFill>
                <a:latin typeface="Courier New" pitchFamily="34" charset="0"/>
                <a:ea typeface="Courier New" pitchFamily="34" charset="-122"/>
                <a:cs typeface="Courier New" pitchFamily="34" charset="-120"/>
              </a:rPr>
              <a:t>FURTHER READING</a:t>
            </a:r>
            <a:endParaRPr lang="en-US" sz="800" dirty="0"/>
          </a:p>
        </p:txBody>
      </p:sp>
      <p:sp>
        <p:nvSpPr>
          <p:cNvPr id="35" name="Text 33"/>
          <p:cNvSpPr/>
          <p:nvPr/>
        </p:nvSpPr>
        <p:spPr>
          <a:xfrm>
            <a:off x="6063593" y="2960191"/>
            <a:ext cx="3080407" cy="225028"/>
          </a:xfrm>
          <a:prstGeom prst="rect">
            <a:avLst/>
          </a:prstGeom>
          <a:noFill/>
          <a:ln/>
        </p:spPr>
        <p:txBody>
          <a:bodyPr wrap="square" lIns="0" tIns="0" rIns="0" bIns="0" rtlCol="0" anchor="t"/>
          <a:lstStyle/>
          <a:p>
            <a:pPr marL="0" indent="0" algn="l">
              <a:lnSpc>
                <a:spcPts val="886"/>
              </a:lnSpc>
              <a:buNone/>
            </a:pPr>
            <a:r>
              <a:rPr lang="en-US" sz="800" dirty="0">
                <a:solidFill>
                  <a:srgbClr val="334155"/>
                </a:solidFill>
                <a:latin typeface="Courier New" pitchFamily="34" charset="0"/>
                <a:ea typeface="Courier New" pitchFamily="34" charset="-122"/>
                <a:cs typeface="Courier New" pitchFamily="34" charset="-120"/>
              </a:rPr>
              <a:t>Vaswani et al. (2017) · DataCamp tutorial (Arjun Sarkar, Apr 2025) · Hugging Face Transformers · The Annotated Transformer (Harvard NLP)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5546</Words>
  <Application>Microsoft Office PowerPoint</Application>
  <PresentationFormat>On-screen Show (16:9)</PresentationFormat>
  <Paragraphs>523</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Carlito</vt:lpstr>
      <vt:lpstr>Courier New</vt:lpstr>
      <vt:lpstr>Liberation Mono</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Asad Riaz</cp:lastModifiedBy>
  <cp:revision>2</cp:revision>
  <dcterms:created xsi:type="dcterms:W3CDTF">2026-08-04T07:14:54Z</dcterms:created>
  <dcterms:modified xsi:type="dcterms:W3CDTF">2026-08-04T09:23:47Z</dcterms:modified>
</cp:coreProperties>
</file>