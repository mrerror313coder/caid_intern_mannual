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49" autoAdjust="0"/>
    <p:restoredTop sz="94610"/>
  </p:normalViewPr>
  <p:slideViewPr>
    <p:cSldViewPr snapToGrid="0" snapToObjects="1">
      <p:cViewPr>
        <p:scale>
          <a:sx n="84" d="100"/>
          <a:sy n="84" d="100"/>
        </p:scale>
        <p:origin x="132" y="-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14258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3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4892040"/>
            <a:ext cx="2377440" cy="1234440"/>
          </a:xfrm>
          <a:prstGeom prst="roundRect">
            <a:avLst>
              <a:gd name="adj" fmla="val 7407"/>
            </a:avLst>
          </a:prstGeom>
          <a:solidFill>
            <a:srgbClr val="012C30"/>
          </a:solidFill>
          <a:ln w="12700">
            <a:solidFill>
              <a:srgbClr val="1F5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235440" y="5093208"/>
            <a:ext cx="2011680" cy="0"/>
          </a:xfrm>
          <a:prstGeom prst="line">
            <a:avLst/>
          </a:prstGeom>
          <a:noFill/>
          <a:ln w="19050">
            <a:solidFill>
              <a:srgbClr val="3D6E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235440" y="5276088"/>
            <a:ext cx="1554480" cy="0"/>
          </a:xfrm>
          <a:prstGeom prst="line">
            <a:avLst/>
          </a:prstGeom>
          <a:noFill/>
          <a:ln w="19050">
            <a:solidFill>
              <a:srgbClr val="3D6E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235440" y="5458968"/>
            <a:ext cx="1097280" cy="0"/>
          </a:xfrm>
          <a:prstGeom prst="line">
            <a:avLst/>
          </a:prstGeom>
          <a:noFill/>
          <a:ln w="19050">
            <a:solidFill>
              <a:srgbClr val="3D6E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89720" y="5806440"/>
            <a:ext cx="2103120" cy="201168"/>
          </a:xfrm>
          <a:prstGeom prst="roundRect">
            <a:avLst>
              <a:gd name="adj" fmla="val 18182"/>
            </a:avLst>
          </a:prstGeom>
          <a:noFill/>
          <a:ln w="12700">
            <a:solidFill>
              <a:srgbClr val="02C39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052560" y="459943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FD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9189720" y="3429000"/>
            <a:ext cx="640080" cy="640080"/>
          </a:xfrm>
          <a:prstGeom prst="roundRect">
            <a:avLst>
              <a:gd name="adj" fmla="val 14286"/>
            </a:avLst>
          </a:prstGeom>
          <a:noFill/>
          <a:ln w="1651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509760" y="4069080"/>
            <a:ext cx="0" cy="274320"/>
          </a:xfrm>
          <a:prstGeom prst="line">
            <a:avLst/>
          </a:prstGeom>
          <a:noFill/>
          <a:ln w="12700">
            <a:solidFill>
              <a:srgbClr val="3D6E7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509760" y="4343400"/>
            <a:ext cx="731520" cy="0"/>
          </a:xfrm>
          <a:prstGeom prst="line">
            <a:avLst/>
          </a:prstGeom>
          <a:noFill/>
          <a:ln w="12700">
            <a:solidFill>
              <a:srgbClr val="3D6E7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241280" y="4343400"/>
            <a:ext cx="0" cy="548640"/>
          </a:xfrm>
          <a:prstGeom prst="line">
            <a:avLst/>
          </a:prstGeom>
          <a:noFill/>
          <a:ln w="12700">
            <a:solidFill>
              <a:srgbClr val="3D6E70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652760" y="3429000"/>
            <a:ext cx="640080" cy="640080"/>
          </a:xfrm>
          <a:prstGeom prst="roundRect">
            <a:avLst>
              <a:gd name="adj" fmla="val 14286"/>
            </a:avLst>
          </a:prstGeom>
          <a:noFill/>
          <a:ln w="1651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972800" y="4069080"/>
            <a:ext cx="0" cy="274320"/>
          </a:xfrm>
          <a:prstGeom prst="line">
            <a:avLst/>
          </a:prstGeom>
          <a:noFill/>
          <a:ln w="12700">
            <a:solidFill>
              <a:srgbClr val="3D6E7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0241280" y="4343400"/>
            <a:ext cx="731520" cy="0"/>
          </a:xfrm>
          <a:prstGeom prst="line">
            <a:avLst/>
          </a:prstGeom>
          <a:noFill/>
          <a:ln w="12700">
            <a:solidFill>
              <a:srgbClr val="3D6E7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241280" y="4343400"/>
            <a:ext cx="0" cy="548640"/>
          </a:xfrm>
          <a:prstGeom prst="line">
            <a:avLst/>
          </a:prstGeom>
          <a:noFill/>
          <a:ln w="12700">
            <a:solidFill>
              <a:srgbClr val="3D6E70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052560" y="313639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FD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TOOL USE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2331720"/>
            <a:ext cx="8869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 Use Usage Patterns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822960" y="3611880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B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tool calls, direct responses, forced tool usage, and multi-turn conversations with Cohere's chat API.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22960" y="4480560"/>
            <a:ext cx="100584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SETUP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tool, four usage patterns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5212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 means the model decides when and how to call external functions to retrieve information or perform actions. Every example in this chapter reuses the same get_weather tool — what changes is the interaction pattern around 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3429000"/>
            <a:ext cx="2468880" cy="777240"/>
          </a:xfrm>
          <a:prstGeom prst="roundRect">
            <a:avLst>
              <a:gd name="adj" fmla="val 11765"/>
            </a:avLst>
          </a:prstGeom>
          <a:solidFill>
            <a:srgbClr val="F4F9F8"/>
          </a:solidFill>
          <a:ln w="12700">
            <a:solidFill>
              <a:srgbClr val="DCEA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22960" y="361188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3611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342900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tool calls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3429000"/>
            <a:ext cx="2468880" cy="777240"/>
          </a:xfrm>
          <a:prstGeom prst="roundRect">
            <a:avLst>
              <a:gd name="adj" fmla="val 11765"/>
            </a:avLst>
          </a:prstGeom>
          <a:solidFill>
            <a:srgbClr val="F4F9F8"/>
          </a:solidFill>
          <a:ln w="12700">
            <a:solidFill>
              <a:srgbClr val="DCEA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474720" y="361188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74720" y="3611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023360" y="342900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answering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389120"/>
            <a:ext cx="2468880" cy="777240"/>
          </a:xfrm>
          <a:prstGeom prst="roundRect">
            <a:avLst>
              <a:gd name="adj" fmla="val 11765"/>
            </a:avLst>
          </a:prstGeom>
          <a:solidFill>
            <a:srgbClr val="F4F9F8"/>
          </a:solidFill>
          <a:ln w="12700">
            <a:solidFill>
              <a:srgbClr val="DCEA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22960" y="457200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2960" y="4572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71600" y="438912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Forcing tool usage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91840" y="4389120"/>
            <a:ext cx="2468880" cy="777240"/>
          </a:xfrm>
          <a:prstGeom prst="roundRect">
            <a:avLst>
              <a:gd name="adj" fmla="val 11765"/>
            </a:avLst>
          </a:prstGeom>
          <a:solidFill>
            <a:srgbClr val="F4F9F8"/>
          </a:solidFill>
          <a:ln w="12700">
            <a:solidFill>
              <a:srgbClr val="DCEA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474720" y="457200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474720" y="4572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023360" y="438912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chatbots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63640" y="1645920"/>
            <a:ext cx="5257800" cy="4251960"/>
          </a:xfrm>
          <a:prstGeom prst="roundRect">
            <a:avLst>
              <a:gd name="adj" fmla="val 2151"/>
            </a:avLst>
          </a:prstGeom>
          <a:solidFill>
            <a:srgbClr val="012C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537960" y="1847088"/>
            <a:ext cx="470916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get_weather(location):</a:t>
            </a:r>
            <a:endParaRPr lang="en-US" sz="108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Implement any logic here</a:t>
            </a:r>
            <a:endParaRPr lang="en-US" sz="108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[{"temperature": "20C"}]</a:t>
            </a:r>
            <a:endParaRPr lang="en-US" sz="1080" dirty="0"/>
          </a:p>
          <a:p>
            <a:pPr marL="0" indent="0">
              <a:lnSpc>
                <a:spcPct val="120000"/>
              </a:lnSpc>
              <a:buNone/>
            </a:pPr>
            <a:endParaRPr lang="en-US" sz="108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functions_map = {"get_weather": get_weather}</a:t>
            </a:r>
            <a:endParaRPr lang="en-US" sz="1080" dirty="0"/>
          </a:p>
          <a:p>
            <a:pPr marL="0" indent="0">
              <a:lnSpc>
                <a:spcPct val="120000"/>
              </a:lnSpc>
              <a:buNone/>
            </a:pPr>
            <a:endParaRPr lang="en-US" sz="108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 = [{</a:t>
            </a:r>
            <a:endParaRPr lang="en-US" sz="108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"type": "function",</a:t>
            </a:r>
            <a:endParaRPr lang="en-US" sz="108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"function": {</a:t>
            </a:r>
            <a:endParaRPr lang="en-US" sz="108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"name": "get_weather",</a:t>
            </a:r>
            <a:endParaRPr lang="en-US" sz="108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"description": "gets the weather</a:t>
            </a:r>
            <a:endParaRPr lang="en-US" sz="108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of a given location",</a:t>
            </a:r>
            <a:endParaRPr lang="en-US" sz="108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08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8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}]</a:t>
            </a:r>
            <a:endParaRPr lang="en-US" sz="10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PARALLEL TOOL CALLS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request, several tool calls at once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5212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task needs more than one lookup, the model can call the same tool multiple times in parallel — or call different tools together — all within a single turn.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92608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263347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377440" y="2651760"/>
            <a:ext cx="3108960" cy="548640"/>
          </a:xfrm>
          <a:prstGeom prst="roundRect">
            <a:avLst>
              <a:gd name="adj" fmla="val 13333"/>
            </a:avLst>
          </a:prstGeom>
          <a:solidFill>
            <a:srgbClr val="F08A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377440" y="26517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get_weather(Toronto)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 flipV="1">
            <a:off x="1371600" y="2971800"/>
            <a:ext cx="960120" cy="274320"/>
          </a:xfrm>
          <a:prstGeom prst="line">
            <a:avLst/>
          </a:prstGeom>
          <a:noFill/>
          <a:ln w="16510">
            <a:solidFill>
              <a:srgbClr val="9FB8B4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377440" y="3566160"/>
            <a:ext cx="3108960" cy="548640"/>
          </a:xfrm>
          <a:prstGeom prst="roundRect">
            <a:avLst>
              <a:gd name="adj" fmla="val 13333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377440" y="35661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get_weather(New York)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371600" y="3246120"/>
            <a:ext cx="960120" cy="594360"/>
          </a:xfrm>
          <a:prstGeom prst="line">
            <a:avLst/>
          </a:prstGeom>
          <a:noFill/>
          <a:ln w="16510">
            <a:solidFill>
              <a:srgbClr val="9FB8B4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457200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calls are generated in the same tool_plan step, then executed and appended as two separate tool messages.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63640" y="1645920"/>
            <a:ext cx="5257800" cy="4251960"/>
          </a:xfrm>
          <a:prstGeom prst="roundRect">
            <a:avLst>
              <a:gd name="adj" fmla="val 2151"/>
            </a:avLst>
          </a:prstGeom>
          <a:solidFill>
            <a:srgbClr val="012C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537960" y="1847088"/>
            <a:ext cx="470916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 = [{"role": "user",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"content": "What's the weather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in Toronto and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New York?"}]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= co.chat(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model="command-a-plus-05-2026",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messages=messages, tools=tools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tool_plan: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 will use get_weather to find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the weather in Toronto and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New York."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 tool_calls generated —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one per location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DIRECTLY ANSWERING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Knowing when not to reach for a tool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well-built tool-use system also knows when to skip its tools entirely. Given a question that doesn't need external data, the model answers directly — no tool call, no wasted round-trip.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5257800" cy="3337560"/>
          </a:xfrm>
          <a:prstGeom prst="roundRect">
            <a:avLst>
              <a:gd name="adj" fmla="val 3288"/>
            </a:avLst>
          </a:prstGeom>
          <a:solidFill>
            <a:srgbClr val="F4F9F8"/>
          </a:solidFill>
          <a:ln w="12700">
            <a:solidFill>
              <a:srgbClr val="DCEA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60120" y="2834640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MESSAGE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3172968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"What's 2+2?"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60120" y="3794760"/>
            <a:ext cx="4617720" cy="0"/>
          </a:xfrm>
          <a:prstGeom prst="line">
            <a:avLst/>
          </a:prstGeom>
          <a:noFill/>
          <a:ln w="12700">
            <a:solidFill>
              <a:srgbClr val="CFE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60120" y="3931920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DECISION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4233672"/>
            <a:ext cx="4617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D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though get_weather is available, the model recognizes this question needs no tool — and skips straight to answering.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63640" y="2606040"/>
            <a:ext cx="5257800" cy="3337560"/>
          </a:xfrm>
          <a:prstGeom prst="roundRect">
            <a:avLst>
              <a:gd name="adj" fmla="val 3288"/>
            </a:avLst>
          </a:prstGeom>
          <a:solidFill>
            <a:srgbClr val="013A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83680" y="2834640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response.message.tool_calls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0" y="3172968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583680" y="3657600"/>
            <a:ext cx="4617720" cy="0"/>
          </a:xfrm>
          <a:prstGeom prst="line">
            <a:avLst/>
          </a:prstGeom>
          <a:noFill/>
          <a:ln w="12700">
            <a:solidFill>
              <a:srgbClr val="1F5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583680" y="3794760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RESPONSE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83680" y="411480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“2+2 is 4.”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583680" y="4892040"/>
            <a:ext cx="4617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i="1" dirty="0">
                <a:solidFill>
                  <a:srgbClr val="9FD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falsy check on tool_calls is what routes control flow to the direct-answer branch.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3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FORCING TOOL USAGE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 the decision out of the model's hands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default the model chooses between calling a tool or answering directly. The tool_choice parameter overrides that choice when your application needs a guarantee either way.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5257800" cy="3474720"/>
          </a:xfrm>
          <a:prstGeom prst="roundRect">
            <a:avLst>
              <a:gd name="adj" fmla="val 3158"/>
            </a:avLst>
          </a:prstGeom>
          <a:solidFill>
            <a:srgbClr val="012C30"/>
          </a:solidFill>
          <a:ln w="190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60120" y="2724912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tool_choice = "REQUIRED"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3200400"/>
            <a:ext cx="4617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8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the model to make at least one tool call — it cannot respond directly, even if it thinks it doesn't need to.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4434840"/>
            <a:ext cx="4617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i="1" dirty="0">
                <a:solidFill>
                  <a:srgbClr val="9FD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your app's logic depends on a tool result being present — e.g. always checking a database before answering.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2468880"/>
            <a:ext cx="5257800" cy="3474720"/>
          </a:xfrm>
          <a:prstGeom prst="roundRect">
            <a:avLst>
              <a:gd name="adj" fmla="val 3158"/>
            </a:avLst>
          </a:prstGeom>
          <a:solidFill>
            <a:srgbClr val="012C30"/>
          </a:solidFill>
          <a:ln w="12700">
            <a:solidFill>
              <a:srgbClr val="1F5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83680" y="2724912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tool_choice = "NONE"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83680" y="3200400"/>
            <a:ext cx="4617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8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a direct response — the model will not call any tool, even if one would have been relevant.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0" y="4434840"/>
            <a:ext cx="4617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i="1" dirty="0">
                <a:solidFill>
                  <a:srgbClr val="9FD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you need a guaranteed fast, tool-free answer — e.g. a lightweight fallback mode.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60807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FD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Omit tool_choice entirely to let the model decide for itself — the default, and usually the right call.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CHATBOTS (MULTI-TURN)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is just an ever-growing messages list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turn — user message, tool call, tool result, assistant reply — gets appended to the same list. Pass the whole history back on every call, and the model has full conversational context.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194560" y="2688336"/>
            <a:ext cx="9052560" cy="420624"/>
          </a:xfrm>
          <a:prstGeom prst="roundRect">
            <a:avLst>
              <a:gd name="adj" fmla="val 13043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423160" y="2688336"/>
            <a:ext cx="8595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"What's the weather in Toronto?"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1371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94560" y="3255264"/>
            <a:ext cx="9052560" cy="420624"/>
          </a:xfrm>
          <a:prstGeom prst="roundRect">
            <a:avLst>
              <a:gd name="adj" fmla="val 13043"/>
            </a:avLst>
          </a:prstGeom>
          <a:solidFill>
            <a:srgbClr val="F08A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423160" y="3255264"/>
            <a:ext cx="8595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tool_call → get_weather(Toronto)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0080" y="3218688"/>
            <a:ext cx="1371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194560" y="3822192"/>
            <a:ext cx="9052560" cy="420624"/>
          </a:xfrm>
          <a:prstGeom prst="roundRect">
            <a:avLst>
              <a:gd name="adj" fmla="val 13043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423160" y="3822192"/>
            <a:ext cx="8595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{"temperature": "20C"}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0080" y="3785616"/>
            <a:ext cx="1371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194560" y="4389120"/>
            <a:ext cx="9052560" cy="420624"/>
          </a:xfrm>
          <a:prstGeom prst="roundRect">
            <a:avLst>
              <a:gd name="adj" fmla="val 13043"/>
            </a:avLst>
          </a:prstGeom>
          <a:solidFill>
            <a:srgbClr val="F08A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423160" y="4389120"/>
            <a:ext cx="8595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"It's 20°C in Toronto."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" y="4352544"/>
            <a:ext cx="1371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194560" y="4956048"/>
            <a:ext cx="9052560" cy="420624"/>
          </a:xfrm>
          <a:prstGeom prst="roundRect">
            <a:avLst>
              <a:gd name="adj" fmla="val 13043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423160" y="4956048"/>
            <a:ext cx="8595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"What about London?"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0080" y="4919472"/>
            <a:ext cx="1371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194560" y="5522976"/>
            <a:ext cx="9052560" cy="420624"/>
          </a:xfrm>
          <a:prstGeom prst="roundRect">
            <a:avLst>
              <a:gd name="adj" fmla="val 13043"/>
            </a:avLst>
          </a:prstGeom>
          <a:solidFill>
            <a:srgbClr val="F08A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423160" y="5522976"/>
            <a:ext cx="8595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tool_call → get_weather(London)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0080" y="5486400"/>
            <a:ext cx="1371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6190488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turn (bold) is the new tool call generated after “What about London?” — built entirely from the accumulated message history.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CHATBOTS (MULTI-TURN), CONTINUED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Append, call, append again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new user turn and calling chat again is enough — the model reads the whole list to decide its next tool call or reply.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10881360" cy="3566160"/>
          </a:xfrm>
          <a:prstGeom prst="roundRect">
            <a:avLst>
              <a:gd name="adj" fmla="val 2564"/>
            </a:avLst>
          </a:prstGeom>
          <a:solidFill>
            <a:srgbClr val="012C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2532888"/>
            <a:ext cx="10332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messages.append({"role": "user", "content": "What about London?"})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= co.chat(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model="command-a-plus-05-2026", messages=messages, tools=tools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response.message.tool_calls: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messages.append(response.message)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print(response.message.tool_plan)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print(response.message.tool_calls)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tool_plan: "I will search for the weather in London."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tool_calls: [get_weather(location="London")]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60807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 repeats indefinitely: each new user message extends the same list, so the model never loses earlier context.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13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572000" cy="4572000"/>
          </a:xfrm>
          <a:prstGeom prst="ellipse">
            <a:avLst/>
          </a:prstGeom>
          <a:solidFill>
            <a:srgbClr val="012C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patterns, one consistent message list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67665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B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execution, response control, and multi-turn state all build on the same foundation: the model decides how to use tools, and every decision — call or no call — gets appended to the same growing conversation.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3566160"/>
            <a:ext cx="2606040" cy="438912"/>
          </a:xfrm>
          <a:prstGeom prst="roundRect">
            <a:avLst>
              <a:gd name="adj" fmla="val 50000"/>
            </a:avLst>
          </a:prstGeom>
          <a:solidFill>
            <a:srgbClr val="012C30"/>
          </a:solidFill>
          <a:ln w="12700">
            <a:solidFill>
              <a:srgbClr val="1F5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3566160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tool calls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29000" y="3566160"/>
            <a:ext cx="2606040" cy="438912"/>
          </a:xfrm>
          <a:prstGeom prst="roundRect">
            <a:avLst>
              <a:gd name="adj" fmla="val 50000"/>
            </a:avLst>
          </a:prstGeom>
          <a:solidFill>
            <a:srgbClr val="012C30"/>
          </a:solidFill>
          <a:ln w="12700">
            <a:solidFill>
              <a:srgbClr val="1F5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29000" y="3566160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answers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4133088"/>
            <a:ext cx="2606040" cy="438912"/>
          </a:xfrm>
          <a:prstGeom prst="roundRect">
            <a:avLst>
              <a:gd name="adj" fmla="val 50000"/>
            </a:avLst>
          </a:prstGeom>
          <a:solidFill>
            <a:srgbClr val="012C30"/>
          </a:solidFill>
          <a:ln w="12700">
            <a:solidFill>
              <a:srgbClr val="1F5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4133088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Forced tool usage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29000" y="4133088"/>
            <a:ext cx="2606040" cy="438912"/>
          </a:xfrm>
          <a:prstGeom prst="roundRect">
            <a:avLst>
              <a:gd name="adj" fmla="val 50000"/>
            </a:avLst>
          </a:prstGeom>
          <a:solidFill>
            <a:srgbClr val="012C30"/>
          </a:solidFill>
          <a:ln w="12700">
            <a:solidFill>
              <a:srgbClr val="1F5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29000" y="4133088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chatbots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863840" y="1737360"/>
            <a:ext cx="3703320" cy="3840480"/>
          </a:xfrm>
          <a:prstGeom prst="roundRect">
            <a:avLst>
              <a:gd name="adj" fmla="val 2963"/>
            </a:avLst>
          </a:prstGeom>
          <a:solidFill>
            <a:srgbClr val="012C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138160" y="201168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138160" y="2377440"/>
            <a:ext cx="3154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9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tool, different control flow.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138160" y="3520440"/>
            <a:ext cx="31546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9FD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get_weather never changed across this chapter — only how and when it got called.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D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1004</Words>
  <Application>Microsoft Office PowerPoint</Application>
  <PresentationFormat>Widescreen</PresentationFormat>
  <Paragraphs>129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Muhammad Asad Riaz</cp:lastModifiedBy>
  <cp:revision>2</cp:revision>
  <dcterms:created xsi:type="dcterms:W3CDTF">2026-08-24T04:07:54Z</dcterms:created>
  <dcterms:modified xsi:type="dcterms:W3CDTF">2026-08-24T18:09:34Z</dcterms:modified>
</cp:coreProperties>
</file>