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75" d="100"/>
          <a:sy n="75" d="100"/>
        </p:scale>
        <p:origin x="516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498236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13A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32520" y="1417320"/>
            <a:ext cx="530352" cy="530352"/>
          </a:xfrm>
          <a:prstGeom prst="roundRect">
            <a:avLst>
              <a:gd name="adj" fmla="val 10345"/>
            </a:avLst>
          </a:prstGeom>
          <a:solidFill>
            <a:srgbClr val="E8F6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9354312" y="1417320"/>
            <a:ext cx="530352" cy="530352"/>
          </a:xfrm>
          <a:prstGeom prst="roundRect">
            <a:avLst>
              <a:gd name="adj" fmla="val 10345"/>
            </a:avLst>
          </a:prstGeom>
          <a:solidFill>
            <a:srgbClr val="5B6B6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9976104" y="1417320"/>
            <a:ext cx="530352" cy="530352"/>
          </a:xfrm>
          <a:prstGeom prst="roundRect">
            <a:avLst>
              <a:gd name="adj" fmla="val 10345"/>
            </a:avLst>
          </a:prstGeom>
          <a:solidFill>
            <a:srgbClr val="5B6B6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10597896" y="1417320"/>
            <a:ext cx="530352" cy="530352"/>
          </a:xfrm>
          <a:prstGeom prst="roundRect">
            <a:avLst>
              <a:gd name="adj" fmla="val 10345"/>
            </a:avLst>
          </a:prstGeom>
          <a:solidFill>
            <a:srgbClr val="99001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11219688" y="1417320"/>
            <a:ext cx="530352" cy="530352"/>
          </a:xfrm>
          <a:prstGeom prst="roundRect">
            <a:avLst>
              <a:gd name="adj" fmla="val 10345"/>
            </a:avLst>
          </a:prstGeom>
          <a:solidFill>
            <a:srgbClr val="F3A5A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8732520" y="2039112"/>
            <a:ext cx="530352" cy="530352"/>
          </a:xfrm>
          <a:prstGeom prst="roundRect">
            <a:avLst>
              <a:gd name="adj" fmla="val 10345"/>
            </a:avLst>
          </a:prstGeom>
          <a:solidFill>
            <a:srgbClr val="99001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9354312" y="2039112"/>
            <a:ext cx="530352" cy="530352"/>
          </a:xfrm>
          <a:prstGeom prst="roundRect">
            <a:avLst>
              <a:gd name="adj" fmla="val 10345"/>
            </a:avLst>
          </a:prstGeom>
          <a:solidFill>
            <a:srgbClr val="F08A6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9976104" y="2039112"/>
            <a:ext cx="530352" cy="530352"/>
          </a:xfrm>
          <a:prstGeom prst="roundRect">
            <a:avLst>
              <a:gd name="adj" fmla="val 10345"/>
            </a:avLst>
          </a:prstGeom>
          <a:solidFill>
            <a:srgbClr val="F3C6C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10597896" y="2039112"/>
            <a:ext cx="530352" cy="530352"/>
          </a:xfrm>
          <a:prstGeom prst="roundRect">
            <a:avLst>
              <a:gd name="adj" fmla="val 10345"/>
            </a:avLst>
          </a:prstGeom>
          <a:solidFill>
            <a:srgbClr val="5B6B6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11219688" y="2039112"/>
            <a:ext cx="530352" cy="530352"/>
          </a:xfrm>
          <a:prstGeom prst="roundRect">
            <a:avLst>
              <a:gd name="adj" fmla="val 10345"/>
            </a:avLst>
          </a:prstGeom>
          <a:solidFill>
            <a:srgbClr val="99001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8732520" y="2660904"/>
            <a:ext cx="530352" cy="530352"/>
          </a:xfrm>
          <a:prstGeom prst="roundRect">
            <a:avLst>
              <a:gd name="adj" fmla="val 10345"/>
            </a:avLst>
          </a:prstGeom>
          <a:solidFill>
            <a:srgbClr val="5B6B6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9354312" y="2660904"/>
            <a:ext cx="530352" cy="530352"/>
          </a:xfrm>
          <a:prstGeom prst="roundRect">
            <a:avLst>
              <a:gd name="adj" fmla="val 10345"/>
            </a:avLst>
          </a:prstGeom>
          <a:solidFill>
            <a:srgbClr val="99001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9976104" y="2660904"/>
            <a:ext cx="530352" cy="530352"/>
          </a:xfrm>
          <a:prstGeom prst="roundRect">
            <a:avLst>
              <a:gd name="adj" fmla="val 10345"/>
            </a:avLst>
          </a:prstGeom>
          <a:solidFill>
            <a:srgbClr val="5B6B6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10597896" y="2660904"/>
            <a:ext cx="530352" cy="530352"/>
          </a:xfrm>
          <a:prstGeom prst="roundRect">
            <a:avLst>
              <a:gd name="adj" fmla="val 10345"/>
            </a:avLst>
          </a:prstGeom>
          <a:solidFill>
            <a:srgbClr val="99001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11219688" y="2660904"/>
            <a:ext cx="530352" cy="530352"/>
          </a:xfrm>
          <a:prstGeom prst="roundRect">
            <a:avLst>
              <a:gd name="adj" fmla="val 10345"/>
            </a:avLst>
          </a:prstGeom>
          <a:solidFill>
            <a:srgbClr val="5B6B6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8732520" y="3282696"/>
            <a:ext cx="530352" cy="530352"/>
          </a:xfrm>
          <a:prstGeom prst="roundRect">
            <a:avLst>
              <a:gd name="adj" fmla="val 10345"/>
            </a:avLst>
          </a:prstGeom>
          <a:solidFill>
            <a:srgbClr val="99001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9354312" y="3282696"/>
            <a:ext cx="530352" cy="530352"/>
          </a:xfrm>
          <a:prstGeom prst="roundRect">
            <a:avLst>
              <a:gd name="adj" fmla="val 10345"/>
            </a:avLst>
          </a:prstGeom>
          <a:solidFill>
            <a:srgbClr val="5B6B6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9976104" y="3282696"/>
            <a:ext cx="530352" cy="530352"/>
          </a:xfrm>
          <a:prstGeom prst="roundRect">
            <a:avLst>
              <a:gd name="adj" fmla="val 10345"/>
            </a:avLst>
          </a:prstGeom>
          <a:solidFill>
            <a:srgbClr val="F3C6C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10597896" y="3282696"/>
            <a:ext cx="530352" cy="530352"/>
          </a:xfrm>
          <a:prstGeom prst="roundRect">
            <a:avLst>
              <a:gd name="adj" fmla="val 10345"/>
            </a:avLst>
          </a:prstGeom>
          <a:solidFill>
            <a:srgbClr val="F08A6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11219688" y="3282696"/>
            <a:ext cx="530352" cy="530352"/>
          </a:xfrm>
          <a:prstGeom prst="roundRect">
            <a:avLst>
              <a:gd name="adj" fmla="val 10345"/>
            </a:avLst>
          </a:prstGeom>
          <a:solidFill>
            <a:srgbClr val="99001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8732520" y="3904488"/>
            <a:ext cx="530352" cy="530352"/>
          </a:xfrm>
          <a:prstGeom prst="roundRect">
            <a:avLst>
              <a:gd name="adj" fmla="val 10345"/>
            </a:avLst>
          </a:prstGeom>
          <a:solidFill>
            <a:srgbClr val="5B6B6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9354312" y="3904488"/>
            <a:ext cx="530352" cy="530352"/>
          </a:xfrm>
          <a:prstGeom prst="roundRect">
            <a:avLst>
              <a:gd name="adj" fmla="val 10345"/>
            </a:avLst>
          </a:prstGeom>
          <a:solidFill>
            <a:srgbClr val="F08A6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9976104" y="3904488"/>
            <a:ext cx="530352" cy="530352"/>
          </a:xfrm>
          <a:prstGeom prst="roundRect">
            <a:avLst>
              <a:gd name="adj" fmla="val 10345"/>
            </a:avLst>
          </a:prstGeom>
          <a:solidFill>
            <a:srgbClr val="99001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10597896" y="3904488"/>
            <a:ext cx="530352" cy="530352"/>
          </a:xfrm>
          <a:prstGeom prst="roundRect">
            <a:avLst>
              <a:gd name="adj" fmla="val 10345"/>
            </a:avLst>
          </a:prstGeom>
          <a:solidFill>
            <a:srgbClr val="5B6B6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11219688" y="3904488"/>
            <a:ext cx="530352" cy="530352"/>
          </a:xfrm>
          <a:prstGeom prst="roundRect">
            <a:avLst>
              <a:gd name="adj" fmla="val 10345"/>
            </a:avLst>
          </a:prstGeom>
          <a:solidFill>
            <a:srgbClr val="E8F6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822960" y="19659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ENGINEERING · COMMAND MODEL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777240" y="2331720"/>
            <a:ext cx="8686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Use Case Patterns</a:t>
            </a:r>
            <a:endParaRPr lang="en-US" sz="4600" dirty="0"/>
          </a:p>
        </p:txBody>
      </p:sp>
      <p:sp>
        <p:nvSpPr>
          <p:cNvPr id="29" name="Text 27"/>
          <p:cNvSpPr/>
          <p:nvPr/>
        </p:nvSpPr>
        <p:spPr>
          <a:xfrm>
            <a:off x="822960" y="3611880"/>
            <a:ext cx="74066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BFE3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Broad categories of tasks where the Command model works well — from writing and Q&amp;A to summarizing, rewriting, and extracting.</a:t>
            </a:r>
            <a:endParaRPr lang="en-US" sz="1500" dirty="0"/>
          </a:p>
        </p:txBody>
      </p:sp>
      <p:sp>
        <p:nvSpPr>
          <p:cNvPr id="30" name="Shape 28"/>
          <p:cNvSpPr/>
          <p:nvPr/>
        </p:nvSpPr>
        <p:spPr>
          <a:xfrm>
            <a:off x="822960" y="4709160"/>
            <a:ext cx="1005840" cy="0"/>
          </a:xfrm>
          <a:prstGeom prst="line">
            <a:avLst/>
          </a:prstGeom>
          <a:noFill/>
          <a:ln w="381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&amp; SETUP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121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Eight patterns, one running example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691640"/>
            <a:ext cx="10607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3D4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Command model is general-purpose, but recognizing recurring patterns makes it far less daunting to build with. Every example below reuses the same product description — for the CO-1T wireless headphone — passed into the prompt as context.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2697480"/>
            <a:ext cx="2551176" cy="868680"/>
          </a:xfrm>
          <a:prstGeom prst="roundRect">
            <a:avLst>
              <a:gd name="adj" fmla="val 10526"/>
            </a:avLst>
          </a:prstGeom>
          <a:solidFill>
            <a:srgbClr val="F4F9F8"/>
          </a:solidFill>
          <a:ln w="12700">
            <a:solidFill>
              <a:srgbClr val="DCEA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841248" y="2898648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841248" y="289864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463040" y="2697480"/>
            <a:ext cx="1545336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Writing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374136" y="2697480"/>
            <a:ext cx="2551176" cy="868680"/>
          </a:xfrm>
          <a:prstGeom prst="roundRect">
            <a:avLst>
              <a:gd name="adj" fmla="val 10526"/>
            </a:avLst>
          </a:prstGeom>
          <a:solidFill>
            <a:srgbClr val="F4F9F8"/>
          </a:solidFill>
          <a:ln w="12700">
            <a:solidFill>
              <a:srgbClr val="DCEA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3575304" y="2898648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575304" y="289864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197096" y="2697480"/>
            <a:ext cx="1545336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Answering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108192" y="2697480"/>
            <a:ext cx="2551176" cy="868680"/>
          </a:xfrm>
          <a:prstGeom prst="roundRect">
            <a:avLst>
              <a:gd name="adj" fmla="val 10526"/>
            </a:avLst>
          </a:prstGeom>
          <a:solidFill>
            <a:srgbClr val="F4F9F8"/>
          </a:solidFill>
          <a:ln w="12700">
            <a:solidFill>
              <a:srgbClr val="DCEA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6309360" y="2898648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309360" y="289864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931152" y="2697480"/>
            <a:ext cx="1545336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Brainstorming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8842248" y="2697480"/>
            <a:ext cx="2551176" cy="868680"/>
          </a:xfrm>
          <a:prstGeom prst="roundRect">
            <a:avLst>
              <a:gd name="adj" fmla="val 10526"/>
            </a:avLst>
          </a:prstGeom>
          <a:solidFill>
            <a:srgbClr val="F4F9F8"/>
          </a:solidFill>
          <a:ln w="12700">
            <a:solidFill>
              <a:srgbClr val="DCEA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9043416" y="2898648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9043416" y="289864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9665208" y="2697480"/>
            <a:ext cx="1545336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Transforming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40080" y="3749040"/>
            <a:ext cx="2551176" cy="868680"/>
          </a:xfrm>
          <a:prstGeom prst="roundRect">
            <a:avLst>
              <a:gd name="adj" fmla="val 10526"/>
            </a:avLst>
          </a:prstGeom>
          <a:solidFill>
            <a:srgbClr val="F4F9F8"/>
          </a:solidFill>
          <a:ln w="12700">
            <a:solidFill>
              <a:srgbClr val="DCEA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841248" y="3950208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841248" y="395020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463040" y="3749040"/>
            <a:ext cx="1545336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Summarizing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3374136" y="3749040"/>
            <a:ext cx="2551176" cy="868680"/>
          </a:xfrm>
          <a:prstGeom prst="roundRect">
            <a:avLst>
              <a:gd name="adj" fmla="val 10526"/>
            </a:avLst>
          </a:prstGeom>
          <a:solidFill>
            <a:srgbClr val="F4F9F8"/>
          </a:solidFill>
          <a:ln w="12700">
            <a:solidFill>
              <a:srgbClr val="DCEA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3575304" y="3950208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3575304" y="395020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4197096" y="3749040"/>
            <a:ext cx="1545336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Rewriting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6108192" y="3749040"/>
            <a:ext cx="2551176" cy="868680"/>
          </a:xfrm>
          <a:prstGeom prst="roundRect">
            <a:avLst>
              <a:gd name="adj" fmla="val 10526"/>
            </a:avLst>
          </a:prstGeom>
          <a:solidFill>
            <a:srgbClr val="F4F9F8"/>
          </a:solidFill>
          <a:ln w="12700">
            <a:solidFill>
              <a:srgbClr val="DCEA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6309360" y="3950208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6309360" y="395020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6931152" y="3749040"/>
            <a:ext cx="1545336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Extracting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8842248" y="3749040"/>
            <a:ext cx="2551176" cy="868680"/>
          </a:xfrm>
          <a:prstGeom prst="roundRect">
            <a:avLst>
              <a:gd name="adj" fmla="val 10526"/>
            </a:avLst>
          </a:prstGeom>
          <a:solidFill>
            <a:srgbClr val="F4F9F8"/>
          </a:solidFill>
          <a:ln w="12700">
            <a:solidFill>
              <a:srgbClr val="DCEA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9043416" y="3950208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9043416" y="395020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9665208" y="3749040"/>
            <a:ext cx="1545336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Classifying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— WRITING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121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Turn bullet points into finished copy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645920"/>
            <a:ext cx="521208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350" dirty="0">
                <a:solidFill>
                  <a:srgbClr val="3D4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broadest use case: freeform generation. A generic instruction alone can wander, so pairing it with context (the product description) and specifics (what to mention) keeps the output usable. Try verbs beyond “Create” — Explain, Generate, Write, Provide, Design, Describe.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40080" y="4160520"/>
            <a:ext cx="2103120" cy="502920"/>
          </a:xfrm>
          <a:prstGeom prst="roundRect">
            <a:avLst>
              <a:gd name="adj" fmla="val 18182"/>
            </a:avLst>
          </a:prstGeom>
          <a:solidFill>
            <a:srgbClr val="E8F6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640080" y="4160520"/>
            <a:ext cx="2103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5B6B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temp = </a:t>
            </a:r>
            <a:r>
              <a:rPr lang="en-US" sz="1300" b="1" dirty="0">
                <a:solidFill>
                  <a:srgbClr val="0280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0.5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" y="4846320"/>
            <a:ext cx="5212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50" i="1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temperature suits tasks needing creativity — like expanding bullet points into full prose.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263640" y="1645920"/>
            <a:ext cx="5257800" cy="4251960"/>
          </a:xfrm>
          <a:prstGeom prst="roundRect">
            <a:avLst>
              <a:gd name="adj" fmla="val 2581"/>
            </a:avLst>
          </a:prstGeom>
          <a:solidFill>
            <a:srgbClr val="F4F9F8"/>
          </a:solidFill>
          <a:ln w="12700">
            <a:solidFill>
              <a:srgbClr val="DCEA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583680" y="1874520"/>
            <a:ext cx="4617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INPUT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583680" y="2194560"/>
            <a:ext cx="461772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FE3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720840" y="2194560"/>
            <a:ext cx="4343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2121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Product description +</a:t>
            </a:r>
            <a:endParaRPr lang="en-US" sz="11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2121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“announce launch, create a CTA,</a:t>
            </a:r>
            <a:endParaRPr lang="en-US" sz="11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2121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mention live chat support”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583680" y="3383280"/>
            <a:ext cx="4617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583680" y="3694176"/>
            <a:ext cx="4617720" cy="38496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150" i="1" dirty="0">
                <a:solidFill>
                  <a:srgbClr val="3D4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“We are thrilled to announce the launch of our newest wireless headphones, the CO-1T! ... Try it out today and discover the convenience of wireless freedom! ... reach out to us through our live chat feature...”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— QUESTION ANSWERING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121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Closed-book vs. extractive answers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645920"/>
            <a:ext cx="10607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3D4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Closed-book Q&amp;A draws on the model's general training — good for open-ended questions with no single right answer. Extractive Q&amp;A grounds the response in a supplied knowledge base — the right mode when a customer needs a factual answer about your product.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2606040"/>
            <a:ext cx="5257800" cy="3337560"/>
          </a:xfrm>
          <a:prstGeom prst="roundRect">
            <a:avLst>
              <a:gd name="adj" fmla="val 3288"/>
            </a:avLst>
          </a:prstGeom>
          <a:solidFill>
            <a:srgbClr val="F4F9F8"/>
          </a:solidFill>
          <a:ln w="12700">
            <a:solidFill>
              <a:srgbClr val="DCEA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960120" y="2834640"/>
            <a:ext cx="4617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CLOSED-BOOK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960120" y="3154680"/>
            <a:ext cx="4617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2121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"What features should I consider when choosing a wireless headphone?"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960120" y="3840480"/>
            <a:ext cx="461772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3D4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draws on general training knowledge — sound quality, noise cancellation, battery life, comfort, and more. Good for open-ended questions with no single correct answer.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263640" y="2606040"/>
            <a:ext cx="5257800" cy="3337560"/>
          </a:xfrm>
          <a:prstGeom prst="roundRect">
            <a:avLst>
              <a:gd name="adj" fmla="val 3288"/>
            </a:avLst>
          </a:prstGeom>
          <a:solidFill>
            <a:srgbClr val="013A4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583680" y="2834640"/>
            <a:ext cx="4617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EXTRACTIVE (WITH CONTEXT)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583680" y="3154680"/>
            <a:ext cx="4617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E8F6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"How do I control the sound levels?"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6583680" y="3840480"/>
            <a:ext cx="4617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b="1" i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“You can control the volume using the button built into the headphones.”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583680" y="4892040"/>
            <a:ext cx="4617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9FD8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Grounded in the product description passed into the prompt — factually correct and specific.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— BRAINSTORMING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121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 broad: generate options, not one answer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645920"/>
            <a:ext cx="521208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350" dirty="0">
                <a:solidFill>
                  <a:srgbClr val="3D4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Brainstorming pushes the model to cover multiple angles at once — outlines, ideas, or, as below, troubleshooting paths for a support agent to offer a customer.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40080" y="4160520"/>
            <a:ext cx="2103120" cy="502920"/>
          </a:xfrm>
          <a:prstGeom prst="roundRect">
            <a:avLst>
              <a:gd name="adj" fmla="val 18182"/>
            </a:avLst>
          </a:prstGeom>
          <a:solidFill>
            <a:srgbClr val="E8F6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640080" y="4160520"/>
            <a:ext cx="2103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5B6B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temp = </a:t>
            </a:r>
            <a:r>
              <a:rPr lang="en-US" sz="1300" b="1" dirty="0">
                <a:solidFill>
                  <a:srgbClr val="0280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0.3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" y="4846320"/>
            <a:ext cx="5212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50" i="1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bulleted-list instruction plus a moderate temperature keeps the ideas varied but on-topic.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263640" y="1645920"/>
            <a:ext cx="5257800" cy="4251960"/>
          </a:xfrm>
          <a:prstGeom prst="roundRect">
            <a:avLst>
              <a:gd name="adj" fmla="val 2581"/>
            </a:avLst>
          </a:prstGeom>
          <a:solidFill>
            <a:srgbClr val="F4F9F8"/>
          </a:solidFill>
          <a:ln w="12700">
            <a:solidFill>
              <a:srgbClr val="DCEA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583680" y="1874520"/>
            <a:ext cx="4617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583680" y="2194560"/>
            <a:ext cx="4617720" cy="105156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2700">
            <a:solidFill>
              <a:srgbClr val="CFE3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720840" y="2194560"/>
            <a:ext cx="43434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2121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Product +</a:t>
            </a:r>
            <a:endParaRPr lang="en-US" sz="10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2121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"I can’t get the Bluetooth</a:t>
            </a:r>
            <a:endParaRPr lang="en-US" sz="10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2121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connection working" -&gt;</a:t>
            </a:r>
            <a:endParaRPr lang="en-US" sz="10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2121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list troubleshooting steps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6583680" y="3520440"/>
            <a:ext cx="4617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583680" y="3831336"/>
            <a:ext cx="4617720" cy="37124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150" i="1" dirty="0">
                <a:solidFill>
                  <a:srgbClr val="3D4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Forget the existing Bluetooth connection and reinstall it from scratch</a:t>
            </a:r>
            <a:endParaRPr lang="en-US" sz="11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50" i="1" dirty="0">
                <a:solidFill>
                  <a:srgbClr val="3D4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Update the software of the device being connected to</a:t>
            </a:r>
            <a:endParaRPr lang="en-US" sz="11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50" i="1" dirty="0">
                <a:solidFill>
                  <a:srgbClr val="3D4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Confirm the device is compatible with the headphone's Bluetooth profile</a:t>
            </a:r>
            <a:endParaRPr lang="en-US" sz="11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50" i="1" dirty="0">
                <a:solidFill>
                  <a:srgbClr val="3D4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Factory reset the headphones as a last resort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— TRANSFORMING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121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Reshape existing text into a new format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645920"/>
            <a:ext cx="521208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350" dirty="0">
                <a:solidFill>
                  <a:srgbClr val="3D4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Generative models aren't only for fresh writing — they're equally good at synthesizing text you already have into a different, reusable form. Here, a product description becomes a ready-to-publish FAQ.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40080" y="4160520"/>
            <a:ext cx="2103120" cy="502920"/>
          </a:xfrm>
          <a:prstGeom prst="roundRect">
            <a:avLst>
              <a:gd name="adj" fmla="val 18182"/>
            </a:avLst>
          </a:prstGeom>
          <a:solidFill>
            <a:srgbClr val="E8F6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640080" y="4160520"/>
            <a:ext cx="2103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5B6B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temp = </a:t>
            </a:r>
            <a:r>
              <a:rPr lang="en-US" sz="1300" b="1" dirty="0">
                <a:solidFill>
                  <a:srgbClr val="0280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" y="4846320"/>
            <a:ext cx="5212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50" i="1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Temperature 0 keeps the transformation faithful to the source instead of embellishing it.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263640" y="1645920"/>
            <a:ext cx="5257800" cy="4251960"/>
          </a:xfrm>
          <a:prstGeom prst="roundRect">
            <a:avLst>
              <a:gd name="adj" fmla="val 2581"/>
            </a:avLst>
          </a:prstGeom>
          <a:solidFill>
            <a:srgbClr val="F4F9F8"/>
          </a:solidFill>
          <a:ln w="12700">
            <a:solidFill>
              <a:srgbClr val="DCEA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583680" y="1874520"/>
            <a:ext cx="4617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583680" y="2194560"/>
            <a:ext cx="4617720" cy="86868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2700">
            <a:solidFill>
              <a:srgbClr val="CFE3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720840" y="2194560"/>
            <a:ext cx="43434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2121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Turn the product description</a:t>
            </a:r>
            <a:endParaRPr lang="en-US" sz="11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2121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into a list of frequently asked</a:t>
            </a:r>
            <a:endParaRPr lang="en-US" sz="11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2121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questions (FAQ).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583680" y="3337560"/>
            <a:ext cx="4617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583680" y="3648456"/>
            <a:ext cx="4617720" cy="38953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150" i="1" dirty="0">
                <a:solidFill>
                  <a:srgbClr val="3D4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Q: How does the CO-1T connect to my devices?</a:t>
            </a:r>
            <a:endParaRPr lang="en-US" sz="11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50" i="1" dirty="0">
                <a:solidFill>
                  <a:srgbClr val="3D4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A: Uses Bluetooth to connect wirelessly to compatible devices.</a:t>
            </a:r>
            <a:endParaRPr lang="en-US" sz="1150" dirty="0"/>
          </a:p>
          <a:p>
            <a:pPr marL="0" indent="0">
              <a:lnSpc>
                <a:spcPct val="130000"/>
              </a:lnSpc>
              <a:buNone/>
            </a:pPr>
            <a:endParaRPr lang="en-US" sz="11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50" i="1" dirty="0">
                <a:solidFill>
                  <a:srgbClr val="3D4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Q: Is it comfortable to wear?</a:t>
            </a:r>
            <a:endParaRPr lang="en-US" sz="11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50" i="1" dirty="0">
                <a:solidFill>
                  <a:srgbClr val="3D4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A: Yes — lightweight and designed for extended wear.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— SUMMARIZING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121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Compress a long passage to its essence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645920"/>
            <a:ext cx="521208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350" dirty="0">
                <a:solidFill>
                  <a:srgbClr val="3D4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Summarization condenses articles, transcripts, reports, or — as below — a batch of mixed customer reviews into one balanced paragraph that surfaces both praise and complaints.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40080" y="4160520"/>
            <a:ext cx="2103120" cy="502920"/>
          </a:xfrm>
          <a:prstGeom prst="roundRect">
            <a:avLst>
              <a:gd name="adj" fmla="val 18182"/>
            </a:avLst>
          </a:prstGeom>
          <a:solidFill>
            <a:srgbClr val="E8F6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640080" y="4160520"/>
            <a:ext cx="2103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5B6B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temp = </a:t>
            </a:r>
            <a:r>
              <a:rPr lang="en-US" sz="1300" b="1" dirty="0">
                <a:solidFill>
                  <a:srgbClr val="0280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" y="4846320"/>
            <a:ext cx="5212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50" i="1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paragraph balances every review — no cherry-picking one perspective.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263640" y="1645920"/>
            <a:ext cx="5257800" cy="4251960"/>
          </a:xfrm>
          <a:prstGeom prst="roundRect">
            <a:avLst>
              <a:gd name="adj" fmla="val 2581"/>
            </a:avLst>
          </a:prstGeom>
          <a:solidFill>
            <a:srgbClr val="F4F9F8"/>
          </a:solidFill>
          <a:ln w="12700">
            <a:solidFill>
              <a:srgbClr val="DCEA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583680" y="1874520"/>
            <a:ext cx="4617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583680" y="2194560"/>
            <a:ext cx="4617720" cy="86868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2700">
            <a:solidFill>
              <a:srgbClr val="CFE3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720840" y="2194560"/>
            <a:ext cx="43434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2121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 customer reviews of the CO-1T</a:t>
            </a:r>
            <a:endParaRPr lang="en-US" sz="10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2121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(one glowing, one about battery</a:t>
            </a:r>
            <a:endParaRPr lang="en-US" sz="10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2121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life, one mixed on the mic)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6583680" y="3337560"/>
            <a:ext cx="4617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583680" y="3648456"/>
            <a:ext cx="4617720" cy="38953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150" i="1" dirty="0">
                <a:solidFill>
                  <a:srgbClr val="3D4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“The CO-1T ... has a sleek, modern design and is comfortable to wear. ... excellent sound quality... reviews are mixed on the built-in microphone... battery life is a major downside... a decent option for those prioritizing sound quality and comfort.”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— REWRITING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121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Preserve meaning, change the audience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645920"/>
            <a:ext cx="521208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350" dirty="0">
                <a:solidFill>
                  <a:srgbClr val="3D4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Rewriting keeps the underlying facts intact while adjusting the tone, style, or target audience — useful for producing multiple versions of the same core message.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40080" y="4160520"/>
            <a:ext cx="2103120" cy="502920"/>
          </a:xfrm>
          <a:prstGeom prst="roundRect">
            <a:avLst>
              <a:gd name="adj" fmla="val 18182"/>
            </a:avLst>
          </a:prstGeom>
          <a:solidFill>
            <a:srgbClr val="E8F6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640080" y="4160520"/>
            <a:ext cx="2103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5B6B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temp = </a:t>
            </a:r>
            <a:r>
              <a:rPr lang="en-US" sz="1300" b="1" dirty="0">
                <a:solidFill>
                  <a:srgbClr val="0280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0.5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" y="4846320"/>
            <a:ext cx="5212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50" i="1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product facts, new voice — the specs didn't change, only who they're written for.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263640" y="1645920"/>
            <a:ext cx="5257800" cy="4251960"/>
          </a:xfrm>
          <a:prstGeom prst="roundRect">
            <a:avLst>
              <a:gd name="adj" fmla="val 2581"/>
            </a:avLst>
          </a:prstGeom>
          <a:solidFill>
            <a:srgbClr val="F4F9F8"/>
          </a:solidFill>
          <a:ln w="12700">
            <a:solidFill>
              <a:srgbClr val="DCEA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583680" y="1874520"/>
            <a:ext cx="4617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583680" y="2194560"/>
            <a:ext cx="4617720" cy="86868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2700">
            <a:solidFill>
              <a:srgbClr val="CFE3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720840" y="2194560"/>
            <a:ext cx="43434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2121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 a version of this product</a:t>
            </a:r>
            <a:endParaRPr lang="en-US" sz="11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2121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description tailored towards</a:t>
            </a:r>
            <a:endParaRPr lang="en-US" sz="11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2121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“college students”.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583680" y="3337560"/>
            <a:ext cx="4617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583680" y="3648456"/>
            <a:ext cx="4617720" cy="38953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150" i="1" dirty="0">
                <a:solidFill>
                  <a:srgbClr val="3D4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“The CO-1T headphones are the ultimate wireless companion for any college student. ... Study for long hours without discomfort or interruption ... focus on what really matters — acing your courses!”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— EXTRACTING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121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Pull structured facts out of free text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645920"/>
            <a:ext cx="521208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350" dirty="0">
                <a:solidFill>
                  <a:srgbClr val="3D4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Extraction turns unstructured text — like a customer email — into clean, structured fields your systems can act on directly, such as routing a refund request.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40080" y="4160520"/>
            <a:ext cx="2103120" cy="502920"/>
          </a:xfrm>
          <a:prstGeom prst="roundRect">
            <a:avLst>
              <a:gd name="adj" fmla="val 18182"/>
            </a:avLst>
          </a:prstGeom>
          <a:solidFill>
            <a:srgbClr val="E8F6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640080" y="4160520"/>
            <a:ext cx="2103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5B6B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temp = </a:t>
            </a:r>
            <a:r>
              <a:rPr lang="en-US" sz="1300" b="1" dirty="0">
                <a:solidFill>
                  <a:srgbClr val="0280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" y="4846320"/>
            <a:ext cx="5212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50" i="1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Temperature 0 favors literal, verifiable extraction over any paraphrasing.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263640" y="1645920"/>
            <a:ext cx="5257800" cy="4251960"/>
          </a:xfrm>
          <a:prstGeom prst="roundRect">
            <a:avLst>
              <a:gd name="adj" fmla="val 2581"/>
            </a:avLst>
          </a:prstGeom>
          <a:solidFill>
            <a:srgbClr val="F4F9F8"/>
          </a:solidFill>
          <a:ln w="12700">
            <a:solidFill>
              <a:srgbClr val="DCEA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583680" y="1874520"/>
            <a:ext cx="4617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EMAIL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583680" y="2194560"/>
            <a:ext cx="4617720" cy="105156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2700">
            <a:solidFill>
              <a:srgbClr val="CFE3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720840" y="2194560"/>
            <a:ext cx="43434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2121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“I am writing to request a refund</a:t>
            </a:r>
            <a:endParaRPr lang="en-US" sz="10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2121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a recent CO-1T purchase ...</a:t>
            </a:r>
            <a:endParaRPr lang="en-US" sz="10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2121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poor battery life ... pick-up at</a:t>
            </a:r>
            <a:endParaRPr lang="en-US" sz="10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2121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171 John Street, Toronto...”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583680" y="3520440"/>
            <a:ext cx="4617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EXTRACTED FIELDS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583680" y="3831336"/>
            <a:ext cx="4617720" cy="37124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150" i="1" dirty="0">
                <a:solidFill>
                  <a:srgbClr val="3D4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Product: CO-1T</a:t>
            </a:r>
            <a:endParaRPr lang="en-US" sz="11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50" i="1" dirty="0">
                <a:solidFill>
                  <a:srgbClr val="3D4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Refund Reason: Poor battery life</a:t>
            </a:r>
            <a:endParaRPr lang="en-US" sz="11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50" i="1" dirty="0">
                <a:solidFill>
                  <a:srgbClr val="3D4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Pick-up Address: 171 John Street, Toronto ON, M5T 1X2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13A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1645920"/>
            <a:ext cx="4572000" cy="4572000"/>
          </a:xfrm>
          <a:prstGeom prst="ellipse">
            <a:avLst/>
          </a:prstGeom>
          <a:solidFill>
            <a:srgbClr val="012C3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40080" y="5029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86868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starting point, not a ceiling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640080" y="1737360"/>
            <a:ext cx="67665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450" dirty="0">
                <a:solidFill>
                  <a:srgbClr val="BFE3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patterns won't cover every possible use of the Command model, but they're a solid foundation for recognizing where it fits. Take them as a starting set of examples to experiment further with.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640080" y="3291840"/>
            <a:ext cx="2194560" cy="438912"/>
          </a:xfrm>
          <a:prstGeom prst="roundRect">
            <a:avLst>
              <a:gd name="adj" fmla="val 50000"/>
            </a:avLst>
          </a:prstGeom>
          <a:solidFill>
            <a:srgbClr val="012C30"/>
          </a:solidFill>
          <a:ln w="12700">
            <a:solidFill>
              <a:srgbClr val="1F5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40080" y="3291840"/>
            <a:ext cx="21945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Writing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2971800" y="3291840"/>
            <a:ext cx="2194560" cy="438912"/>
          </a:xfrm>
          <a:prstGeom prst="roundRect">
            <a:avLst>
              <a:gd name="adj" fmla="val 50000"/>
            </a:avLst>
          </a:prstGeom>
          <a:solidFill>
            <a:srgbClr val="012C30"/>
          </a:solidFill>
          <a:ln w="12700">
            <a:solidFill>
              <a:srgbClr val="1F5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2971800" y="3291840"/>
            <a:ext cx="21945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Answering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303520" y="3291840"/>
            <a:ext cx="2194560" cy="438912"/>
          </a:xfrm>
          <a:prstGeom prst="roundRect">
            <a:avLst>
              <a:gd name="adj" fmla="val 50000"/>
            </a:avLst>
          </a:prstGeom>
          <a:solidFill>
            <a:srgbClr val="012C30"/>
          </a:solidFill>
          <a:ln w="12700">
            <a:solidFill>
              <a:srgbClr val="1F5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303520" y="3291840"/>
            <a:ext cx="21945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Brainstorming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40080" y="3858768"/>
            <a:ext cx="2194560" cy="438912"/>
          </a:xfrm>
          <a:prstGeom prst="roundRect">
            <a:avLst>
              <a:gd name="adj" fmla="val 50000"/>
            </a:avLst>
          </a:prstGeom>
          <a:solidFill>
            <a:srgbClr val="012C30"/>
          </a:solidFill>
          <a:ln w="12700">
            <a:solidFill>
              <a:srgbClr val="1F5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40080" y="3858768"/>
            <a:ext cx="21945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Transforming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2971800" y="3858768"/>
            <a:ext cx="2194560" cy="438912"/>
          </a:xfrm>
          <a:prstGeom prst="roundRect">
            <a:avLst>
              <a:gd name="adj" fmla="val 50000"/>
            </a:avLst>
          </a:prstGeom>
          <a:solidFill>
            <a:srgbClr val="012C30"/>
          </a:solidFill>
          <a:ln w="12700">
            <a:solidFill>
              <a:srgbClr val="1F5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2971800" y="3858768"/>
            <a:ext cx="21945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Summarizing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303520" y="3858768"/>
            <a:ext cx="2194560" cy="438912"/>
          </a:xfrm>
          <a:prstGeom prst="roundRect">
            <a:avLst>
              <a:gd name="adj" fmla="val 50000"/>
            </a:avLst>
          </a:prstGeom>
          <a:solidFill>
            <a:srgbClr val="012C30"/>
          </a:solidFill>
          <a:ln w="12700">
            <a:solidFill>
              <a:srgbClr val="1F5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5303520" y="3858768"/>
            <a:ext cx="21945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Rewriting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640080" y="4425696"/>
            <a:ext cx="2194560" cy="438912"/>
          </a:xfrm>
          <a:prstGeom prst="roundRect">
            <a:avLst>
              <a:gd name="adj" fmla="val 50000"/>
            </a:avLst>
          </a:prstGeom>
          <a:solidFill>
            <a:srgbClr val="012C30"/>
          </a:solidFill>
          <a:ln w="12700">
            <a:solidFill>
              <a:srgbClr val="1F5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640080" y="4425696"/>
            <a:ext cx="21945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Extracting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2971800" y="4425696"/>
            <a:ext cx="2194560" cy="438912"/>
          </a:xfrm>
          <a:prstGeom prst="roundRect">
            <a:avLst>
              <a:gd name="adj" fmla="val 50000"/>
            </a:avLst>
          </a:prstGeom>
          <a:solidFill>
            <a:srgbClr val="012C30"/>
          </a:solidFill>
          <a:ln w="12700">
            <a:solidFill>
              <a:srgbClr val="1F5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2971800" y="4425696"/>
            <a:ext cx="21945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Classifying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7863840" y="1737360"/>
            <a:ext cx="3703320" cy="3840480"/>
          </a:xfrm>
          <a:prstGeom prst="roundRect">
            <a:avLst>
              <a:gd name="adj" fmla="val 2963"/>
            </a:avLst>
          </a:prstGeom>
          <a:solidFill>
            <a:srgbClr val="012C3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8138160" y="2011680"/>
            <a:ext cx="3154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THREAD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8138160" y="2377440"/>
            <a:ext cx="31546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product, eight patterns.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8138160" y="3291840"/>
            <a:ext cx="315468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9FD8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example reused the same CO-1T product description — proof that one piece of context can power many different tasks.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1052</Words>
  <Application>Microsoft Office PowerPoint</Application>
  <PresentationFormat>Widescreen</PresentationFormat>
  <Paragraphs>133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Calibri</vt:lpstr>
      <vt:lpstr>Cambria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Muhammad Asad Riaz</cp:lastModifiedBy>
  <cp:revision>2</cp:revision>
  <dcterms:created xsi:type="dcterms:W3CDTF">2026-08-23T11:26:57Z</dcterms:created>
  <dcterms:modified xsi:type="dcterms:W3CDTF">2026-08-24T13:01:56Z</dcterms:modified>
</cp:coreProperties>
</file>