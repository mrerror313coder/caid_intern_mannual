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21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6400800" cy="6400800"/>
          </a:xfrm>
          <a:prstGeom prst="ellipse">
            <a:avLst/>
          </a:prstGeom>
          <a:solidFill>
            <a:srgbClr val="271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1097280"/>
            <a:ext cx="3840480" cy="3840480"/>
          </a:xfrm>
          <a:prstGeom prst="ellipse">
            <a:avLst/>
          </a:prstGeom>
          <a:solidFill>
            <a:srgbClr val="8B5CF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 Anatomy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Dissecting the components of a tool use system, the four-step workflow, and the different modes tool calling can run in — with a concrete code example.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4531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4782312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606040" y="4572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17520" y="434340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0" y="44531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90672" y="4782312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00600" y="4572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12080" y="434340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0" y="44531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85232" y="4782312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db, search,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APIs…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95160" y="4572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06640" y="434340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8B5CF6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0" y="44531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79792" y="4782312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+ generates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parts to building a tool use application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intuition, this chapter walks through a RAG assistant that queries the sales database of an e-commerce company — with real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  <a:effectLst>
            <a:outerShdw blurRad="101600" dist="38100" dir="5400000" algn="bl" rotWithShape="0">
              <a:srgbClr val="3B1E6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441448"/>
            <a:ext cx="502920" cy="50292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44144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the tools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tool as a function or service, then define a schema that describes it — what it does, its parameters, and their types — so the LLM knows when and how to call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3B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2441448"/>
            <a:ext cx="502920" cy="50292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69480" y="244144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tool use workflow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315468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tools are set up, the app and the LLM exchange messages, tool calls, and results in a four-step loop that ends with a grounded response back to the user.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isn't limited to a database — any function or service that can send and receive data qualifies: email, SQL, a vector store, weather or sports data, web search, even another LLM.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TOOLS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tool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starts as an ordinary function. Here, daily_sales_report looks up a mock sales database for a given 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00800" cy="4160520"/>
          </a:xfrm>
          <a:prstGeom prst="roundRect">
            <a:avLst>
              <a:gd name="adj" fmla="val 1538"/>
            </a:avLst>
          </a:prstGeom>
          <a:solidFill>
            <a:srgbClr val="1E1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2057400"/>
            <a:ext cx="5888736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00" dirty="0">
                <a:solidFill>
                  <a:srgbClr val="8F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daily_sales_report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(day: str) -&gt; dict:
</a:t>
            </a:r>
            <a:r>
              <a:rPr lang="en-US" sz="1100" i="1" dirty="0">
                <a:solidFill>
                  <a:srgbClr val="8A7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"""Retrieve the sales report for a given day."""
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sales_database = {
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'2023-09-28'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{...5000, 100 units},
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'2023-09-29'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{...10000, 250 units},
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'2023-09-30'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{...8000, 200 units},
    }
    report = sales_database.get(day, {})
    return {'date': day, 'summary': f"..."}
functions_map = {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"daily_sales_report"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daily_sales_report}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223760" y="1874520"/>
            <a:ext cx="43891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can be anything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0" y="24688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Python function — an email service, SQL database, vector store, weather or sports data service, web search engine, or even another LLM.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23760" y="4069080"/>
            <a:ext cx="4389120" cy="1965960"/>
          </a:xfrm>
          <a:prstGeom prst="roundRect">
            <a:avLst>
              <a:gd name="adj" fmla="val 4186"/>
            </a:avLst>
          </a:prstGeom>
          <a:solidFill>
            <a:srgbClr val="3B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functions_map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0" y="46634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lookup from tool name → the actual function to run. The application uses this to execute whichever tool the LLM decides to call.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TOOLS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tool schema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tells the LLM what the tool does and how to call it. The more descriptive it is, the better the LLM's tool call decisions.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240280" cy="365760"/>
          </a:xfrm>
          <a:prstGeom prst="roundRect">
            <a:avLst>
              <a:gd name="adj" fmla="val 15000"/>
            </a:avLst>
          </a:prstGeom>
          <a:solidFill>
            <a:srgbClr val="EFE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7860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"function" — the tool type, always function for function calling.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920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20440" y="2103120"/>
            <a:ext cx="2240280" cy="365760"/>
          </a:xfrm>
          <a:prstGeom prst="roundRect">
            <a:avLst>
              <a:gd name="adj" fmla="val 15000"/>
            </a:avLst>
          </a:prstGeom>
          <a:solidFill>
            <a:srgbClr val="EFE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function.name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57860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tool's name, e.g. daily_sales_report.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920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2240280" cy="365760"/>
          </a:xfrm>
          <a:prstGeom prst="roundRect">
            <a:avLst>
              <a:gd name="adj" fmla="val 15000"/>
            </a:avLst>
          </a:prstGeom>
          <a:solidFill>
            <a:srgbClr val="EFE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function.description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57860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does and when to use it — this is what the LLM reads to decide.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15400" y="1920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98280" y="2103120"/>
            <a:ext cx="2240280" cy="365760"/>
          </a:xfrm>
          <a:prstGeom prst="roundRect">
            <a:avLst>
              <a:gd name="adj" fmla="val 15000"/>
            </a:avLst>
          </a:prstGeom>
          <a:solidFill>
            <a:srgbClr val="EFE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98280" y="2103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function.parameters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98280" y="257860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Schema object listing each parameter, its description, and its type.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11064240" cy="2331720"/>
          </a:xfrm>
          <a:prstGeom prst="roundRect">
            <a:avLst>
              <a:gd name="adj" fmla="val 2745"/>
            </a:avLst>
          </a:prstGeom>
          <a:solidFill>
            <a:srgbClr val="1E1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4672" y="3710940"/>
            <a:ext cx="1055217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
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"function"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"function"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"daily_sales_report"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"Connects to a database to retrieve sales volumes for a day."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"parameters"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r>
              <a:rPr lang="en-US" sz="1100" dirty="0">
                <a:solidFill>
                  <a:srgbClr val="8A7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"object",
      "properties": {"day": {"description": "YYYY-MM-DD", "type": "string"}},
      "required": ["day"]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8A7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8A7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8A7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1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71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TOOLS · STEP 3 (OPTIONAL)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LLM a custom preamble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preamble is the LLM's system message — separate from tool setup, but often needed for a robust, reliable application.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Task &amp;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who the assistant is, what it helps with, and that it has tools available for research.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Style Guide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response conventions — e.g. full sentences with proper grammar, unless the user asks otherwise.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two H2 Markdown headers, in this exact order — the recommended structure for a Cohere preamble.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64240" cy="1691640"/>
          </a:xfrm>
          <a:prstGeom prst="roundRect">
            <a:avLst>
              <a:gd name="adj" fmla="val 3784"/>
            </a:avLst>
          </a:prstGeom>
          <a:solidFill>
            <a:srgbClr val="1E1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4800600"/>
            <a:ext cx="1055217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system_message = """## Task &amp; Context
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help people answer their questions and other requests interactively.
You will be equipped with a wide range of search engines or similar tools.
</a:t>
            </a:r>
            <a:r>
              <a:rPr lang="en-US" sz="11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Style Guide
</a:t>
            </a:r>
            <a:r>
              <a:rPr lang="en-US" sz="1100" dirty="0">
                <a:solidFill>
                  <a:srgbClr val="E8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Unless asked otherwise, answer in full sentences with proper grammar."""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TOOL USE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components, four steps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use system is the user, the application, the LLM, and the tools — looping through four steps each turn.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920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C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0" y="201168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3B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0" y="2011680"/>
            <a:ext cx="1920240" cy="96012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0" y="20116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121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message →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4  response + citations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0" y="2121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tool calls →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3  tool results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0" y="3520440"/>
            <a:ext cx="2286000" cy="777240"/>
          </a:xfrm>
          <a:prstGeom prst="roundRect">
            <a:avLst>
              <a:gd name="adj" fmla="val 10588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tools + generates response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74920" y="299008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480060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257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user message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gets the user message via the application.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10712" y="46177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93592" y="480060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93592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93592" y="5257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tool calls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93592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decides which tools to call (if any) and generates the calls.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72784" y="46177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55664" y="480060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55664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55664" y="5257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tool results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55664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executes the tools and sends results back to the LLM.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34856" y="46177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317736" y="480060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317736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317736" y="5257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response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17736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generates the final response and citations for the user.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1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271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steps, in a single-turn example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tool, one call, one turn — the simplest possible run of the workflow.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205740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9CF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you provide a sales summary for 29th September 2023?”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4495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3273552"/>
            <a:ext cx="457200" cy="45720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13639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generated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3136392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daily_sales_report(day="2023-09-29")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2394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4352544"/>
            <a:ext cx="457200" cy="45720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21538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returned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4215384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{'summary': 'Total Sales Amount: 10000, Total Units Sold: 250'}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2029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5431536"/>
            <a:ext cx="457200" cy="45720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08760" y="529437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 + citations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0" y="5294376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9CF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 29 September 2023, we sold 250 units, totalling 10,000 in sales.”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MODES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call to many, in one step or several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Cohere's API supports single-step, multi-step, and parallel tool calling — and combinations of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  <a:effectLst>
            <a:outerShdw blurRad="76200" dist="25400" dir="5400000" algn="bl" rotWithShape="0">
              <a:srgbClr val="3B1E6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tool, called once. Steps 2–3 happen exactly once.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was Apple's revenue in 2023?” → one web search.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  <a:effectLst>
            <a:outerShdw blurRad="76200" dist="25400" dir="5400000" algn="bl" rotWithShape="0">
              <a:srgbClr val="3B1E6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37960" y="21488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Single-Step, Parallel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63347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tool calls at once, same or different tools.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“Apple's and Google's revenue in 2023?” → two web searches, in parallel.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  <a:effectLst>
            <a:outerShdw blurRad="76200" dist="25400" dir="5400000" algn="bl" rotWithShape="0">
              <a:srgbClr val="3B1E6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64515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tool's output feeds the next — calls happen in sequence.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“Plot Apple's 2023 revenue.” → search, then run plotting code.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9319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D7F5"/>
            </a:solidFill>
            <a:prstDash val="solid"/>
          </a:ln>
          <a:effectLst>
            <a:outerShdw blurRad="76200" dist="25400" dir="5400000" algn="bl" rotWithShape="0">
              <a:srgbClr val="3B1E6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37960" y="416052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4160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Parallel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464515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calls within one or more steps of a sequence.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37960" y="52120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“Plot Apple's and Google's revenue.” → two parallel searches, then plotting code.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1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271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271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is in place — next, parallel calls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chapter covered the components of a tool use system, the four-step workflow, state management across turns, and the modes tool calling can run in.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setup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27024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function and defining its schema so the LLM can call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2971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99432" y="3246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99432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9432" y="3886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Four-step workflow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599432" y="427024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→ tool calls → tool results → response &amp; citations.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01584" y="2971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71142"/>
          </a:solidFill>
          <a:ln w="12700">
            <a:solidFill>
              <a:srgbClr val="5B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75904" y="3246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75904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75904" y="3886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 modes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375904" y="427024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Single-step, parallel, multi-step, and multi-step parallel calling.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1261</Words>
  <Application>Microsoft Office PowerPoint</Application>
  <PresentationFormat>Widescreen</PresentationFormat>
  <Paragraphs>136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2026-08-24T04:03:05Z</dcterms:created>
  <dcterms:modified xsi:type="dcterms:W3CDTF">2026-08-24T14:07:58Z</dcterms:modified>
</cp:coreProperties>
</file>