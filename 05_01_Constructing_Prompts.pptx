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4668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4754880" cy="4754880"/>
          </a:xfrm>
          <a:prstGeom prst="ellipse">
            <a:avLst/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3931920"/>
            <a:ext cx="3474720" cy="3474720"/>
          </a:xfrm>
          <a:prstGeom prst="ellipse">
            <a:avLst/>
          </a:prstGeom>
          <a:solidFill>
            <a:srgbClr val="014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95560" y="4709160"/>
            <a:ext cx="1920240" cy="19202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COMMAND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Constructing Prompts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for building effective prompts — from a single instruction to context, format, examples, and chain of thought.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 is the key to a useful response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prompt considerably improves the quality and accuracy of what a large language model returns. Prompts can be a simple one-liner, or many layers of specific detail — the more specific the instruction, the more likely the response matches what you actually need.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86600" y="1554480"/>
            <a:ext cx="4434840" cy="4206240"/>
          </a:xfrm>
          <a:prstGeom prst="roundRect">
            <a:avLst>
              <a:gd name="adj" fmla="val 2609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8288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0" y="219456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06640" y="2578608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06640" y="2962656"/>
            <a:ext cx="2468880" cy="256032"/>
          </a:xfrm>
          <a:prstGeom prst="roundRect">
            <a:avLst>
              <a:gd name="adj" fmla="val 17857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06640" y="3346704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06640" y="373075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BFE3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06640" y="4251960"/>
            <a:ext cx="3794760" cy="0"/>
          </a:xfrm>
          <a:prstGeom prst="line">
            <a:avLst/>
          </a:prstGeom>
          <a:noFill/>
          <a:ln w="12700">
            <a:solidFill>
              <a:srgbClr val="C9DE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0" y="44348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4828032"/>
            <a:ext cx="379476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06640" y="5084064"/>
            <a:ext cx="333756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06640" y="5340096"/>
            <a:ext cx="288036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06640" y="5596128"/>
            <a:ext cx="242316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lines to start generating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SDK, set the API key, and wrap the Chat endpoint in a small helper. A default temperature of 0 keeps responses predictable; raising it invites more creative, less repeatable output.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881360" cy="3246120"/>
          </a:xfrm>
          <a:prstGeom prst="roundRect">
            <a:avLst>
              <a:gd name="adj" fmla="val 2817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10241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pip install cohere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cohere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= cohere.ClientV2("COHERE_API_KEY")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generate_text(prompt, temp=0):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co.chat(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model="command-a-plus-05-2026",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 "content": prompt}],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temperature=temp,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 text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INSTRUCTION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short line of instruction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its core, prompting is sending an instruction and getting a response back. The smallest complete prompt is a single instruction line — no extra structure required.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982980" cy="457200"/>
          </a:xfrm>
          <a:prstGeom prst="roundRect">
            <a:avLst>
              <a:gd name="adj" fmla="val 50000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982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7652" y="342900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87652" y="342900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50692" y="342900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50692" y="342900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1193292" cy="457200"/>
          </a:xfrm>
          <a:prstGeom prst="roundRect">
            <a:avLst>
              <a:gd name="adj" fmla="val 50000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11932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97964" y="402336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97964" y="402336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What...?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verbs that work well as a starting point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19202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212848"/>
            <a:ext cx="4617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20840" y="221284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creative product description for a wireless headphone product named the CO-1T"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30175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310128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“Looking for a wireless headphone option that won't break the bank? Look no further than the CO-1T! These sleek headphones offer crystal clear sound and a comfortable, snug fit...”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SPECIFICS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prompts return generic responses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details the way you'd brief a person: style, tone, persona, length, and audience all sharpen the result.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55117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95351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framework — e.g. the AIDA copywriting structure.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23317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94760" y="2606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947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55117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0560" y="295351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voice: professional, casual, inspirational, serious.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4617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56285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496519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world-class content marketer...”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20440" y="43434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94760" y="4617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9476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456285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80560" y="496519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word count, paragraph count, or level of detail.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233172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294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EXAMPLE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0100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wireless headphone “CO-1T”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29400" y="36393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01000" y="36393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bluetooth, wireless, fast charging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426110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Audience: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01000" y="42611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developer in noisy offices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48828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01000" y="48828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 of this product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context, the model has to guess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not context-aware by default. Feeding retrieved information into the prompt — the basis of retrieval-augmented generation — is what enables personalized assistants, support bots, and productivity tools.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FBEAEA"/>
          </a:solidFill>
          <a:ln w="12700">
            <a:solidFill>
              <a:srgbClr val="F3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are the key features of the CO-1T?"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886200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invents an answer — a plausible-sounding but made-up list of features, since it has never heard of the CO-1T.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69748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E7F6F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2926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32918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product description passed in as context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886200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CO-1T wireless headphones have noise-cancellation, fast charging capacity, and Bluetooth connectivity.”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FORMAT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the shape you actually need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return structured output — like a markdown table or a JSON string — directly, ready to parse or paste.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TABLE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88920"/>
          <a:ext cx="5257800" cy="155448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#0521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ALLBIRDS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XXX3846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#6781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XXX9877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#0777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 TOWER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XXX3846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2423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STRING</a:t>
            </a:r>
            <a:endParaRPr lang="en-US" sz="1100" dirty="0"/>
          </a:p>
        </p:txBody>
      </p:sp>
      <p:sp>
        <p:nvSpPr>
          <p:cNvPr id="6" name="Shape 5"/>
          <p:cNvSpPr/>
          <p:nvPr/>
        </p:nvSpPr>
        <p:spPr>
          <a:xfrm>
            <a:off x="6309360" y="278892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0" y="2953512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"invoice_number": "#0521",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"merchant_name": "ALLBIRDS",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"account_number": "XXX3846"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come from the same source text — only the instruction's output-format line changes.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EXAMPLES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Show, don't just tell: few-shot prompting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prompts give instructions with no example. Adding a few examples (few-shot) is often the fastest way to lock in a style or format.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IN THE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798064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</a:t>
            </a: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my aunt if she can go to the JDRF Walk with me October 6th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go to the jdrf walk with me october 6th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63931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</a:t>
            </a: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Eliza what should I bring to the wedding tomorrow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950208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bring to the wedding tomorrow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407408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48056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</a:t>
            </a: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 to supervisor that I am sick and will not be in today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791456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sick and will not be in today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06640" y="237744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2668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26680" y="2907792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“Send a message to Alison to ask if she can pick me up tonight to go to the concert together”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26680" y="4069080"/>
            <a:ext cx="3474720" cy="0"/>
          </a:xfrm>
          <a:prstGeom prst="line">
            <a:avLst/>
          </a:prstGeom>
          <a:noFill/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26680" y="4206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(STYLE MATCHED)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26680" y="45262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 you pick me up tonight to go to the concert together?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CHAIN OF THOUGHT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model reason before it answers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that include an intermediate reasoning step — not just the final answer — measurably improve accuracy on math and logic tasks.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77063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3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REASONING STEP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13639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has 10 balls, half are red. 4 more red balls are added. How many red balls now?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answer is 12.”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— the model jumps straight to a guess.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51460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012C30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77063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REASONING STEP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13639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has 12 balls, half are red. 4 more red balls are added. How many red balls now?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0" y="402336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“12 / 2 = 6 red balls. 6 + 4 = 10. The answer is 10.”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47548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the model shows its work first, then answers.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generation into explicit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intermediate steps before the final output enriches the model's own context and produces a richer, more structured result.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pain point is being solved?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54680" y="34747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25146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1880" y="2743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3832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audience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9319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experiences this problem?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97880" y="34747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25146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55080" y="2743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5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3832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idea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9319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solve the problem for them?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41080" y="34747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69680" y="25146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98280" y="2743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0982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98280" y="33832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startup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98280" y="39319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that fits the idea.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Name: “Nurture Nest” — a mentorship platform for recent graduates seeking career and educational support.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building block is a lever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can be a single line — or many layers of instruction, specifics, context, format, examples, and reasoning steps. Each layer you add is a different lever for improving the quality and accuracy of the response.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71800" y="3429000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71800" y="34290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0" y="3429000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0" y="34290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995928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9959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71800" y="3995928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71800" y="39959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0" y="3995928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39959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562856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56285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0" y="1737360"/>
            <a:ext cx="3703320" cy="3840480"/>
          </a:xfrm>
          <a:prstGeom prst="roundRect">
            <a:avLst>
              <a:gd name="adj" fmla="val 2963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38160" y="2011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23774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 in, quality out.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38160" y="329184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specific your prompt, the more likely the model returns exactly what you need.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1126</Words>
  <Application>Microsoft Office PowerPoint</Application>
  <PresentationFormat>Widescreen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2026-08-23T11:21:14Z</dcterms:created>
  <dcterms:modified xsi:type="dcterms:W3CDTF">2026-08-24T13:00:42Z</dcterms:modified>
</cp:coreProperties>
</file>