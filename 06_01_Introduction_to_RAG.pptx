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51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0384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5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1005840"/>
            <a:ext cx="777240" cy="502920"/>
          </a:xfrm>
          <a:prstGeom prst="roundRect">
            <a:avLst>
              <a:gd name="adj" fmla="val 14545"/>
            </a:avLst>
          </a:prstGeom>
          <a:solidFill>
            <a:srgbClr val="3A23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0" y="100126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006840" y="10561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B7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372600" y="1005840"/>
            <a:ext cx="777240" cy="502920"/>
          </a:xfrm>
          <a:prstGeom prst="roundRect">
            <a:avLst>
              <a:gd name="adj" fmla="val 14545"/>
            </a:avLst>
          </a:prstGeom>
          <a:solidFill>
            <a:srgbClr val="E87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372600" y="100126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149840" y="10561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B7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515600" y="1005840"/>
            <a:ext cx="777240" cy="502920"/>
          </a:xfrm>
          <a:prstGeom prst="roundRect">
            <a:avLst>
              <a:gd name="adj" fmla="val 14545"/>
            </a:avLst>
          </a:prstGeom>
          <a:solidFill>
            <a:srgbClr val="3A23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515600" y="100126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KB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69748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RAG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822960" y="379476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D9C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LLMs to external knowledge sources, so chatbot responses stay accurate, current, and verifiable.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4892040"/>
            <a:ext cx="548640" cy="0"/>
          </a:xfrm>
          <a:prstGeom prst="line">
            <a:avLst/>
          </a:prstGeom>
          <a:noFill/>
          <a:ln w="38100">
            <a:solidFill>
              <a:srgbClr val="E87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1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chatbot is only as useful as what it knows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5577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201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the box, an LLM chatbot only has access to the data it was trained on </a:t>
            </a:r>
            <a:r>
              <a:rPr lang="en-US" sz="1500" b="1" dirty="0">
                <a:solidFill>
                  <a:srgbClr val="201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its internal knowledge.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5577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6B5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enterprise use especially, a chatbot also needs to reach beyond that — into company wikis, meeting transcripts, and support tickets — to actually be useful.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4206240"/>
            <a:ext cx="5394960" cy="1463040"/>
          </a:xfrm>
          <a:prstGeom prst="roundRect">
            <a:avLst>
              <a:gd name="adj" fmla="val 6250"/>
            </a:avLst>
          </a:prstGeom>
          <a:solidFill>
            <a:srgbClr val="F1E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43891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Cohere's Chat endpoint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470916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201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comes with a retrieval-augmented generation (RAG) feature that connects to external knowledge bases and delivers more accurate responses.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766560" y="1828800"/>
            <a:ext cx="4800600" cy="3840480"/>
          </a:xfrm>
          <a:prstGeom prst="roundRect">
            <a:avLst>
              <a:gd name="adj" fmla="val 2857"/>
            </a:avLst>
          </a:prstGeom>
          <a:solidFill>
            <a:srgbClr val="2415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086600" y="210312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the right context, a chatbot can: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086600" y="2697480"/>
            <a:ext cx="365760" cy="365760"/>
          </a:xfrm>
          <a:prstGeom prst="ellipse">
            <a:avLst/>
          </a:prstGeom>
          <a:solidFill>
            <a:srgbClr val="E87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086600" y="2697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589520" y="2715768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EAD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a meeting transcript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086600" y="3447288"/>
            <a:ext cx="365760" cy="365760"/>
          </a:xfrm>
          <a:prstGeom prst="ellipse">
            <a:avLst/>
          </a:prstGeom>
          <a:solidFill>
            <a:srgbClr val="E87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086600" y="34472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589520" y="3465576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EAD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information from the company wiki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086600" y="4197096"/>
            <a:ext cx="365760" cy="365760"/>
          </a:xfrm>
          <a:prstGeom prst="ellipse">
            <a:avLst/>
          </a:prstGeom>
          <a:solidFill>
            <a:srgbClr val="E87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086600" y="41970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589520" y="4215384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EAD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a support agent answer a customer inquiry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086600" y="5001768"/>
            <a:ext cx="4160520" cy="0"/>
          </a:xfrm>
          <a:prstGeom prst="line">
            <a:avLst/>
          </a:prstGeom>
          <a:noFill/>
          <a:ln w="12700">
            <a:solidFill>
              <a:srgbClr val="4A31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086600" y="514807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B9A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access to that knowledge base, none of these tasks succeed.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01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solves the lack of specific knowledge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5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Company-specific facts — like an internal headcount or a policy detail — were never in the model's training data. Without retrieval, it has to guess.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5212080" cy="3383280"/>
          </a:xfrm>
          <a:prstGeom prst="roundRect">
            <a:avLst>
              <a:gd name="adj" fmla="val 2703"/>
            </a:avLst>
          </a:prstGeom>
          <a:solidFill>
            <a:srgbClr val="FAF8FD"/>
          </a:solidFill>
          <a:ln w="12700">
            <a:solidFill>
              <a:srgbClr val="E4D9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5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RAG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201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many employees do ABC Corp have?”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14400" y="3840480"/>
            <a:ext cx="4663440" cy="777240"/>
          </a:xfrm>
          <a:prstGeom prst="roundRect">
            <a:avLst>
              <a:gd name="adj" fmla="val 7059"/>
            </a:avLst>
          </a:prstGeom>
          <a:solidFill>
            <a:srgbClr val="F3EA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97280" y="395935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201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“I'm sorry, I don't have information about ABC Corp.”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359400" y="512064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72100" y="5120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✗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26480" y="2423160"/>
            <a:ext cx="5212080" cy="3383280"/>
          </a:xfrm>
          <a:prstGeom prst="roundRect">
            <a:avLst>
              <a:gd name="adj" fmla="val 2703"/>
            </a:avLst>
          </a:prstGeom>
          <a:solidFill>
            <a:srgbClr val="2415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0" y="2651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RAG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0" y="301752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many employees do ABC Corp have?”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0" y="3840480"/>
            <a:ext cx="4663440" cy="777240"/>
          </a:xfrm>
          <a:prstGeom prst="roundRect">
            <a:avLst>
              <a:gd name="adj" fmla="val 7059"/>
            </a:avLst>
          </a:prstGeom>
          <a:solidFill>
            <a:srgbClr val="3A23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83680" y="395935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9B7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“...we are proud to have a team of 500 worldwide...”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0" y="47548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“500”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0698480" y="5120640"/>
            <a:ext cx="457200" cy="457200"/>
          </a:xfrm>
          <a:prstGeom prst="ellipse">
            <a:avLst/>
          </a:prstGeom>
          <a:solidFill>
            <a:srgbClr val="E87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698480" y="5120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1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solves the lack of recency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5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baseline LLM's knowledge stops at its training cut-off. For time-sensitive questions, it can only offer its most recent training data — which may be outdated or simply wrong.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5212080" cy="3383280"/>
          </a:xfrm>
          <a:prstGeom prst="roundRect">
            <a:avLst>
              <a:gd name="adj" fmla="val 2703"/>
            </a:avLst>
          </a:prstGeom>
          <a:solidFill>
            <a:srgbClr val="FAF8FD"/>
          </a:solidFill>
          <a:ln w="12700">
            <a:solidFill>
              <a:srgbClr val="E4D9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5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RAG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201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“Where did the last AI conference take place?”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14400" y="3840480"/>
            <a:ext cx="4663440" cy="594360"/>
          </a:xfrm>
          <a:prstGeom prst="roundRect">
            <a:avLst>
              <a:gd name="adj" fmla="val 9231"/>
            </a:avLst>
          </a:prstGeom>
          <a:solidFill>
            <a:srgbClr val="F3EA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97280" y="39776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1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“New York” — stale, from training data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334000" y="512064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34000" y="5120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✗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26480" y="2423160"/>
            <a:ext cx="5212080" cy="3383280"/>
          </a:xfrm>
          <a:prstGeom prst="roundRect">
            <a:avLst>
              <a:gd name="adj" fmla="val 2703"/>
            </a:avLst>
          </a:prstGeom>
          <a:solidFill>
            <a:srgbClr val="2415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0" y="2651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RAG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0" y="301752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“Where did the last AI conference take place?”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0" y="3840480"/>
            <a:ext cx="4663440" cy="777240"/>
          </a:xfrm>
          <a:prstGeom prst="roundRect">
            <a:avLst>
              <a:gd name="adj" fmla="val 7059"/>
            </a:avLst>
          </a:prstGeom>
          <a:solidFill>
            <a:srgbClr val="3A23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83680" y="395935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9B7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“...the 2023 AI conference in London gathered thousands of...”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0" y="47548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“London”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0698480" y="5120640"/>
            <a:ext cx="457200" cy="457200"/>
          </a:xfrm>
          <a:prstGeom prst="ellipse">
            <a:avLst/>
          </a:prstGeom>
          <a:solidFill>
            <a:srgbClr val="E87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698480" y="5120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RAG Works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01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systems working together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5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consists of a retrieval system and an augmented generation system.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5212080" cy="3291840"/>
          </a:xfrm>
          <a:prstGeom prst="roundRect">
            <a:avLst>
              <a:gd name="adj" fmla="val 2778"/>
            </a:avLst>
          </a:prstGeom>
          <a:solidFill>
            <a:srgbClr val="F1E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60120" y="2697480"/>
            <a:ext cx="548640" cy="548640"/>
          </a:xfrm>
          <a:prstGeom prst="ellipse">
            <a:avLst/>
          </a:prstGeom>
          <a:solidFill>
            <a:srgbClr val="6B3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0120" y="2697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91640" y="276148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01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34747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201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user message, the system queries an external knowledge base and fetches the most relevant results.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466344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to any system that can fetch relevant documents based on a user message.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2377440"/>
            <a:ext cx="5212080" cy="3291840"/>
          </a:xfrm>
          <a:prstGeom prst="roundRect">
            <a:avLst>
              <a:gd name="adj" fmla="val 2778"/>
            </a:avLst>
          </a:prstGeom>
          <a:solidFill>
            <a:srgbClr val="2415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446520" y="2697480"/>
            <a:ext cx="548640" cy="548640"/>
          </a:xfrm>
          <a:prstGeom prst="ellipse">
            <a:avLst/>
          </a:prstGeom>
          <a:solidFill>
            <a:srgbClr val="E87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46520" y="2697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178040" y="276148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Augmented Generation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46520" y="34747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EAD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 is augmented with the retrieved information, grounding it with the best available context.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46520" y="466344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C9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chatbot then responds using the augmented prompt as its context — delivering an accurate, grounded answer.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1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Retrieval: finding the right information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5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user message, the Chat endpoint queries an external knowledge base and retrieves the results.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10881360" cy="2926080"/>
          </a:xfrm>
          <a:prstGeom prst="roundRect">
            <a:avLst>
              <a:gd name="adj" fmla="val 3750"/>
            </a:avLst>
          </a:prstGeom>
          <a:solidFill>
            <a:srgbClr val="2415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463040" y="370332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3A23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463040" y="395935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0" y="370332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E87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0" y="395935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595360" y="370332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3A23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595360" y="38862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</a:t>
            </a:r>
            <a:endParaRPr lang="en-US" sz="13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base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566160" y="4160520"/>
            <a:ext cx="1463040" cy="0"/>
          </a:xfrm>
          <a:prstGeom prst="line">
            <a:avLst/>
          </a:prstGeom>
          <a:noFill/>
          <a:ln w="25400">
            <a:solidFill>
              <a:srgbClr val="9B7FC4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160520" y="3200400"/>
            <a:ext cx="274320" cy="274320"/>
          </a:xfrm>
          <a:prstGeom prst="ellipse">
            <a:avLst/>
          </a:prstGeom>
          <a:solidFill>
            <a:srgbClr val="9B7F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60520" y="3200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66160" y="341071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132320" y="3995928"/>
            <a:ext cx="1463040" cy="0"/>
          </a:xfrm>
          <a:prstGeom prst="line">
            <a:avLst/>
          </a:prstGeom>
          <a:noFill/>
          <a:ln w="25400">
            <a:solidFill>
              <a:srgbClr val="9B7FC4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132320" y="341071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726680" y="3200400"/>
            <a:ext cx="274320" cy="274320"/>
          </a:xfrm>
          <a:prstGeom prst="ellipse">
            <a:avLst/>
          </a:prstGeom>
          <a:solidFill>
            <a:srgbClr val="9B7F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726680" y="3200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132320" y="4361688"/>
            <a:ext cx="1463040" cy="0"/>
          </a:xfrm>
          <a:prstGeom prst="line">
            <a:avLst/>
          </a:prstGeom>
          <a:noFill/>
          <a:ln w="25400">
            <a:solidFill>
              <a:srgbClr val="E8734A"/>
            </a:solidFill>
            <a:prstDash val="dash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132320" y="469087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7C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726680" y="4965192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726680" y="49651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55321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applies to any system that can fetch relevant documents based on a user message — vector databases, search indexes, or APIs.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01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Augmented generation: grounding the response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5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retrieved information is added to the prompt, grounding it before the chatbot replies to the user.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10881360" cy="2926080"/>
          </a:xfrm>
          <a:prstGeom prst="roundRect">
            <a:avLst>
              <a:gd name="adj" fmla="val 3750"/>
            </a:avLst>
          </a:prstGeom>
          <a:solidFill>
            <a:srgbClr val="2415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463040" y="370332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3A23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463040" y="395935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0" y="370332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E87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0" y="395935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595360" y="370332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3A23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595360" y="38862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</a:t>
            </a:r>
            <a:endParaRPr lang="en-US" sz="13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base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566160" y="4160520"/>
            <a:ext cx="1463040" cy="0"/>
          </a:xfrm>
          <a:prstGeom prst="line">
            <a:avLst/>
          </a:prstGeom>
          <a:noFill/>
          <a:ln w="19050">
            <a:solidFill>
              <a:srgbClr val="5B4A78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132320" y="3995928"/>
            <a:ext cx="1463040" cy="0"/>
          </a:xfrm>
          <a:prstGeom prst="line">
            <a:avLst/>
          </a:prstGeom>
          <a:noFill/>
          <a:ln w="19050">
            <a:solidFill>
              <a:srgbClr val="5B4A78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132320" y="4361688"/>
            <a:ext cx="1463040" cy="0"/>
          </a:xfrm>
          <a:prstGeom prst="line">
            <a:avLst/>
          </a:prstGeom>
          <a:noFill/>
          <a:ln w="19050">
            <a:solidFill>
              <a:srgbClr val="5B4A78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566160" y="3840480"/>
            <a:ext cx="1463040" cy="0"/>
          </a:xfrm>
          <a:prstGeom prst="line">
            <a:avLst/>
          </a:prstGeom>
          <a:noFill/>
          <a:ln w="31750">
            <a:solidFill>
              <a:srgbClr val="E8734A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11880" y="3200400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11880" y="3200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91840" y="3200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F7C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55321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Grounded, accurate, up-to-date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01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response is verifiable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201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Cohere's Chat endpoint marks exactly which parts of the retrieved documents ground each part of the response.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83464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F1E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336499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1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Builds credibility and trust in the response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37490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1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Lets users verify claims against the source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413308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1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Enables deeper exploration of a topic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583680" y="2194560"/>
            <a:ext cx="4937760" cy="1554480"/>
          </a:xfrm>
          <a:prstGeom prst="roundRect">
            <a:avLst>
              <a:gd name="adj" fmla="val 5882"/>
            </a:avLst>
          </a:prstGeom>
          <a:solidFill>
            <a:srgbClr val="2415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903720" y="24688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tallest penguins, </a:t>
            </a:r>
            <a:r>
              <a:rPr lang="en-US" sz="1700" b="1" dirty="0">
                <a:solidFill>
                  <a:srgbClr val="241539"/>
                </a:solidFill>
                <a:highlight>
                  <a:srgbClr val="9B7FC4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Emperor penguins,</a:t>
            </a: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live in </a:t>
            </a:r>
            <a:r>
              <a:rPr lang="en-US" sz="1700" b="1" dirty="0">
                <a:solidFill>
                  <a:srgbClr val="241539"/>
                </a:solidFill>
                <a:highlight>
                  <a:srgbClr val="E8734A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Antarctica.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583680" y="3977640"/>
            <a:ext cx="4937760" cy="685800"/>
          </a:xfrm>
          <a:prstGeom prst="roundRect">
            <a:avLst>
              <a:gd name="adj" fmla="val 10667"/>
            </a:avLst>
          </a:prstGeom>
          <a:solidFill>
            <a:srgbClr val="F1EBFA"/>
          </a:solidFill>
          <a:ln w="19050">
            <a:solidFill>
              <a:srgbClr val="9B7F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0" y="41605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01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Citation: Document 0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83680" y="4846320"/>
            <a:ext cx="4937760" cy="685800"/>
          </a:xfrm>
          <a:prstGeom prst="roundRect">
            <a:avLst>
              <a:gd name="adj" fmla="val 10667"/>
            </a:avLst>
          </a:prstGeom>
          <a:solidFill>
            <a:srgbClr val="FDEDE6"/>
          </a:solidFill>
          <a:ln w="19050">
            <a:solidFill>
              <a:srgbClr val="E87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0" y="50292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01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Citation: Document 1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415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05156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grounds LLMs in the knowledge that matters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22860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D9C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is a key component of the Chat endpoint, connecting the API to external data so responses stay accurate, current, and grounded in real sources.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3429000"/>
            <a:ext cx="411480" cy="411480"/>
          </a:xfrm>
          <a:prstGeom prst="ellipse">
            <a:avLst/>
          </a:prstGeom>
          <a:solidFill>
            <a:srgbClr val="9B7F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415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341071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297680" y="3410712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right information from an external knowledge base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4087368"/>
            <a:ext cx="411480" cy="411480"/>
          </a:xfrm>
          <a:prstGeom prst="ellipse">
            <a:avLst/>
          </a:prstGeom>
          <a:solidFill>
            <a:srgbClr val="9B7F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40873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415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17320" y="4069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Augmented Generation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297680" y="406908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Grounds the prompt with that information before responding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745736"/>
            <a:ext cx="411480" cy="411480"/>
          </a:xfrm>
          <a:prstGeom prst="ellipse">
            <a:avLst/>
          </a:prstGeom>
          <a:solidFill>
            <a:srgbClr val="E87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474573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17320" y="472744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Citations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297680" y="4727448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every claim traceable back to its source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2960" y="5806440"/>
            <a:ext cx="548640" cy="0"/>
          </a:xfrm>
          <a:prstGeom prst="line">
            <a:avLst/>
          </a:prstGeom>
          <a:noFill/>
          <a:ln w="38100">
            <a:solidFill>
              <a:srgbClr val="E87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2960" y="5943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9A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external knowledge, even the strongest LLM is limited to what it learned in training.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697</Words>
  <Application>Microsoft Office PowerPoint</Application>
  <PresentationFormat>Widescreen</PresentationFormat>
  <Paragraphs>113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Muhammad Asad Riaz</cp:lastModifiedBy>
  <cp:revision>2</cp:revision>
  <dcterms:created xsi:type="dcterms:W3CDTF">2026-08-23T19:21:27Z</dcterms:created>
  <dcterms:modified xsi:type="dcterms:W3CDTF">2026-08-24T13:09:51Z</dcterms:modified>
</cp:coreProperties>
</file>