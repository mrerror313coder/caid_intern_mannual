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>
        <p:scale>
          <a:sx n="84" d="100"/>
          <a:sy n="84" d="100"/>
        </p:scale>
        <p:origin x="132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24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416052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1B3B50"/>
          </a:solidFill>
          <a:ln w="12700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520440" y="43891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24445A"/>
          </a:solidFill>
          <a:ln w="12700">
            <a:solidFill>
              <a:srgbClr val="FF6B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75888" y="4517136"/>
            <a:ext cx="1691640" cy="0"/>
          </a:xfrm>
          <a:prstGeom prst="line">
            <a:avLst/>
          </a:prstGeom>
          <a:noFill/>
          <a:ln w="15875">
            <a:solidFill>
              <a:srgbClr val="7C9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75888" y="4617720"/>
            <a:ext cx="1691640" cy="0"/>
          </a:xfrm>
          <a:prstGeom prst="line">
            <a:avLst/>
          </a:prstGeom>
          <a:noFill/>
          <a:ln w="15875">
            <a:solidFill>
              <a:srgbClr val="7C9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75888" y="4718304"/>
            <a:ext cx="930402" cy="0"/>
          </a:xfrm>
          <a:prstGeom prst="line">
            <a:avLst/>
          </a:prstGeom>
          <a:noFill/>
          <a:ln w="15875">
            <a:solidFill>
              <a:srgbClr val="7C9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20440" y="512064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24445A"/>
          </a:solidFill>
          <a:ln w="12700">
            <a:solidFill>
              <a:srgbClr val="FF6B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75888" y="5248656"/>
            <a:ext cx="1691640" cy="0"/>
          </a:xfrm>
          <a:prstGeom prst="line">
            <a:avLst/>
          </a:prstGeom>
          <a:noFill/>
          <a:ln w="15875">
            <a:solidFill>
              <a:srgbClr val="7C9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75888" y="5349240"/>
            <a:ext cx="1691640" cy="0"/>
          </a:xfrm>
          <a:prstGeom prst="line">
            <a:avLst/>
          </a:prstGeom>
          <a:noFill/>
          <a:ln w="15875">
            <a:solidFill>
              <a:srgbClr val="7C9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75888" y="5449824"/>
            <a:ext cx="930402" cy="0"/>
          </a:xfrm>
          <a:prstGeom prst="line">
            <a:avLst/>
          </a:prstGeom>
          <a:noFill/>
          <a:ln w="15875">
            <a:solidFill>
              <a:srgbClr val="7C9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60720" y="4617720"/>
            <a:ext cx="502920" cy="0"/>
          </a:xfrm>
          <a:prstGeom prst="line">
            <a:avLst/>
          </a:prstGeom>
          <a:noFill/>
          <a:ln w="15875">
            <a:solidFill>
              <a:srgbClr val="FF6B4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5349240"/>
            <a:ext cx="502920" cy="0"/>
          </a:xfrm>
          <a:prstGeom prst="line">
            <a:avLst/>
          </a:prstGeom>
          <a:noFill/>
          <a:ln w="15875">
            <a:solidFill>
              <a:srgbClr val="FF6B4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63640" y="4361688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234A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5093208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234A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4361688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5093208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41648" y="155448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41648" y="15544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API · CHAT ENDPOINT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057400"/>
            <a:ext cx="10360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Citations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188720" y="3063240"/>
            <a:ext cx="9811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i="1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model responses back to the exact tool outputs behind them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citations matter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link specific parts of a model's output back to the exact tool results that informed them.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 in Madrid is </a:t>
            </a:r>
            <a:r>
              <a:rPr lang="en-US" sz="1800" b="1" dirty="0">
                <a:solidFill>
                  <a:srgbClr val="FFFFFF"/>
                </a:solidFill>
                <a:highlight>
                  <a:srgbClr val="FF6B4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24°C</a:t>
            </a:r>
            <a:r>
              <a:rPr lang="en-US" sz="18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temperature in Brasilia is </a:t>
            </a:r>
            <a:r>
              <a:rPr lang="en-US" sz="1800" b="1" dirty="0">
                <a:solidFill>
                  <a:srgbClr val="FFFFFF"/>
                </a:solidFill>
                <a:highlight>
                  <a:srgbClr val="4A7C8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28°C.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flipH="1">
            <a:off x="2720340" y="3154680"/>
            <a:ext cx="525780" cy="640080"/>
          </a:xfrm>
          <a:prstGeom prst="line">
            <a:avLst/>
          </a:prstGeom>
          <a:noFill/>
          <a:ln w="15875">
            <a:solidFill>
              <a:srgbClr val="FF6B4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92440" y="3154680"/>
            <a:ext cx="331467" cy="640080"/>
          </a:xfrm>
          <a:prstGeom prst="line">
            <a:avLst/>
          </a:prstGeom>
          <a:noFill/>
          <a:ln w="15875">
            <a:solidFill>
              <a:srgbClr val="4A7C82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3886200"/>
            <a:ext cx="4206240" cy="1417320"/>
          </a:xfrm>
          <a:prstGeom prst="roundRect">
            <a:avLst>
              <a:gd name="adj" fmla="val 5806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get_weather("Madrid")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{"temperature": {"madrid": "24°C"}}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801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0" y="3886200"/>
            <a:ext cx="4206240" cy="1417320"/>
          </a:xfrm>
          <a:prstGeom prst="roundRect">
            <a:avLst>
              <a:gd name="adj" fmla="val 5806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7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get_weather("Brasilia")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237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{"temperature": {"brasilia": "28°C"}}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source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response can be traced back to the specific tool call that produced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citation object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 carries four fields, whether you're streaming or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971800" cy="457200"/>
          </a:xfrm>
          <a:prstGeom prst="roundRect">
            <a:avLst>
              <a:gd name="adj" fmla="val 12000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/ end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indices marking where the cited span sits in the response text.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7720" y="1965960"/>
            <a:ext cx="2971800" cy="457200"/>
          </a:xfrm>
          <a:prstGeom prst="roundRect">
            <a:avLst>
              <a:gd name="adj" fmla="val 12000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span of text that the citation covers.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0" y="1965960"/>
            <a:ext cx="2971800" cy="457200"/>
          </a:xfrm>
          <a:prstGeom prst="roundRect">
            <a:avLst>
              <a:gd name="adj" fmla="val 12000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12480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result(s) — with their IDs and outputs — that the span is grounded in.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citation object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4805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=29 </a:t>
            </a:r>
            <a:r>
              <a:rPr lang="en-US" sz="13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=33 </a:t>
            </a:r>
            <a:r>
              <a:rPr lang="en-US" sz="13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='24°C' </a:t>
            </a:r>
            <a:r>
              <a:rPr lang="en-US" sz="13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</a:t>
            </a: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=[ToolSource(type='tool', id='get_weather_vfcg8068s4tt:0',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120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tool_output={'temperature': '{"madrid":"24°C"}'})]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5623560"/>
            <a:ext cx="10241280" cy="0"/>
          </a:xfrm>
          <a:prstGeom prst="line">
            <a:avLst/>
          </a:prstGeom>
          <a:noFill/>
          <a:ln w="12700">
            <a:solidFill>
              <a:srgbClr val="4A7C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715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characters 29–33 of the response (“24°C”) are grounded in this specific tool call's output.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running example: a weather tool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get_weather function, called twice for a two-part question.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r>
              <a:rPr lang="en-US" sz="14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weather in Madrid and Brasilia?”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15768"/>
            <a:ext cx="4800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FD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get_weather(location):
</a:t>
            </a: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 = {
        "bern": "22°C",
</a:t>
            </a:r>
            <a:r>
              <a:rPr lang="en-US" sz="13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"madrid": "24°C",
</a:t>
            </a:r>
            <a:r>
              <a:rPr lang="en-US" sz="1300" b="1" dirty="0">
                <a:solidFill>
                  <a:srgbClr val="4A7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"brasilia": "28°C",
</a:t>
            </a: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    loc = location.lower()
    return [{"temperature": ...}]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function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514600"/>
            <a:ext cx="546811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2514600"/>
            <a:ext cx="49194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r>
              <a:rPr lang="en-US" sz="130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("Madrid") →  </a:t>
            </a:r>
            <a:r>
              <a:rPr lang="en-US" sz="15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24°C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977640"/>
            <a:ext cx="546811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3977640"/>
            <a:ext cx="49194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r>
              <a:rPr lang="en-US" sz="130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("Brasilia") →  </a:t>
            </a:r>
            <a:r>
              <a:rPr lang="en-US" sz="1500" b="1" dirty="0">
                <a:solidFill>
                  <a:srgbClr val="4A7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28°C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5440680"/>
            <a:ext cx="5468112" cy="914400"/>
          </a:xfrm>
          <a:prstGeom prst="roundRect">
            <a:avLst>
              <a:gd name="adj" fmla="val 9000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5440680"/>
            <a:ext cx="4919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plans two tool calls, one per city, then generates a response grounded in both results.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Non-streaming: citations in the final response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co.chat() as usual — citations arrive fully formed in message.citations.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92808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co.chat(model="command-a-plus-05-2026", messages=messages, tools=tools)
for citation in response.message.citations:  print(citation)
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temperature in Madrid is 24°C and the temperature in Brasilia is 28°C.”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1B3B50"/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691890"/>
            <a:ext cx="47091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start=29 end=33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text='24°C'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sources=[ToolSource(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id='get_weather_vfcg8068s4tt:0',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tool_output={'temperature':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'{"madrid":"24°C"}'})]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361188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1B3B50"/>
          </a:solidFill>
          <a:ln w="12700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3714750"/>
            <a:ext cx="47091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7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start=69 end=74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text='28°C.'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sources=[ToolSource(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id='get_weather_7yerfzmfy9t8:0',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tool_output={'temperature':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'{"brasilia":"28°C"}'})]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Streaming: citations as events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chat_stream() instead of chat() — the model streams tokens as it plans tool calls and writes its answer.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content-delta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response text, token by token.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132A3A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citation-start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26974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the moment a citation is ready — same fields as non-streaming.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664458"/>
            <a:ext cx="105430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co.chat_stream(model="command-a-plus-05-2026", messages=messages, tools=tools)
response_text, citations = "", []
for chunk in response:
</a:t>
            </a:r>
            <a:r>
              <a:rPr lang="en-US" sz="135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chunk.type == "content-delta":
</a:t>
            </a:r>
            <a:r>
              <a:rPr lang="en-US" sz="135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response_text += chunk.delta.message.content.text
</a:t>
            </a:r>
            <a:r>
              <a:rPr lang="en-US" sz="1350" b="1" dirty="0">
                <a:solidFill>
                  <a:srgbClr val="4A7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chunk.type == "citation-start":
</a:t>
            </a:r>
            <a:r>
              <a:rPr lang="en-US" sz="135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citations.append(chunk.delta.message.citations)
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608076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citation carries the same start, end, text, and sources fields as the non-streaming case.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IDs: readable citation 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 id to a tool result's document object, and citations reference it directly.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9E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 field provided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8803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get_weather_1byjy32y4hvq:0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20116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document: { "data": ..., "id": "1" 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2880360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28803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id='1'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and citation results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7F5F0"/>
          </a:solidFill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temperature in Madrid is 24°C and in Brasilia it is 28°C.”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516636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text='24°C'  </a:t>
            </a:r>
            <a:r>
              <a:rPr lang="en-US" sz="125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sources=[id=</a:t>
            </a:r>
            <a:r>
              <a:rPr lang="en-US" sz="125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'1'</a:t>
            </a:r>
            <a:r>
              <a:rPr lang="en-US" sz="125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51663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516636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text='28°C.'  </a:t>
            </a:r>
            <a:r>
              <a:rPr lang="en-US" sz="125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sources=[id=</a:t>
            </a:r>
            <a:r>
              <a:rPr lang="en-US" sz="1250" b="1" dirty="0">
                <a:solidFill>
                  <a:srgbClr val="4A7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'2'</a:t>
            </a:r>
            <a:r>
              <a:rPr lang="en-US" sz="125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IDs make downstream lookup and display far simpler than parsing auto-generated tool-call IDs.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citation mode: inline as it generates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are injected the moment the model uses a piece of context — trading a little precision for immediate traceability.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84248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co.chat_stream(..., citation_options={"mode": "fast"})
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2A4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arrive as a separate list, gathered once the full response is known.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B3B50"/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temperature in Madrid is 24°C </a:t>
            </a:r>
            <a:r>
              <a:rPr lang="en-US" sz="16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r>
              <a:rPr lang="en-US" sz="16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the temperature in Brasilia is 28°C. </a:t>
            </a:r>
            <a:r>
              <a:rPr lang="en-US" sz="1600" b="1" dirty="0">
                <a:solidFill>
                  <a:srgbClr val="4A7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appear right where each cited fact lands in the sentence — ideal for live, real-time UIs.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10543032" cy="896112"/>
          </a:xfrm>
          <a:prstGeom prst="roundRect">
            <a:avLst>
              <a:gd name="adj" fmla="val 918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810512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810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508760"/>
            <a:ext cx="9601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connect spans of a response's text to the exact tool outputs behind them — via start, end, text, and sources.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551176"/>
            <a:ext cx="10543032" cy="896112"/>
          </a:xfrm>
          <a:prstGeom prst="roundRect">
            <a:avLst>
              <a:gd name="adj" fmla="val 918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2852928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852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2551176"/>
            <a:ext cx="9601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Non-streaming citations arrive in message.citations; streaming citations arrive as citation-start events with the same fields.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593592"/>
            <a:ext cx="10543032" cy="896112"/>
          </a:xfrm>
          <a:prstGeom prst="roundRect">
            <a:avLst>
              <a:gd name="adj" fmla="val 918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51560" y="3895344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895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3593592"/>
            <a:ext cx="9601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document IDs make citation sources easy to reference and display downstream.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636008"/>
            <a:ext cx="10543032" cy="896112"/>
          </a:xfrm>
          <a:prstGeom prst="roundRect">
            <a:avLst>
              <a:gd name="adj" fmla="val 918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1560" y="4937760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4937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4636008"/>
            <a:ext cx="9601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citation mode injects citations inline as the model writes, trading precision for real-time traceability.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623560"/>
            <a:ext cx="10543032" cy="685800"/>
          </a:xfrm>
          <a:prstGeom prst="roundRect">
            <a:avLst>
              <a:gd name="adj" fmla="val 13333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56235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5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verifiable answers that show exactly where every fact came from.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1030</Words>
  <Application>Microsoft Office PowerPoint</Application>
  <PresentationFormat>Widescreen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2026-08-24T04:10:13Z</dcterms:created>
  <dcterms:modified xsi:type="dcterms:W3CDTF">2026-08-24T18:11:26Z</dcterms:modified>
</cp:coreProperties>
</file>