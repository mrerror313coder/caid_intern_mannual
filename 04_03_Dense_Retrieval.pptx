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85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463040" y="13716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21031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0" y="26517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45920" y="39319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46634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77440" y="10058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8288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0" y="31089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42062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94560" y="49377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92640" y="7315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332720" y="14630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966960" y="23774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89920" y="30175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509760" y="36576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0" y="43891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75520" y="5120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155680" y="10972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430000" y="219456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972800" y="34747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521440" y="45720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63040" y="13716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4A"/>
          </a:solidFill>
          <a:ln/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28800" y="26517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4A"/>
          </a:solidFill>
          <a:ln/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26080" y="18288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4A"/>
          </a:solidFill>
          <a:ln/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332720" y="146304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4A"/>
          </a:solidFill>
          <a:ln/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789920" y="30175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4A"/>
          </a:solidFill>
          <a:ln/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430000" y="21945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F6B4A"/>
          </a:solidFill>
          <a:ln/>
          <a:effectLst>
            <a:outerShdw blurRad="762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98848" y="155448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98848" y="1554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205740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Retrieval</a:t>
            </a:r>
            <a:endParaRPr lang="en-US" sz="5400" dirty="0"/>
          </a:p>
        </p:txBody>
      </p:sp>
      <p:sp>
        <p:nvSpPr>
          <p:cNvPr id="34" name="Text 32"/>
          <p:cNvSpPr/>
          <p:nvPr/>
        </p:nvSpPr>
        <p:spPr>
          <a:xfrm>
            <a:off x="1371600" y="320040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by meaning, not just matching keywords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175504" y="3977640"/>
            <a:ext cx="1828800" cy="0"/>
          </a:xfrm>
          <a:prstGeom prst="line">
            <a:avLst/>
          </a:prstGeom>
          <a:noFill/>
          <a:ln w="19050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keyword search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asked of the same Wikipedia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discovered penicillin?”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word points toward the same answer — a keyword match lands on the right article almost by construction.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526280"/>
            <a:ext cx="4434840" cy="0"/>
          </a:xfrm>
          <a:prstGeom prst="line">
            <a:avLst/>
          </a:prstGeom>
          <a:noFill/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specific words → few candidate documents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132A3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201168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866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2651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was the first person to win two Nobel prizes?”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3566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“first,” “person,” and “Nobel prize” are so common that they surface many documents which never actually answer the question.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4709160"/>
            <a:ext cx="4434840" cy="0"/>
          </a:xfrm>
          <a:prstGeom prst="line">
            <a:avLst/>
          </a:prstGeom>
          <a:noFill/>
          <a:ln w="12700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4892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words → many irrelevant matches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dense retrieval?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188720"/>
            <a:ext cx="10469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</a:t>
            </a: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meaning instead of matching words. Every piece of text is mapped to an </a:t>
            </a: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vector where similar meanings land close together in space.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640080" cy="640080"/>
          </a:xfrm>
          <a:prstGeom prst="ellipse">
            <a:avLst/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the query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converted into a single embedding vector.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0" y="3886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4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2514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2834640"/>
            <a:ext cx="640080" cy="640080"/>
          </a:xfrm>
          <a:prstGeom prst="ellipse">
            <a:avLst/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3657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the documents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42062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passage already has its own vector, computed in advance.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18120" y="3886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4A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38160" y="25146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2834640"/>
            <a:ext cx="640080" cy="640080"/>
          </a:xfrm>
          <a:prstGeom prst="ellipse">
            <a:avLst/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12480" y="3657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the nearest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420624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passages whose vectors sit closest to the query vector are returned.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closest documents in embedding space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E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gray square is a document vector. The query lands among them, and the nearest neighbors (coral) are returned.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80160" y="18288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03120" y="21031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54480" y="29260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77440" y="374904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45720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0" y="53949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08960" y="18288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49040" y="21945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512064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23360" y="27432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35440" y="20116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30175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0" y="39319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0" y="48463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01200" y="54864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607040" y="18288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881360" y="27432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424160" y="420624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881360" y="512064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80960" y="20116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38160" y="557784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1B3B50"/>
          </a:solidFill>
          <a:ln w="9525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9632" y="4315968"/>
            <a:ext cx="0" cy="0"/>
          </a:xfrm>
          <a:prstGeom prst="line">
            <a:avLst/>
          </a:prstGeom>
          <a:noFill/>
          <a:ln w="15875">
            <a:solidFill>
              <a:srgbClr val="FF6B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6199632" y="3675886"/>
            <a:ext cx="713232" cy="640082"/>
          </a:xfrm>
          <a:prstGeom prst="line">
            <a:avLst/>
          </a:prstGeom>
          <a:noFill/>
          <a:ln w="15875">
            <a:solidFill>
              <a:srgbClr val="FF6B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H="1">
            <a:off x="5815584" y="4315968"/>
            <a:ext cx="384048" cy="731515"/>
          </a:xfrm>
          <a:prstGeom prst="line">
            <a:avLst/>
          </a:prstGeom>
          <a:noFill/>
          <a:ln w="15875">
            <a:solidFill>
              <a:srgbClr val="FF6B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99632" y="4315968"/>
            <a:ext cx="676656" cy="640080"/>
          </a:xfrm>
          <a:prstGeom prst="line">
            <a:avLst/>
          </a:prstGeom>
          <a:noFill/>
          <a:ln w="15875">
            <a:solidFill>
              <a:srgbClr val="FF6B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99632" y="4315968"/>
            <a:ext cx="219456" cy="0"/>
          </a:xfrm>
          <a:prstGeom prst="line">
            <a:avLst/>
          </a:prstGeom>
          <a:noFill/>
          <a:ln w="15875">
            <a:solidFill>
              <a:srgbClr val="FF6B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H="1">
            <a:off x="5577840" y="4315967"/>
            <a:ext cx="621792" cy="365759"/>
          </a:xfrm>
          <a:prstGeom prst="line">
            <a:avLst/>
          </a:prstGeom>
          <a:noFill/>
          <a:ln w="15875">
            <a:solidFill>
              <a:srgbClr val="FF6B4A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212080" y="33832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6B4A"/>
          </a:solidFill>
          <a:ln/>
          <a:effectLst>
            <a:outerShdw blurRad="635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3474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6B4A"/>
          </a:solidFill>
          <a:ln/>
          <a:effectLst>
            <a:outerShdw blurRad="635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577840" y="49377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6B4A"/>
          </a:solidFill>
          <a:ln/>
          <a:effectLst>
            <a:outerShdw blurRad="635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66560" y="48463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6B4A"/>
          </a:solidFill>
          <a:ln/>
          <a:effectLst>
            <a:outerShdw blurRad="635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09360" y="320040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6B4A"/>
          </a:solidFill>
          <a:ln/>
          <a:effectLst>
            <a:outerShdw blurRad="635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94960" y="44805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6B4A"/>
          </a:solidFill>
          <a:ln/>
          <a:effectLst>
            <a:outerShdw blurRad="63500" dist="254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266944" y="3950208"/>
            <a:ext cx="164592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A7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66944" y="3950208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863840" y="598932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3840" y="5989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NEIGHBORS RETURNED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articles by paragraph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articles are split so each paragraph gets its own embedding — giving retrieval finer granularity than a whole-article match.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60350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2057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Marie Curie — Wikipedia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2468880"/>
            <a:ext cx="5394960" cy="0"/>
          </a:xfrm>
          <a:prstGeom prst="line">
            <a:avLst/>
          </a:prstGeom>
          <a:noFill/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2697480"/>
            <a:ext cx="5394960" cy="960120"/>
          </a:xfrm>
          <a:prstGeom prst="roundRect">
            <a:avLst>
              <a:gd name="adj" fmla="val 4762"/>
            </a:avLst>
          </a:prstGeom>
          <a:solidFill>
            <a:srgbClr val="F7F5F0"/>
          </a:solidFill>
          <a:ln w="9525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2770632"/>
            <a:ext cx="50292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Salomea Skłodowska-Curie … was the first woman to win a Nobel Prize, and the first person to win a Nobel Prize twice.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" y="3794760"/>
            <a:ext cx="5394960" cy="960120"/>
          </a:xfrm>
          <a:prstGeom prst="roundRect">
            <a:avLst>
              <a:gd name="adj" fmla="val 4762"/>
            </a:avLst>
          </a:prstGeom>
          <a:solidFill>
            <a:srgbClr val="EFF4F2"/>
          </a:solidFill>
          <a:ln w="9525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3867912"/>
            <a:ext cx="50292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born in Warsaw … In 1891 she followed her elder sister to study in Paris, where she conducted her scientific work.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143000" y="4892040"/>
            <a:ext cx="5394960" cy="960120"/>
          </a:xfrm>
          <a:prstGeom prst="roundRect">
            <a:avLst>
              <a:gd name="adj" fmla="val 4762"/>
            </a:avLst>
          </a:prstGeom>
          <a:solidFill>
            <a:srgbClr val="F7F5F0"/>
          </a:solidFill>
          <a:ln w="9525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4965192"/>
            <a:ext cx="50292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Skłodowska Curie … named the first chemical element she discovered polonium, after her native country.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05256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vectors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3177540"/>
            <a:ext cx="2377440" cy="0"/>
          </a:xfrm>
          <a:prstGeom prst="line">
            <a:avLst/>
          </a:prstGeom>
          <a:noFill/>
          <a:ln w="15875">
            <a:solidFill>
              <a:srgbClr val="4A7C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9760" y="30403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65792" y="30403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21824" y="30403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4274820"/>
            <a:ext cx="2377440" cy="0"/>
          </a:xfrm>
          <a:prstGeom prst="line">
            <a:avLst/>
          </a:prstGeom>
          <a:noFill/>
          <a:ln w="15875">
            <a:solidFill>
              <a:srgbClr val="4A7C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09760" y="413766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65792" y="413766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021824" y="413766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0" y="5372100"/>
            <a:ext cx="2377440" cy="0"/>
          </a:xfrm>
          <a:prstGeom prst="line">
            <a:avLst/>
          </a:prstGeom>
          <a:noFill/>
          <a:ln w="15875">
            <a:solidFill>
              <a:srgbClr val="4A7C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9760" y="523494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765792" y="523494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21824" y="523494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1 · “Who discovered penicillin?”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dense-retrieval results — every one names the answer directly.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Alexander Fleming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2971800" cy="0"/>
          </a:xfrm>
          <a:prstGeom prst="line">
            <a:avLst/>
          </a:prstGeom>
          <a:noFill/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Alexander Fleming was a Scottish physician and microbiologist 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Penicillin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17720" y="2743200"/>
            <a:ext cx="2971800" cy="0"/>
          </a:xfrm>
          <a:prstGeom prst="line">
            <a:avLst/>
          </a:prstGeom>
          <a:noFill/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292608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Penicillin was discovered in 1928 by Scottish scientist Alexander Fleming 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2103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Penicillin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412480" y="2743200"/>
            <a:ext cx="2971800" cy="0"/>
          </a:xfrm>
          <a:prstGeom prst="line">
            <a:avLst/>
          </a:prstGeom>
          <a:noFill/>
          <a:ln w="12700">
            <a:solidFill>
              <a:srgbClr val="D8DD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0" y="292608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“penicillin” is defined as the natural product of Penicillium mould … coined by Alexander Fleming …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3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finds paragraphs that contain the exact answer — not just matching words.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2 · “Who was the first to win two Nobel prizes?”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harder query — where keyword search struggled. Dense retrieval does far better.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9AA6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4688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Nobel prize in literature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220370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Nobel prize in literature can be shared by two individuals 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78308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DD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57016" y="1984248"/>
            <a:ext cx="365760" cy="365760"/>
          </a:xfrm>
          <a:prstGeom prst="ellipse">
            <a:avLst/>
          </a:prstGeom>
          <a:solidFill>
            <a:srgbClr val="9AA6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57016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7016" y="24688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Nobel prize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7016" y="3017520"/>
            <a:ext cx="220370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posthumous nominations are not presently permitted 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78308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32A3A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64224" y="1984248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64224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64224" y="24688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Nobel prize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3017520"/>
            <a:ext cx="220370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people have received two Nobel prizes. Marie Curie received the Physics prize 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4224" y="4937760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64224" y="4937760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ANSWER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70264" y="178308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32A3A"/>
          </a:solidFill>
          <a:ln w="12700">
            <a:solidFill>
              <a:srgbClr val="000000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71432" y="1984248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71432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1432" y="24688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Marie Curie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71432" y="3017520"/>
            <a:ext cx="220370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C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Curie was the first woman to win a Nobel prize, the first person to win two Nobel prizes 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71432" y="4937760"/>
            <a:ext cx="2203704" cy="310896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71432" y="4937760"/>
            <a:ext cx="220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ANSWER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where results 1–2 weren’t exact hits, all four landed in the two correct articles — because the embedding captures shared meaning, not shared words.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across languages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multilingual embedding maps meaning, not vocabulary — so a query in one language finds answers in another.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43032" cy="1783080"/>
          </a:xfrm>
          <a:prstGeom prst="roundRect">
            <a:avLst>
              <a:gd name="adj" fmla="val 5128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148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ENGLISH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6060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was the first person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win two Nobel prizes?”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2761488"/>
            <a:ext cx="1005840" cy="0"/>
          </a:xfrm>
          <a:prstGeom prst="line">
            <a:avLst/>
          </a:prstGeom>
          <a:noFill/>
          <a:ln w="19050">
            <a:solidFill>
              <a:srgbClr val="FF6B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89320" y="21488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8932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ARABIC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260604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جائزة نوبل (Nobel Prize)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89320" y="293522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قائمة الحاصلين على جائزة نوبل (List of laureates)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10543032" cy="1783080"/>
          </a:xfrm>
          <a:prstGeom prst="roundRect">
            <a:avLst>
              <a:gd name="adj" fmla="val 5128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3000" y="4251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4A7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SPANISH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709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“¿Quién descubrió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penicilina?”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09160" y="4864608"/>
            <a:ext cx="1005840" cy="0"/>
          </a:xfrm>
          <a:prstGeom prst="line">
            <a:avLst/>
          </a:prstGeom>
          <a:noFill/>
          <a:ln w="19050">
            <a:solidFill>
              <a:srgbClr val="FF6B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4480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42519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FRENCH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47091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Pénicilline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89320" y="50383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Alexander Fleming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608076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covers English plus nine languages — but the underlying multilingual embedding handles over 100.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842516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8425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searches by meaning, using text embeddings instead of literal keyword matches.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87752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2875788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8757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2587752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clearly outperforms keyword search on questions built from common, ambiguous words.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621024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51560" y="3909060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9090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621024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articles by paragraph gives retrieval finer-grained, more precise results.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654296"/>
            <a:ext cx="10543032" cy="868680"/>
          </a:xfrm>
          <a:prstGeom prst="roundRect">
            <a:avLst>
              <a:gd name="adj" fmla="val 9474"/>
            </a:avLst>
          </a:prstGeom>
          <a:solidFill>
            <a:srgbClr val="1B3B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" y="4942332"/>
            <a:ext cx="292608" cy="292608"/>
          </a:xfrm>
          <a:prstGeom prst="ellipse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49423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08760" y="4654296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embedding-based approach naturally extends across languages.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707</Words>
  <Application>Microsoft Office PowerPoint</Application>
  <PresentationFormat>Widescreen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2026-08-23T11:09:44Z</dcterms:created>
  <dcterms:modified xsi:type="dcterms:W3CDTF">2026-08-24T12:55:38Z</dcterms:modified>
</cp:coreProperties>
</file>