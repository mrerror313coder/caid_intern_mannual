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sad Riaz" userId="3b76c0e42d4ebc1f" providerId="LiveId" clId="{2DB4D45C-5BE0-4168-9D3E-42F6CBFCEF10}"/>
    <pc:docChg chg="modSld">
      <pc:chgData name="Muhammad Asad Riaz" userId="3b76c0e42d4ebc1f" providerId="LiveId" clId="{2DB4D45C-5BE0-4168-9D3E-42F6CBFCEF10}" dt="2026-07-29T09:40:56.145" v="32" actId="403"/>
      <pc:docMkLst>
        <pc:docMk/>
      </pc:docMkLst>
      <pc:sldChg chg="modSp mod">
        <pc:chgData name="Muhammad Asad Riaz" userId="3b76c0e42d4ebc1f" providerId="LiveId" clId="{2DB4D45C-5BE0-4168-9D3E-42F6CBFCEF10}" dt="2026-07-29T09:40:56.145" v="32" actId="403"/>
        <pc:sldMkLst>
          <pc:docMk/>
          <pc:sldMk cId="0" sldId="256"/>
        </pc:sldMkLst>
        <pc:spChg chg="mod">
          <ac:chgData name="Muhammad Asad Riaz" userId="3b76c0e42d4ebc1f" providerId="LiveId" clId="{2DB4D45C-5BE0-4168-9D3E-42F6CBFCEF10}" dt="2026-07-29T09:40:56.145" v="32" actId="403"/>
          <ac:spMkLst>
            <pc:docMk/>
            <pc:sldMk cId="0" sldId="256"/>
            <ac:spMk id="62" creationId="{00000000-0000-0000-0000-000000000000}"/>
          </ac:spMkLst>
        </pc:spChg>
        <pc:spChg chg="mod">
          <ac:chgData name="Muhammad Asad Riaz" userId="3b76c0e42d4ebc1f" providerId="LiveId" clId="{2DB4D45C-5BE0-4168-9D3E-42F6CBFCEF10}" dt="2026-07-29T09:40:43.349" v="30" actId="403"/>
          <ac:spMkLst>
            <pc:docMk/>
            <pc:sldMk cId="0" sldId="256"/>
            <ac:spMk id="63" creationId="{00000000-0000-0000-0000-000000000000}"/>
          </ac:spMkLst>
        </pc:spChg>
      </pc:sldChg>
      <pc:sldChg chg="addSp modSp mod">
        <pc:chgData name="Muhammad Asad Riaz" userId="3b76c0e42d4ebc1f" providerId="LiveId" clId="{2DB4D45C-5BE0-4168-9D3E-42F6CBFCEF10}" dt="2026-07-29T09:40:26.813" v="29" actId="1076"/>
        <pc:sldMkLst>
          <pc:docMk/>
          <pc:sldMk cId="0" sldId="268"/>
        </pc:sldMkLst>
        <pc:spChg chg="mod">
          <ac:chgData name="Muhammad Asad Riaz" userId="3b76c0e42d4ebc1f" providerId="LiveId" clId="{2DB4D45C-5BE0-4168-9D3E-42F6CBFCEF10}" dt="2026-07-29T09:40:20.197" v="28" actId="403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Muhammad Asad Riaz" userId="3b76c0e42d4ebc1f" providerId="LiveId" clId="{2DB4D45C-5BE0-4168-9D3E-42F6CBFCEF10}" dt="2026-07-29T09:40:26.813" v="29" actId="1076"/>
          <ac:spMkLst>
            <pc:docMk/>
            <pc:sldMk cId="0" sldId="268"/>
            <ac:spMk id="14" creationId="{3B8B31D1-7912-A2FA-1E1E-0377F03E0E0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E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16213E"/>
                </a:solidFill>
                <a:latin typeface="Calibri"/>
              </a:rPr>
              <a:t>Loss vs.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8575" cap="flat">
              <a:solidFill>
                <a:srgbClr val="5B7FB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0.7168</c:v>
                </c:pt>
                <c:pt idx="1">
                  <c:v>0.6671</c:v>
                </c:pt>
                <c:pt idx="2">
                  <c:v>0.6541</c:v>
                </c:pt>
                <c:pt idx="3">
                  <c:v>0.6395</c:v>
                </c:pt>
                <c:pt idx="4">
                  <c:v>0.6167</c:v>
                </c:pt>
                <c:pt idx="5">
                  <c:v>0.6005</c:v>
                </c:pt>
                <c:pt idx="6">
                  <c:v>0.5902</c:v>
                </c:pt>
                <c:pt idx="7">
                  <c:v>0.5805</c:v>
                </c:pt>
                <c:pt idx="8">
                  <c:v>0.5713</c:v>
                </c:pt>
                <c:pt idx="9">
                  <c:v>0.5594</c:v>
                </c:pt>
                <c:pt idx="10">
                  <c:v>0.5491</c:v>
                </c:pt>
                <c:pt idx="11">
                  <c:v>0.5437</c:v>
                </c:pt>
                <c:pt idx="12">
                  <c:v>0.5339</c:v>
                </c:pt>
                <c:pt idx="13">
                  <c:v>0.525</c:v>
                </c:pt>
                <c:pt idx="14">
                  <c:v>0.5169</c:v>
                </c:pt>
                <c:pt idx="15">
                  <c:v>0.5172</c:v>
                </c:pt>
                <c:pt idx="16">
                  <c:v>0.5159</c:v>
                </c:pt>
                <c:pt idx="17">
                  <c:v>0.4986</c:v>
                </c:pt>
                <c:pt idx="18">
                  <c:v>0.4962</c:v>
                </c:pt>
                <c:pt idx="19">
                  <c:v>0.4952</c:v>
                </c:pt>
                <c:pt idx="20">
                  <c:v>0.4833</c:v>
                </c:pt>
                <c:pt idx="21">
                  <c:v>0.4828</c:v>
                </c:pt>
                <c:pt idx="22">
                  <c:v>0.4841</c:v>
                </c:pt>
                <c:pt idx="23">
                  <c:v>0.4835</c:v>
                </c:pt>
                <c:pt idx="24">
                  <c:v>0.4697</c:v>
                </c:pt>
                <c:pt idx="25">
                  <c:v>0.4648</c:v>
                </c:pt>
                <c:pt idx="26">
                  <c:v>0.4538</c:v>
                </c:pt>
                <c:pt idx="27">
                  <c:v>0.4646</c:v>
                </c:pt>
                <c:pt idx="28">
                  <c:v>0.4458</c:v>
                </c:pt>
                <c:pt idx="29">
                  <c:v>0.4484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13-4BA0-879F-ADEA30DB37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28575" cap="flat">
              <a:solidFill>
                <a:srgbClr val="C999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0.6587</c:v>
                </c:pt>
                <c:pt idx="1">
                  <c:v>0.6526</c:v>
                </c:pt>
                <c:pt idx="2">
                  <c:v>0.6303</c:v>
                </c:pt>
                <c:pt idx="3">
                  <c:v>0.6006</c:v>
                </c:pt>
                <c:pt idx="4">
                  <c:v>0.5812</c:v>
                </c:pt>
                <c:pt idx="5">
                  <c:v>0.5621</c:v>
                </c:pt>
                <c:pt idx="6">
                  <c:v>0.5535</c:v>
                </c:pt>
                <c:pt idx="7">
                  <c:v>0.5374</c:v>
                </c:pt>
                <c:pt idx="8">
                  <c:v>0.52</c:v>
                </c:pt>
                <c:pt idx="9">
                  <c:v>0.5228</c:v>
                </c:pt>
                <c:pt idx="10">
                  <c:v>0.4923</c:v>
                </c:pt>
                <c:pt idx="11">
                  <c:v>0.5077</c:v>
                </c:pt>
                <c:pt idx="12">
                  <c:v>0.5029</c:v>
                </c:pt>
                <c:pt idx="13">
                  <c:v>0.4589</c:v>
                </c:pt>
                <c:pt idx="14">
                  <c:v>0.4647</c:v>
                </c:pt>
                <c:pt idx="15">
                  <c:v>0.4576</c:v>
                </c:pt>
                <c:pt idx="16">
                  <c:v>0.4545</c:v>
                </c:pt>
                <c:pt idx="17">
                  <c:v>0.4418</c:v>
                </c:pt>
                <c:pt idx="18">
                  <c:v>0.4434</c:v>
                </c:pt>
                <c:pt idx="19">
                  <c:v>0.4217</c:v>
                </c:pt>
                <c:pt idx="20">
                  <c:v>0.4252</c:v>
                </c:pt>
                <c:pt idx="21">
                  <c:v>0.4899</c:v>
                </c:pt>
                <c:pt idx="22">
                  <c:v>0.3988</c:v>
                </c:pt>
                <c:pt idx="23">
                  <c:v>0.4463</c:v>
                </c:pt>
                <c:pt idx="24">
                  <c:v>0.4211</c:v>
                </c:pt>
                <c:pt idx="25">
                  <c:v>0.3823</c:v>
                </c:pt>
                <c:pt idx="26">
                  <c:v>0.3981</c:v>
                </c:pt>
                <c:pt idx="27">
                  <c:v>0.3853</c:v>
                </c:pt>
                <c:pt idx="28">
                  <c:v>0.3688</c:v>
                </c:pt>
                <c:pt idx="29">
                  <c:v>0.3914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13-4BA0-879F-ADEA30DB3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0.75"/>
          <c:min val="0.3"/>
        </c:scaling>
        <c:delete val="0"/>
        <c:axPos val="l"/>
        <c:majorGridlines>
          <c:spPr>
            <a:ln w="9525" cap="flat">
              <a:solidFill>
                <a:srgbClr val="D7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E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16213E"/>
                </a:solidFill>
                <a:latin typeface="Calibri"/>
              </a:rPr>
              <a:t>Accuracy vs.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28575" cap="flat">
              <a:solidFill>
                <a:srgbClr val="5B7FB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0.5695</c:v>
                </c:pt>
                <c:pt idx="1">
                  <c:v>0.5926</c:v>
                </c:pt>
                <c:pt idx="2">
                  <c:v>0.6015</c:v>
                </c:pt>
                <c:pt idx="3">
                  <c:v>0.6208</c:v>
                </c:pt>
                <c:pt idx="4">
                  <c:v>0.6491</c:v>
                </c:pt>
                <c:pt idx="5">
                  <c:v>0.6649</c:v>
                </c:pt>
                <c:pt idx="6">
                  <c:v>0.6727</c:v>
                </c:pt>
                <c:pt idx="7">
                  <c:v>0.6857</c:v>
                </c:pt>
                <c:pt idx="8">
                  <c:v>0.6931</c:v>
                </c:pt>
                <c:pt idx="9">
                  <c:v>0.7047</c:v>
                </c:pt>
                <c:pt idx="10">
                  <c:v>0.7119</c:v>
                </c:pt>
                <c:pt idx="11">
                  <c:v>0.7144</c:v>
                </c:pt>
                <c:pt idx="12">
                  <c:v>0.7238</c:v>
                </c:pt>
                <c:pt idx="13">
                  <c:v>0.7248</c:v>
                </c:pt>
                <c:pt idx="14">
                  <c:v>0.7379</c:v>
                </c:pt>
                <c:pt idx="15">
                  <c:v>0.7427</c:v>
                </c:pt>
                <c:pt idx="16">
                  <c:v>0.7336</c:v>
                </c:pt>
                <c:pt idx="17">
                  <c:v>0.749</c:v>
                </c:pt>
                <c:pt idx="18">
                  <c:v>0.7535</c:v>
                </c:pt>
                <c:pt idx="19">
                  <c:v>0.7539</c:v>
                </c:pt>
                <c:pt idx="20">
                  <c:v>0.7624</c:v>
                </c:pt>
                <c:pt idx="21">
                  <c:v>0.7655</c:v>
                </c:pt>
                <c:pt idx="22">
                  <c:v>0.7569</c:v>
                </c:pt>
                <c:pt idx="23">
                  <c:v>0.7665</c:v>
                </c:pt>
                <c:pt idx="24">
                  <c:v>0.7699</c:v>
                </c:pt>
                <c:pt idx="25">
                  <c:v>0.7744</c:v>
                </c:pt>
                <c:pt idx="26">
                  <c:v>0.7766</c:v>
                </c:pt>
                <c:pt idx="27">
                  <c:v>0.7761</c:v>
                </c:pt>
                <c:pt idx="28">
                  <c:v>0.78</c:v>
                </c:pt>
                <c:pt idx="29">
                  <c:v>0.7817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EE-4A59-8A39-88AB15EAB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28575" cap="flat">
              <a:solidFill>
                <a:srgbClr val="C999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0.6083</c:v>
                </c:pt>
                <c:pt idx="1">
                  <c:v>0.6155</c:v>
                </c:pt>
                <c:pt idx="2">
                  <c:v>0.6471</c:v>
                </c:pt>
                <c:pt idx="3">
                  <c:v>0.6621</c:v>
                </c:pt>
                <c:pt idx="4">
                  <c:v>0.6846</c:v>
                </c:pt>
                <c:pt idx="5">
                  <c:v>0.7006</c:v>
                </c:pt>
                <c:pt idx="6">
                  <c:v>0.7061</c:v>
                </c:pt>
                <c:pt idx="7">
                  <c:v>0.716</c:v>
                </c:pt>
                <c:pt idx="8">
                  <c:v>0.7388</c:v>
                </c:pt>
                <c:pt idx="9">
                  <c:v>0.721</c:v>
                </c:pt>
                <c:pt idx="10">
                  <c:v>0.7556</c:v>
                </c:pt>
                <c:pt idx="11">
                  <c:v>0.7562</c:v>
                </c:pt>
                <c:pt idx="12">
                  <c:v>0.7521</c:v>
                </c:pt>
                <c:pt idx="13">
                  <c:v>0.7753</c:v>
                </c:pt>
                <c:pt idx="14">
                  <c:v>0.7682</c:v>
                </c:pt>
                <c:pt idx="15">
                  <c:v>0.7759</c:v>
                </c:pt>
                <c:pt idx="16">
                  <c:v>0.7808</c:v>
                </c:pt>
                <c:pt idx="17">
                  <c:v>0.786</c:v>
                </c:pt>
                <c:pt idx="18">
                  <c:v>0.7887</c:v>
                </c:pt>
                <c:pt idx="19">
                  <c:v>0.8015</c:v>
                </c:pt>
                <c:pt idx="20">
                  <c:v>0.7964</c:v>
                </c:pt>
                <c:pt idx="21">
                  <c:v>0.7505</c:v>
                </c:pt>
                <c:pt idx="22">
                  <c:v>0.8132</c:v>
                </c:pt>
                <c:pt idx="23">
                  <c:v>0.7753</c:v>
                </c:pt>
                <c:pt idx="24">
                  <c:v>0.8019</c:v>
                </c:pt>
                <c:pt idx="25">
                  <c:v>0.8201</c:v>
                </c:pt>
                <c:pt idx="26">
                  <c:v>0.8129</c:v>
                </c:pt>
                <c:pt idx="27">
                  <c:v>0.8247</c:v>
                </c:pt>
                <c:pt idx="28">
                  <c:v>0.8272</c:v>
                </c:pt>
                <c:pt idx="29">
                  <c:v>0.8251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EE-4A59-8A39-88AB15EAB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0.85"/>
          <c:min val="0.55000000000000004"/>
        </c:scaling>
        <c:delete val="0"/>
        <c:axPos val="l"/>
        <c:majorGridlines>
          <c:spPr>
            <a:ln w="9525" cap="flat">
              <a:solidFill>
                <a:srgbClr val="D7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53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7888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31936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15984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00032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8128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52176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36224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320272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63840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47888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31936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15984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00032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784080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68128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52176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36224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320272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63840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47888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31936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15984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400032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080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68128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552176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936224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320272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63840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47888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31936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015984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400032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784080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168128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552176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936224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320272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863840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47888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631936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015984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400032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168128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552176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936224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320272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863840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247888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631936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015984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400032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784080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168128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552176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936224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320272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IN PRACTICE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822960" y="1783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Facial Expressions</a:t>
            </a:r>
            <a:endParaRPr lang="en-US" sz="4800" dirty="0"/>
          </a:p>
        </p:txBody>
      </p:sp>
      <p:sp>
        <p:nvSpPr>
          <p:cNvPr id="64" name="Text 62"/>
          <p:cNvSpPr/>
          <p:nvPr/>
        </p:nvSpPr>
        <p:spPr>
          <a:xfrm>
            <a:off x="822960" y="2606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Depressive </a:t>
            </a:r>
            <a:r>
              <a:rPr lang="en-US" sz="2200" b="1" dirty="0">
                <a:solidFill>
                  <a:srgbClr val="8B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</a:t>
            </a:r>
            <a:r>
              <a:rPr lang="en-US" sz="2200" b="1" dirty="0">
                <a:solidFill>
                  <a:srgbClr val="5B7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r>
              <a:rPr lang="en-US" sz="2200" b="1" dirty="0">
                <a:solidFill>
                  <a:srgbClr val="C9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A CNN Case Study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822960" y="32461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convolutional neural networks in general, to the exact architecture trained on this dataset in PyTorch — with real results from a completed training run.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1750">
            <a:solidFill>
              <a:srgbClr val="C99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2296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Asad Riaz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166360" y="4206240"/>
            <a:ext cx="0" cy="713232"/>
          </a:xfrm>
          <a:prstGeom prst="line">
            <a:avLst/>
          </a:prstGeom>
          <a:noFill/>
          <a:ln w="12700">
            <a:solidFill>
              <a:srgbClr val="2A3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44068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44068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 Kamran Younis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822960" y="5166360"/>
            <a:ext cx="9601200" cy="0"/>
          </a:xfrm>
          <a:prstGeom prst="line">
            <a:avLst/>
          </a:prstGeom>
          <a:noFill/>
          <a:ln w="9525">
            <a:solidFill>
              <a:srgbClr val="2A3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A1B59F-6EF1-D510-5033-05726D92FA6D}"/>
              </a:ext>
            </a:extLst>
          </p:cNvPr>
          <p:cNvSpPr txBox="1"/>
          <p:nvPr/>
        </p:nvSpPr>
        <p:spPr>
          <a:xfrm>
            <a:off x="7966021" y="515511"/>
            <a:ext cx="3646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r-PK" sz="4000" dirty="0">
                <a:solidFill>
                  <a:schemeClr val="bg1"/>
                </a:solidFill>
                <a:latin typeface="Jameel Noori Nastaleeq" panose="02000503000000020004" pitchFamily="2" charset="-78"/>
                <a:cs typeface="+mj-cs"/>
              </a:rPr>
              <a:t>﷽</a:t>
            </a:r>
            <a:endParaRPr lang="en-US" sz="6000" dirty="0">
              <a:solidFill>
                <a:schemeClr val="bg1"/>
              </a:solidFill>
              <a:latin typeface="Jameel Noori Nastaleeq" panose="02000503000000020004" pitchFamily="2" charset="-78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convolutional neural network?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learns to recognize visual patterns by passing an image through repeated layers that extract, compress, and finally classify features.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255014" cy="1097280"/>
          </a:xfrm>
          <a:prstGeom prst="rect">
            <a:avLst/>
          </a:prstGeom>
          <a:solidFill>
            <a:srgbClr val="5B6478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03654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49958" y="1874520"/>
            <a:ext cx="1255014" cy="1097280"/>
          </a:xfrm>
          <a:prstGeom prst="rect">
            <a:avLst/>
          </a:prstGeom>
          <a:solidFill>
            <a:srgbClr val="1F3A6E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86534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4972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1276" y="1874520"/>
            <a:ext cx="1255014" cy="1097280"/>
          </a:xfrm>
          <a:prstGeom prst="rect">
            <a:avLst/>
          </a:prstGeom>
          <a:solidFill>
            <a:srgbClr val="5B7FBF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7852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6290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2594" y="1874520"/>
            <a:ext cx="1255014" cy="1097280"/>
          </a:xfrm>
          <a:prstGeom prst="rect">
            <a:avLst/>
          </a:prstGeom>
          <a:solidFill>
            <a:srgbClr val="5B7FBF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89170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7608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53912" y="1874520"/>
            <a:ext cx="1255014" cy="1097280"/>
          </a:xfrm>
          <a:prstGeom prst="rect">
            <a:avLst/>
          </a:prstGeom>
          <a:solidFill>
            <a:srgbClr val="EEF1F8"/>
          </a:solidFill>
          <a:ln w="12700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8926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55230" y="1874520"/>
            <a:ext cx="1255014" cy="1097280"/>
          </a:xfrm>
          <a:prstGeom prst="rect">
            <a:avLst/>
          </a:prstGeom>
          <a:solidFill>
            <a:srgbClr val="5B7FBF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91806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10244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56548" y="1874520"/>
            <a:ext cx="1255014" cy="1097280"/>
          </a:xfrm>
          <a:prstGeom prst="rect">
            <a:avLst/>
          </a:prstGeom>
          <a:solidFill>
            <a:srgbClr val="1F3A6E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93124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11562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357866" y="1874520"/>
            <a:ext cx="1255014" cy="1097280"/>
          </a:xfrm>
          <a:prstGeom prst="rect">
            <a:avLst/>
          </a:prstGeom>
          <a:solidFill>
            <a:srgbClr val="C9992E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94442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small filters across the image, each learning to detect one visual pattern (an edge, a curve, a texture).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044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(ReLU)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non-linearity — max(0, x) — so the network can approximate complex, non-linear decision boundaries.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Downsamples feature maps (e.g. take the max in each 2×2 window), keeping the strongest signal and reducing computation.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1540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09828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9828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the final feature maps into a vector and combines them into class scores (logits).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well-known CNN architectures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looking at the architecture used for this project, here's where it sits among widely-used CNN designs.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97280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615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9844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406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LeNet-5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practical CNN — digit recognition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0873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9102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36648" y="425196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3664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0980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151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+ GPU training; ImageNet breakthrough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0131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360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2922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2922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0238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VGG-16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409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stacks of small 3×3 convolutions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9389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7618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21808" y="425196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180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GoogLeNet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7667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modules; multi-scale filters per layer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58647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6876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1438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1438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754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ResNet-50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925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Residual/skip connections enable very deep nets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17905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26134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506968" y="425196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0696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8012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6183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Depthwise-separable convs for mobile efficiency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771632" y="3849624"/>
            <a:ext cx="164592" cy="164592"/>
          </a:xfrm>
          <a:prstGeom prst="line">
            <a:avLst/>
          </a:prstGeom>
          <a:solidFill>
            <a:srgbClr val="C999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85392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09954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09954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7270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15441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of depth/width/resolution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EmotionCNN — the architecture trained on this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convolutional blocks (Conv → BatchNorm → ReLU → MaxPool) doubling channels while halving spatial size, then a dropout-regularized classifier head.</a:t>
            </a:r>
            <a:endParaRPr lang="en-US" sz="12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76F687C-98E0-A052-FC75-7B9D0F88F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2419351"/>
            <a:ext cx="11545570" cy="3528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FRAMING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is — and is not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828800"/>
          </a:xfrm>
          <a:prstGeom prst="rect">
            <a:avLst/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is a relabeled facial-expression set 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(derived from the classic FER-style emotion images) — it is not clinically-diagnosed depression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on it learns to recognize an expression pattern the dataset creator labeled “depressive,” not to diagnose depression. Facial expression alone is not a validated clinical marker of depression.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4041648"/>
            <a:ext cx="384048" cy="384048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Emotion-image classification demo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visual expression patterns from a labeled image 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7947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53712" y="4041648"/>
            <a:ext cx="384048" cy="384048"/>
          </a:xfrm>
          <a:prstGeom prst="line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diagnostic tool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5371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validation; outputs should never be read as a mental-health assessment.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37947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02752" y="4041648"/>
            <a:ext cx="384048" cy="384048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275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0275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in this deck is real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0275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training run, real numbers — reported with this caveat attached.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Two-class facial-expression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properties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gudiyasingh/emotion-dataset-for-mental-health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9397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94560" y="20939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Depressive, Neutral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963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94560" y="2496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48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98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94560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(1 channel)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0098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JPG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9456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(author-provided)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1056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94560" y="4105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CC0: Public Domain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5212080" cy="9601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3,229 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   •   </a:t>
            </a:r>
            <a:r>
              <a:rPr lang="en-US" sz="20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3,838 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7881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split (train, validation, and test each carry this class distribution)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images per class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1691640"/>
            <a:ext cx="5486400" cy="434340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Sample images per cla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48890"/>
            <a:ext cx="5212080" cy="213207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263640" y="49423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depressive-labeled  ·  Bottom row: neutral-labeled  ·  raw dataset thumbnails, unaugmented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PREPARATION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image to model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27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62763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1 channel for safety (images are already grayscale).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148840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02920" cy="502920"/>
          </a:xfrm>
          <a:prstGeom prst="line">
            <a:avLst/>
          </a:prstGeom>
          <a:solidFill>
            <a:srgbClr val="5B7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4688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48 — native size, no upsampling needed.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" y="2990088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502920" cy="502920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10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(train only)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31012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(p=0.5) + random rotation (±10°) to curb overfitting.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3831336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502920" cy="502920"/>
          </a:xfrm>
          <a:prstGeom prst="line">
            <a:avLst/>
          </a:prstGeom>
          <a:solidFill>
            <a:srgbClr val="5B7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1513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ToTensor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15137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pixel values from [0, 255] to [0.0, 1.0].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" y="4672584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502920" cy="502920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5010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9926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499262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 with dataset mean=0.5057, std=0.2128 — stabilizes gradient-based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1e-3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ReduceLROnPlateau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0.5, patience 3, on val loss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CrossEntropyLoss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applied internally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2004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628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early-stopped on best val loss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32004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7532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BatchNorm + Dropout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7532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/ 0.3 + light augmentation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manual optimizer step, traced end to end: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0.7423 → backward() → gradients confirmed flowing from fc2 (norm 1.20) all the way back to block1 conv (norm 0.32) → optimizer.step() → loss 2.6395.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run — loss &amp; accuracy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5440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645920"/>
          <a:ext cx="5440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43484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82.7%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7,067 held-out test images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                                          Precision        Recall                 F1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1788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628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2743200" cy="0"/>
          </a:xfrm>
          <a:prstGeom prst="line">
            <a:avLst/>
          </a:prstGeom>
          <a:noFill/>
          <a:ln w="12700">
            <a:solidFill>
              <a:srgbClr val="2A3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212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29 · val loss 0.3688 · val acc 82.7%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3322" y="164374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94896" y="193039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 rot="16200000">
            <a:off x="5608318" y="348487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3296" y="2204719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60656" y="2204719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75942" y="2570479"/>
            <a:ext cx="1143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23296" y="2570479"/>
            <a:ext cx="1682496" cy="1362456"/>
          </a:xfrm>
          <a:prstGeom prst="rect">
            <a:avLst/>
          </a:prstGeom>
          <a:solidFill>
            <a:srgbClr val="1F3A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23296" y="257047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2713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160656" y="2570479"/>
            <a:ext cx="1682496" cy="1362456"/>
          </a:xfrm>
          <a:prstGeom prst="rect">
            <a:avLst/>
          </a:prstGeom>
          <a:solidFill>
            <a:srgbClr val="EEF1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60656" y="257047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217885" y="3987799"/>
            <a:ext cx="1143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23296" y="3987799"/>
            <a:ext cx="1682496" cy="1362456"/>
          </a:xfrm>
          <a:prstGeom prst="rect">
            <a:avLst/>
          </a:prstGeom>
          <a:solidFill>
            <a:srgbClr val="EEF1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23296" y="398779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160656" y="3987799"/>
            <a:ext cx="1682496" cy="1362456"/>
          </a:xfrm>
          <a:prstGeom prst="rect">
            <a:avLst/>
          </a:prstGeom>
          <a:solidFill>
            <a:srgbClr val="1F3A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60656" y="398779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3133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inference on new photos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checkpoint's predict_image() pipeline run on four photos uploaded directly through the notebook's file-upload widget.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2348" y="1965960"/>
            <a:ext cx="1978623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rops2/pred_new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68" y="2011680"/>
            <a:ext cx="1887183" cy="2057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8368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(72.5% confidence)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4791456"/>
            <a:ext cx="394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88136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88136" y="4818888"/>
            <a:ext cx="394792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78608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5800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088136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88136" y="5111496"/>
            <a:ext cx="1040816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578608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19272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32980" y="1965960"/>
            <a:ext cx="1978623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/home/claude/crops2/pred_new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700" y="2011680"/>
            <a:ext cx="1887183" cy="2057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429000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(64.6% confidence)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56431" y="4791456"/>
            <a:ext cx="508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858768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858768" y="4818888"/>
            <a:ext cx="508205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349240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35.4%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456432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858768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858768" y="5111496"/>
            <a:ext cx="927403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349240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64.6%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089904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29605" y="1965960"/>
            <a:ext cx="212663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2" descr="/home/claude/crops2/pred_new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325" y="2011680"/>
            <a:ext cx="2035198" cy="20574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99632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6199632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(90.3% confidence)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27064" y="4791456"/>
            <a:ext cx="451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629400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629400" y="4818888"/>
            <a:ext cx="1296354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8119872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227064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629400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629400" y="5111496"/>
            <a:ext cx="139254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119872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8860536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9103937" y="1965960"/>
            <a:ext cx="211923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3" descr="/home/claude/crops2/pred_new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657" y="2011680"/>
            <a:ext cx="2027797" cy="20574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970264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970264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(89.4% confidence)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8997696" y="4791456"/>
            <a:ext cx="4733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9400032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9400032" y="4818888"/>
            <a:ext cx="1283434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10890504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8997696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9400032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9400032" y="5111496"/>
            <a:ext cx="152174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10890504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10558" y="1546860"/>
            <a:ext cx="6377940" cy="3764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Jazak ALLAH</a:t>
            </a:r>
            <a:endParaRPr lang="en-US" sz="115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B8B31D1-7912-A2FA-1E1E-0377F03E0E05}"/>
              </a:ext>
            </a:extLst>
          </p:cNvPr>
          <p:cNvSpPr/>
          <p:nvPr/>
        </p:nvSpPr>
        <p:spPr>
          <a:xfrm>
            <a:off x="6662055" y="4795338"/>
            <a:ext cx="5317127" cy="1031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886</Words>
  <Application>Microsoft Office PowerPoint</Application>
  <PresentationFormat>Widescreen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Jameel Noori Nastaleeq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2026-07-29T06:16:53Z</dcterms:created>
  <dcterms:modified xsi:type="dcterms:W3CDTF">2026-07-30T04:24:10Z</dcterms:modified>
</cp:coreProperties>
</file>